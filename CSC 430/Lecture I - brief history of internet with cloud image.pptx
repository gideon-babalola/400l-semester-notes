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86717" autoAdjust="0"/>
  </p:normalViewPr>
  <p:slideViewPr>
    <p:cSldViewPr snapToGrid="0">
      <p:cViewPr varScale="1">
        <p:scale>
          <a:sx n="59" d="100"/>
          <a:sy n="59" d="100"/>
        </p:scale>
        <p:origin x="1752"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0BDBDF-5665-403B-8C07-D393E52B893C}" type="datetimeFigureOut">
              <a:rPr lang="en-US" smtClean="0"/>
              <a:t>10/22/2025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15A4C-91A0-44F4-A8FC-307364659DEC}" type="slidenum">
              <a:rPr lang="en-US" smtClean="0"/>
              <a:t>‹#›</a:t>
            </a:fld>
            <a:endParaRPr lang="en-US"/>
          </a:p>
        </p:txBody>
      </p:sp>
    </p:spTree>
    <p:extLst>
      <p:ext uri="{BB962C8B-B14F-4D97-AF65-F5344CB8AC3E}">
        <p14:creationId xmlns:p14="http://schemas.microsoft.com/office/powerpoint/2010/main" val="3755317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E15A4C-91A0-44F4-A8FC-307364659DEC}" type="slidenum">
              <a:rPr lang="en-US" smtClean="0"/>
              <a:t>3</a:t>
            </a:fld>
            <a:endParaRPr lang="en-US"/>
          </a:p>
        </p:txBody>
      </p:sp>
    </p:spTree>
    <p:extLst>
      <p:ext uri="{BB962C8B-B14F-4D97-AF65-F5344CB8AC3E}">
        <p14:creationId xmlns:p14="http://schemas.microsoft.com/office/powerpoint/2010/main" val="3343450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DSL (Digital subscriber line)</a:t>
            </a:r>
            <a:endParaRPr lang="en-GB" dirty="0"/>
          </a:p>
        </p:txBody>
      </p:sp>
      <p:sp>
        <p:nvSpPr>
          <p:cNvPr id="4" name="Slide Number Placeholder 3"/>
          <p:cNvSpPr>
            <a:spLocks noGrp="1"/>
          </p:cNvSpPr>
          <p:nvPr>
            <p:ph type="sldNum" sz="quarter" idx="5"/>
          </p:nvPr>
        </p:nvSpPr>
        <p:spPr/>
        <p:txBody>
          <a:bodyPr/>
          <a:lstStyle/>
          <a:p>
            <a:fld id="{C1E15A4C-91A0-44F4-A8FC-307364659DEC}" type="slidenum">
              <a:rPr lang="en-US" smtClean="0"/>
              <a:t>10</a:t>
            </a:fld>
            <a:endParaRPr lang="en-US"/>
          </a:p>
        </p:txBody>
      </p:sp>
    </p:spTree>
    <p:extLst>
      <p:ext uri="{BB962C8B-B14F-4D97-AF65-F5344CB8AC3E}">
        <p14:creationId xmlns:p14="http://schemas.microsoft.com/office/powerpoint/2010/main" val="2142850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Remember</a:t>
            </a:r>
            <a:r>
              <a:rPr lang="en-US" baseline="0" dirty="0"/>
              <a:t> those network diagrams.  The Internet was always represented by a cloud.  This wasn’t an accident.  When people say cloud computing, they mean that you will get your computing services over the internet.</a:t>
            </a:r>
            <a:endParaRPr lang="en-US" dirty="0"/>
          </a:p>
        </p:txBody>
      </p:sp>
      <p:sp>
        <p:nvSpPr>
          <p:cNvPr id="4" name="Slide Number Placeholder 3"/>
          <p:cNvSpPr>
            <a:spLocks noGrp="1"/>
          </p:cNvSpPr>
          <p:nvPr>
            <p:ph type="sldNum" sz="quarter" idx="10"/>
          </p:nvPr>
        </p:nvSpPr>
        <p:spPr/>
        <p:txBody>
          <a:bodyPr/>
          <a:lstStyle/>
          <a:p>
            <a:fld id="{81DBCCFC-17EC-4DFB-A267-3E3AEB7D5ED5}" type="slidenum">
              <a:rPr lang="en-US" smtClean="0"/>
              <a:t>13</a:t>
            </a:fld>
            <a:endParaRPr lang="en-US"/>
          </a:p>
        </p:txBody>
      </p:sp>
    </p:spTree>
    <p:extLst>
      <p:ext uri="{BB962C8B-B14F-4D97-AF65-F5344CB8AC3E}">
        <p14:creationId xmlns:p14="http://schemas.microsoft.com/office/powerpoint/2010/main" val="3699564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So, when you got services in-house, you went to your own companies data center.  Maybe you used</a:t>
            </a:r>
            <a:r>
              <a:rPr lang="en-US" baseline="0" dirty="0"/>
              <a:t> it to access reports on sales data and business intelligence about your Web site promotions.</a:t>
            </a:r>
          </a:p>
          <a:p>
            <a:endParaRPr lang="en-US" baseline="0" dirty="0"/>
          </a:p>
          <a:p>
            <a:r>
              <a:rPr lang="en-US" baseline="0" dirty="0"/>
              <a:t>If you want to do this in a cloud environment, it would be exactly the same.  However, you wouldn’t be accessing a local data center, you would access a data center through the Internet and since many companies use that service it would be a lot larger than your own, in-house data center.</a:t>
            </a:r>
            <a:endParaRPr lang="en-US" dirty="0"/>
          </a:p>
        </p:txBody>
      </p:sp>
      <p:sp>
        <p:nvSpPr>
          <p:cNvPr id="4" name="Slide Number Placeholder 3"/>
          <p:cNvSpPr>
            <a:spLocks noGrp="1"/>
          </p:cNvSpPr>
          <p:nvPr>
            <p:ph type="sldNum" sz="quarter" idx="10"/>
          </p:nvPr>
        </p:nvSpPr>
        <p:spPr/>
        <p:txBody>
          <a:bodyPr/>
          <a:lstStyle/>
          <a:p>
            <a:fld id="{81DBCCFC-17EC-4DFB-A267-3E3AEB7D5ED5}" type="slidenum">
              <a:rPr lang="en-US" smtClean="0"/>
              <a:t>14</a:t>
            </a:fld>
            <a:endParaRPr lang="en-US"/>
          </a:p>
        </p:txBody>
      </p:sp>
    </p:spTree>
    <p:extLst>
      <p:ext uri="{BB962C8B-B14F-4D97-AF65-F5344CB8AC3E}">
        <p14:creationId xmlns:p14="http://schemas.microsoft.com/office/powerpoint/2010/main" val="2325036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This is a map</a:t>
            </a:r>
            <a:r>
              <a:rPr lang="en-US" baseline="0" dirty="0"/>
              <a:t> you can find online, showing all of Google’s Data Centers.</a:t>
            </a:r>
            <a:endParaRPr lang="en-US" dirty="0"/>
          </a:p>
        </p:txBody>
      </p:sp>
      <p:sp>
        <p:nvSpPr>
          <p:cNvPr id="4" name="Slide Number Placeholder 3"/>
          <p:cNvSpPr>
            <a:spLocks noGrp="1"/>
          </p:cNvSpPr>
          <p:nvPr>
            <p:ph type="sldNum" sz="quarter" idx="10"/>
          </p:nvPr>
        </p:nvSpPr>
        <p:spPr/>
        <p:txBody>
          <a:bodyPr/>
          <a:lstStyle/>
          <a:p>
            <a:fld id="{81DBCCFC-17EC-4DFB-A267-3E3AEB7D5ED5}" type="slidenum">
              <a:rPr lang="en-US" smtClean="0"/>
              <a:t>15</a:t>
            </a:fld>
            <a:endParaRPr lang="en-US"/>
          </a:p>
        </p:txBody>
      </p:sp>
    </p:spTree>
    <p:extLst>
      <p:ext uri="{BB962C8B-B14F-4D97-AF65-F5344CB8AC3E}">
        <p14:creationId xmlns:p14="http://schemas.microsoft.com/office/powerpoint/2010/main" val="2214315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It is funny to read current headlines</a:t>
            </a:r>
            <a:r>
              <a:rPr lang="en-US" baseline="0" dirty="0"/>
              <a:t> about smartly located server farms.  </a:t>
            </a:r>
          </a:p>
          <a:p>
            <a:endParaRPr lang="en-US" baseline="0" dirty="0"/>
          </a:p>
          <a:p>
            <a:r>
              <a:rPr lang="en-US" baseline="0" dirty="0"/>
              <a:t>“Fjord Cooled Data Center is Norway is Worlds Greenest Data Center”.  It sounds crazy but, Norway is cold and they do have these tunnels that were perfect for hosting computer data centers.  By piping in water from the Fjords, glacial waterways, the data center is said to generate no carbon emissions.  The electrical power is from hydroelectric dams.  </a:t>
            </a:r>
          </a:p>
          <a:p>
            <a:endParaRPr lang="en-US" baseline="0" dirty="0"/>
          </a:p>
          <a:p>
            <a:r>
              <a:rPr lang="en-US" baseline="0" dirty="0"/>
              <a:t>Another story, “Facebook to Build Server Farm at the Artic Circle.” is a similar one.  By taking advantage of naturally occurring climates, a data center can be much more environmentally friendly.</a:t>
            </a:r>
          </a:p>
          <a:p>
            <a:endParaRPr lang="en-US" baseline="0" dirty="0"/>
          </a:p>
          <a:p>
            <a:r>
              <a:rPr lang="en-US" baseline="0" dirty="0"/>
              <a:t>Other economies that a large facility can offer are in:</a:t>
            </a:r>
          </a:p>
          <a:p>
            <a:endParaRPr lang="en-US" baseline="0" dirty="0"/>
          </a:p>
          <a:p>
            <a:r>
              <a:rPr lang="en-US" baseline="0" dirty="0"/>
              <a:t>Maintenance:  your company no longer has to worry about maintaining servers.  The cloud company does that for you.</a:t>
            </a:r>
          </a:p>
          <a:p>
            <a:endParaRPr lang="en-US" baseline="0" dirty="0"/>
          </a:p>
          <a:p>
            <a:r>
              <a:rPr lang="en-US" baseline="0" dirty="0"/>
              <a:t>Labor: the labor is effectively outsourced, so you don’t have to pay for as many people to maintain the data center.</a:t>
            </a:r>
          </a:p>
          <a:p>
            <a:endParaRPr lang="en-US" baseline="0" dirty="0"/>
          </a:p>
          <a:p>
            <a:r>
              <a:rPr lang="en-US" baseline="0" dirty="0"/>
              <a:t>Dynamic scaling:  Since the cloud company has a giant server base, if your firm needs more or less computing power, that company using dynamic scaling to increase of decrease what you use on the fly.  </a:t>
            </a:r>
          </a:p>
          <a:p>
            <a:endParaRPr lang="en-US" baseline="0" dirty="0"/>
          </a:p>
          <a:p>
            <a:r>
              <a:rPr lang="en-US" baseline="0" dirty="0"/>
              <a:t>Backup and recovery.  Again the cloud company can provide for this.</a:t>
            </a:r>
          </a:p>
          <a:p>
            <a:endParaRPr lang="en-US" baseline="0" dirty="0"/>
          </a:p>
          <a:p>
            <a:r>
              <a:rPr lang="en-US" baseline="0" dirty="0"/>
              <a:t>Cost.  All the items above can represent a significant cost savings to your company.</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81DBCCFC-17EC-4DFB-A267-3E3AEB7D5ED5}" type="slidenum">
              <a:rPr lang="en-US" smtClean="0"/>
              <a:t>16</a:t>
            </a:fld>
            <a:endParaRPr lang="en-US"/>
          </a:p>
        </p:txBody>
      </p:sp>
    </p:spTree>
    <p:extLst>
      <p:ext uri="{BB962C8B-B14F-4D97-AF65-F5344CB8AC3E}">
        <p14:creationId xmlns:p14="http://schemas.microsoft.com/office/powerpoint/2010/main" val="1950418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It cannot be all good or everyone would be using cloud computing right now.</a:t>
            </a:r>
          </a:p>
          <a:p>
            <a:endParaRPr lang="en-US" dirty="0"/>
          </a:p>
          <a:p>
            <a:r>
              <a:rPr lang="en-US" dirty="0"/>
              <a:t>There are a lot of concerns about cloud computing and information security.  If I put all my customer data with a cloud company, how do I know it is secure?  Many companies</a:t>
            </a:r>
            <a:r>
              <a:rPr lang="en-US" baseline="0" dirty="0"/>
              <a:t> feel it is too risky to put critical applications and data into someone else’s control.  So, you see a lot of companies use a hybrid approach where they use cloud computing for non-critical functions and keep the critical, strategic functions and data in-house.</a:t>
            </a:r>
          </a:p>
          <a:p>
            <a:endParaRPr lang="en-US" baseline="0" dirty="0"/>
          </a:p>
          <a:p>
            <a:r>
              <a:rPr lang="en-US" baseline="0" dirty="0"/>
              <a:t>Cloud computing often sounds all good.  But, in practice, there are some difficulties.  If your Internet access goes down, there is not way for you to operate at all.</a:t>
            </a:r>
          </a:p>
          <a:p>
            <a:endParaRPr lang="en-US" baseline="0" dirty="0"/>
          </a:p>
          <a:p>
            <a:r>
              <a:rPr lang="en-US" baseline="0" dirty="0"/>
              <a:t>If something goes wrong and you own your own data center, you’re a lot more likely to influence the result than with a cloud vendor in another country.  </a:t>
            </a:r>
          </a:p>
          <a:p>
            <a:endParaRPr lang="en-US" baseline="0" dirty="0"/>
          </a:p>
          <a:p>
            <a:r>
              <a:rPr lang="en-US" baseline="0" dirty="0"/>
              <a:t>Also, your company may become locked in to a specific service provider and then not be able to change later on.</a:t>
            </a:r>
          </a:p>
        </p:txBody>
      </p:sp>
      <p:sp>
        <p:nvSpPr>
          <p:cNvPr id="4" name="Slide Number Placeholder 3"/>
          <p:cNvSpPr>
            <a:spLocks noGrp="1"/>
          </p:cNvSpPr>
          <p:nvPr>
            <p:ph type="sldNum" sz="quarter" idx="10"/>
          </p:nvPr>
        </p:nvSpPr>
        <p:spPr/>
        <p:txBody>
          <a:bodyPr/>
          <a:lstStyle/>
          <a:p>
            <a:fld id="{81DBCCFC-17EC-4DFB-A267-3E3AEB7D5ED5}" type="slidenum">
              <a:rPr lang="en-US" smtClean="0"/>
              <a:t>17</a:t>
            </a:fld>
            <a:endParaRPr lang="en-US"/>
          </a:p>
        </p:txBody>
      </p:sp>
    </p:spTree>
    <p:extLst>
      <p:ext uri="{BB962C8B-B14F-4D97-AF65-F5344CB8AC3E}">
        <p14:creationId xmlns:p14="http://schemas.microsoft.com/office/powerpoint/2010/main" val="2447591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Cloud computing services</a:t>
            </a:r>
            <a:r>
              <a:rPr lang="en-US" baseline="0" dirty="0"/>
              <a:t> is often described as “fill in the blank, as a service.”  There are many different services that cloud computing offers.  The big 3 are:</a:t>
            </a:r>
          </a:p>
          <a:p>
            <a:r>
              <a:rPr lang="en-US" dirty="0"/>
              <a:t>Platform as a Service (</a:t>
            </a:r>
            <a:r>
              <a:rPr lang="en-US" dirty="0" err="1"/>
              <a:t>PaaS</a:t>
            </a:r>
            <a:r>
              <a:rPr lang="en-US" dirty="0"/>
              <a:t>)</a:t>
            </a:r>
          </a:p>
          <a:p>
            <a:r>
              <a:rPr lang="en-US" dirty="0"/>
              <a:t>Software as a Service (</a:t>
            </a:r>
            <a:r>
              <a:rPr lang="en-US" dirty="0" err="1"/>
              <a:t>SaaS</a:t>
            </a:r>
            <a:r>
              <a:rPr lang="en-US" dirty="0"/>
              <a:t>)</a:t>
            </a:r>
          </a:p>
          <a:p>
            <a:r>
              <a:rPr lang="en-US" dirty="0"/>
              <a:t>Infrastructure as a Service (</a:t>
            </a:r>
            <a:r>
              <a:rPr lang="en-US" dirty="0" err="1"/>
              <a:t>IaaS</a:t>
            </a:r>
            <a:r>
              <a:rPr lang="en-US" dirty="0"/>
              <a:t>)</a:t>
            </a:r>
          </a:p>
          <a:p>
            <a:endParaRPr lang="en-US" dirty="0"/>
          </a:p>
          <a:p>
            <a:r>
              <a:rPr lang="en-US" dirty="0"/>
              <a:t>This figure from Wikipedia</a:t>
            </a:r>
            <a:r>
              <a:rPr lang="en-US" baseline="0" dirty="0"/>
              <a:t> gives examples of each.</a:t>
            </a:r>
          </a:p>
          <a:p>
            <a:endParaRPr lang="en-US" baseline="0" dirty="0"/>
          </a:p>
          <a:p>
            <a:r>
              <a:rPr lang="en-US" baseline="0" dirty="0" err="1"/>
              <a:t>IaaS</a:t>
            </a:r>
            <a:r>
              <a:rPr lang="en-US" baseline="0" dirty="0"/>
              <a:t>, infrastructure as a service, would </a:t>
            </a:r>
            <a:r>
              <a:rPr lang="en-US" baseline="0" dirty="0" err="1"/>
              <a:t>inlcude</a:t>
            </a:r>
            <a:r>
              <a:rPr lang="en-US" baseline="0" dirty="0"/>
              <a:t> virtual machines, servers, storage and load balancers to distribute your processing needs.</a:t>
            </a:r>
          </a:p>
          <a:p>
            <a:r>
              <a:rPr lang="en-US" baseline="0" dirty="0" err="1"/>
              <a:t>PaaS</a:t>
            </a:r>
            <a:r>
              <a:rPr lang="en-US" baseline="0" dirty="0"/>
              <a:t>, Platform as a service, runs your database, web servers and development tools.  It’s the environments you are running to do business.</a:t>
            </a:r>
          </a:p>
          <a:p>
            <a:r>
              <a:rPr lang="en-US" baseline="0" dirty="0" err="1"/>
              <a:t>SaaS</a:t>
            </a:r>
            <a:r>
              <a:rPr lang="en-US" baseline="0" dirty="0"/>
              <a:t>, Software as a service is your applications.  Maybe CRM, </a:t>
            </a:r>
            <a:r>
              <a:rPr lang="en-US" baseline="0" dirty="0" err="1"/>
              <a:t>eMail</a:t>
            </a:r>
            <a:r>
              <a:rPr lang="en-US" baseline="0" dirty="0"/>
              <a:t>, games, ERP…etc.</a:t>
            </a:r>
            <a:endParaRPr lang="en-US" dirty="0"/>
          </a:p>
        </p:txBody>
      </p:sp>
      <p:sp>
        <p:nvSpPr>
          <p:cNvPr id="4" name="Slide Number Placeholder 3"/>
          <p:cNvSpPr>
            <a:spLocks noGrp="1"/>
          </p:cNvSpPr>
          <p:nvPr>
            <p:ph type="sldNum" sz="quarter" idx="10"/>
          </p:nvPr>
        </p:nvSpPr>
        <p:spPr/>
        <p:txBody>
          <a:bodyPr/>
          <a:lstStyle/>
          <a:p>
            <a:fld id="{81DBCCFC-17EC-4DFB-A267-3E3AEB7D5ED5}" type="slidenum">
              <a:rPr lang="en-US" smtClean="0"/>
              <a:t>18</a:t>
            </a:fld>
            <a:endParaRPr lang="en-US"/>
          </a:p>
        </p:txBody>
      </p:sp>
    </p:spTree>
    <p:extLst>
      <p:ext uri="{BB962C8B-B14F-4D97-AF65-F5344CB8AC3E}">
        <p14:creationId xmlns:p14="http://schemas.microsoft.com/office/powerpoint/2010/main" val="1978560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310 Slides-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544138" y="142732"/>
            <a:ext cx="7772400" cy="1470025"/>
          </a:xfrm>
        </p:spPr>
        <p:txBody>
          <a:bodyPr/>
          <a:lstStyle>
            <a:lvl1pPr>
              <a:defRPr>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495353" y="1824889"/>
            <a:ext cx="6400800" cy="733345"/>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18C577C-36B9-A749-96AC-1A7E3C40902D}"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2558471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310 Slides-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18C577C-36B9-A749-96AC-1A7E3C40902D}"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24752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6" name="Picture 5" descr="310 Slides-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lvl1pPr>
              <a:defRPr>
                <a:solidFill>
                  <a:srgbClr val="595959"/>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418C577C-36B9-A749-96AC-1A7E3C40902D}" type="datetimeFigureOut">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3244453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descr="310 Slides-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302683"/>
            <a:ext cx="7772400" cy="764118"/>
          </a:xfrm>
        </p:spPr>
        <p:txBody>
          <a:bodyPr anchor="t"/>
          <a:lstStyle>
            <a:lvl1pPr algn="l">
              <a:defRPr sz="4000" b="1" cap="all">
                <a:solidFill>
                  <a:schemeClr val="tx1"/>
                </a:solidFill>
              </a:defRPr>
            </a:lvl1pPr>
          </a:lstStyle>
          <a:p>
            <a:r>
              <a:rPr lang="en-US" dirty="0"/>
              <a:t>Click to edit Master title style</a:t>
            </a:r>
          </a:p>
        </p:txBody>
      </p:sp>
      <p:sp>
        <p:nvSpPr>
          <p:cNvPr id="3" name="Text Placeholder 2"/>
          <p:cNvSpPr>
            <a:spLocks noGrp="1"/>
          </p:cNvSpPr>
          <p:nvPr>
            <p:ph type="body" idx="1"/>
          </p:nvPr>
        </p:nvSpPr>
        <p:spPr>
          <a:xfrm>
            <a:off x="457200" y="1105957"/>
            <a:ext cx="7772400" cy="61740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18C577C-36B9-A749-96AC-1A7E3C40902D}"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371961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310 Slides-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8C577C-36B9-A749-96AC-1A7E3C40902D}"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2696462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310 Slides-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8C577C-36B9-A749-96AC-1A7E3C40902D}" type="datetimeFigureOut">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1525756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310 Slides-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418C577C-36B9-A749-96AC-1A7E3C40902D}" type="datetimeFigureOut">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2189695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310 Slides-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418C577C-36B9-A749-96AC-1A7E3C40902D}" type="datetimeFigureOut">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2513685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310 Slides-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5400"/>
            <a:ext cx="9144000" cy="6858000"/>
          </a:xfrm>
          <a:prstGeom prst="rect">
            <a:avLst/>
          </a:prstGeom>
        </p:spPr>
      </p:pic>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18C577C-36B9-A749-96AC-1A7E3C40902D}"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3623254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310 Slides-0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92288" y="44450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2571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0117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18C577C-36B9-A749-96AC-1A7E3C40902D}"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3A3C7-8D46-DB42-89CB-992E9276FE32}" type="slidenum">
              <a:rPr lang="en-US" smtClean="0"/>
              <a:t>‹#›</a:t>
            </a:fld>
            <a:endParaRPr lang="en-US"/>
          </a:p>
        </p:txBody>
      </p:sp>
    </p:spTree>
    <p:extLst>
      <p:ext uri="{BB962C8B-B14F-4D97-AF65-F5344CB8AC3E}">
        <p14:creationId xmlns:p14="http://schemas.microsoft.com/office/powerpoint/2010/main" val="1018505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8C577C-36B9-A749-96AC-1A7E3C40902D}" type="datetimeFigureOut">
              <a:rPr lang="en-US" smtClean="0"/>
              <a:t>10/22/2025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13A3C7-8D46-DB42-89CB-992E9276FE32}" type="slidenum">
              <a:rPr lang="en-US" smtClean="0"/>
              <a:t>‹#›</a:t>
            </a:fld>
            <a:endParaRPr lang="en-US"/>
          </a:p>
        </p:txBody>
      </p:sp>
    </p:spTree>
    <p:extLst>
      <p:ext uri="{BB962C8B-B14F-4D97-AF65-F5344CB8AC3E}">
        <p14:creationId xmlns:p14="http://schemas.microsoft.com/office/powerpoint/2010/main" val="3027364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24"/>
        <p:cNvGrpSpPr/>
        <p:nvPr/>
      </p:nvGrpSpPr>
      <p:grpSpPr>
        <a:xfrm>
          <a:off x="0" y="0"/>
          <a:ext cx="0" cy="0"/>
          <a:chOff x="0" y="0"/>
          <a:chExt cx="0" cy="0"/>
        </a:xfrm>
      </p:grpSpPr>
      <p:sp>
        <p:nvSpPr>
          <p:cNvPr id="5125" name="Google Shape;5125;p1"/>
          <p:cNvSpPr txBox="1">
            <a:spLocks noGrp="1"/>
          </p:cNvSpPr>
          <p:nvPr>
            <p:ph type="subTitle" idx="1"/>
          </p:nvPr>
        </p:nvSpPr>
        <p:spPr>
          <a:xfrm>
            <a:off x="1378395" y="1824889"/>
            <a:ext cx="6400800" cy="7332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595959"/>
              </a:buClr>
              <a:buSzPts val="3200"/>
              <a:buNone/>
            </a:pPr>
            <a:r>
              <a:rPr lang="en-US" dirty="0"/>
              <a:t>Networking and Communication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a:xfrm>
            <a:off x="457200" y="1321945"/>
            <a:ext cx="8229600" cy="5153283"/>
          </a:xfrm>
        </p:spPr>
        <p:txBody>
          <a:bodyPr>
            <a:normAutofit/>
          </a:bodyPr>
          <a:lstStyle/>
          <a:p>
            <a:pPr marL="0" indent="0">
              <a:buNone/>
            </a:pPr>
            <a:r>
              <a:rPr lang="en-US" dirty="0"/>
              <a:t>Upon successful completion of this chapter, you will be able to:</a:t>
            </a:r>
          </a:p>
          <a:p>
            <a:r>
              <a:rPr lang="en-US" dirty="0"/>
              <a:t>understand the history and development of networking technologies.</a:t>
            </a:r>
          </a:p>
          <a:p>
            <a:r>
              <a:rPr lang="en-US" dirty="0"/>
              <a:t>Define the key terms associated with networking technologies.</a:t>
            </a:r>
          </a:p>
          <a:p>
            <a:r>
              <a:rPr lang="en-US" dirty="0"/>
              <a:t>Understand the importance of broadband technologies.</a:t>
            </a:r>
          </a:p>
          <a:p>
            <a:r>
              <a:rPr lang="en-US" dirty="0"/>
              <a:t>Describe organizational networking.</a:t>
            </a:r>
          </a:p>
        </p:txBody>
      </p:sp>
    </p:spTree>
    <p:extLst>
      <p:ext uri="{BB962C8B-B14F-4D97-AF65-F5344CB8AC3E}">
        <p14:creationId xmlns:p14="http://schemas.microsoft.com/office/powerpoint/2010/main" val="3392768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Brief History of the Internet</a:t>
            </a:r>
          </a:p>
        </p:txBody>
      </p:sp>
      <p:sp>
        <p:nvSpPr>
          <p:cNvPr id="3" name="Content Placeholder 2"/>
          <p:cNvSpPr>
            <a:spLocks noGrp="1"/>
          </p:cNvSpPr>
          <p:nvPr>
            <p:ph idx="1"/>
          </p:nvPr>
        </p:nvSpPr>
        <p:spPr/>
        <p:txBody>
          <a:bodyPr>
            <a:normAutofit fontScale="85000" lnSpcReduction="20000"/>
          </a:bodyPr>
          <a:lstStyle/>
          <a:p>
            <a:r>
              <a:rPr lang="en-US" dirty="0"/>
              <a:t>ARPANET: Advanced Research Projects Agency Network</a:t>
            </a:r>
          </a:p>
          <a:p>
            <a:pPr lvl="1"/>
            <a:r>
              <a:rPr lang="en-US" dirty="0"/>
              <a:t>Cold War – military or intelligence advantage</a:t>
            </a:r>
          </a:p>
          <a:p>
            <a:pPr lvl="1"/>
            <a:r>
              <a:rPr lang="en-US" dirty="0"/>
              <a:t>ARPA requested proposals for communication technology</a:t>
            </a:r>
          </a:p>
          <a:p>
            <a:pPr lvl="1"/>
            <a:r>
              <a:rPr lang="en-US" dirty="0"/>
              <a:t>Bolt, </a:t>
            </a:r>
            <a:r>
              <a:rPr lang="en-US" dirty="0" err="1"/>
              <a:t>Beranek</a:t>
            </a:r>
            <a:r>
              <a:rPr lang="en-US" dirty="0"/>
              <a:t>, and Newman (BBN) completed project in 1 year</a:t>
            </a:r>
          </a:p>
          <a:p>
            <a:pPr lvl="1"/>
            <a:r>
              <a:rPr lang="en-US" dirty="0"/>
              <a:t>Four nodes: UCLA, Stanford, MIT, &amp; University of Utah</a:t>
            </a:r>
          </a:p>
          <a:p>
            <a:endParaRPr lang="en-US" dirty="0"/>
          </a:p>
          <a:p>
            <a:r>
              <a:rPr lang="en-US" dirty="0"/>
              <a:t>Introduction of the Internet</a:t>
            </a:r>
          </a:p>
          <a:p>
            <a:pPr lvl="1"/>
            <a:r>
              <a:rPr lang="en-US" dirty="0"/>
              <a:t>New networks but different languages (protocol)</a:t>
            </a:r>
          </a:p>
          <a:p>
            <a:pPr lvl="1"/>
            <a:r>
              <a:rPr lang="en-US" dirty="0"/>
              <a:t>Solution: transmission control protocol/Internet protocol (TCP/IP)</a:t>
            </a:r>
          </a:p>
          <a:p>
            <a:pPr lvl="1"/>
            <a:r>
              <a:rPr lang="en-US" dirty="0"/>
              <a:t>Internet: an interconnected network of networks</a:t>
            </a:r>
          </a:p>
          <a:p>
            <a:endParaRPr lang="en-US" dirty="0"/>
          </a:p>
        </p:txBody>
      </p:sp>
    </p:spTree>
    <p:extLst>
      <p:ext uri="{BB962C8B-B14F-4D97-AF65-F5344CB8AC3E}">
        <p14:creationId xmlns:p14="http://schemas.microsoft.com/office/powerpoint/2010/main" val="25093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Terms</a:t>
            </a:r>
          </a:p>
        </p:txBody>
      </p:sp>
      <p:sp>
        <p:nvSpPr>
          <p:cNvPr id="3" name="Content Placeholder 2"/>
          <p:cNvSpPr>
            <a:spLocks noGrp="1"/>
          </p:cNvSpPr>
          <p:nvPr>
            <p:ph idx="1"/>
          </p:nvPr>
        </p:nvSpPr>
        <p:spPr/>
        <p:txBody>
          <a:bodyPr>
            <a:normAutofit fontScale="92500" lnSpcReduction="10000"/>
          </a:bodyPr>
          <a:lstStyle/>
          <a:p>
            <a:r>
              <a:rPr lang="en-US" dirty="0"/>
              <a:t>Packet – data sent over the internet</a:t>
            </a:r>
          </a:p>
          <a:p>
            <a:r>
              <a:rPr lang="en-US" dirty="0"/>
              <a:t>Hub – connects other devices to the network and sends packets to all devices connected to it. </a:t>
            </a:r>
          </a:p>
          <a:p>
            <a:r>
              <a:rPr lang="en-US" dirty="0"/>
              <a:t>Bridge – connects two networks together and filters packets.</a:t>
            </a:r>
          </a:p>
          <a:p>
            <a:r>
              <a:rPr lang="en-US" dirty="0"/>
              <a:t>Switches – connects multiple devices and filters packets based upon destination.</a:t>
            </a:r>
          </a:p>
          <a:p>
            <a:r>
              <a:rPr lang="en-US" dirty="0"/>
              <a:t>Router – receives and analyzes packets, then sends them to specific destinations.</a:t>
            </a:r>
          </a:p>
        </p:txBody>
      </p:sp>
    </p:spTree>
    <p:extLst>
      <p:ext uri="{BB962C8B-B14F-4D97-AF65-F5344CB8AC3E}">
        <p14:creationId xmlns:p14="http://schemas.microsoft.com/office/powerpoint/2010/main" val="2120843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Terms (contd.)</a:t>
            </a:r>
          </a:p>
        </p:txBody>
      </p:sp>
      <p:sp>
        <p:nvSpPr>
          <p:cNvPr id="3" name="Content Placeholder 2"/>
          <p:cNvSpPr>
            <a:spLocks noGrp="1"/>
          </p:cNvSpPr>
          <p:nvPr>
            <p:ph idx="1"/>
          </p:nvPr>
        </p:nvSpPr>
        <p:spPr/>
        <p:txBody>
          <a:bodyPr>
            <a:normAutofit fontScale="62500" lnSpcReduction="20000"/>
          </a:bodyPr>
          <a:lstStyle/>
          <a:p>
            <a:r>
              <a:rPr lang="en-US" dirty="0"/>
              <a:t>Internet Protocol (IP) Address – Unique number that identifies a device.</a:t>
            </a:r>
          </a:p>
          <a:p>
            <a:pPr lvl="1"/>
            <a:r>
              <a:rPr lang="en-US" dirty="0"/>
              <a:t>IPv4: ###.##.###.### </a:t>
            </a:r>
          </a:p>
          <a:p>
            <a:pPr lvl="2"/>
            <a:r>
              <a:rPr lang="en-US" dirty="0"/>
              <a:t>Limit 4,294,967,296 addresses</a:t>
            </a:r>
          </a:p>
          <a:p>
            <a:pPr lvl="1"/>
            <a:r>
              <a:rPr lang="en-US" dirty="0"/>
              <a:t>IPv6: ####.####.####.####.####.####.####.####</a:t>
            </a:r>
          </a:p>
          <a:p>
            <a:pPr lvl="2"/>
            <a:r>
              <a:rPr lang="en-US" dirty="0"/>
              <a:t>Hexadecimals are base 16 (0 1 2 3 4 5 6 7 8 9 a b c d e f)</a:t>
            </a:r>
          </a:p>
          <a:p>
            <a:pPr lvl="2"/>
            <a:r>
              <a:rPr lang="en-US" dirty="0"/>
              <a:t>Limit 3.4 x 10</a:t>
            </a:r>
            <a:r>
              <a:rPr lang="en-US" baseline="30000" dirty="0"/>
              <a:t>38 </a:t>
            </a:r>
            <a:r>
              <a:rPr lang="en-US" dirty="0"/>
              <a:t>addresses</a:t>
            </a:r>
          </a:p>
          <a:p>
            <a:r>
              <a:rPr lang="en-US" dirty="0"/>
              <a:t>Domain Name (Google - 74.125.224.72) – common name for a Website so you don’t have to remember the IP address.</a:t>
            </a:r>
          </a:p>
          <a:p>
            <a:r>
              <a:rPr lang="en-US" dirty="0"/>
              <a:t>Domain Name System (DNS) – throughout the internet.  Translates domain names to IP addresses.</a:t>
            </a:r>
          </a:p>
          <a:p>
            <a:r>
              <a:rPr lang="en-US" dirty="0"/>
              <a:t>.</a:t>
            </a:r>
          </a:p>
          <a:p>
            <a:r>
              <a:rPr lang="en-US" dirty="0"/>
              <a:t>Packet-switching – How packets travel across a network, through routers.  Multiple packets may be broken up and sent different routes.</a:t>
            </a:r>
          </a:p>
          <a:p>
            <a:r>
              <a:rPr lang="en-US" dirty="0"/>
              <a:t>Protocol – Set of rules that allow devices to exchange information</a:t>
            </a:r>
          </a:p>
        </p:txBody>
      </p:sp>
    </p:spTree>
    <p:extLst>
      <p:ext uri="{BB962C8B-B14F-4D97-AF65-F5344CB8AC3E}">
        <p14:creationId xmlns:p14="http://schemas.microsoft.com/office/powerpoint/2010/main" val="3491577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and the World Wide Web</a:t>
            </a:r>
          </a:p>
        </p:txBody>
      </p:sp>
      <p:sp>
        <p:nvSpPr>
          <p:cNvPr id="3" name="Content Placeholder 2"/>
          <p:cNvSpPr>
            <a:spLocks noGrp="1"/>
          </p:cNvSpPr>
          <p:nvPr>
            <p:ph idx="1"/>
          </p:nvPr>
        </p:nvSpPr>
        <p:spPr/>
        <p:txBody>
          <a:bodyPr>
            <a:normAutofit fontScale="85000" lnSpcReduction="10000"/>
          </a:bodyPr>
          <a:lstStyle/>
          <a:p>
            <a:r>
              <a:rPr lang="en-US" dirty="0"/>
              <a:t>Primary Internet users in 1980s: </a:t>
            </a:r>
            <a:br>
              <a:rPr lang="en-US" dirty="0"/>
            </a:br>
            <a:r>
              <a:rPr lang="en-US" dirty="0"/>
              <a:t>government, academic, and research </a:t>
            </a:r>
            <a:br>
              <a:rPr lang="en-US" dirty="0"/>
            </a:br>
            <a:r>
              <a:rPr lang="en-US" dirty="0"/>
              <a:t>organizations</a:t>
            </a:r>
          </a:p>
          <a:p>
            <a:r>
              <a:rPr lang="en-US" dirty="0"/>
              <a:t>Driven by use of e-mail</a:t>
            </a:r>
          </a:p>
          <a:p>
            <a:r>
              <a:rPr lang="en-US" dirty="0"/>
              <a:t>World Wide Web project </a:t>
            </a:r>
          </a:p>
          <a:p>
            <a:pPr lvl="1"/>
            <a:r>
              <a:rPr lang="en-US" dirty="0"/>
              <a:t>Graduate Student Tim Berners-Lee, needed a way to link his dissertations advisors comments together:  Hypertext.</a:t>
            </a:r>
          </a:p>
          <a:p>
            <a:pPr lvl="1"/>
            <a:r>
              <a:rPr lang="en-US" dirty="0"/>
              <a:t>1993 Mosaic browser allowed combinations of text and graphics</a:t>
            </a:r>
          </a:p>
          <a:p>
            <a:pPr lvl="1"/>
            <a:r>
              <a:rPr lang="en-US" dirty="0"/>
              <a:t>1994 Netscape Navigator first commercial web browser</a:t>
            </a:r>
          </a:p>
          <a:p>
            <a:endParaRPr lang="en-US" dirty="0"/>
          </a:p>
        </p:txBody>
      </p:sp>
      <p:sp>
        <p:nvSpPr>
          <p:cNvPr id="4" name="AutoShape 2" descr="Image result for tim berners lee"/>
          <p:cNvSpPr>
            <a:spLocks noChangeAspect="1" noChangeArrowheads="1"/>
          </p:cNvSpPr>
          <p:nvPr/>
        </p:nvSpPr>
        <p:spPr bwMode="auto">
          <a:xfrm>
            <a:off x="116681" y="-144463"/>
            <a:ext cx="2286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7676" y="1710266"/>
            <a:ext cx="1620678" cy="1948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922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Dot-Com Bubble</a:t>
            </a:r>
          </a:p>
        </p:txBody>
      </p:sp>
      <p:sp>
        <p:nvSpPr>
          <p:cNvPr id="3" name="Content Placeholder 2"/>
          <p:cNvSpPr>
            <a:spLocks noGrp="1"/>
          </p:cNvSpPr>
          <p:nvPr>
            <p:ph idx="1"/>
          </p:nvPr>
        </p:nvSpPr>
        <p:spPr>
          <a:xfrm>
            <a:off x="457200" y="1600200"/>
            <a:ext cx="8229600" cy="4815348"/>
          </a:xfrm>
        </p:spPr>
        <p:txBody>
          <a:bodyPr>
            <a:normAutofit fontScale="77500" lnSpcReduction="20000"/>
          </a:bodyPr>
          <a:lstStyle/>
          <a:p>
            <a:r>
              <a:rPr lang="en-US" dirty="0"/>
              <a:t>National Science Foundation (NSF) </a:t>
            </a:r>
          </a:p>
          <a:p>
            <a:pPr lvl="1"/>
            <a:r>
              <a:rPr lang="en-US" dirty="0"/>
              <a:t>Managed Internet until early 1990s</a:t>
            </a:r>
          </a:p>
          <a:p>
            <a:pPr lvl="1"/>
            <a:r>
              <a:rPr lang="en-US" dirty="0"/>
              <a:t>Restricted commercial ventures</a:t>
            </a:r>
          </a:p>
          <a:p>
            <a:r>
              <a:rPr lang="en-US" dirty="0"/>
              <a:t>1991 NSF transfers control to US Government</a:t>
            </a:r>
          </a:p>
          <a:p>
            <a:pPr lvl="1"/>
            <a:r>
              <a:rPr lang="en-US" dirty="0"/>
              <a:t>Commercial use of the Internet is now possible</a:t>
            </a:r>
          </a:p>
          <a:p>
            <a:pPr lvl="1"/>
            <a:r>
              <a:rPr lang="en-US" dirty="0"/>
              <a:t>Surge of investment in online companies</a:t>
            </a:r>
          </a:p>
          <a:p>
            <a:pPr lvl="1"/>
            <a:r>
              <a:rPr lang="en-US" dirty="0"/>
              <a:t>Investors understood e-commerce would be highly profitable</a:t>
            </a:r>
          </a:p>
          <a:p>
            <a:pPr lvl="1"/>
            <a:r>
              <a:rPr lang="en-US" dirty="0"/>
              <a:t>Poor business models led to widespread failures</a:t>
            </a:r>
          </a:p>
          <a:p>
            <a:pPr lvl="1"/>
            <a:r>
              <a:rPr lang="en-US" dirty="0"/>
              <a:t>2000-2001, many internet companies went bust (Dot-Com Bubble, Dot-Bomb)</a:t>
            </a:r>
          </a:p>
          <a:p>
            <a:pPr lvl="1"/>
            <a:r>
              <a:rPr lang="en-US" dirty="0"/>
              <a:t>Dot com bubble was a rapid rise in U.S. tech stock equity as a result of investment in internet based companies. </a:t>
            </a:r>
          </a:p>
          <a:p>
            <a:pPr lvl="1"/>
            <a:r>
              <a:rPr lang="en-US" dirty="0"/>
              <a:t>Companies needed better strategies and management to survive</a:t>
            </a:r>
          </a:p>
          <a:p>
            <a:endParaRPr lang="en-US" dirty="0"/>
          </a:p>
        </p:txBody>
      </p:sp>
    </p:spTree>
    <p:extLst>
      <p:ext uri="{BB962C8B-B14F-4D97-AF65-F5344CB8AC3E}">
        <p14:creationId xmlns:p14="http://schemas.microsoft.com/office/powerpoint/2010/main" val="2465099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2.0</a:t>
            </a:r>
          </a:p>
        </p:txBody>
      </p:sp>
      <p:sp>
        <p:nvSpPr>
          <p:cNvPr id="3" name="Content Placeholder 2"/>
          <p:cNvSpPr>
            <a:spLocks noGrp="1"/>
          </p:cNvSpPr>
          <p:nvPr>
            <p:ph idx="1"/>
          </p:nvPr>
        </p:nvSpPr>
        <p:spPr/>
        <p:txBody>
          <a:bodyPr>
            <a:normAutofit fontScale="92500" lnSpcReduction="10000"/>
          </a:bodyPr>
          <a:lstStyle/>
          <a:p>
            <a:r>
              <a:rPr lang="en-US" dirty="0"/>
              <a:t>Web 1.0</a:t>
            </a:r>
          </a:p>
          <a:p>
            <a:pPr lvl="1"/>
            <a:r>
              <a:rPr lang="en-US" dirty="0"/>
              <a:t>Web pages</a:t>
            </a:r>
          </a:p>
          <a:p>
            <a:pPr lvl="1"/>
            <a:r>
              <a:rPr lang="en-US" dirty="0"/>
              <a:t>Not interactive</a:t>
            </a:r>
          </a:p>
          <a:p>
            <a:pPr lvl="1"/>
            <a:r>
              <a:rPr lang="en-US" dirty="0"/>
              <a:t>People find and view information but don’t‘ interact with it</a:t>
            </a:r>
          </a:p>
          <a:p>
            <a:r>
              <a:rPr lang="en-US" dirty="0"/>
              <a:t>Web 2.0</a:t>
            </a:r>
          </a:p>
          <a:p>
            <a:pPr lvl="1"/>
            <a:r>
              <a:rPr lang="en-US" dirty="0"/>
              <a:t>Users can communicate with Web sites and each other</a:t>
            </a:r>
          </a:p>
          <a:p>
            <a:pPr lvl="1"/>
            <a:r>
              <a:rPr lang="en-US" dirty="0"/>
              <a:t>YouTube, Wiki, Flickr, Facebook…etc.</a:t>
            </a:r>
          </a:p>
          <a:p>
            <a:r>
              <a:rPr lang="en-US" dirty="0"/>
              <a:t>Web 3.0 – Semantic Web – emerging now</a:t>
            </a:r>
          </a:p>
        </p:txBody>
      </p:sp>
    </p:spTree>
    <p:extLst>
      <p:ext uri="{BB962C8B-B14F-4D97-AF65-F5344CB8AC3E}">
        <p14:creationId xmlns:p14="http://schemas.microsoft.com/office/powerpoint/2010/main" val="1788967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Sidebar: Internet vs. WWW</a:t>
            </a:r>
          </a:p>
        </p:txBody>
      </p:sp>
      <p:sp>
        <p:nvSpPr>
          <p:cNvPr id="3" name="Content Placeholder 2"/>
          <p:cNvSpPr>
            <a:spLocks noGrp="1"/>
          </p:cNvSpPr>
          <p:nvPr>
            <p:ph idx="1"/>
          </p:nvPr>
        </p:nvSpPr>
        <p:spPr/>
        <p:txBody>
          <a:bodyPr/>
          <a:lstStyle/>
          <a:p>
            <a:r>
              <a:rPr lang="en-US" dirty="0"/>
              <a:t>What is the difference?</a:t>
            </a:r>
          </a:p>
          <a:p>
            <a:pPr lvl="1"/>
            <a:r>
              <a:rPr lang="en-US" dirty="0"/>
              <a:t>Not the same</a:t>
            </a:r>
          </a:p>
          <a:p>
            <a:pPr lvl="1"/>
            <a:r>
              <a:rPr lang="en-US" dirty="0"/>
              <a:t>WWW is part of the Internet</a:t>
            </a:r>
          </a:p>
          <a:p>
            <a:r>
              <a:rPr lang="en-US" dirty="0"/>
              <a:t>Internet:  A network of networks, across the planet.</a:t>
            </a:r>
          </a:p>
          <a:p>
            <a:r>
              <a:rPr lang="en-US" dirty="0"/>
              <a:t>WWW: Web servers with HTML pages that are viewed on devices with Web browsers.</a:t>
            </a:r>
          </a:p>
        </p:txBody>
      </p:sp>
    </p:spTree>
    <p:extLst>
      <p:ext uri="{BB962C8B-B14F-4D97-AF65-F5344CB8AC3E}">
        <p14:creationId xmlns:p14="http://schemas.microsoft.com/office/powerpoint/2010/main" val="1908278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Growth of Broadband</a:t>
            </a:r>
          </a:p>
        </p:txBody>
      </p:sp>
      <p:sp>
        <p:nvSpPr>
          <p:cNvPr id="3" name="Content Placeholder 2"/>
          <p:cNvSpPr>
            <a:spLocks noGrp="1"/>
          </p:cNvSpPr>
          <p:nvPr>
            <p:ph idx="1"/>
          </p:nvPr>
        </p:nvSpPr>
        <p:spPr/>
        <p:txBody>
          <a:bodyPr>
            <a:normAutofit fontScale="77500" lnSpcReduction="20000"/>
          </a:bodyPr>
          <a:lstStyle/>
          <a:p>
            <a:r>
              <a:rPr lang="en-US" dirty="0"/>
              <a:t>In the 70s/80s people used dial up modems to connect to computers.</a:t>
            </a:r>
          </a:p>
          <a:p>
            <a:pPr lvl="1"/>
            <a:r>
              <a:rPr lang="en-US" dirty="0"/>
              <a:t>Tied up phone lines</a:t>
            </a:r>
          </a:p>
          <a:p>
            <a:pPr lvl="1"/>
            <a:r>
              <a:rPr lang="en-US" dirty="0"/>
              <a:t>Hindered usage – too slow</a:t>
            </a:r>
          </a:p>
          <a:p>
            <a:pPr lvl="1"/>
            <a:r>
              <a:rPr lang="en-US" dirty="0"/>
              <a:t>Speed measured in bps</a:t>
            </a:r>
          </a:p>
          <a:p>
            <a:r>
              <a:rPr lang="en-US" dirty="0"/>
              <a:t>Cable or DSL (or satellite) offered higher speed </a:t>
            </a:r>
          </a:p>
          <a:p>
            <a:r>
              <a:rPr lang="en-US" dirty="0"/>
              <a:t>Broadband (-coaxial cable, </a:t>
            </a:r>
            <a:r>
              <a:rPr lang="en-US" dirty="0" err="1"/>
              <a:t>fibre</a:t>
            </a:r>
            <a:r>
              <a:rPr lang="en-US" dirty="0"/>
              <a:t> optics and radio waves)</a:t>
            </a:r>
          </a:p>
          <a:p>
            <a:pPr lvl="1"/>
            <a:r>
              <a:rPr lang="en-US" dirty="0"/>
              <a:t>Connections faster than 256,000 bps (speeds are much higher now)</a:t>
            </a:r>
          </a:p>
          <a:p>
            <a:pPr lvl="1"/>
            <a:r>
              <a:rPr lang="en-US" dirty="0"/>
              <a:t>Average home broadband speed is between 3 mbps and 30 mbps</a:t>
            </a:r>
          </a:p>
          <a:p>
            <a:pPr lvl="1"/>
            <a:r>
              <a:rPr lang="en-US" dirty="0"/>
              <a:t>Enabled growth of new businesses and ways that people use technology</a:t>
            </a:r>
          </a:p>
        </p:txBody>
      </p:sp>
    </p:spTree>
    <p:extLst>
      <p:ext uri="{BB962C8B-B14F-4D97-AF65-F5344CB8AC3E}">
        <p14:creationId xmlns:p14="http://schemas.microsoft.com/office/powerpoint/2010/main" val="3006968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Networking</a:t>
            </a:r>
          </a:p>
        </p:txBody>
      </p:sp>
      <p:sp>
        <p:nvSpPr>
          <p:cNvPr id="3" name="Content Placeholder 2"/>
          <p:cNvSpPr>
            <a:spLocks noGrp="1"/>
          </p:cNvSpPr>
          <p:nvPr>
            <p:ph idx="1"/>
          </p:nvPr>
        </p:nvSpPr>
        <p:spPr/>
        <p:txBody>
          <a:bodyPr/>
          <a:lstStyle/>
          <a:p>
            <a:r>
              <a:rPr lang="en-US" dirty="0"/>
              <a:t>Wi-Fi: allows devices to connect to the internet through a wi-Fi enabled router.</a:t>
            </a:r>
          </a:p>
          <a:p>
            <a:r>
              <a:rPr lang="en-US" dirty="0"/>
              <a:t>Mobile Network: a telecom that provides services to mobile devices via radio waves.</a:t>
            </a:r>
          </a:p>
          <a:p>
            <a:r>
              <a:rPr lang="en-US" dirty="0"/>
              <a:t>Bluetooth: radio waves for information transfer</a:t>
            </a:r>
          </a:p>
          <a:p>
            <a:r>
              <a:rPr lang="en-US" dirty="0"/>
              <a:t>VoIP: the tech. that allows you to make call through broadband instead of telephone lines.</a:t>
            </a:r>
          </a:p>
        </p:txBody>
      </p:sp>
    </p:spTree>
    <p:extLst>
      <p:ext uri="{BB962C8B-B14F-4D97-AF65-F5344CB8AC3E}">
        <p14:creationId xmlns:p14="http://schemas.microsoft.com/office/powerpoint/2010/main" val="1459235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Networking</a:t>
            </a:r>
          </a:p>
        </p:txBody>
      </p:sp>
      <p:sp>
        <p:nvSpPr>
          <p:cNvPr id="3" name="Content Placeholder 2"/>
          <p:cNvSpPr>
            <a:spLocks noGrp="1"/>
          </p:cNvSpPr>
          <p:nvPr>
            <p:ph idx="1"/>
          </p:nvPr>
        </p:nvSpPr>
        <p:spPr>
          <a:xfrm>
            <a:off x="628650" y="1825625"/>
            <a:ext cx="4962525" cy="4304247"/>
          </a:xfrm>
        </p:spPr>
        <p:txBody>
          <a:bodyPr/>
          <a:lstStyle/>
          <a:p>
            <a:r>
              <a:rPr lang="en-US" dirty="0"/>
              <a:t>Intranet – within the organization.</a:t>
            </a:r>
          </a:p>
          <a:p>
            <a:r>
              <a:rPr lang="en-US" dirty="0"/>
              <a:t>Extranet – allowing partners into your network for specific things (</a:t>
            </a:r>
            <a:r>
              <a:rPr lang="en-US" dirty="0" err="1"/>
              <a:t>eg</a:t>
            </a:r>
            <a:r>
              <a:rPr lang="en-US" dirty="0"/>
              <a:t>. Supply Chain Management) </a:t>
            </a:r>
          </a:p>
          <a:p>
            <a:r>
              <a:rPr lang="en-US" dirty="0"/>
              <a:t>Internet </a:t>
            </a:r>
          </a:p>
          <a:p>
            <a:endParaRPr lang="en-US" dirty="0"/>
          </a:p>
        </p:txBody>
      </p:sp>
      <p:pic>
        <p:nvPicPr>
          <p:cNvPr id="4" name="Picture 2" descr="http://bus206.pressbooks.com/files/2013/05/Intranet-Extranet-Diagram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7325" y="1983322"/>
            <a:ext cx="3378994"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1727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p:cNvSpPr/>
          <p:nvPr/>
        </p:nvSpPr>
        <p:spPr>
          <a:xfrm>
            <a:off x="1143000" y="1600200"/>
            <a:ext cx="3810000" cy="29718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rtl="0" eaLnBrk="1" latinLnBrk="0" hangingPunct="1"/>
            <a:r>
              <a:rPr lang="en-US" dirty="0">
                <a:effectLst/>
              </a:rPr>
              <a:t>Cloud Computing</a:t>
            </a:r>
          </a:p>
          <a:p>
            <a:endParaRPr lang="en-US" dirty="0"/>
          </a:p>
        </p:txBody>
      </p:sp>
      <p:sp>
        <p:nvSpPr>
          <p:cNvPr id="3" name="Content Placeholder 2">
            <a:extLst>
              <a:ext uri="{FF2B5EF4-FFF2-40B4-BE49-F238E27FC236}">
                <a16:creationId xmlns:a16="http://schemas.microsoft.com/office/drawing/2014/main" id="{6EDBFBF7-93F3-45D3-9088-C993CC31D488}"/>
              </a:ext>
            </a:extLst>
          </p:cNvPr>
          <p:cNvSpPr>
            <a:spLocks noGrp="1"/>
          </p:cNvSpPr>
          <p:nvPr>
            <p:ph idx="1"/>
          </p:nvPr>
        </p:nvSpPr>
        <p:spPr>
          <a:xfrm>
            <a:off x="457200" y="1105268"/>
            <a:ext cx="8229600" cy="4525963"/>
          </a:xfrm>
        </p:spPr>
        <p:txBody>
          <a:bodyPr/>
          <a:lstStyle/>
          <a:p>
            <a:pPr algn="just"/>
            <a:r>
              <a:rPr lang="en-US" dirty="0"/>
              <a:t>Is the on-demand availability of computer system resources, especially data storage and computing power, without direct active management by the user.</a:t>
            </a:r>
            <a:endParaRPr lang="en-GB" dirty="0"/>
          </a:p>
        </p:txBody>
      </p:sp>
    </p:spTree>
    <p:extLst>
      <p:ext uri="{BB962C8B-B14F-4D97-AF65-F5344CB8AC3E}">
        <p14:creationId xmlns:p14="http://schemas.microsoft.com/office/powerpoint/2010/main" val="3978972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6"/>
          <p:cNvSpPr/>
          <p:nvPr/>
        </p:nvSpPr>
        <p:spPr>
          <a:xfrm>
            <a:off x="3657600" y="1076919"/>
            <a:ext cx="5486400" cy="5781082"/>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Cloud Computing</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2362202"/>
            <a:ext cx="1743075"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descr="https://encrypted-tbn1.gstatic.com/images?q=tbn:ANd9GcSgOpz5iRAlvjxSUC0wi3T49iLoYK5qxI74d8uKuGJ-28bxMk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1" y="3671888"/>
            <a:ext cx="1743075" cy="26193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encrypted-tbn1.gstatic.com/images?q=tbn:ANd9GcSgOpz5iRAlvjxSUC0wi3T49iLoYK5qxI74d8uKuGJ-28bxMk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1" y="2362202"/>
            <a:ext cx="1743075" cy="26193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s://encrypted-tbn1.gstatic.com/images?q=tbn:ANd9GcSgOpz5iRAlvjxSUC0wi3T49iLoYK5qxI74d8uKuGJ-28bxMk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3526" y="1604963"/>
            <a:ext cx="1743075" cy="261937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s://encrypted-tbn1.gstatic.com/images?q=tbn:ANd9GcSgOpz5iRAlvjxSUC0wi3T49iLoYK5qxI74d8uKuGJ-28bxMk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5063" y="2281239"/>
            <a:ext cx="1743075" cy="261937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https://encrypted-tbn1.gstatic.com/images?q=tbn:ANd9GcSgOpz5iRAlvjxSUC0wi3T49iLoYK5qxI74d8uKuGJ-28bxMk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1" y="2971802"/>
            <a:ext cx="1743075" cy="2619375"/>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https://encrypted-tbn1.gstatic.com/images?q=tbn:ANd9GcSgOpz5iRAlvjxSUC0wi3T49iLoYK5qxI74d8uKuGJ-28bxMk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1" y="3429002"/>
            <a:ext cx="1743075" cy="26193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33400" y="1604964"/>
            <a:ext cx="1786066" cy="646331"/>
          </a:xfrm>
          <a:prstGeom prst="rect">
            <a:avLst/>
          </a:prstGeom>
          <a:noFill/>
        </p:spPr>
        <p:txBody>
          <a:bodyPr wrap="none" rtlCol="0">
            <a:spAutoFit/>
          </a:bodyPr>
          <a:lstStyle/>
          <a:p>
            <a:r>
              <a:rPr lang="en-US" sz="3600" dirty="0"/>
              <a:t>In house</a:t>
            </a:r>
          </a:p>
        </p:txBody>
      </p:sp>
      <p:sp>
        <p:nvSpPr>
          <p:cNvPr id="5" name="TextBox 4"/>
          <p:cNvSpPr txBox="1"/>
          <p:nvPr/>
        </p:nvSpPr>
        <p:spPr>
          <a:xfrm>
            <a:off x="7377786" y="1076920"/>
            <a:ext cx="1213794" cy="646331"/>
          </a:xfrm>
          <a:prstGeom prst="rect">
            <a:avLst/>
          </a:prstGeom>
          <a:noFill/>
        </p:spPr>
        <p:txBody>
          <a:bodyPr wrap="none" rtlCol="0">
            <a:spAutoFit/>
          </a:bodyPr>
          <a:lstStyle/>
          <a:p>
            <a:r>
              <a:rPr lang="en-US" sz="3600" dirty="0"/>
              <a:t>cloud</a:t>
            </a:r>
          </a:p>
        </p:txBody>
      </p:sp>
      <p:sp>
        <p:nvSpPr>
          <p:cNvPr id="6" name="TextBox 5"/>
          <p:cNvSpPr txBox="1"/>
          <p:nvPr/>
        </p:nvSpPr>
        <p:spPr>
          <a:xfrm>
            <a:off x="8059570" y="1609726"/>
            <a:ext cx="1066895" cy="646331"/>
          </a:xfrm>
          <a:prstGeom prst="rect">
            <a:avLst/>
          </a:prstGeom>
          <a:noFill/>
        </p:spPr>
        <p:txBody>
          <a:bodyPr wrap="none" rtlCol="0">
            <a:spAutoFit/>
          </a:bodyPr>
          <a:lstStyle/>
          <a:p>
            <a:r>
              <a:rPr lang="en-US" sz="3600" dirty="0"/>
              <a:t>farm</a:t>
            </a:r>
          </a:p>
        </p:txBody>
      </p:sp>
    </p:spTree>
    <p:extLst>
      <p:ext uri="{BB962C8B-B14F-4D97-AF65-F5344CB8AC3E}">
        <p14:creationId xmlns:p14="http://schemas.microsoft.com/office/powerpoint/2010/main" val="3806940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283087" cy="1965642"/>
          </a:xfrm>
        </p:spPr>
        <p:txBody>
          <a:bodyPr>
            <a:normAutofit fontScale="90000"/>
          </a:bodyPr>
          <a:lstStyle/>
          <a:p>
            <a:pPr algn="just"/>
            <a:r>
              <a:rPr lang="en-US" dirty="0"/>
              <a:t>Google’s Server Farms or Data Centers</a:t>
            </a:r>
            <a:br>
              <a:rPr lang="en-US" dirty="0"/>
            </a:br>
            <a:r>
              <a:rPr lang="en-US" sz="3100" dirty="0"/>
              <a:t>A facility that has hardware and networking equipment that serves as the backbone of a cloud provider’s infrastructure.</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1" y="2379980"/>
            <a:ext cx="8283087"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3373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Farms</a:t>
            </a:r>
          </a:p>
        </p:txBody>
      </p:sp>
      <p:sp>
        <p:nvSpPr>
          <p:cNvPr id="3" name="Content Placeholder 2"/>
          <p:cNvSpPr>
            <a:spLocks noGrp="1"/>
          </p:cNvSpPr>
          <p:nvPr>
            <p:ph idx="1"/>
          </p:nvPr>
        </p:nvSpPr>
        <p:spPr>
          <a:xfrm>
            <a:off x="457200" y="1600200"/>
            <a:ext cx="8229600" cy="5105400"/>
          </a:xfrm>
        </p:spPr>
        <p:txBody>
          <a:bodyPr>
            <a:normAutofit lnSpcReduction="10000"/>
          </a:bodyPr>
          <a:lstStyle/>
          <a:p>
            <a:r>
              <a:rPr lang="en-US" dirty="0"/>
              <a:t>Headlines</a:t>
            </a:r>
          </a:p>
          <a:p>
            <a:pPr lvl="1"/>
            <a:r>
              <a:rPr lang="en-US" dirty="0"/>
              <a:t>Fjord Cooled Data Center in Norway is the Worlds Greenest Data Center</a:t>
            </a:r>
          </a:p>
          <a:p>
            <a:pPr lvl="1"/>
            <a:r>
              <a:rPr lang="en-US" dirty="0"/>
              <a:t>Facebook to Build Server Farm at the Artic Circle</a:t>
            </a:r>
          </a:p>
          <a:p>
            <a:r>
              <a:rPr lang="en-US" dirty="0"/>
              <a:t>Economies</a:t>
            </a:r>
          </a:p>
          <a:p>
            <a:pPr lvl="1"/>
            <a:r>
              <a:rPr lang="en-US" dirty="0"/>
              <a:t>Maintenance</a:t>
            </a:r>
          </a:p>
          <a:p>
            <a:pPr lvl="1"/>
            <a:r>
              <a:rPr lang="en-US" dirty="0"/>
              <a:t>Labor</a:t>
            </a:r>
          </a:p>
          <a:p>
            <a:pPr lvl="1"/>
            <a:r>
              <a:rPr lang="en-US" dirty="0"/>
              <a:t>Dynamic Scaling</a:t>
            </a:r>
          </a:p>
          <a:p>
            <a:pPr lvl="1"/>
            <a:r>
              <a:rPr lang="en-US" dirty="0"/>
              <a:t>Backup and Recovery</a:t>
            </a:r>
          </a:p>
          <a:p>
            <a:pPr lvl="1"/>
            <a:r>
              <a:rPr lang="en-US" dirty="0"/>
              <a:t>Cost</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1" y="3733800"/>
            <a:ext cx="4235109"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1893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Computing Problems</a:t>
            </a:r>
          </a:p>
        </p:txBody>
      </p:sp>
      <p:sp>
        <p:nvSpPr>
          <p:cNvPr id="3" name="Content Placeholder 2"/>
          <p:cNvSpPr>
            <a:spLocks noGrp="1"/>
          </p:cNvSpPr>
          <p:nvPr>
            <p:ph idx="1"/>
          </p:nvPr>
        </p:nvSpPr>
        <p:spPr/>
        <p:txBody>
          <a:bodyPr/>
          <a:lstStyle/>
          <a:p>
            <a:r>
              <a:rPr lang="en-US" dirty="0"/>
              <a:t>Security</a:t>
            </a:r>
          </a:p>
          <a:p>
            <a:r>
              <a:rPr lang="en-US" dirty="0"/>
              <a:t>Access – if you lose Internet, it’s over</a:t>
            </a:r>
          </a:p>
          <a:p>
            <a:r>
              <a:rPr lang="en-US" dirty="0"/>
              <a:t>Isn’t always as easy as it seams</a:t>
            </a:r>
          </a:p>
          <a:p>
            <a:r>
              <a:rPr lang="en-US" dirty="0"/>
              <a:t>Service from a giant host might not be as good as what you get in-house</a:t>
            </a:r>
          </a:p>
          <a:p>
            <a:r>
              <a:rPr lang="en-US" dirty="0"/>
              <a:t>Locked in to a specific service provider</a:t>
            </a:r>
          </a:p>
        </p:txBody>
      </p:sp>
    </p:spTree>
    <p:extLst>
      <p:ext uri="{BB962C8B-B14F-4D97-AF65-F5344CB8AC3E}">
        <p14:creationId xmlns:p14="http://schemas.microsoft.com/office/powerpoint/2010/main" val="1486613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3940" y="2135833"/>
            <a:ext cx="3718560" cy="4018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Services from the Cloud</a:t>
            </a:r>
          </a:p>
        </p:txBody>
      </p:sp>
      <p:sp>
        <p:nvSpPr>
          <p:cNvPr id="3" name="Content Placeholder 2"/>
          <p:cNvSpPr>
            <a:spLocks noGrp="1"/>
          </p:cNvSpPr>
          <p:nvPr>
            <p:ph idx="1"/>
          </p:nvPr>
        </p:nvSpPr>
        <p:spPr>
          <a:xfrm>
            <a:off x="457200" y="1600200"/>
            <a:ext cx="4968240" cy="5090160"/>
          </a:xfrm>
        </p:spPr>
        <p:txBody>
          <a:bodyPr>
            <a:normAutofit lnSpcReduction="10000"/>
          </a:bodyPr>
          <a:lstStyle/>
          <a:p>
            <a:r>
              <a:rPr lang="en-US" dirty="0"/>
              <a:t>Platform as a Service (PaaS) – hardware/software tools</a:t>
            </a:r>
          </a:p>
          <a:p>
            <a:r>
              <a:rPr lang="en-US" dirty="0"/>
              <a:t>Software as a </a:t>
            </a:r>
            <a:br>
              <a:rPr lang="en-US" dirty="0"/>
            </a:br>
            <a:r>
              <a:rPr lang="en-US" dirty="0"/>
              <a:t>Service (SaaS) - applications</a:t>
            </a:r>
          </a:p>
          <a:p>
            <a:r>
              <a:rPr lang="en-US" dirty="0"/>
              <a:t>Infrastructure as a </a:t>
            </a:r>
            <a:br>
              <a:rPr lang="en-US" dirty="0"/>
            </a:br>
            <a:r>
              <a:rPr lang="en-US" dirty="0"/>
              <a:t>Service (IaaS) – storing, computing and networking resources.</a:t>
            </a:r>
          </a:p>
          <a:p>
            <a:endParaRPr lang="en-US" dirty="0"/>
          </a:p>
        </p:txBody>
      </p:sp>
    </p:spTree>
    <p:extLst>
      <p:ext uri="{BB962C8B-B14F-4D97-AF65-F5344CB8AC3E}">
        <p14:creationId xmlns:p14="http://schemas.microsoft.com/office/powerpoint/2010/main" val="2433850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dirty="0"/>
              <a:t>Reviewed the history and development of networking technologies.</a:t>
            </a:r>
          </a:p>
          <a:p>
            <a:r>
              <a:rPr lang="en-US" dirty="0"/>
              <a:t>Defined the key terms associated with networking technologies.</a:t>
            </a:r>
          </a:p>
          <a:p>
            <a:r>
              <a:rPr lang="en-US" dirty="0"/>
              <a:t>Review the importance of broadband technologies.</a:t>
            </a:r>
          </a:p>
          <a:p>
            <a:r>
              <a:rPr lang="en-US" dirty="0"/>
              <a:t>Describe organizational networking at a high level.</a:t>
            </a:r>
          </a:p>
          <a:p>
            <a:pPr marL="0" indent="0">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99644" y="510394"/>
            <a:ext cx="870158" cy="1035024"/>
          </a:xfrm>
          <a:prstGeom prst="rect">
            <a:avLst/>
          </a:prstGeom>
        </p:spPr>
      </p:pic>
    </p:spTree>
    <p:extLst>
      <p:ext uri="{BB962C8B-B14F-4D97-AF65-F5344CB8AC3E}">
        <p14:creationId xmlns:p14="http://schemas.microsoft.com/office/powerpoint/2010/main" val="547129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1879</TotalTime>
  <Words>1682</Words>
  <Application>Microsoft Office PowerPoint</Application>
  <PresentationFormat>On-screen Show (4:3)</PresentationFormat>
  <Paragraphs>171</Paragraphs>
  <Slides>19</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Learning Objectives</vt:lpstr>
      <vt:lpstr>A Brief History of the Internet</vt:lpstr>
      <vt:lpstr>Internet Terms</vt:lpstr>
      <vt:lpstr>Internet Terms (contd.)</vt:lpstr>
      <vt:lpstr>Internet and the World Wide Web</vt:lpstr>
      <vt:lpstr>Dot-Com Bubble</vt:lpstr>
      <vt:lpstr>Web 2.0</vt:lpstr>
      <vt:lpstr>Sidebar: Internet vs. WWW</vt:lpstr>
      <vt:lpstr>Growth of Broadband</vt:lpstr>
      <vt:lpstr>Wireless Networking</vt:lpstr>
      <vt:lpstr>Organizational Networking</vt:lpstr>
      <vt:lpstr>Cloud Computing </vt:lpstr>
      <vt:lpstr>Cloud Computing</vt:lpstr>
      <vt:lpstr>Google’s Server Farms or Data Centers A facility that has hardware and networking equipment that serves as the backbone of a cloud provider’s infrastructure.</vt:lpstr>
      <vt:lpstr>Data Farms</vt:lpstr>
      <vt:lpstr>Cloud Computing Problems</vt:lpstr>
      <vt:lpstr>Services from the Cloud</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OLAWOYE</cp:lastModifiedBy>
  <cp:revision>15</cp:revision>
  <dcterms:modified xsi:type="dcterms:W3CDTF">2025-10-23T08:58:08Z</dcterms:modified>
</cp:coreProperties>
</file>