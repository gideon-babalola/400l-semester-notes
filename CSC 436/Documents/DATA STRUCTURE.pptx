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81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tx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10/30/2024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10/30/2024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tx1">
                    <a:lumMod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10/30/2024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10/30/2024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10/30/2024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10/30/2024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10/30/2024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10/30/2024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10/30/2024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10/30/2024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10/30/2024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10/30/2024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10/30/2024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10/30/2024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10/30/2024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10/30/2024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10/30/2024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mt="4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10/30/2024</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outerShdw blurRad="38100" dist="38100" dir="2700000" algn="tl">
              <a:srgbClr val="000000">
                <a:alpha val="43137"/>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outerShdw blurRad="47625" dist="12700" dir="2700000" algn="tl" rotWithShape="0">
              <a:srgbClr val="000000">
                <a:alpha val="36000"/>
              </a:srgbClr>
            </a:outerShdw>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outerShdw blurRad="47625" dist="12700" dir="2700000" algn="tl" rotWithShape="0">
              <a:srgbClr val="000000">
                <a:alpha val="36000"/>
              </a:srgbClr>
            </a:outerShdw>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outerShdw blurRad="47625" dist="12700" dir="2700000" algn="tl" rotWithShape="0">
              <a:srgbClr val="000000">
                <a:alpha val="36000"/>
              </a:srgbClr>
            </a:outerShdw>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outerShdw blurRad="47625" dist="12700" dir="2700000" algn="tl" rotWithShape="0">
              <a:srgbClr val="000000">
                <a:alpha val="36000"/>
              </a:srgbClr>
            </a:outerShdw>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outerShdw blurRad="47625" dist="12700" dir="2700000" algn="tl" rotWithShape="0">
              <a:srgbClr val="000000">
                <a:alpha val="36000"/>
              </a:srgbClr>
            </a:outerShdw>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outerShdw blurRad="47625" dist="12700" dir="2700000" algn="tl" rotWithShape="0">
              <a:srgbClr val="000000">
                <a:alpha val="36000"/>
              </a:srgbClr>
            </a:outerShdw>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outerShdw blurRad="47625" dist="12700" dir="2700000" algn="tl" rotWithShape="0">
              <a:srgbClr val="000000">
                <a:alpha val="36000"/>
              </a:srgbClr>
            </a:outerShdw>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outerShdw blurRad="47625" dist="12700" dir="2700000" algn="tl" rotWithShape="0">
              <a:srgbClr val="000000">
                <a:alpha val="36000"/>
              </a:srgbClr>
            </a:outerShdw>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outerShdw blurRad="47625" dist="12700" dir="2700000" algn="tl" rotWithShape="0">
              <a:srgbClr val="000000">
                <a:alpha val="36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11DBF-751D-0B92-B253-F70CB5792517}"/>
              </a:ext>
            </a:extLst>
          </p:cNvPr>
          <p:cNvSpPr>
            <a:spLocks noGrp="1"/>
          </p:cNvSpPr>
          <p:nvPr>
            <p:ph type="ctrTitle"/>
          </p:nvPr>
        </p:nvSpPr>
        <p:spPr/>
        <p:txBody>
          <a:bodyPr/>
          <a:lstStyle/>
          <a:p>
            <a:r>
              <a:rPr lang="en-US" dirty="0"/>
              <a:t>DATA STRUCTURE</a:t>
            </a:r>
          </a:p>
        </p:txBody>
      </p:sp>
      <p:sp>
        <p:nvSpPr>
          <p:cNvPr id="3" name="Subtitle 2">
            <a:extLst>
              <a:ext uri="{FF2B5EF4-FFF2-40B4-BE49-F238E27FC236}">
                <a16:creationId xmlns:a16="http://schemas.microsoft.com/office/drawing/2014/main" id="{4464EC53-211B-88EA-4AD9-15135BDE74A3}"/>
              </a:ext>
            </a:extLst>
          </p:cNvPr>
          <p:cNvSpPr>
            <a:spLocks noGrp="1"/>
          </p:cNvSpPr>
          <p:nvPr>
            <p:ph type="subTitle" idx="1"/>
          </p:nvPr>
        </p:nvSpPr>
        <p:spPr/>
        <p:txBody>
          <a:bodyPr/>
          <a:lstStyle/>
          <a:p>
            <a:r>
              <a:rPr lang="en-US" dirty="0"/>
              <a:t>Java Implementation</a:t>
            </a:r>
          </a:p>
        </p:txBody>
      </p:sp>
    </p:spTree>
    <p:extLst>
      <p:ext uri="{BB962C8B-B14F-4D97-AF65-F5344CB8AC3E}">
        <p14:creationId xmlns:p14="http://schemas.microsoft.com/office/powerpoint/2010/main" val="2275184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37436-ACAE-C5DC-00F4-C39FAE8092DA}"/>
              </a:ext>
            </a:extLst>
          </p:cNvPr>
          <p:cNvSpPr>
            <a:spLocks noGrp="1"/>
          </p:cNvSpPr>
          <p:nvPr>
            <p:ph type="title"/>
          </p:nvPr>
        </p:nvSpPr>
        <p:spPr/>
        <p:txBody>
          <a:bodyPr/>
          <a:lstStyle/>
          <a:p>
            <a:r>
              <a:rPr lang="en-US" dirty="0"/>
              <a:t>Array</a:t>
            </a:r>
          </a:p>
        </p:txBody>
      </p:sp>
      <p:sp>
        <p:nvSpPr>
          <p:cNvPr id="3" name="Content Placeholder 2">
            <a:extLst>
              <a:ext uri="{FF2B5EF4-FFF2-40B4-BE49-F238E27FC236}">
                <a16:creationId xmlns:a16="http://schemas.microsoft.com/office/drawing/2014/main" id="{B7B892D2-C39F-4877-F454-597FBF92FF2F}"/>
              </a:ext>
            </a:extLst>
          </p:cNvPr>
          <p:cNvSpPr>
            <a:spLocks noGrp="1"/>
          </p:cNvSpPr>
          <p:nvPr>
            <p:ph sz="quarter" idx="13"/>
          </p:nvPr>
        </p:nvSpPr>
        <p:spPr/>
        <p:txBody>
          <a:bodyPr>
            <a:normAutofit/>
          </a:bodyPr>
          <a:lstStyle/>
          <a:p>
            <a:r>
              <a:rPr lang="en-US" sz="2400" cap="none" dirty="0"/>
              <a:t>Array is the collection of items, stored in a contiguous memory location.</a:t>
            </a:r>
          </a:p>
          <a:p>
            <a:r>
              <a:rPr lang="en-US" sz="2400" cap="none" dirty="0"/>
              <a:t>The idea is to store multiple items of the same type together. This makes it easier to calculate the position of each element, by simply adding an offset to a base value, i.e. the memory location of the first element.</a:t>
            </a:r>
          </a:p>
          <a:p>
            <a:r>
              <a:rPr lang="en-US" sz="2400" cap="none" dirty="0"/>
              <a:t>For example; if you have an array arr[5], the memory location of arr[0] is the base address.</a:t>
            </a:r>
          </a:p>
        </p:txBody>
      </p:sp>
    </p:spTree>
    <p:extLst>
      <p:ext uri="{BB962C8B-B14F-4D97-AF65-F5344CB8AC3E}">
        <p14:creationId xmlns:p14="http://schemas.microsoft.com/office/powerpoint/2010/main" val="1094072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EE45B-D15C-F21F-4107-AA1B09FF646F}"/>
              </a:ext>
            </a:extLst>
          </p:cNvPr>
          <p:cNvSpPr>
            <a:spLocks noGrp="1"/>
          </p:cNvSpPr>
          <p:nvPr>
            <p:ph type="title"/>
          </p:nvPr>
        </p:nvSpPr>
        <p:spPr>
          <a:xfrm>
            <a:off x="913775" y="618518"/>
            <a:ext cx="10364451" cy="872658"/>
          </a:xfrm>
        </p:spPr>
        <p:txBody>
          <a:bodyPr/>
          <a:lstStyle/>
          <a:p>
            <a:r>
              <a:rPr lang="en-US" dirty="0"/>
              <a:t>Accessing ELEMENTS in an array</a:t>
            </a:r>
          </a:p>
        </p:txBody>
      </p:sp>
      <p:sp>
        <p:nvSpPr>
          <p:cNvPr id="3" name="Content Placeholder 2">
            <a:extLst>
              <a:ext uri="{FF2B5EF4-FFF2-40B4-BE49-F238E27FC236}">
                <a16:creationId xmlns:a16="http://schemas.microsoft.com/office/drawing/2014/main" id="{EE7C8103-1E7D-3D07-8770-6720F6FC6670}"/>
              </a:ext>
            </a:extLst>
          </p:cNvPr>
          <p:cNvSpPr>
            <a:spLocks noGrp="1"/>
          </p:cNvSpPr>
          <p:nvPr>
            <p:ph sz="quarter" idx="13"/>
          </p:nvPr>
        </p:nvSpPr>
        <p:spPr>
          <a:xfrm>
            <a:off x="913774" y="1969478"/>
            <a:ext cx="10363826" cy="4270004"/>
          </a:xfrm>
        </p:spPr>
        <p:txBody>
          <a:bodyPr>
            <a:normAutofit fontScale="92500"/>
          </a:bodyPr>
          <a:lstStyle/>
          <a:p>
            <a:r>
              <a:rPr lang="en-US" sz="2400" cap="none" dirty="0"/>
              <a:t>To access any other element in the array, the system adds an offset to the base address. The offset is calculated based on the index of the element and the size of each element</a:t>
            </a:r>
            <a:br>
              <a:rPr lang="en-US" sz="2400" cap="none" dirty="0"/>
            </a:br>
            <a:br>
              <a:rPr lang="en-US" sz="2400" cap="none" dirty="0"/>
            </a:br>
            <a:r>
              <a:rPr lang="en-US" sz="2400" cap="none" dirty="0"/>
              <a:t>Example</a:t>
            </a:r>
            <a:br>
              <a:rPr lang="en-US" sz="2400" cap="none" dirty="0"/>
            </a:br>
            <a:r>
              <a:rPr lang="en-US" sz="2400" cap="none" dirty="0"/>
              <a:t> int arr[5];</a:t>
            </a:r>
            <a:br>
              <a:rPr lang="en-US" sz="2400" cap="none" dirty="0"/>
            </a:br>
            <a:r>
              <a:rPr lang="en-US" sz="2400" cap="none" dirty="0"/>
              <a:t>Recall integer takes 4 bytes in memory, if the base address is 1000, the memory addresses of the other elements can be calculated;</a:t>
            </a:r>
          </a:p>
          <a:p>
            <a:pPr marL="0" indent="0">
              <a:buNone/>
            </a:pPr>
            <a:r>
              <a:rPr lang="en-US" sz="2400" cap="none" dirty="0"/>
              <a:t>   </a:t>
            </a:r>
          </a:p>
          <a:p>
            <a:pPr marL="0" indent="0">
              <a:buNone/>
            </a:pPr>
            <a:r>
              <a:rPr lang="en-US" sz="2400" cap="none" dirty="0"/>
              <a:t>  arr[0] at address 1000 (base)</a:t>
            </a:r>
          </a:p>
          <a:p>
            <a:pPr marL="0" indent="0">
              <a:buNone/>
            </a:pPr>
            <a:endParaRPr lang="en-US" sz="2400" cap="none" dirty="0"/>
          </a:p>
          <a:p>
            <a:pPr marL="0" indent="0">
              <a:buNone/>
            </a:pPr>
            <a:endParaRPr lang="en-US" sz="2400" cap="none" dirty="0"/>
          </a:p>
          <a:p>
            <a:pPr marL="0" indent="0">
              <a:buNone/>
            </a:pPr>
            <a:endParaRPr lang="en-US" sz="2400" cap="none" dirty="0"/>
          </a:p>
          <a:p>
            <a:pPr marL="0" indent="0">
              <a:buNone/>
            </a:pPr>
            <a:endParaRPr lang="en-US" sz="2400" cap="none" dirty="0"/>
          </a:p>
        </p:txBody>
      </p:sp>
    </p:spTree>
    <p:extLst>
      <p:ext uri="{BB962C8B-B14F-4D97-AF65-F5344CB8AC3E}">
        <p14:creationId xmlns:p14="http://schemas.microsoft.com/office/powerpoint/2010/main" val="267449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17514-0166-74F7-4F0F-20C1FB54586D}"/>
              </a:ext>
            </a:extLst>
          </p:cNvPr>
          <p:cNvSpPr>
            <a:spLocks noGrp="1"/>
          </p:cNvSpPr>
          <p:nvPr>
            <p:ph type="title"/>
          </p:nvPr>
        </p:nvSpPr>
        <p:spPr>
          <a:xfrm>
            <a:off x="1153551" y="337625"/>
            <a:ext cx="4033364" cy="801859"/>
          </a:xfrm>
        </p:spPr>
        <p:txBody>
          <a:bodyPr/>
          <a:lstStyle/>
          <a:p>
            <a:pPr algn="l"/>
            <a:r>
              <a:rPr lang="en-US" cap="none" dirty="0"/>
              <a:t>Continuation…</a:t>
            </a:r>
          </a:p>
        </p:txBody>
      </p:sp>
      <p:sp>
        <p:nvSpPr>
          <p:cNvPr id="3" name="Content Placeholder 2">
            <a:extLst>
              <a:ext uri="{FF2B5EF4-FFF2-40B4-BE49-F238E27FC236}">
                <a16:creationId xmlns:a16="http://schemas.microsoft.com/office/drawing/2014/main" id="{BDDBA388-A34B-D27E-CD6F-129E73505172}"/>
              </a:ext>
            </a:extLst>
          </p:cNvPr>
          <p:cNvSpPr>
            <a:spLocks noGrp="1"/>
          </p:cNvSpPr>
          <p:nvPr>
            <p:ph sz="quarter" idx="13"/>
          </p:nvPr>
        </p:nvSpPr>
        <p:spPr>
          <a:xfrm>
            <a:off x="1153551" y="1519311"/>
            <a:ext cx="10081846" cy="4332849"/>
          </a:xfrm>
        </p:spPr>
        <p:txBody>
          <a:bodyPr>
            <a:normAutofit/>
          </a:bodyPr>
          <a:lstStyle/>
          <a:p>
            <a:pPr marL="0" indent="0">
              <a:buNone/>
            </a:pPr>
            <a:r>
              <a:rPr lang="en-US" sz="2400" cap="none" dirty="0"/>
              <a:t>   arr[1] at address 1004(1000 + 1 * 4)</a:t>
            </a:r>
            <a:br>
              <a:rPr lang="en-US" sz="2400" cap="none" dirty="0"/>
            </a:br>
            <a:r>
              <a:rPr lang="en-US" sz="2400" cap="none" dirty="0"/>
              <a:t>   arr[2] at address 1008(1000 + 2 * 4)</a:t>
            </a:r>
            <a:br>
              <a:rPr lang="en-US" sz="2400" cap="none" dirty="0"/>
            </a:br>
            <a:r>
              <a:rPr lang="en-US" sz="2400" cap="none" dirty="0"/>
              <a:t>   arr[3] at address 1012(1000 + 3 * 4)</a:t>
            </a:r>
            <a:br>
              <a:rPr lang="en-US" sz="2400" cap="none" dirty="0"/>
            </a:br>
            <a:r>
              <a:rPr lang="en-US" sz="2400" cap="none" dirty="0"/>
              <a:t>                                                      … and so, on</a:t>
            </a:r>
            <a:br>
              <a:rPr lang="en-US" sz="2400" cap="none" dirty="0"/>
            </a:br>
            <a:br>
              <a:rPr lang="en-US" sz="2400" cap="none" dirty="0"/>
            </a:br>
            <a:r>
              <a:rPr lang="en-US" sz="2400" cap="none" dirty="0"/>
              <a:t>Note: The data at arr[i] is stored sequentially as it is indicated in the index, but the memory location don’t have to be sequential, we can have it stored as;</a:t>
            </a:r>
            <a:br>
              <a:rPr lang="en-US" sz="2400" cap="none" dirty="0"/>
            </a:br>
            <a:r>
              <a:rPr lang="en-US" sz="2400" cap="none" dirty="0"/>
              <a:t>1000, 1012, 1008, etc.</a:t>
            </a:r>
          </a:p>
        </p:txBody>
      </p:sp>
    </p:spTree>
    <p:extLst>
      <p:ext uri="{BB962C8B-B14F-4D97-AF65-F5344CB8AC3E}">
        <p14:creationId xmlns:p14="http://schemas.microsoft.com/office/powerpoint/2010/main" val="30467455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4E738-BBD4-A339-605D-73FF26C74993}"/>
              </a:ext>
            </a:extLst>
          </p:cNvPr>
          <p:cNvSpPr>
            <a:spLocks noGrp="1"/>
          </p:cNvSpPr>
          <p:nvPr>
            <p:ph type="title"/>
          </p:nvPr>
        </p:nvSpPr>
        <p:spPr>
          <a:xfrm>
            <a:off x="2166424" y="405158"/>
            <a:ext cx="7339272" cy="788252"/>
          </a:xfrm>
        </p:spPr>
        <p:txBody>
          <a:bodyPr/>
          <a:lstStyle/>
          <a:p>
            <a:r>
              <a:rPr lang="en-US" dirty="0"/>
              <a:t>Create</a:t>
            </a:r>
          </a:p>
        </p:txBody>
      </p:sp>
      <p:pic>
        <p:nvPicPr>
          <p:cNvPr id="5" name="Content Placeholder 4">
            <a:extLst>
              <a:ext uri="{FF2B5EF4-FFF2-40B4-BE49-F238E27FC236}">
                <a16:creationId xmlns:a16="http://schemas.microsoft.com/office/drawing/2014/main" id="{CAE98907-B3F4-1B4E-6CAE-33B8982DDE55}"/>
              </a:ext>
            </a:extLst>
          </p:cNvPr>
          <p:cNvPicPr>
            <a:picLocks noGrp="1" noChangeAspect="1"/>
          </p:cNvPicPr>
          <p:nvPr>
            <p:ph sz="quarter" idx="13"/>
          </p:nvPr>
        </p:nvPicPr>
        <p:blipFill>
          <a:blip r:embed="rId2"/>
          <a:stretch>
            <a:fillRect/>
          </a:stretch>
        </p:blipFill>
        <p:spPr>
          <a:xfrm>
            <a:off x="1038122" y="2043332"/>
            <a:ext cx="10722469" cy="2771335"/>
          </a:xfrm>
        </p:spPr>
      </p:pic>
    </p:spTree>
    <p:extLst>
      <p:ext uri="{BB962C8B-B14F-4D97-AF65-F5344CB8AC3E}">
        <p14:creationId xmlns:p14="http://schemas.microsoft.com/office/powerpoint/2010/main" val="16540820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CA7E2-71D9-EDAD-E89B-2B5A7953C76D}"/>
              </a:ext>
            </a:extLst>
          </p:cNvPr>
          <p:cNvSpPr>
            <a:spLocks noGrp="1"/>
          </p:cNvSpPr>
          <p:nvPr>
            <p:ph type="title"/>
          </p:nvPr>
        </p:nvSpPr>
        <p:spPr>
          <a:xfrm>
            <a:off x="1110722" y="443133"/>
            <a:ext cx="3405007" cy="785447"/>
          </a:xfrm>
        </p:spPr>
        <p:txBody>
          <a:bodyPr/>
          <a:lstStyle/>
          <a:p>
            <a:pPr algn="l"/>
            <a:r>
              <a:rPr lang="en-US" cap="none" dirty="0"/>
              <a:t>Continuation…</a:t>
            </a:r>
            <a:endParaRPr lang="en-US" dirty="0"/>
          </a:p>
        </p:txBody>
      </p:sp>
      <p:sp>
        <p:nvSpPr>
          <p:cNvPr id="3" name="Content Placeholder 2">
            <a:extLst>
              <a:ext uri="{FF2B5EF4-FFF2-40B4-BE49-F238E27FC236}">
                <a16:creationId xmlns:a16="http://schemas.microsoft.com/office/drawing/2014/main" id="{689ADE36-C08C-ED84-16A2-D7A21CDFFAB9}"/>
              </a:ext>
            </a:extLst>
          </p:cNvPr>
          <p:cNvSpPr>
            <a:spLocks noGrp="1"/>
          </p:cNvSpPr>
          <p:nvPr>
            <p:ph sz="quarter" idx="13"/>
          </p:nvPr>
        </p:nvSpPr>
        <p:spPr>
          <a:xfrm>
            <a:off x="913774" y="1603718"/>
            <a:ext cx="10363826" cy="4187482"/>
          </a:xfrm>
        </p:spPr>
        <p:txBody>
          <a:bodyPr>
            <a:normAutofit/>
          </a:bodyPr>
          <a:lstStyle/>
          <a:p>
            <a:r>
              <a:rPr lang="en-US" sz="2400" cap="none" dirty="0"/>
              <a:t>Recall:</a:t>
            </a:r>
          </a:p>
          <a:p>
            <a:r>
              <a:rPr lang="en-GB" sz="1800" cap="none" dirty="0">
                <a:effectLst/>
                <a:latin typeface="Maiandra GD" panose="020E0502030308020204" pitchFamily="34" charset="0"/>
                <a:ea typeface="Calibri" panose="020F0502020204030204" pitchFamily="34" charset="0"/>
                <a:cs typeface="Arial" panose="020B0604020202020204" pitchFamily="34" charset="0"/>
              </a:rPr>
              <a:t>If the array is dynamically allocated, an estimate of the maximum size of the list is required. usually this requires a high over-estimate, which wastes considerable space. this could be a serious limitation, especially if there are many lists of unknown sizes.</a:t>
            </a:r>
            <a:endParaRPr lang="en-US" sz="1800" cap="none"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400" cap="none" dirty="0"/>
          </a:p>
        </p:txBody>
      </p:sp>
      <p:pic>
        <p:nvPicPr>
          <p:cNvPr id="5" name="Picture 4">
            <a:extLst>
              <a:ext uri="{FF2B5EF4-FFF2-40B4-BE49-F238E27FC236}">
                <a16:creationId xmlns:a16="http://schemas.microsoft.com/office/drawing/2014/main" id="{4487B490-3A30-981D-24FA-715144352CBE}"/>
              </a:ext>
            </a:extLst>
          </p:cNvPr>
          <p:cNvPicPr>
            <a:picLocks noChangeAspect="1"/>
          </p:cNvPicPr>
          <p:nvPr/>
        </p:nvPicPr>
        <p:blipFill>
          <a:blip r:embed="rId2"/>
          <a:stretch>
            <a:fillRect/>
          </a:stretch>
        </p:blipFill>
        <p:spPr>
          <a:xfrm>
            <a:off x="1291225" y="3429000"/>
            <a:ext cx="8935987" cy="1987062"/>
          </a:xfrm>
          <a:prstGeom prst="rect">
            <a:avLst/>
          </a:prstGeom>
        </p:spPr>
      </p:pic>
      <p:sp>
        <p:nvSpPr>
          <p:cNvPr id="6" name="Arrow: Up 5">
            <a:extLst>
              <a:ext uri="{FF2B5EF4-FFF2-40B4-BE49-F238E27FC236}">
                <a16:creationId xmlns:a16="http://schemas.microsoft.com/office/drawing/2014/main" id="{6FAF7BEB-A312-4BA7-E1D5-94FDEB7FD63A}"/>
              </a:ext>
            </a:extLst>
          </p:cNvPr>
          <p:cNvSpPr/>
          <p:nvPr/>
        </p:nvSpPr>
        <p:spPr>
          <a:xfrm rot="19688909">
            <a:off x="5994253" y="4640826"/>
            <a:ext cx="412874" cy="1562682"/>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302964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25C90-F444-AA38-0D0C-59E9D75E3A76}"/>
              </a:ext>
            </a:extLst>
          </p:cNvPr>
          <p:cNvSpPr>
            <a:spLocks noGrp="1"/>
          </p:cNvSpPr>
          <p:nvPr>
            <p:ph type="title"/>
          </p:nvPr>
        </p:nvSpPr>
        <p:spPr>
          <a:xfrm>
            <a:off x="2508425" y="548179"/>
            <a:ext cx="7174523" cy="675711"/>
          </a:xfrm>
        </p:spPr>
        <p:txBody>
          <a:bodyPr/>
          <a:lstStyle/>
          <a:p>
            <a:r>
              <a:rPr lang="en-US" dirty="0"/>
              <a:t>INSERT</a:t>
            </a:r>
          </a:p>
        </p:txBody>
      </p:sp>
      <p:pic>
        <p:nvPicPr>
          <p:cNvPr id="5" name="Content Placeholder 4">
            <a:extLst>
              <a:ext uri="{FF2B5EF4-FFF2-40B4-BE49-F238E27FC236}">
                <a16:creationId xmlns:a16="http://schemas.microsoft.com/office/drawing/2014/main" id="{F2C39E8E-9B34-9FA4-015D-B32028179CB4}"/>
              </a:ext>
            </a:extLst>
          </p:cNvPr>
          <p:cNvPicPr>
            <a:picLocks noGrp="1" noChangeAspect="1"/>
          </p:cNvPicPr>
          <p:nvPr>
            <p:ph sz="quarter" idx="13"/>
          </p:nvPr>
        </p:nvPicPr>
        <p:blipFill>
          <a:blip r:embed="rId2"/>
          <a:stretch>
            <a:fillRect/>
          </a:stretch>
        </p:blipFill>
        <p:spPr>
          <a:xfrm>
            <a:off x="534572" y="1547446"/>
            <a:ext cx="10789920" cy="4262511"/>
          </a:xfrm>
        </p:spPr>
      </p:pic>
    </p:spTree>
    <p:extLst>
      <p:ext uri="{BB962C8B-B14F-4D97-AF65-F5344CB8AC3E}">
        <p14:creationId xmlns:p14="http://schemas.microsoft.com/office/powerpoint/2010/main" val="30415065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581CF-1967-FF2B-09EB-ADCC795F19C5}"/>
              </a:ext>
            </a:extLst>
          </p:cNvPr>
          <p:cNvSpPr>
            <a:spLocks noGrp="1"/>
          </p:cNvSpPr>
          <p:nvPr>
            <p:ph type="title"/>
          </p:nvPr>
        </p:nvSpPr>
        <p:spPr>
          <a:xfrm>
            <a:off x="744963" y="377023"/>
            <a:ext cx="3756699" cy="689778"/>
          </a:xfrm>
        </p:spPr>
        <p:txBody>
          <a:bodyPr/>
          <a:lstStyle/>
          <a:p>
            <a:r>
              <a:rPr lang="en-US" cap="none" dirty="0"/>
              <a:t>Continuation…</a:t>
            </a:r>
            <a:endParaRPr lang="en-US" dirty="0"/>
          </a:p>
        </p:txBody>
      </p:sp>
      <p:sp>
        <p:nvSpPr>
          <p:cNvPr id="3" name="Content Placeholder 2">
            <a:extLst>
              <a:ext uri="{FF2B5EF4-FFF2-40B4-BE49-F238E27FC236}">
                <a16:creationId xmlns:a16="http://schemas.microsoft.com/office/drawing/2014/main" id="{C140B805-7562-EB64-BBAC-E3C58160E5F4}"/>
              </a:ext>
            </a:extLst>
          </p:cNvPr>
          <p:cNvSpPr>
            <a:spLocks noGrp="1"/>
          </p:cNvSpPr>
          <p:nvPr>
            <p:ph sz="quarter" idx="13"/>
          </p:nvPr>
        </p:nvSpPr>
        <p:spPr>
          <a:xfrm>
            <a:off x="913774" y="1463040"/>
            <a:ext cx="10363826" cy="4698609"/>
          </a:xfrm>
          <a:ln>
            <a:noFill/>
          </a:ln>
        </p:spPr>
        <p:txBody>
          <a:bodyPr>
            <a:normAutofit lnSpcReduction="10000"/>
          </a:bodyPr>
          <a:lstStyle/>
          <a:p>
            <a:pPr marL="0" indent="0">
              <a:buNone/>
            </a:pPr>
            <a:r>
              <a:rPr lang="en-US" sz="2400" cap="none" dirty="0"/>
              <a:t>Though the array can hold 20 elements, but the max represents the limit for operation within the program.</a:t>
            </a:r>
            <a:br>
              <a:rPr lang="en-US" sz="2400" cap="none" dirty="0"/>
            </a:br>
            <a:r>
              <a:rPr lang="en-US" sz="2400" cap="none" dirty="0"/>
              <a:t>Now to insert into the list using the array implementation, all the element will be shifting one position to the right, i.e. after the position you want to insert.</a:t>
            </a:r>
            <a:br>
              <a:rPr lang="en-US" sz="2400" cap="none" dirty="0"/>
            </a:br>
            <a:r>
              <a:rPr lang="en-US" sz="2400" cap="none" dirty="0"/>
              <a:t>Example:</a:t>
            </a:r>
          </a:p>
          <a:p>
            <a:pPr marL="0" indent="0">
              <a:buNone/>
            </a:pPr>
            <a:r>
              <a:rPr lang="en-US" sz="2400" cap="none" dirty="0"/>
              <a:t>arr[10, 30, 40, 50]</a:t>
            </a:r>
            <a:br>
              <a:rPr lang="en-US" sz="2400" cap="none" dirty="0"/>
            </a:br>
            <a:r>
              <a:rPr lang="en-US" sz="2400" cap="none" dirty="0"/>
              <a:t>We want to insert an element 20 into the array at position  1 i.e. arr[1] </a:t>
            </a:r>
          </a:p>
          <a:p>
            <a:pPr marL="0" indent="0">
              <a:buNone/>
            </a:pPr>
            <a:r>
              <a:rPr lang="en-US" sz="2400" cap="none" dirty="0"/>
              <a:t>Though the max = 10;</a:t>
            </a:r>
            <a:br>
              <a:rPr lang="en-US" sz="2400" cap="none" dirty="0"/>
            </a:br>
            <a:r>
              <a:rPr lang="en-US" sz="2400" cap="none" dirty="0"/>
              <a:t>for this operation we have a n = 4</a:t>
            </a:r>
            <a:br>
              <a:rPr lang="en-US" sz="2400" cap="none" dirty="0"/>
            </a:br>
            <a:endParaRPr lang="en-US" sz="2400" cap="none"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7455239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EC308-C51F-5FD1-80AE-274465836C65}"/>
              </a:ext>
            </a:extLst>
          </p:cNvPr>
          <p:cNvSpPr>
            <a:spLocks noGrp="1"/>
          </p:cNvSpPr>
          <p:nvPr>
            <p:ph type="title"/>
          </p:nvPr>
        </p:nvSpPr>
        <p:spPr>
          <a:xfrm>
            <a:off x="445630" y="939150"/>
            <a:ext cx="6084277" cy="5418868"/>
          </a:xfrm>
        </p:spPr>
        <p:txBody>
          <a:bodyPr>
            <a:normAutofit fontScale="90000"/>
          </a:bodyPr>
          <a:lstStyle/>
          <a:p>
            <a:pPr algn="l"/>
            <a:br>
              <a:rPr lang="en-US" sz="2000" cap="none" dirty="0"/>
            </a:br>
            <a:r>
              <a:rPr lang="en-US" sz="2000" cap="none" dirty="0"/>
              <a:t>For arr, the max is 4, so it goes 4-1 =3, is 3 greater than</a:t>
            </a:r>
            <a:br>
              <a:rPr lang="en-US" sz="2000" cap="none" dirty="0"/>
            </a:br>
            <a:br>
              <a:rPr lang="en-US" sz="2000" cap="none" dirty="0"/>
            </a:br>
            <a:r>
              <a:rPr lang="en-US" sz="2000" cap="none" dirty="0"/>
              <a:t>Note: We are subtracting to get the position of the last element.</a:t>
            </a:r>
            <a:br>
              <a:rPr lang="en-US" sz="2000" cap="none" dirty="0"/>
            </a:br>
            <a:br>
              <a:rPr lang="en-US" sz="2000" cap="none" dirty="0"/>
            </a:br>
            <a:r>
              <a:rPr lang="en-US" sz="2000" cap="none" dirty="0"/>
              <a:t>the position(arr[1]) which is 1, if yes assign the value at b[3] to now be in b[4] i.e. b[i+1] = b[i] shifting it to the right, the array is now </a:t>
            </a:r>
            <a:r>
              <a:rPr lang="en-US" sz="2000" cap="none" dirty="0">
                <a:ln w="0"/>
                <a:solidFill>
                  <a:schemeClr val="accent1"/>
                </a:solidFill>
                <a:effectLst>
                  <a:outerShdw blurRad="38100" dist="25400" dir="5400000" algn="ctr" rotWithShape="0">
                    <a:srgbClr val="6E747A">
                      <a:alpha val="43000"/>
                    </a:srgbClr>
                  </a:outerShdw>
                </a:effectLst>
              </a:rPr>
              <a:t>[10, 30, 40, 50, 50]</a:t>
            </a:r>
            <a:br>
              <a:rPr lang="en-US" sz="2000" cap="none" dirty="0"/>
            </a:br>
            <a:r>
              <a:rPr lang="en-US" sz="2000" cap="none" dirty="0"/>
              <a:t>after doing this i is reduced to 2 is 2 greater or equal to pos yes</a:t>
            </a:r>
            <a:br>
              <a:rPr lang="en-US" sz="2000" cap="none" dirty="0"/>
            </a:br>
            <a:r>
              <a:rPr lang="en-US" sz="2000" cap="none" dirty="0"/>
              <a:t>assign the value of b[2] to b[3]</a:t>
            </a:r>
            <a:br>
              <a:rPr lang="en-US" sz="2000" cap="none" dirty="0"/>
            </a:br>
            <a:r>
              <a:rPr lang="en-US" sz="2000" cap="none" dirty="0"/>
              <a:t>resulting in </a:t>
            </a:r>
            <a:r>
              <a:rPr lang="en-US" sz="2000" b="1" cap="none"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[10, 30, 40, 40, 50]</a:t>
            </a:r>
            <a:br>
              <a:rPr lang="en-US" sz="2000" cap="none" dirty="0"/>
            </a:br>
            <a:r>
              <a:rPr lang="en-US" sz="2000" cap="none" dirty="0"/>
              <a:t>after doing this i is reduced to 1 is 1 greater or equal to pos yes</a:t>
            </a:r>
            <a:br>
              <a:rPr lang="en-US" sz="2000" cap="none" dirty="0"/>
            </a:br>
            <a:r>
              <a:rPr lang="en-US" sz="2000" cap="none" dirty="0"/>
              <a:t>assign the value of b[1] to b[2]</a:t>
            </a:r>
            <a:br>
              <a:rPr lang="en-US" sz="2000" cap="none" dirty="0"/>
            </a:br>
            <a:r>
              <a:rPr lang="en-US" sz="2000" cap="none" dirty="0"/>
              <a:t>resulting in </a:t>
            </a:r>
            <a:r>
              <a:rPr lang="en-US" sz="2000" b="1" cap="none" dirty="0">
                <a:ln w="6600">
                  <a:solidFill>
                    <a:schemeClr val="accent2"/>
                  </a:solidFill>
                  <a:prstDash val="solid"/>
                </a:ln>
                <a:solidFill>
                  <a:srgbClr val="FFFFFF"/>
                </a:solidFill>
                <a:effectLst>
                  <a:outerShdw dist="38100" dir="2700000" algn="tl" rotWithShape="0">
                    <a:schemeClr val="accent2"/>
                  </a:outerShdw>
                </a:effectLst>
              </a:rPr>
              <a:t>[10, 30, 30, 40, 50]</a:t>
            </a:r>
            <a:br>
              <a:rPr lang="en-US" sz="2000" cap="none" dirty="0"/>
            </a:br>
            <a:br>
              <a:rPr lang="en-US" sz="2000" cap="none" dirty="0"/>
            </a:br>
            <a:r>
              <a:rPr lang="en-US" sz="2000" cap="none" dirty="0"/>
              <a:t>from this, a new element can now be inputted at position one, making it </a:t>
            </a:r>
            <a:br>
              <a:rPr lang="en-US" sz="2000" cap="none" dirty="0"/>
            </a:br>
            <a:r>
              <a:rPr lang="en-US" sz="2000" b="1" cap="none"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[10, 20, 30, 40, 50]</a:t>
            </a:r>
            <a:br>
              <a:rPr lang="en-US" sz="2000" cap="none" dirty="0"/>
            </a:br>
            <a:br>
              <a:rPr lang="en-US" sz="2000" cap="none" dirty="0"/>
            </a:br>
            <a:endParaRPr lang="en-US" sz="2000" cap="none" dirty="0"/>
          </a:p>
        </p:txBody>
      </p:sp>
      <p:pic>
        <p:nvPicPr>
          <p:cNvPr id="5" name="Content Placeholder 4">
            <a:extLst>
              <a:ext uri="{FF2B5EF4-FFF2-40B4-BE49-F238E27FC236}">
                <a16:creationId xmlns:a16="http://schemas.microsoft.com/office/drawing/2014/main" id="{740A4FA1-A11C-CA98-1140-624DB33417E9}"/>
              </a:ext>
            </a:extLst>
          </p:cNvPr>
          <p:cNvPicPr>
            <a:picLocks noGrp="1" noChangeAspect="1"/>
          </p:cNvPicPr>
          <p:nvPr>
            <p:ph sz="quarter" idx="13"/>
          </p:nvPr>
        </p:nvPicPr>
        <p:blipFill>
          <a:blip r:embed="rId2"/>
          <a:stretch>
            <a:fillRect/>
          </a:stretch>
        </p:blipFill>
        <p:spPr>
          <a:xfrm>
            <a:off x="6929314" y="1257076"/>
            <a:ext cx="5029200" cy="4783016"/>
          </a:xfrm>
        </p:spPr>
      </p:pic>
    </p:spTree>
    <p:extLst>
      <p:ext uri="{BB962C8B-B14F-4D97-AF65-F5344CB8AC3E}">
        <p14:creationId xmlns:p14="http://schemas.microsoft.com/office/powerpoint/2010/main" val="38317015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F3B29-BBBE-BEA8-56F4-0F7D34F112A7}"/>
              </a:ext>
            </a:extLst>
          </p:cNvPr>
          <p:cNvSpPr>
            <a:spLocks noGrp="1"/>
          </p:cNvSpPr>
          <p:nvPr>
            <p:ph type="title"/>
          </p:nvPr>
        </p:nvSpPr>
        <p:spPr>
          <a:xfrm>
            <a:off x="913775" y="618518"/>
            <a:ext cx="10364451" cy="1150906"/>
          </a:xfrm>
        </p:spPr>
        <p:txBody>
          <a:bodyPr/>
          <a:lstStyle/>
          <a:p>
            <a:r>
              <a:rPr lang="en-US" dirty="0"/>
              <a:t>DELETE</a:t>
            </a:r>
          </a:p>
        </p:txBody>
      </p:sp>
      <p:pic>
        <p:nvPicPr>
          <p:cNvPr id="5" name="Content Placeholder 4">
            <a:extLst>
              <a:ext uri="{FF2B5EF4-FFF2-40B4-BE49-F238E27FC236}">
                <a16:creationId xmlns:a16="http://schemas.microsoft.com/office/drawing/2014/main" id="{A5ABAC86-D67A-CAFC-B802-9831DF536D00}"/>
              </a:ext>
            </a:extLst>
          </p:cNvPr>
          <p:cNvPicPr>
            <a:picLocks noGrp="1" noChangeAspect="1"/>
          </p:cNvPicPr>
          <p:nvPr>
            <p:ph sz="quarter" idx="13"/>
          </p:nvPr>
        </p:nvPicPr>
        <p:blipFill>
          <a:blip r:embed="rId2"/>
          <a:stretch>
            <a:fillRect/>
          </a:stretch>
        </p:blipFill>
        <p:spPr>
          <a:xfrm>
            <a:off x="1591294" y="2113808"/>
            <a:ext cx="8930243" cy="3491345"/>
          </a:xfrm>
        </p:spPr>
      </p:pic>
    </p:spTree>
    <p:extLst>
      <p:ext uri="{BB962C8B-B14F-4D97-AF65-F5344CB8AC3E}">
        <p14:creationId xmlns:p14="http://schemas.microsoft.com/office/powerpoint/2010/main" val="3113892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D8B4E-886D-6AB2-48EA-754F65D0BAC7}"/>
              </a:ext>
            </a:extLst>
          </p:cNvPr>
          <p:cNvSpPr>
            <a:spLocks noGrp="1"/>
          </p:cNvSpPr>
          <p:nvPr>
            <p:ph type="title"/>
          </p:nvPr>
        </p:nvSpPr>
        <p:spPr>
          <a:xfrm>
            <a:off x="913776" y="618518"/>
            <a:ext cx="3076334" cy="913400"/>
          </a:xfrm>
        </p:spPr>
        <p:txBody>
          <a:bodyPr/>
          <a:lstStyle/>
          <a:p>
            <a:r>
              <a:rPr lang="en-US" cap="none" dirty="0"/>
              <a:t>Continuation…</a:t>
            </a:r>
            <a:endParaRPr lang="en-US" dirty="0"/>
          </a:p>
        </p:txBody>
      </p:sp>
      <p:sp>
        <p:nvSpPr>
          <p:cNvPr id="3" name="Content Placeholder 2">
            <a:extLst>
              <a:ext uri="{FF2B5EF4-FFF2-40B4-BE49-F238E27FC236}">
                <a16:creationId xmlns:a16="http://schemas.microsoft.com/office/drawing/2014/main" id="{32406ECF-FCFA-A434-5100-59B3BA7C9EA1}"/>
              </a:ext>
            </a:extLst>
          </p:cNvPr>
          <p:cNvSpPr>
            <a:spLocks noGrp="1"/>
          </p:cNvSpPr>
          <p:nvPr>
            <p:ph sz="quarter" idx="13"/>
          </p:nvPr>
        </p:nvSpPr>
        <p:spPr>
          <a:xfrm>
            <a:off x="664393" y="1856453"/>
            <a:ext cx="10363826" cy="3424107"/>
          </a:xfrm>
        </p:spPr>
        <p:txBody>
          <a:bodyPr/>
          <a:lstStyle/>
          <a:p>
            <a:r>
              <a:rPr lang="en-US" cap="none" dirty="0"/>
              <a:t>same logic, but in this case, the elements re moved to the left</a:t>
            </a:r>
          </a:p>
        </p:txBody>
      </p:sp>
    </p:spTree>
    <p:extLst>
      <p:ext uri="{BB962C8B-B14F-4D97-AF65-F5344CB8AC3E}">
        <p14:creationId xmlns:p14="http://schemas.microsoft.com/office/powerpoint/2010/main" val="2650046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9D58E-EE3D-15EE-929D-F8623D177335}"/>
              </a:ext>
            </a:extLst>
          </p:cNvPr>
          <p:cNvSpPr>
            <a:spLocks noGrp="1"/>
          </p:cNvSpPr>
          <p:nvPr>
            <p:ph type="title"/>
          </p:nvPr>
        </p:nvSpPr>
        <p:spPr>
          <a:xfrm>
            <a:off x="913775" y="618517"/>
            <a:ext cx="10364451" cy="1032153"/>
          </a:xfrm>
        </p:spPr>
        <p:txBody>
          <a:bodyPr/>
          <a:lstStyle/>
          <a:p>
            <a:r>
              <a:rPr lang="en-US" dirty="0"/>
              <a:t>Search</a:t>
            </a:r>
          </a:p>
        </p:txBody>
      </p:sp>
      <p:pic>
        <p:nvPicPr>
          <p:cNvPr id="5" name="Content Placeholder 4">
            <a:extLst>
              <a:ext uri="{FF2B5EF4-FFF2-40B4-BE49-F238E27FC236}">
                <a16:creationId xmlns:a16="http://schemas.microsoft.com/office/drawing/2014/main" id="{6A81ADC2-F2DC-626A-CB12-A7FE4ACEE2ED}"/>
              </a:ext>
            </a:extLst>
          </p:cNvPr>
          <p:cNvPicPr>
            <a:picLocks noGrp="1" noChangeAspect="1"/>
          </p:cNvPicPr>
          <p:nvPr>
            <p:ph sz="quarter" idx="13"/>
          </p:nvPr>
        </p:nvPicPr>
        <p:blipFill>
          <a:blip r:embed="rId2"/>
          <a:stretch>
            <a:fillRect/>
          </a:stretch>
        </p:blipFill>
        <p:spPr>
          <a:xfrm>
            <a:off x="1662545" y="2137558"/>
            <a:ext cx="9393381" cy="3370473"/>
          </a:xfrm>
        </p:spPr>
      </p:pic>
    </p:spTree>
    <p:extLst>
      <p:ext uri="{BB962C8B-B14F-4D97-AF65-F5344CB8AC3E}">
        <p14:creationId xmlns:p14="http://schemas.microsoft.com/office/powerpoint/2010/main" val="2690973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37465-21DD-1803-0EB8-9C79B516607B}"/>
              </a:ext>
            </a:extLst>
          </p:cNvPr>
          <p:cNvSpPr>
            <a:spLocks noGrp="1"/>
          </p:cNvSpPr>
          <p:nvPr>
            <p:ph type="title"/>
          </p:nvPr>
        </p:nvSpPr>
        <p:spPr>
          <a:xfrm>
            <a:off x="913775" y="618518"/>
            <a:ext cx="10364451" cy="1257784"/>
          </a:xfrm>
        </p:spPr>
        <p:txBody>
          <a:bodyPr/>
          <a:lstStyle/>
          <a:p>
            <a:r>
              <a:rPr lang="en-US" dirty="0"/>
              <a:t>Display</a:t>
            </a:r>
          </a:p>
        </p:txBody>
      </p:sp>
      <p:pic>
        <p:nvPicPr>
          <p:cNvPr id="5" name="Content Placeholder 4">
            <a:extLst>
              <a:ext uri="{FF2B5EF4-FFF2-40B4-BE49-F238E27FC236}">
                <a16:creationId xmlns:a16="http://schemas.microsoft.com/office/drawing/2014/main" id="{4672CE43-5238-9241-AB88-AD86238F0AD5}"/>
              </a:ext>
            </a:extLst>
          </p:cNvPr>
          <p:cNvPicPr>
            <a:picLocks noGrp="1" noChangeAspect="1"/>
          </p:cNvPicPr>
          <p:nvPr>
            <p:ph sz="quarter" idx="13"/>
          </p:nvPr>
        </p:nvPicPr>
        <p:blipFill>
          <a:blip r:embed="rId2"/>
          <a:stretch>
            <a:fillRect/>
          </a:stretch>
        </p:blipFill>
        <p:spPr>
          <a:xfrm>
            <a:off x="2541319" y="2636323"/>
            <a:ext cx="7350825" cy="1995053"/>
          </a:xfrm>
        </p:spPr>
      </p:pic>
    </p:spTree>
    <p:extLst>
      <p:ext uri="{BB962C8B-B14F-4D97-AF65-F5344CB8AC3E}">
        <p14:creationId xmlns:p14="http://schemas.microsoft.com/office/powerpoint/2010/main" val="22967457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E94ED-2673-FA4E-B1F1-3DB956470C3C}"/>
              </a:ext>
            </a:extLst>
          </p:cNvPr>
          <p:cNvSpPr>
            <a:spLocks noGrp="1"/>
          </p:cNvSpPr>
          <p:nvPr>
            <p:ph type="title"/>
          </p:nvPr>
        </p:nvSpPr>
        <p:spPr>
          <a:xfrm>
            <a:off x="913775" y="618518"/>
            <a:ext cx="10364451" cy="1198408"/>
          </a:xfrm>
        </p:spPr>
        <p:txBody>
          <a:bodyPr/>
          <a:lstStyle/>
          <a:p>
            <a:r>
              <a:rPr lang="en-US" dirty="0"/>
              <a:t>Linked list</a:t>
            </a:r>
          </a:p>
        </p:txBody>
      </p:sp>
      <p:sp>
        <p:nvSpPr>
          <p:cNvPr id="3" name="Content Placeholder 2">
            <a:extLst>
              <a:ext uri="{FF2B5EF4-FFF2-40B4-BE49-F238E27FC236}">
                <a16:creationId xmlns:a16="http://schemas.microsoft.com/office/drawing/2014/main" id="{E7564F75-9438-DC3D-9F7A-0043A69DF018}"/>
              </a:ext>
            </a:extLst>
          </p:cNvPr>
          <p:cNvSpPr>
            <a:spLocks noGrp="1"/>
          </p:cNvSpPr>
          <p:nvPr>
            <p:ph sz="quarter" idx="13"/>
          </p:nvPr>
        </p:nvSpPr>
        <p:spPr>
          <a:xfrm>
            <a:off x="913774" y="1995056"/>
            <a:ext cx="10363826" cy="3796144"/>
          </a:xfrm>
        </p:spPr>
        <p:txBody>
          <a:bodyPr>
            <a:normAutofit/>
          </a:bodyPr>
          <a:lstStyle/>
          <a:p>
            <a:r>
              <a:rPr lang="en-US" sz="2400" cap="none" dirty="0"/>
              <a:t>This is a dynamic structure, it usually used because array use a  lot of resources just to insert and delete element, as all the elements has to be moved left or right depending.</a:t>
            </a:r>
          </a:p>
          <a:p>
            <a:r>
              <a:rPr lang="en-GB" sz="2400" cap="none" dirty="0">
                <a:effectLst/>
                <a:latin typeface="Maiandra GD" panose="020E0502030308020204" pitchFamily="34" charset="0"/>
                <a:ea typeface="Calibri" panose="020F0502020204030204" pitchFamily="34" charset="0"/>
                <a:cs typeface="Arial" panose="020B0604020202020204" pitchFamily="34" charset="0"/>
              </a:rPr>
              <a:t>It helps us to avoid contiguous storage of the elements in the list</a:t>
            </a:r>
            <a:br>
              <a:rPr lang="en-US" sz="2400" cap="none" dirty="0"/>
            </a:br>
            <a:endParaRPr lang="en-US" sz="2400" cap="none" dirty="0"/>
          </a:p>
        </p:txBody>
      </p:sp>
    </p:spTree>
    <p:extLst>
      <p:ext uri="{BB962C8B-B14F-4D97-AF65-F5344CB8AC3E}">
        <p14:creationId xmlns:p14="http://schemas.microsoft.com/office/powerpoint/2010/main" val="6520112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EC308-C51F-5FD1-80AE-274465836C65}"/>
              </a:ext>
            </a:extLst>
          </p:cNvPr>
          <p:cNvSpPr>
            <a:spLocks noGrp="1"/>
          </p:cNvSpPr>
          <p:nvPr>
            <p:ph type="title"/>
          </p:nvPr>
        </p:nvSpPr>
        <p:spPr>
          <a:xfrm>
            <a:off x="433755" y="618517"/>
            <a:ext cx="6084277" cy="5418868"/>
          </a:xfrm>
        </p:spPr>
        <p:txBody>
          <a:bodyPr>
            <a:normAutofit/>
          </a:bodyPr>
          <a:lstStyle/>
          <a:p>
            <a:pPr algn="l"/>
            <a:r>
              <a:rPr lang="en-US" sz="2000" cap="none" dirty="0"/>
              <a:t>A linked list is a dynamic data structure, that has an element and a pointer, that points to the next  node(which consist of a data compartment and a pointer called next)</a:t>
            </a:r>
            <a:br>
              <a:rPr lang="en-US" sz="2000" cap="none" dirty="0"/>
            </a:br>
            <a:endParaRPr lang="en-US" sz="2000" cap="none" dirty="0"/>
          </a:p>
        </p:txBody>
      </p:sp>
      <p:pic>
        <p:nvPicPr>
          <p:cNvPr id="5" name="Content Placeholder 4">
            <a:extLst>
              <a:ext uri="{FF2B5EF4-FFF2-40B4-BE49-F238E27FC236}">
                <a16:creationId xmlns:a16="http://schemas.microsoft.com/office/drawing/2014/main" id="{740A4FA1-A11C-CA98-1140-624DB33417E9}"/>
              </a:ext>
            </a:extLst>
          </p:cNvPr>
          <p:cNvPicPr>
            <a:picLocks noGrp="1" noChangeAspect="1"/>
          </p:cNvPicPr>
          <p:nvPr>
            <p:ph sz="quarter" idx="13"/>
          </p:nvPr>
        </p:nvPicPr>
        <p:blipFill>
          <a:blip r:embed="rId2"/>
          <a:srcRect/>
          <a:stretch/>
        </p:blipFill>
        <p:spPr>
          <a:xfrm>
            <a:off x="6729045" y="1742704"/>
            <a:ext cx="5029200" cy="3372592"/>
          </a:xfrm>
        </p:spPr>
      </p:pic>
    </p:spTree>
    <p:extLst>
      <p:ext uri="{BB962C8B-B14F-4D97-AF65-F5344CB8AC3E}">
        <p14:creationId xmlns:p14="http://schemas.microsoft.com/office/powerpoint/2010/main" val="3187903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EC308-C51F-5FD1-80AE-274465836C65}"/>
              </a:ext>
            </a:extLst>
          </p:cNvPr>
          <p:cNvSpPr>
            <a:spLocks noGrp="1"/>
          </p:cNvSpPr>
          <p:nvPr>
            <p:ph type="title"/>
          </p:nvPr>
        </p:nvSpPr>
        <p:spPr>
          <a:xfrm>
            <a:off x="433755" y="618517"/>
            <a:ext cx="5333695" cy="5418868"/>
          </a:xfrm>
        </p:spPr>
        <p:txBody>
          <a:bodyPr>
            <a:normAutofit/>
          </a:bodyPr>
          <a:lstStyle/>
          <a:p>
            <a:pPr algn="l"/>
            <a:r>
              <a:rPr lang="en-US" sz="2000" cap="none" dirty="0"/>
              <a:t>In contrast to array’s static method of specifying size before hand, for linked list, it is done dynamically.</a:t>
            </a:r>
            <a:br>
              <a:rPr lang="en-US" sz="2000" cap="none" dirty="0"/>
            </a:br>
            <a:r>
              <a:rPr lang="en-US" sz="2000" cap="none" dirty="0"/>
              <a:t>Also, there is no need for malloc or calloc, in java as memory allocation and free of memory space </a:t>
            </a:r>
            <a:br>
              <a:rPr lang="en-US" sz="2000" cap="none" dirty="0"/>
            </a:br>
            <a:r>
              <a:rPr lang="en-US" sz="2000" cap="none" dirty="0"/>
              <a:t>is done dynamically by the JVM, just by using the “new” keyword, memory is allocated dynamically, as when needed.</a:t>
            </a:r>
            <a:br>
              <a:rPr lang="en-US" sz="2000" cap="none" dirty="0"/>
            </a:br>
            <a:br>
              <a:rPr lang="en-US" sz="2000" cap="none" dirty="0"/>
            </a:br>
            <a:endParaRPr lang="en-US" sz="2000" cap="none" dirty="0"/>
          </a:p>
        </p:txBody>
      </p:sp>
      <p:pic>
        <p:nvPicPr>
          <p:cNvPr id="5" name="Content Placeholder 4">
            <a:extLst>
              <a:ext uri="{FF2B5EF4-FFF2-40B4-BE49-F238E27FC236}">
                <a16:creationId xmlns:a16="http://schemas.microsoft.com/office/drawing/2014/main" id="{740A4FA1-A11C-CA98-1140-624DB33417E9}"/>
              </a:ext>
            </a:extLst>
          </p:cNvPr>
          <p:cNvPicPr>
            <a:picLocks noGrp="1" noChangeAspect="1"/>
          </p:cNvPicPr>
          <p:nvPr>
            <p:ph sz="quarter" idx="13"/>
          </p:nvPr>
        </p:nvPicPr>
        <p:blipFill>
          <a:blip r:embed="rId2"/>
          <a:srcRect/>
          <a:stretch/>
        </p:blipFill>
        <p:spPr>
          <a:xfrm>
            <a:off x="5617029" y="1567543"/>
            <a:ext cx="6436426" cy="3384467"/>
          </a:xfrm>
        </p:spPr>
      </p:pic>
    </p:spTree>
    <p:extLst>
      <p:ext uri="{BB962C8B-B14F-4D97-AF65-F5344CB8AC3E}">
        <p14:creationId xmlns:p14="http://schemas.microsoft.com/office/powerpoint/2010/main" val="36747054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5C6D6-25F6-2A47-4545-76F3159C1034}"/>
              </a:ext>
            </a:extLst>
          </p:cNvPr>
          <p:cNvSpPr>
            <a:spLocks noGrp="1"/>
          </p:cNvSpPr>
          <p:nvPr>
            <p:ph type="title"/>
          </p:nvPr>
        </p:nvSpPr>
        <p:spPr/>
        <p:txBody>
          <a:bodyPr/>
          <a:lstStyle/>
          <a:p>
            <a:r>
              <a:rPr lang="en-US" dirty="0"/>
              <a:t>Push(</a:t>
            </a:r>
            <a:r>
              <a:rPr lang="en-US" sz="2400" cap="none" dirty="0"/>
              <a:t>adding an item to the end of the list</a:t>
            </a:r>
            <a:r>
              <a:rPr lang="en-US" dirty="0"/>
              <a:t>)</a:t>
            </a:r>
          </a:p>
        </p:txBody>
      </p:sp>
      <p:pic>
        <p:nvPicPr>
          <p:cNvPr id="5" name="Content Placeholder 4">
            <a:extLst>
              <a:ext uri="{FF2B5EF4-FFF2-40B4-BE49-F238E27FC236}">
                <a16:creationId xmlns:a16="http://schemas.microsoft.com/office/drawing/2014/main" id="{D74DBA98-ABC8-0E16-4E19-238D42BDB60C}"/>
              </a:ext>
            </a:extLst>
          </p:cNvPr>
          <p:cNvPicPr>
            <a:picLocks noGrp="1" noChangeAspect="1"/>
          </p:cNvPicPr>
          <p:nvPr>
            <p:ph sz="quarter" idx="13"/>
          </p:nvPr>
        </p:nvPicPr>
        <p:blipFill>
          <a:blip r:embed="rId2"/>
          <a:stretch>
            <a:fillRect/>
          </a:stretch>
        </p:blipFill>
        <p:spPr>
          <a:xfrm>
            <a:off x="2446318" y="2505694"/>
            <a:ext cx="7445828" cy="3051958"/>
          </a:xfrm>
        </p:spPr>
      </p:pic>
    </p:spTree>
    <p:extLst>
      <p:ext uri="{BB962C8B-B14F-4D97-AF65-F5344CB8AC3E}">
        <p14:creationId xmlns:p14="http://schemas.microsoft.com/office/powerpoint/2010/main" val="4125125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5C6D6-25F6-2A47-4545-76F3159C1034}"/>
              </a:ext>
            </a:extLst>
          </p:cNvPr>
          <p:cNvSpPr>
            <a:spLocks noGrp="1"/>
          </p:cNvSpPr>
          <p:nvPr>
            <p:ph type="title"/>
          </p:nvPr>
        </p:nvSpPr>
        <p:spPr/>
        <p:txBody>
          <a:bodyPr/>
          <a:lstStyle/>
          <a:p>
            <a:r>
              <a:rPr lang="en-US" dirty="0"/>
              <a:t>Iterating over a list</a:t>
            </a:r>
          </a:p>
        </p:txBody>
      </p:sp>
      <p:pic>
        <p:nvPicPr>
          <p:cNvPr id="5" name="Content Placeholder 4">
            <a:extLst>
              <a:ext uri="{FF2B5EF4-FFF2-40B4-BE49-F238E27FC236}">
                <a16:creationId xmlns:a16="http://schemas.microsoft.com/office/drawing/2014/main" id="{D74DBA98-ABC8-0E16-4E19-238D42BDB60C}"/>
              </a:ext>
            </a:extLst>
          </p:cNvPr>
          <p:cNvPicPr>
            <a:picLocks noGrp="1" noChangeAspect="1"/>
          </p:cNvPicPr>
          <p:nvPr>
            <p:ph sz="quarter" idx="13"/>
          </p:nvPr>
        </p:nvPicPr>
        <p:blipFill>
          <a:blip r:embed="rId2"/>
          <a:srcRect/>
          <a:stretch/>
        </p:blipFill>
        <p:spPr>
          <a:xfrm>
            <a:off x="2446318" y="2505694"/>
            <a:ext cx="7445828" cy="3051958"/>
          </a:xfrm>
        </p:spPr>
      </p:pic>
    </p:spTree>
    <p:extLst>
      <p:ext uri="{BB962C8B-B14F-4D97-AF65-F5344CB8AC3E}">
        <p14:creationId xmlns:p14="http://schemas.microsoft.com/office/powerpoint/2010/main" val="19007357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5C6D6-25F6-2A47-4545-76F3159C1034}"/>
              </a:ext>
            </a:extLst>
          </p:cNvPr>
          <p:cNvSpPr>
            <a:spLocks noGrp="1"/>
          </p:cNvSpPr>
          <p:nvPr>
            <p:ph type="title"/>
          </p:nvPr>
        </p:nvSpPr>
        <p:spPr/>
        <p:txBody>
          <a:bodyPr/>
          <a:lstStyle/>
          <a:p>
            <a:r>
              <a:rPr lang="en-US" cap="none" dirty="0"/>
              <a:t>Adding item to the beginning of a list</a:t>
            </a:r>
          </a:p>
        </p:txBody>
      </p:sp>
      <p:pic>
        <p:nvPicPr>
          <p:cNvPr id="5" name="Content Placeholder 4">
            <a:extLst>
              <a:ext uri="{FF2B5EF4-FFF2-40B4-BE49-F238E27FC236}">
                <a16:creationId xmlns:a16="http://schemas.microsoft.com/office/drawing/2014/main" id="{D74DBA98-ABC8-0E16-4E19-238D42BDB60C}"/>
              </a:ext>
            </a:extLst>
          </p:cNvPr>
          <p:cNvPicPr>
            <a:picLocks noGrp="1" noChangeAspect="1"/>
          </p:cNvPicPr>
          <p:nvPr>
            <p:ph sz="quarter" idx="13"/>
          </p:nvPr>
        </p:nvPicPr>
        <p:blipFill>
          <a:blip r:embed="rId2"/>
          <a:srcRect/>
          <a:stretch/>
        </p:blipFill>
        <p:spPr>
          <a:xfrm>
            <a:off x="2446318" y="2505694"/>
            <a:ext cx="7445828" cy="3051958"/>
          </a:xfrm>
        </p:spPr>
      </p:pic>
    </p:spTree>
    <p:extLst>
      <p:ext uri="{BB962C8B-B14F-4D97-AF65-F5344CB8AC3E}">
        <p14:creationId xmlns:p14="http://schemas.microsoft.com/office/powerpoint/2010/main" val="27091956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5C6D6-25F6-2A47-4545-76F3159C1034}"/>
              </a:ext>
            </a:extLst>
          </p:cNvPr>
          <p:cNvSpPr>
            <a:spLocks noGrp="1"/>
          </p:cNvSpPr>
          <p:nvPr>
            <p:ph type="title"/>
          </p:nvPr>
        </p:nvSpPr>
        <p:spPr/>
        <p:txBody>
          <a:bodyPr/>
          <a:lstStyle/>
          <a:p>
            <a:r>
              <a:rPr lang="en-US" cap="none" dirty="0"/>
              <a:t>Removing first item</a:t>
            </a:r>
          </a:p>
        </p:txBody>
      </p:sp>
      <p:pic>
        <p:nvPicPr>
          <p:cNvPr id="5" name="Content Placeholder 4">
            <a:extLst>
              <a:ext uri="{FF2B5EF4-FFF2-40B4-BE49-F238E27FC236}">
                <a16:creationId xmlns:a16="http://schemas.microsoft.com/office/drawing/2014/main" id="{D74DBA98-ABC8-0E16-4E19-238D42BDB60C}"/>
              </a:ext>
            </a:extLst>
          </p:cNvPr>
          <p:cNvPicPr>
            <a:picLocks noGrp="1" noChangeAspect="1"/>
          </p:cNvPicPr>
          <p:nvPr>
            <p:ph sz="quarter" idx="13"/>
          </p:nvPr>
        </p:nvPicPr>
        <p:blipFill>
          <a:blip r:embed="rId2"/>
          <a:srcRect/>
          <a:stretch/>
        </p:blipFill>
        <p:spPr>
          <a:xfrm>
            <a:off x="2446318" y="2505694"/>
            <a:ext cx="7445828" cy="3051958"/>
          </a:xfrm>
        </p:spPr>
      </p:pic>
    </p:spTree>
    <p:extLst>
      <p:ext uri="{BB962C8B-B14F-4D97-AF65-F5344CB8AC3E}">
        <p14:creationId xmlns:p14="http://schemas.microsoft.com/office/powerpoint/2010/main" val="20636566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5C6D6-25F6-2A47-4545-76F3159C1034}"/>
              </a:ext>
            </a:extLst>
          </p:cNvPr>
          <p:cNvSpPr>
            <a:spLocks noGrp="1"/>
          </p:cNvSpPr>
          <p:nvPr>
            <p:ph type="title"/>
          </p:nvPr>
        </p:nvSpPr>
        <p:spPr/>
        <p:txBody>
          <a:bodyPr/>
          <a:lstStyle/>
          <a:p>
            <a:r>
              <a:rPr lang="en-US" cap="none" dirty="0"/>
              <a:t>Removing last item</a:t>
            </a:r>
          </a:p>
        </p:txBody>
      </p:sp>
      <p:pic>
        <p:nvPicPr>
          <p:cNvPr id="5" name="Content Placeholder 4">
            <a:extLst>
              <a:ext uri="{FF2B5EF4-FFF2-40B4-BE49-F238E27FC236}">
                <a16:creationId xmlns:a16="http://schemas.microsoft.com/office/drawing/2014/main" id="{D74DBA98-ABC8-0E16-4E19-238D42BDB60C}"/>
              </a:ext>
            </a:extLst>
          </p:cNvPr>
          <p:cNvPicPr>
            <a:picLocks noGrp="1" noChangeAspect="1"/>
          </p:cNvPicPr>
          <p:nvPr>
            <p:ph sz="quarter" idx="13"/>
          </p:nvPr>
        </p:nvPicPr>
        <p:blipFill>
          <a:blip r:embed="rId2"/>
          <a:srcRect/>
          <a:stretch/>
        </p:blipFill>
        <p:spPr>
          <a:xfrm>
            <a:off x="1650670" y="2505693"/>
            <a:ext cx="8870868" cy="3348841"/>
          </a:xfrm>
        </p:spPr>
      </p:pic>
    </p:spTree>
    <p:extLst>
      <p:ext uri="{BB962C8B-B14F-4D97-AF65-F5344CB8AC3E}">
        <p14:creationId xmlns:p14="http://schemas.microsoft.com/office/powerpoint/2010/main" val="20606055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5C6D6-25F6-2A47-4545-76F3159C1034}"/>
              </a:ext>
            </a:extLst>
          </p:cNvPr>
          <p:cNvSpPr>
            <a:spLocks noGrp="1"/>
          </p:cNvSpPr>
          <p:nvPr>
            <p:ph type="title"/>
          </p:nvPr>
        </p:nvSpPr>
        <p:spPr/>
        <p:txBody>
          <a:bodyPr/>
          <a:lstStyle/>
          <a:p>
            <a:r>
              <a:rPr lang="en-US" cap="none" dirty="0"/>
              <a:t>Removing a specific item</a:t>
            </a:r>
          </a:p>
        </p:txBody>
      </p:sp>
      <p:pic>
        <p:nvPicPr>
          <p:cNvPr id="5" name="Content Placeholder 4">
            <a:extLst>
              <a:ext uri="{FF2B5EF4-FFF2-40B4-BE49-F238E27FC236}">
                <a16:creationId xmlns:a16="http://schemas.microsoft.com/office/drawing/2014/main" id="{D74DBA98-ABC8-0E16-4E19-238D42BDB60C}"/>
              </a:ext>
            </a:extLst>
          </p:cNvPr>
          <p:cNvPicPr>
            <a:picLocks noGrp="1" noChangeAspect="1"/>
          </p:cNvPicPr>
          <p:nvPr>
            <p:ph sz="quarter" idx="13"/>
          </p:nvPr>
        </p:nvPicPr>
        <p:blipFill>
          <a:blip r:embed="rId2"/>
          <a:srcRect/>
          <a:stretch/>
        </p:blipFill>
        <p:spPr>
          <a:xfrm>
            <a:off x="1650670" y="1852551"/>
            <a:ext cx="8870868" cy="4726379"/>
          </a:xfrm>
        </p:spPr>
      </p:pic>
    </p:spTree>
    <p:extLst>
      <p:ext uri="{BB962C8B-B14F-4D97-AF65-F5344CB8AC3E}">
        <p14:creationId xmlns:p14="http://schemas.microsoft.com/office/powerpoint/2010/main" val="6039877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DA374-5596-CB10-09C0-05AF95BA851A}"/>
              </a:ext>
            </a:extLst>
          </p:cNvPr>
          <p:cNvSpPr>
            <a:spLocks noGrp="1"/>
          </p:cNvSpPr>
          <p:nvPr>
            <p:ph type="title"/>
          </p:nvPr>
        </p:nvSpPr>
        <p:spPr>
          <a:xfrm>
            <a:off x="913775" y="618518"/>
            <a:ext cx="10364451" cy="703846"/>
          </a:xfrm>
        </p:spPr>
        <p:txBody>
          <a:bodyPr/>
          <a:lstStyle/>
          <a:p>
            <a:r>
              <a:rPr lang="en-US" dirty="0"/>
              <a:t>STACK</a:t>
            </a:r>
          </a:p>
        </p:txBody>
      </p:sp>
      <p:sp>
        <p:nvSpPr>
          <p:cNvPr id="3" name="Content Placeholder 2">
            <a:extLst>
              <a:ext uri="{FF2B5EF4-FFF2-40B4-BE49-F238E27FC236}">
                <a16:creationId xmlns:a16="http://schemas.microsoft.com/office/drawing/2014/main" id="{A344651E-AEF1-78F0-D1A4-A31559709726}"/>
              </a:ext>
            </a:extLst>
          </p:cNvPr>
          <p:cNvSpPr>
            <a:spLocks noGrp="1"/>
          </p:cNvSpPr>
          <p:nvPr>
            <p:ph sz="quarter" idx="13"/>
          </p:nvPr>
        </p:nvSpPr>
        <p:spPr>
          <a:xfrm>
            <a:off x="913774" y="1322364"/>
            <a:ext cx="10363826" cy="4468835"/>
          </a:xfrm>
        </p:spPr>
        <p:txBody>
          <a:bodyPr>
            <a:normAutofit fontScale="55000" lnSpcReduction="20000"/>
          </a:bodyPr>
          <a:lstStyle/>
          <a:p>
            <a:r>
              <a:rPr lang="en-GB" sz="3200" cap="none" dirty="0">
                <a:effectLst/>
                <a:latin typeface="Maiandra GD" panose="020E0502030308020204" pitchFamily="34" charset="0"/>
                <a:ea typeface="Calibri" panose="020F0502020204030204" pitchFamily="34" charset="0"/>
                <a:cs typeface="Arial" panose="020B0604020202020204" pitchFamily="34" charset="0"/>
              </a:rPr>
              <a:t>It is an ordered collection of items where the addition of new items and the removal of existing items always takes place at the same end. this end is commonly referred to as the “top.” the end opposite the top is known as the “base.” the base of the stack is significant since items stored in the stack that are closer to the base represent those that have been in the stack the longest. the most recently added item is the one that is in position to be removed first. this ordering principle is sometimes called lifo, last-in first-out. it provides an ordering based on length of time in the collection. newer items are near the top, while older items are near the base.</a:t>
            </a:r>
            <a:br>
              <a:rPr lang="en-GB" sz="3200" cap="none" dirty="0">
                <a:effectLst/>
                <a:latin typeface="Maiandra GD" panose="020E0502030308020204" pitchFamily="34" charset="0"/>
                <a:ea typeface="Calibri" panose="020F0502020204030204" pitchFamily="34" charset="0"/>
                <a:cs typeface="Arial" panose="020B0604020202020204" pitchFamily="34" charset="0"/>
              </a:rPr>
            </a:br>
            <a:br>
              <a:rPr lang="en-GB" sz="3200" cap="none" dirty="0">
                <a:effectLst/>
                <a:latin typeface="Maiandra GD" panose="020E0502030308020204" pitchFamily="34" charset="0"/>
                <a:ea typeface="Calibri" panose="020F0502020204030204" pitchFamily="34" charset="0"/>
                <a:cs typeface="Arial" panose="020B0604020202020204" pitchFamily="34" charset="0"/>
              </a:rPr>
            </a:br>
            <a:r>
              <a:rPr lang="en-GB" sz="3200" cap="none" dirty="0">
                <a:effectLst/>
                <a:latin typeface="Maiandra GD" panose="020E0502030308020204" pitchFamily="34" charset="0"/>
                <a:ea typeface="Calibri" panose="020F0502020204030204" pitchFamily="34" charset="0"/>
                <a:cs typeface="Arial" panose="020B0604020202020204" pitchFamily="34" charset="0"/>
              </a:rPr>
              <a:t>There are three basic operation; push(inserting), pop(removing), pip(display)</a:t>
            </a:r>
            <a:br>
              <a:rPr lang="en-GB" sz="3200" cap="none" dirty="0">
                <a:effectLst/>
                <a:latin typeface="Maiandra GD" panose="020E0502030308020204" pitchFamily="34" charset="0"/>
                <a:ea typeface="Calibri" panose="020F0502020204030204" pitchFamily="34" charset="0"/>
                <a:cs typeface="Arial" panose="020B0604020202020204" pitchFamily="34" charset="0"/>
              </a:rPr>
            </a:br>
            <a:r>
              <a:rPr lang="en-GB" sz="3200" cap="none" dirty="0">
                <a:effectLst/>
                <a:latin typeface="Maiandra GD" panose="020E0502030308020204" pitchFamily="34" charset="0"/>
                <a:ea typeface="Calibri" panose="020F0502020204030204" pitchFamily="34" charset="0"/>
                <a:cs typeface="Arial" panose="020B0604020202020204" pitchFamily="34" charset="0"/>
              </a:rPr>
              <a:t>We have others such as peek, isDisplay, etc.</a:t>
            </a:r>
            <a:br>
              <a:rPr lang="en-GB" sz="3200" cap="none" dirty="0">
                <a:effectLst/>
                <a:latin typeface="Maiandra GD" panose="020E0502030308020204" pitchFamily="34" charset="0"/>
                <a:ea typeface="Calibri" panose="020F0502020204030204" pitchFamily="34" charset="0"/>
                <a:cs typeface="Arial" panose="020B0604020202020204" pitchFamily="34" charset="0"/>
              </a:rPr>
            </a:br>
            <a:br>
              <a:rPr lang="en-GB" sz="3200" cap="none" dirty="0">
                <a:effectLst/>
                <a:latin typeface="Maiandra GD" panose="020E0502030308020204" pitchFamily="34" charset="0"/>
                <a:ea typeface="Calibri" panose="020F0502020204030204" pitchFamily="34" charset="0"/>
                <a:cs typeface="Arial" panose="020B0604020202020204" pitchFamily="34" charset="0"/>
              </a:rPr>
            </a:br>
            <a:r>
              <a:rPr lang="en-GB" sz="3200" cap="none" dirty="0">
                <a:effectLst/>
                <a:latin typeface="Maiandra GD" panose="020E0502030308020204" pitchFamily="34" charset="0"/>
                <a:ea typeface="Calibri" panose="020F0502020204030204" pitchFamily="34" charset="0"/>
                <a:cs typeface="Arial" panose="020B0604020202020204" pitchFamily="34" charset="0"/>
              </a:rPr>
              <a:t>NOTE: We have both the static(Array) and the dynamic(Linked list) implementation of stack</a:t>
            </a:r>
            <a:br>
              <a:rPr lang="en-GB" sz="1800" cap="none" dirty="0">
                <a:effectLst/>
                <a:latin typeface="Maiandra GD" panose="020E0502030308020204" pitchFamily="34" charset="0"/>
                <a:ea typeface="Calibri" panose="020F0502020204030204" pitchFamily="34" charset="0"/>
                <a:cs typeface="Arial" panose="020B0604020202020204" pitchFamily="34" charset="0"/>
              </a:rPr>
            </a:br>
            <a:br>
              <a:rPr lang="en-GB" sz="1800" cap="none" dirty="0">
                <a:effectLst/>
                <a:latin typeface="Maiandra GD" panose="020E0502030308020204" pitchFamily="34" charset="0"/>
                <a:ea typeface="Calibri" panose="020F0502020204030204" pitchFamily="34" charset="0"/>
                <a:cs typeface="Arial" panose="020B0604020202020204" pitchFamily="34" charset="0"/>
              </a:rPr>
            </a:br>
            <a:br>
              <a:rPr lang="en-GB" sz="1800" cap="none" dirty="0">
                <a:effectLst/>
                <a:latin typeface="Maiandra GD" panose="020E0502030308020204" pitchFamily="34" charset="0"/>
                <a:ea typeface="Calibri" panose="020F0502020204030204" pitchFamily="34" charset="0"/>
                <a:cs typeface="Arial" panose="020B0604020202020204" pitchFamily="34" charset="0"/>
              </a:rPr>
            </a:br>
            <a:endParaRPr lang="en-US" cap="none" dirty="0"/>
          </a:p>
        </p:txBody>
      </p:sp>
    </p:spTree>
    <p:extLst>
      <p:ext uri="{BB962C8B-B14F-4D97-AF65-F5344CB8AC3E}">
        <p14:creationId xmlns:p14="http://schemas.microsoft.com/office/powerpoint/2010/main" val="32116413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8F0CF-AF6F-A66A-23FF-BB34399CA439}"/>
              </a:ext>
            </a:extLst>
          </p:cNvPr>
          <p:cNvSpPr>
            <a:spLocks noGrp="1"/>
          </p:cNvSpPr>
          <p:nvPr>
            <p:ph type="title"/>
          </p:nvPr>
        </p:nvSpPr>
        <p:spPr>
          <a:xfrm>
            <a:off x="220395" y="618517"/>
            <a:ext cx="6194474" cy="5620965"/>
          </a:xfrm>
        </p:spPr>
        <p:txBody>
          <a:bodyPr>
            <a:normAutofit/>
          </a:bodyPr>
          <a:lstStyle/>
          <a:p>
            <a:r>
              <a:rPr lang="en-US" sz="3200" cap="none" dirty="0"/>
              <a:t>Array</a:t>
            </a:r>
            <a:br>
              <a:rPr lang="en-US" sz="2000" cap="none" dirty="0"/>
            </a:br>
            <a:br>
              <a:rPr lang="en-US" sz="2000" cap="none" dirty="0"/>
            </a:br>
            <a:r>
              <a:rPr lang="en-US" sz="2000" cap="none" dirty="0"/>
              <a:t>From the code at the side, the max size of the array is defined, also top is set to be -1 showing that there is no element in the stack.</a:t>
            </a:r>
            <a:br>
              <a:rPr lang="en-US" sz="2000" cap="none" dirty="0"/>
            </a:br>
            <a:r>
              <a:rPr lang="en-US" sz="2000" cap="none" dirty="0"/>
              <a:t>isEmpty function is just to check if the stack is empty and it returns Boolean, either true or false.</a:t>
            </a:r>
            <a:br>
              <a:rPr lang="en-US" sz="2000" cap="none" dirty="0"/>
            </a:br>
            <a:r>
              <a:rPr lang="en-US" sz="2000" cap="none" dirty="0"/>
              <a:t>isFull function also a Boolean function checks if the top position is occupied based on the size the stack</a:t>
            </a:r>
            <a:br>
              <a:rPr lang="en-US" sz="2000" cap="none" dirty="0"/>
            </a:br>
            <a:r>
              <a:rPr lang="en-US" sz="2000" cap="none" dirty="0"/>
              <a:t>The size of the stack is 8, meaning it can carry elements at the position 0, 1, 2, 3, 4, 5, 6, 7</a:t>
            </a:r>
            <a:br>
              <a:rPr lang="en-US" sz="2000" cap="none" dirty="0"/>
            </a:br>
            <a:r>
              <a:rPr lang="en-US" sz="2000" cap="none" dirty="0"/>
              <a:t>that’s why you having MAXSIZE – 1, cause we dealing with position here</a:t>
            </a:r>
            <a:br>
              <a:rPr lang="en-US" sz="2000" cap="none" dirty="0"/>
            </a:br>
            <a:r>
              <a:rPr lang="en-US" sz="2000" cap="none" dirty="0"/>
              <a:t>so isFull function is checking if top = 7, if yes then it full,</a:t>
            </a:r>
            <a:br>
              <a:rPr lang="en-US" sz="2000" cap="none" dirty="0"/>
            </a:br>
            <a:r>
              <a:rPr lang="en-US" sz="2000" cap="none" dirty="0"/>
              <a:t> you can’t add any more.</a:t>
            </a:r>
            <a:br>
              <a:rPr lang="en-US" sz="2000" cap="none" dirty="0"/>
            </a:br>
            <a:br>
              <a:rPr lang="en-US" sz="2000" cap="none" dirty="0"/>
            </a:br>
            <a:br>
              <a:rPr lang="en-US" sz="2000" cap="none" dirty="0"/>
            </a:br>
            <a:br>
              <a:rPr lang="en-US" sz="2000" cap="none" dirty="0"/>
            </a:br>
            <a:endParaRPr lang="en-US" sz="2000" cap="none" dirty="0"/>
          </a:p>
        </p:txBody>
      </p:sp>
      <p:pic>
        <p:nvPicPr>
          <p:cNvPr id="9" name="Content Placeholder 8">
            <a:extLst>
              <a:ext uri="{FF2B5EF4-FFF2-40B4-BE49-F238E27FC236}">
                <a16:creationId xmlns:a16="http://schemas.microsoft.com/office/drawing/2014/main" id="{8E9FECF4-AC4C-AF15-205C-D71D3CE0120E}"/>
              </a:ext>
            </a:extLst>
          </p:cNvPr>
          <p:cNvPicPr>
            <a:picLocks noGrp="1" noChangeAspect="1"/>
          </p:cNvPicPr>
          <p:nvPr>
            <p:ph sz="quarter" idx="13"/>
          </p:nvPr>
        </p:nvPicPr>
        <p:blipFill>
          <a:blip r:embed="rId2"/>
          <a:stretch>
            <a:fillRect/>
          </a:stretch>
        </p:blipFill>
        <p:spPr>
          <a:xfrm>
            <a:off x="6580639" y="414075"/>
            <a:ext cx="5390966" cy="5825407"/>
          </a:xfrm>
        </p:spPr>
      </p:pic>
    </p:spTree>
    <p:extLst>
      <p:ext uri="{BB962C8B-B14F-4D97-AF65-F5344CB8AC3E}">
        <p14:creationId xmlns:p14="http://schemas.microsoft.com/office/powerpoint/2010/main" val="987238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57980-83DF-3E86-C7CA-9C12F0251378}"/>
              </a:ext>
            </a:extLst>
          </p:cNvPr>
          <p:cNvSpPr>
            <a:spLocks noGrp="1"/>
          </p:cNvSpPr>
          <p:nvPr>
            <p:ph type="title"/>
          </p:nvPr>
        </p:nvSpPr>
        <p:spPr>
          <a:xfrm>
            <a:off x="211015" y="309489"/>
            <a:ext cx="5884985" cy="6231988"/>
          </a:xfrm>
        </p:spPr>
        <p:txBody>
          <a:bodyPr>
            <a:normAutofit fontScale="90000"/>
          </a:bodyPr>
          <a:lstStyle/>
          <a:p>
            <a:br>
              <a:rPr lang="en-US" sz="2400" cap="none" dirty="0"/>
            </a:br>
            <a:br>
              <a:rPr lang="en-US" sz="2400" cap="none" dirty="0"/>
            </a:br>
            <a:br>
              <a:rPr lang="en-US" sz="2400" cap="none" dirty="0"/>
            </a:br>
            <a:r>
              <a:rPr lang="en-US" sz="2400" cap="none" dirty="0"/>
              <a:t>PEEK</a:t>
            </a:r>
            <a:br>
              <a:rPr lang="en-US" sz="2400" cap="none" dirty="0"/>
            </a:br>
            <a:br>
              <a:rPr lang="en-US" sz="2400" cap="none" dirty="0"/>
            </a:br>
            <a:r>
              <a:rPr lang="en-US" sz="2200" cap="none" dirty="0"/>
              <a:t>Peek is an operation in the stack to return the most recent element, that is the element that is at the top of the stack, implying it was added last, from the code at the side, the peek function first check if the stack is empty, if its not empty it returns the element, else it prints “Empty stack” and returns -1 indicating error.</a:t>
            </a:r>
            <a:br>
              <a:rPr lang="en-US" sz="1800" cap="none" dirty="0"/>
            </a:br>
            <a:br>
              <a:rPr lang="en-US" sz="1800" cap="none" dirty="0"/>
            </a:br>
            <a:br>
              <a:rPr lang="en-US" sz="1800" cap="none" dirty="0"/>
            </a:br>
            <a:br>
              <a:rPr lang="en-US" sz="1800" cap="none" dirty="0"/>
            </a:br>
            <a:r>
              <a:rPr lang="en-US" sz="2400" cap="none" dirty="0"/>
              <a:t>POP</a:t>
            </a:r>
            <a:br>
              <a:rPr lang="en-US" sz="1800" cap="none" dirty="0"/>
            </a:br>
            <a:r>
              <a:rPr lang="en-US" sz="2200" cap="none" dirty="0"/>
              <a:t>Pop is an operation in the stack, it returns the item/element removed, it requires no parameter, all it does is removing the most recently added element from the stack,</a:t>
            </a:r>
            <a:br>
              <a:rPr lang="en-US" sz="2200" cap="none" dirty="0"/>
            </a:br>
            <a:r>
              <a:rPr lang="en-US" sz="2200" cap="none" dirty="0"/>
              <a:t>from the code at the side, the pop , if its not empty, it goes ahead, and delete the most recent element(the one at the top)</a:t>
            </a:r>
            <a:br>
              <a:rPr lang="en-US" sz="2200" cap="none" dirty="0"/>
            </a:br>
            <a:r>
              <a:rPr lang="en-US" sz="2200" cap="none" dirty="0"/>
              <a:t>it does this by reducing the top one place and the top becomes another element</a:t>
            </a:r>
            <a:br>
              <a:rPr lang="en-US" sz="2200" cap="none" dirty="0"/>
            </a:br>
            <a:br>
              <a:rPr lang="en-US" sz="1800" cap="none" dirty="0"/>
            </a:br>
            <a:br>
              <a:rPr lang="en-US" sz="1800" cap="none" dirty="0"/>
            </a:br>
            <a:r>
              <a:rPr lang="en-US" sz="1800" cap="none" dirty="0"/>
              <a:t>               </a:t>
            </a:r>
            <a:br>
              <a:rPr lang="en-US" sz="1800" cap="none" dirty="0"/>
            </a:br>
            <a:endParaRPr lang="en-US" sz="1800" cap="none" dirty="0"/>
          </a:p>
        </p:txBody>
      </p:sp>
      <p:pic>
        <p:nvPicPr>
          <p:cNvPr id="5" name="Content Placeholder 4">
            <a:extLst>
              <a:ext uri="{FF2B5EF4-FFF2-40B4-BE49-F238E27FC236}">
                <a16:creationId xmlns:a16="http://schemas.microsoft.com/office/drawing/2014/main" id="{2068203F-88D7-8F66-12C3-F9095FE7B6F7}"/>
              </a:ext>
            </a:extLst>
          </p:cNvPr>
          <p:cNvPicPr>
            <a:picLocks noGrp="1" noChangeAspect="1"/>
          </p:cNvPicPr>
          <p:nvPr>
            <p:ph sz="quarter" idx="13"/>
          </p:nvPr>
        </p:nvPicPr>
        <p:blipFill>
          <a:blip r:embed="rId2"/>
          <a:stretch>
            <a:fillRect/>
          </a:stretch>
        </p:blipFill>
        <p:spPr>
          <a:xfrm>
            <a:off x="6232525" y="309489"/>
            <a:ext cx="5626100" cy="6231988"/>
          </a:xfrm>
        </p:spPr>
      </p:pic>
    </p:spTree>
    <p:extLst>
      <p:ext uri="{BB962C8B-B14F-4D97-AF65-F5344CB8AC3E}">
        <p14:creationId xmlns:p14="http://schemas.microsoft.com/office/powerpoint/2010/main" val="2539490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00B94-B867-0D33-CFC0-DD42700154F6}"/>
              </a:ext>
            </a:extLst>
          </p:cNvPr>
          <p:cNvSpPr>
            <a:spLocks noGrp="1"/>
          </p:cNvSpPr>
          <p:nvPr>
            <p:ph type="title"/>
          </p:nvPr>
        </p:nvSpPr>
        <p:spPr>
          <a:xfrm>
            <a:off x="351693" y="241023"/>
            <a:ext cx="5866228" cy="6258252"/>
          </a:xfrm>
        </p:spPr>
        <p:txBody>
          <a:bodyPr>
            <a:normAutofit/>
          </a:bodyPr>
          <a:lstStyle/>
          <a:p>
            <a:pPr algn="l"/>
            <a:r>
              <a:rPr lang="en-US" sz="1800" cap="none" dirty="0"/>
              <a:t>For Example:</a:t>
            </a:r>
            <a:br>
              <a:rPr lang="en-US" sz="1800" cap="none" dirty="0"/>
            </a:br>
            <a:r>
              <a:rPr lang="en-US" sz="1800" cap="none" dirty="0"/>
              <a:t>private static final int MAXSIZE = 8;</a:t>
            </a:r>
            <a:br>
              <a:rPr lang="en-US" sz="1800" cap="none" dirty="0"/>
            </a:br>
            <a:r>
              <a:rPr lang="en-US" sz="1800" cap="none" dirty="0"/>
              <a:t>private int[] stack = new int[MAXSIZE];</a:t>
            </a:r>
            <a:br>
              <a:rPr lang="en-US" sz="1800" cap="none" dirty="0"/>
            </a:br>
            <a:r>
              <a:rPr lang="en-US" sz="1800" cap="none" dirty="0"/>
              <a:t>private int top = -1;</a:t>
            </a:r>
            <a:br>
              <a:rPr lang="en-US" sz="1800" cap="none" dirty="0"/>
            </a:br>
            <a:br>
              <a:rPr lang="en-US" sz="1800" cap="none" dirty="0"/>
            </a:br>
            <a:r>
              <a:rPr lang="en-US" sz="1800" cap="none" dirty="0"/>
              <a:t>we have stack[10, 20, 30, 40, 50, 60, 70, 80]</a:t>
            </a:r>
            <a:br>
              <a:rPr lang="en-US" sz="1800" cap="none" dirty="0"/>
            </a:br>
            <a:r>
              <a:rPr lang="en-US" sz="1800" cap="none" dirty="0"/>
              <a:t>in the actual sense: 80</a:t>
            </a:r>
            <a:br>
              <a:rPr lang="en-US" sz="1800" cap="none" dirty="0"/>
            </a:br>
            <a:r>
              <a:rPr lang="en-US" sz="1800" cap="none" dirty="0"/>
              <a:t>                            70</a:t>
            </a:r>
            <a:br>
              <a:rPr lang="en-US" sz="1800" cap="none" dirty="0"/>
            </a:br>
            <a:r>
              <a:rPr lang="en-US" sz="1800" cap="none" dirty="0"/>
              <a:t>                            60</a:t>
            </a:r>
            <a:br>
              <a:rPr lang="en-US" sz="1800" cap="none" dirty="0"/>
            </a:br>
            <a:r>
              <a:rPr lang="en-US" sz="1800" cap="none" dirty="0"/>
              <a:t>                            50</a:t>
            </a:r>
            <a:br>
              <a:rPr lang="en-US" sz="1800" cap="none" dirty="0"/>
            </a:br>
            <a:r>
              <a:rPr lang="en-US" sz="1800" cap="none" dirty="0"/>
              <a:t>                            40</a:t>
            </a:r>
            <a:br>
              <a:rPr lang="en-US" sz="1800" cap="none" dirty="0"/>
            </a:br>
            <a:r>
              <a:rPr lang="en-US" sz="1800" cap="none" dirty="0"/>
              <a:t>                            30</a:t>
            </a:r>
            <a:br>
              <a:rPr lang="en-US" sz="1800" cap="none" dirty="0"/>
            </a:br>
            <a:r>
              <a:rPr lang="en-US" sz="1800" cap="none" dirty="0"/>
              <a:t>                            20</a:t>
            </a:r>
            <a:br>
              <a:rPr lang="en-US" sz="1800" cap="none" dirty="0"/>
            </a:br>
            <a:r>
              <a:rPr lang="en-US" sz="1800" cap="none" dirty="0"/>
              <a:t>                            10</a:t>
            </a:r>
            <a:br>
              <a:rPr lang="en-US" sz="1800" cap="none" dirty="0"/>
            </a:br>
            <a:r>
              <a:rPr lang="en-US" sz="1800" cap="none" dirty="0"/>
              <a:t>The last element added was 80, but in stack it’s on top and it will be removed first(LIFO). So, if we calling pop on this, we will have 80 returned.</a:t>
            </a:r>
            <a:br>
              <a:rPr lang="en-US" sz="1800" cap="none" dirty="0"/>
            </a:br>
            <a:r>
              <a:rPr lang="en-US" sz="1800" cap="none" dirty="0"/>
              <a:t>And 80 is at position 7, meaning the top = 7</a:t>
            </a:r>
            <a:br>
              <a:rPr lang="en-US" sz="1800" cap="none" dirty="0"/>
            </a:br>
            <a:r>
              <a:rPr lang="en-US" sz="1800" cap="none" dirty="0"/>
              <a:t>so, if pop is called it removes the most recent element by decrementing the top variable an assigning a new top to be 70 at position 6.</a:t>
            </a:r>
            <a:br>
              <a:rPr lang="en-US" sz="1800" cap="none" dirty="0"/>
            </a:br>
            <a:endParaRPr lang="en-US" sz="1800" cap="none" dirty="0"/>
          </a:p>
        </p:txBody>
      </p:sp>
      <p:pic>
        <p:nvPicPr>
          <p:cNvPr id="5" name="Content Placeholder 4">
            <a:extLst>
              <a:ext uri="{FF2B5EF4-FFF2-40B4-BE49-F238E27FC236}">
                <a16:creationId xmlns:a16="http://schemas.microsoft.com/office/drawing/2014/main" id="{D845600E-2D4C-F870-CD09-0581A1F7C321}"/>
              </a:ext>
            </a:extLst>
          </p:cNvPr>
          <p:cNvPicPr>
            <a:picLocks noGrp="1" noChangeAspect="1"/>
          </p:cNvPicPr>
          <p:nvPr>
            <p:ph sz="quarter" idx="13"/>
          </p:nvPr>
        </p:nvPicPr>
        <p:blipFill>
          <a:blip r:embed="rId2"/>
          <a:stretch>
            <a:fillRect/>
          </a:stretch>
        </p:blipFill>
        <p:spPr>
          <a:xfrm>
            <a:off x="6345238" y="241022"/>
            <a:ext cx="5626100" cy="6258251"/>
          </a:xfrm>
        </p:spPr>
      </p:pic>
    </p:spTree>
    <p:extLst>
      <p:ext uri="{BB962C8B-B14F-4D97-AF65-F5344CB8AC3E}">
        <p14:creationId xmlns:p14="http://schemas.microsoft.com/office/powerpoint/2010/main" val="15185507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38C75-C67F-4C14-3DF5-0F8A77F27C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0BAC54-D2ED-2C55-5F4F-8F7606493CE4}"/>
              </a:ext>
            </a:extLst>
          </p:cNvPr>
          <p:cNvSpPr>
            <a:spLocks noGrp="1"/>
          </p:cNvSpPr>
          <p:nvPr>
            <p:ph type="title"/>
          </p:nvPr>
        </p:nvSpPr>
        <p:spPr>
          <a:xfrm>
            <a:off x="351693" y="241023"/>
            <a:ext cx="5866228" cy="6258252"/>
          </a:xfrm>
        </p:spPr>
        <p:txBody>
          <a:bodyPr>
            <a:normAutofit/>
          </a:bodyPr>
          <a:lstStyle/>
          <a:p>
            <a:r>
              <a:rPr lang="en-US" sz="1800" cap="none" dirty="0"/>
              <a:t>PUSH</a:t>
            </a:r>
            <a:br>
              <a:rPr lang="en-US" sz="1800" cap="none" dirty="0"/>
            </a:br>
            <a:r>
              <a:rPr lang="en-US" sz="1800" cap="none" dirty="0"/>
              <a:t>We know that push is an operation in stack, that inserts an element to the stack, it accepts an argument, that is the item to be pushed and returns nothing.</a:t>
            </a:r>
            <a:br>
              <a:rPr lang="en-US" sz="1800" cap="none" dirty="0"/>
            </a:br>
            <a:r>
              <a:rPr lang="en-US" sz="1800" cap="none" dirty="0"/>
              <a:t>It does this by first incrementing the top value and assigning the item to the new position</a:t>
            </a:r>
            <a:br>
              <a:rPr lang="en-US" sz="1800" cap="none" dirty="0"/>
            </a:br>
            <a:r>
              <a:rPr lang="en-US" sz="1800" cap="none" dirty="0"/>
              <a:t>stack[top] = data</a:t>
            </a:r>
            <a:br>
              <a:rPr lang="en-US" sz="1800" cap="none" dirty="0"/>
            </a:br>
            <a:r>
              <a:rPr lang="en-US" sz="1800" cap="none" dirty="0"/>
              <a:t>making it the element at the top.</a:t>
            </a:r>
            <a:br>
              <a:rPr lang="en-US" sz="1800" cap="none" dirty="0"/>
            </a:br>
            <a:br>
              <a:rPr lang="en-US" sz="1800" cap="none" dirty="0"/>
            </a:br>
            <a:endParaRPr lang="en-US" sz="1800" cap="none" dirty="0"/>
          </a:p>
        </p:txBody>
      </p:sp>
      <p:pic>
        <p:nvPicPr>
          <p:cNvPr id="5" name="Content Placeholder 4">
            <a:extLst>
              <a:ext uri="{FF2B5EF4-FFF2-40B4-BE49-F238E27FC236}">
                <a16:creationId xmlns:a16="http://schemas.microsoft.com/office/drawing/2014/main" id="{708783C3-7EBC-2DD6-8FA1-D35F723B68E9}"/>
              </a:ext>
            </a:extLst>
          </p:cNvPr>
          <p:cNvPicPr>
            <a:picLocks noGrp="1" noChangeAspect="1"/>
          </p:cNvPicPr>
          <p:nvPr>
            <p:ph sz="quarter" idx="13"/>
          </p:nvPr>
        </p:nvPicPr>
        <p:blipFill>
          <a:blip r:embed="rId2"/>
          <a:stretch>
            <a:fillRect/>
          </a:stretch>
        </p:blipFill>
        <p:spPr>
          <a:xfrm>
            <a:off x="6345238" y="241022"/>
            <a:ext cx="5626100" cy="6258251"/>
          </a:xfrm>
        </p:spPr>
      </p:pic>
    </p:spTree>
    <p:extLst>
      <p:ext uri="{BB962C8B-B14F-4D97-AF65-F5344CB8AC3E}">
        <p14:creationId xmlns:p14="http://schemas.microsoft.com/office/powerpoint/2010/main" val="16029986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E8B98-64C7-FE23-1559-097842B6C0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EE1447-EBC2-6ED3-FE55-3D590168618A}"/>
              </a:ext>
            </a:extLst>
          </p:cNvPr>
          <p:cNvSpPr>
            <a:spLocks noGrp="1"/>
          </p:cNvSpPr>
          <p:nvPr>
            <p:ph type="title"/>
          </p:nvPr>
        </p:nvSpPr>
        <p:spPr>
          <a:xfrm>
            <a:off x="351693" y="241023"/>
            <a:ext cx="4234375" cy="6258252"/>
          </a:xfrm>
        </p:spPr>
        <p:txBody>
          <a:bodyPr>
            <a:normAutofit/>
          </a:bodyPr>
          <a:lstStyle/>
          <a:p>
            <a:r>
              <a:rPr lang="en-US" sz="1800" cap="none" dirty="0"/>
              <a:t>RESULT</a:t>
            </a:r>
            <a:br>
              <a:rPr lang="en-US" sz="1800" cap="none" dirty="0"/>
            </a:br>
            <a:br>
              <a:rPr lang="en-US" sz="1800" cap="none" dirty="0"/>
            </a:br>
            <a:br>
              <a:rPr lang="en-US" sz="1800" cap="none" dirty="0"/>
            </a:br>
            <a:br>
              <a:rPr lang="en-US" sz="1800" cap="none" dirty="0"/>
            </a:br>
            <a:r>
              <a:rPr lang="en-US" sz="1800" cap="none" dirty="0"/>
              <a:t>Element at top of the stack: 15</a:t>
            </a:r>
            <a:br>
              <a:rPr lang="en-US" sz="1800" cap="none" dirty="0"/>
            </a:br>
            <a:r>
              <a:rPr lang="en-US" sz="1800" cap="none" dirty="0"/>
              <a:t>Elements:</a:t>
            </a:r>
            <a:br>
              <a:rPr lang="en-US" sz="1800" cap="none" dirty="0"/>
            </a:br>
            <a:r>
              <a:rPr lang="en-US" sz="1800" cap="none" dirty="0"/>
              <a:t>15</a:t>
            </a:r>
            <a:br>
              <a:rPr lang="en-US" sz="1800" cap="none" dirty="0"/>
            </a:br>
            <a:r>
              <a:rPr lang="en-US" sz="1800" cap="none" dirty="0"/>
              <a:t>12</a:t>
            </a:r>
            <a:br>
              <a:rPr lang="en-US" sz="1800" cap="none" dirty="0"/>
            </a:br>
            <a:r>
              <a:rPr lang="en-US" sz="1800" cap="none" dirty="0"/>
              <a:t>1</a:t>
            </a:r>
            <a:br>
              <a:rPr lang="en-US" sz="1800" cap="none" dirty="0"/>
            </a:br>
            <a:r>
              <a:rPr lang="en-US" sz="1800" cap="none" dirty="0"/>
              <a:t>9</a:t>
            </a:r>
            <a:br>
              <a:rPr lang="en-US" sz="1800" cap="none" dirty="0"/>
            </a:br>
            <a:r>
              <a:rPr lang="en-US" sz="1800" cap="none" dirty="0"/>
              <a:t>5</a:t>
            </a:r>
            <a:br>
              <a:rPr lang="en-US" sz="1800" cap="none" dirty="0"/>
            </a:br>
            <a:r>
              <a:rPr lang="en-US" sz="1800" cap="none" dirty="0"/>
              <a:t>3</a:t>
            </a:r>
            <a:br>
              <a:rPr lang="en-US" sz="1800" cap="none" dirty="0"/>
            </a:br>
            <a:r>
              <a:rPr lang="en-US" sz="1800" cap="none" dirty="0"/>
              <a:t>Stack full: false</a:t>
            </a:r>
            <a:br>
              <a:rPr lang="en-US" sz="1800" cap="none" dirty="0"/>
            </a:br>
            <a:r>
              <a:rPr lang="en-US" sz="1800" cap="none" dirty="0"/>
              <a:t>Stack empty: true</a:t>
            </a:r>
            <a:br>
              <a:rPr lang="en-US" sz="1800" cap="none" dirty="0"/>
            </a:br>
            <a:br>
              <a:rPr lang="en-US" sz="1800" cap="none" dirty="0"/>
            </a:br>
            <a:endParaRPr lang="en-US" sz="1800" cap="none" dirty="0"/>
          </a:p>
        </p:txBody>
      </p:sp>
      <p:pic>
        <p:nvPicPr>
          <p:cNvPr id="5" name="Content Placeholder 4">
            <a:extLst>
              <a:ext uri="{FF2B5EF4-FFF2-40B4-BE49-F238E27FC236}">
                <a16:creationId xmlns:a16="http://schemas.microsoft.com/office/drawing/2014/main" id="{E4C39400-62BE-7EFF-8D55-43257225C825}"/>
              </a:ext>
            </a:extLst>
          </p:cNvPr>
          <p:cNvPicPr>
            <a:picLocks noGrp="1" noChangeAspect="1"/>
          </p:cNvPicPr>
          <p:nvPr>
            <p:ph sz="quarter" idx="13"/>
          </p:nvPr>
        </p:nvPicPr>
        <p:blipFill>
          <a:blip r:embed="rId2"/>
          <a:srcRect/>
          <a:stretch/>
        </p:blipFill>
        <p:spPr>
          <a:xfrm>
            <a:off x="5064369" y="241022"/>
            <a:ext cx="6906969" cy="6258251"/>
          </a:xfrm>
        </p:spPr>
      </p:pic>
    </p:spTree>
    <p:extLst>
      <p:ext uri="{BB962C8B-B14F-4D97-AF65-F5344CB8AC3E}">
        <p14:creationId xmlns:p14="http://schemas.microsoft.com/office/powerpoint/2010/main" val="11080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5F0C4-D253-4F4C-67C5-34F80A7C0A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5A79D2-B90F-527C-7AB2-D8CFE4A5AC99}"/>
              </a:ext>
            </a:extLst>
          </p:cNvPr>
          <p:cNvSpPr>
            <a:spLocks noGrp="1"/>
          </p:cNvSpPr>
          <p:nvPr>
            <p:ph type="title"/>
          </p:nvPr>
        </p:nvSpPr>
        <p:spPr>
          <a:xfrm>
            <a:off x="220395" y="618517"/>
            <a:ext cx="6194474" cy="5620965"/>
          </a:xfrm>
        </p:spPr>
        <p:txBody>
          <a:bodyPr>
            <a:normAutofit/>
          </a:bodyPr>
          <a:lstStyle/>
          <a:p>
            <a:r>
              <a:rPr lang="en-US" sz="3200" cap="none" dirty="0"/>
              <a:t>	LINKED LIST(Dynamic)</a:t>
            </a:r>
            <a:br>
              <a:rPr lang="en-US" sz="2000" cap="none" dirty="0"/>
            </a:br>
            <a:br>
              <a:rPr lang="en-US" sz="2000" cap="none" dirty="0"/>
            </a:br>
            <a:br>
              <a:rPr lang="en-US" sz="2000" cap="none" dirty="0"/>
            </a:br>
            <a:br>
              <a:rPr lang="en-US" sz="2000" cap="none" dirty="0"/>
            </a:br>
            <a:br>
              <a:rPr lang="en-US" sz="2000" cap="none" dirty="0"/>
            </a:br>
            <a:br>
              <a:rPr lang="en-US" sz="2000" cap="none" dirty="0"/>
            </a:br>
            <a:endParaRPr lang="en-US" sz="2000" cap="none" dirty="0"/>
          </a:p>
        </p:txBody>
      </p:sp>
      <p:pic>
        <p:nvPicPr>
          <p:cNvPr id="9" name="Content Placeholder 8">
            <a:extLst>
              <a:ext uri="{FF2B5EF4-FFF2-40B4-BE49-F238E27FC236}">
                <a16:creationId xmlns:a16="http://schemas.microsoft.com/office/drawing/2014/main" id="{B306A7C3-E02B-BA26-122D-7966B2C3C11D}"/>
              </a:ext>
            </a:extLst>
          </p:cNvPr>
          <p:cNvPicPr>
            <a:picLocks noGrp="1" noChangeAspect="1"/>
          </p:cNvPicPr>
          <p:nvPr>
            <p:ph sz="quarter" idx="13"/>
          </p:nvPr>
        </p:nvPicPr>
        <p:blipFill>
          <a:blip r:embed="rId2"/>
          <a:stretch>
            <a:fillRect/>
          </a:stretch>
        </p:blipFill>
        <p:spPr>
          <a:xfrm>
            <a:off x="6580639" y="414075"/>
            <a:ext cx="5390966" cy="5825407"/>
          </a:xfrm>
        </p:spPr>
      </p:pic>
    </p:spTree>
    <p:extLst>
      <p:ext uri="{BB962C8B-B14F-4D97-AF65-F5344CB8AC3E}">
        <p14:creationId xmlns:p14="http://schemas.microsoft.com/office/powerpoint/2010/main" val="2159656649"/>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4B4B4B"/>
      </a:dk2>
      <a:lt2>
        <a:srgbClr val="B5B5B5"/>
      </a:lt2>
      <a:accent1>
        <a:srgbClr val="9AC43E"/>
      </a:accent1>
      <a:accent2>
        <a:srgbClr val="44BA98"/>
      </a:accent2>
      <a:accent3>
        <a:srgbClr val="43A9D9"/>
      </a:accent3>
      <a:accent4>
        <a:srgbClr val="6274D8"/>
      </a:accent4>
      <a:accent5>
        <a:srgbClr val="AB54D7"/>
      </a:accent5>
      <a:accent6>
        <a:srgbClr val="D15B37"/>
      </a:accent6>
      <a:hlink>
        <a:srgbClr val="BFE962"/>
      </a:hlink>
      <a:folHlink>
        <a:srgbClr val="C0D591"/>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92000"/>
                <a:satMod val="180000"/>
                <a:lumMod val="114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892FADA9-420D-4323-A7A4-C1060166525B}"/>
    </a:ext>
  </a:extLst>
</a:theme>
</file>

<file path=docProps/app.xml><?xml version="1.0" encoding="utf-8"?>
<Properties xmlns="http://schemas.openxmlformats.org/officeDocument/2006/extended-properties" xmlns:vt="http://schemas.openxmlformats.org/officeDocument/2006/docPropsVTypes">
  <Template>TM04033925[[fn=Droplet]]</Template>
  <TotalTime>2569</TotalTime>
  <Words>1693</Words>
  <Application>Microsoft Office PowerPoint</Application>
  <PresentationFormat>Widescreen</PresentationFormat>
  <Paragraphs>48</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Maiandra GD</vt:lpstr>
      <vt:lpstr>Tw Cen MT</vt:lpstr>
      <vt:lpstr>Droplet</vt:lpstr>
      <vt:lpstr>DATA STRUCTURE</vt:lpstr>
      <vt:lpstr>Array</vt:lpstr>
      <vt:lpstr>Accessing ELEMENTS in an array</vt:lpstr>
      <vt:lpstr>Continuation…</vt:lpstr>
      <vt:lpstr>Create</vt:lpstr>
      <vt:lpstr>Continuation…</vt:lpstr>
      <vt:lpstr>INSERT</vt:lpstr>
      <vt:lpstr>Continuation…</vt:lpstr>
      <vt:lpstr> For arr, the max is 4, so it goes 4-1 =3, is 3 greater than  Note: We are subtracting to get the position of the last element.  the position(arr[1]) which is 1, if yes assign the value at b[3] to now be in b[4] i.e. b[i+1] = b[i] shifting it to the right, the array is now [10, 30, 40, 50, 50] after doing this i is reduced to 2 is 2 greater or equal to pos yes assign the value of b[2] to b[3] resulting in [10, 30, 40, 40, 50] after doing this i is reduced to 1 is 1 greater or equal to pos yes assign the value of b[1] to b[2] resulting in [10, 30, 30, 40, 50]  from this, a new element can now be inputted at position one, making it  [10, 20, 30, 40, 50]  </vt:lpstr>
      <vt:lpstr>DELETE</vt:lpstr>
      <vt:lpstr>Continuation…</vt:lpstr>
      <vt:lpstr>Search</vt:lpstr>
      <vt:lpstr>Display</vt:lpstr>
      <vt:lpstr>Linked list</vt:lpstr>
      <vt:lpstr>A linked list is a dynamic data structure, that has an element and a pointer, that points to the next  node(which consist of a data compartment and a pointer called next) </vt:lpstr>
      <vt:lpstr>In contrast to array’s static method of specifying size before hand, for linked list, it is done dynamically. Also, there is no need for malloc or calloc, in java as memory allocation and free of memory space  is done dynamically by the JVM, just by using the “new” keyword, memory is allocated dynamically, as when needed.  </vt:lpstr>
      <vt:lpstr>Push(adding an item to the end of the list)</vt:lpstr>
      <vt:lpstr>Iterating over a list</vt:lpstr>
      <vt:lpstr>Adding item to the beginning of a list</vt:lpstr>
      <vt:lpstr>Removing first item</vt:lpstr>
      <vt:lpstr>Removing last item</vt:lpstr>
      <vt:lpstr>Removing a specific item</vt:lpstr>
      <vt:lpstr>STACK</vt:lpstr>
      <vt:lpstr>Array  From the code at the side, the max size of the array is defined, also top is set to be -1 showing that there is no element in the stack. isEmpty function is just to check if the stack is empty and it returns Boolean, either true or false. isFull function also a Boolean function checks if the top position is occupied based on the size the stack The size of the stack is 8, meaning it can carry elements at the position 0, 1, 2, 3, 4, 5, 6, 7 that’s why you having MAXSIZE – 1, cause we dealing with position here so isFull function is checking if top = 7, if yes then it full,  you can’t add any more.    </vt:lpstr>
      <vt:lpstr>   PEEK  Peek is an operation in the stack to return the most recent element, that is the element that is at the top of the stack, implying it was added last, from the code at the side, the peek function first check if the stack is empty, if its not empty it returns the element, else it prints “Empty stack” and returns -1 indicating error.    POP Pop is an operation in the stack, it returns the item/element removed, it requires no parameter, all it does is removing the most recently added element from the stack, from the code at the side, the pop , if its not empty, it goes ahead, and delete the most recent element(the one at the top) it does this by reducing the top one place and the top becomes another element                   </vt:lpstr>
      <vt:lpstr>For Example: private static final int MAXSIZE = 8; private int[] stack = new int[MAXSIZE]; private int top = -1;  we have stack[10, 20, 30, 40, 50, 60, 70, 80] in the actual sense: 80                             70                             60                             50                             40                             30                             20                             10 The last element added was 80, but in stack it’s on top and it will be removed first(LIFO). So, if we calling pop on this, we will have 80 returned. And 80 is at position 7, meaning the top = 7 so, if pop is called it removes the most recent element by decrementing the top variable an assigning a new top to be 70 at position 6. </vt:lpstr>
      <vt:lpstr>PUSH We know that push is an operation in stack, that inserts an element to the stack, it accepts an argument, that is the item to be pushed and returns nothing. It does this by first incrementing the top value and assigning the item to the new position stack[top] = data making it the element at the top.  </vt:lpstr>
      <vt:lpstr>RESULT    Element at top of the stack: 15 Elements: 15 12 1 9 5 3 Stack full: false Stack empty: true  </vt:lpstr>
      <vt:lpstr> LINKED LIST(Dynamic)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Aniebiet Edet</dc:creator>
  <cp:lastModifiedBy>Aniebiet Edet</cp:lastModifiedBy>
  <cp:revision>19</cp:revision>
  <dcterms:created xsi:type="dcterms:W3CDTF">2024-10-26T19:15:27Z</dcterms:created>
  <dcterms:modified xsi:type="dcterms:W3CDTF">2024-10-30T09:30:03Z</dcterms:modified>
</cp:coreProperties>
</file>