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3" r:id="rId3"/>
    <p:sldMasterId id="2147483655" r:id="rId4"/>
    <p:sldMasterId id="2147483657" r:id="rId5"/>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5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6110939-5617-495B-88D7-A458D04E6389}" type="datetimeFigureOut">
              <a:rPr lang="en-US" smtClean="0"/>
              <a:t>10/28/2025</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3DA0FEA5-B4C7-4119-8A6B-13898109F7CF}" type="slidenum">
              <a:rPr lang="en-US" smtClean="0"/>
              <a:t>‹#›</a:t>
            </a:fld>
            <a:endParaRPr lang="en-US"/>
          </a:p>
        </p:txBody>
      </p:sp>
    </p:spTree>
    <p:extLst>
      <p:ext uri="{BB962C8B-B14F-4D97-AF65-F5344CB8AC3E}">
        <p14:creationId xmlns:p14="http://schemas.microsoft.com/office/powerpoint/2010/main" val="3712016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And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8" name="PlaceHolder 2"/>
          <p:cNvSpPr>
            <a:spLocks noGrp="1"/>
          </p:cNvSpPr>
          <p:nvPr>
            <p:ph/>
          </p:nvPr>
        </p:nvSpPr>
        <p:spPr>
          <a:xfrm>
            <a:off x="504000" y="1326600"/>
            <a:ext cx="4426920" cy="1568520"/>
          </a:xfrm>
          <a:prstGeom prst="rect">
            <a:avLst/>
          </a:prstGeom>
          <a:noFill/>
          <a:ln w="0">
            <a:noFill/>
          </a:ln>
        </p:spPr>
        <p:txBody>
          <a:bodyPr lIns="0" tIns="0" rIns="0" bIns="0" anchor="t">
            <a:normAutofit/>
          </a:bodyPr>
          <a:lstStyle/>
          <a:p>
            <a:pPr indent="0">
              <a:spcBef>
                <a:spcPts val="1417"/>
              </a:spcBef>
              <a:buNone/>
            </a:pPr>
            <a:endParaRPr lang="en-NG" sz="3200" b="0" strike="noStrike" spc="-1">
              <a:solidFill>
                <a:srgbClr val="000000"/>
              </a:solidFill>
              <a:latin typeface="Arial"/>
            </a:endParaRPr>
          </a:p>
        </p:txBody>
      </p:sp>
      <p:sp>
        <p:nvSpPr>
          <p:cNvPr id="9" name="PlaceHolder 3"/>
          <p:cNvSpPr>
            <a:spLocks noGrp="1"/>
          </p:cNvSpPr>
          <p:nvPr>
            <p:ph/>
          </p:nvPr>
        </p:nvSpPr>
        <p:spPr>
          <a:xfrm>
            <a:off x="5152680" y="1326600"/>
            <a:ext cx="4426920" cy="3288600"/>
          </a:xfrm>
          <a:prstGeom prst="rect">
            <a:avLst/>
          </a:prstGeom>
          <a:noFill/>
          <a:ln w="0">
            <a:noFill/>
          </a:ln>
        </p:spPr>
        <p:txBody>
          <a:bodyPr lIns="0" tIns="0" rIns="0" bIns="0" anchor="t">
            <a:normAutofit/>
          </a:bodyPr>
          <a:lstStyle/>
          <a:p>
            <a:pPr indent="0">
              <a:spcBef>
                <a:spcPts val="1417"/>
              </a:spcBef>
              <a:buNone/>
            </a:pPr>
            <a:endParaRPr lang="en-NG" sz="3200" b="0" strike="noStrike" spc="-1">
              <a:solidFill>
                <a:srgbClr val="000000"/>
              </a:solidFill>
              <a:latin typeface="Arial"/>
            </a:endParaRPr>
          </a:p>
        </p:txBody>
      </p:sp>
      <p:sp>
        <p:nvSpPr>
          <p:cNvPr id="10" name="PlaceHolder 4"/>
          <p:cNvSpPr>
            <a:spLocks noGrp="1"/>
          </p:cNvSpPr>
          <p:nvPr>
            <p:ph/>
          </p:nvPr>
        </p:nvSpPr>
        <p:spPr>
          <a:xfrm>
            <a:off x="504000" y="3044520"/>
            <a:ext cx="4426920" cy="1568520"/>
          </a:xfrm>
          <a:prstGeom prst="rect">
            <a:avLst/>
          </a:prstGeom>
          <a:noFill/>
          <a:ln w="0">
            <a:noFill/>
          </a:ln>
        </p:spPr>
        <p:txBody>
          <a:bodyPr lIns="0" tIns="0" rIns="0" bIns="0" anchor="t">
            <a:normAutofit/>
          </a:bodyPr>
          <a:lstStyle/>
          <a:p>
            <a:pPr indent="0">
              <a:spcBef>
                <a:spcPts val="1417"/>
              </a:spcBef>
              <a:buNone/>
            </a:pPr>
            <a:endParaRPr lang="en-NG"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2" name="PlaceHolder 6"/>
          <p:cNvSpPr>
            <a:spLocks noGrp="1"/>
          </p:cNvSpPr>
          <p:nvPr>
            <p:ph type="sldNum" idx="2"/>
          </p:nvPr>
        </p:nvSpPr>
        <p:spPr/>
        <p:txBody>
          <a:bodyPr/>
          <a:lstStyle/>
          <a:p>
            <a:fld id="{0FBDA941-2D17-4710-8B99-E0078D9D2BDE}" type="slidenum">
              <a:t>‹#›</a:t>
            </a:fld>
            <a:endParaRPr/>
          </a:p>
        </p:txBody>
      </p:sp>
      <p:sp>
        <p:nvSpPr>
          <p:cNvPr id="3" name="PlaceHolder 7"/>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Default 1">
    <p:spTree>
      <p:nvGrpSpPr>
        <p:cNvPr id="1" name=""/>
        <p:cNvGrpSpPr/>
        <p:nvPr/>
      </p:nvGrpSpPr>
      <p:grpSpPr>
        <a:xfrm>
          <a:off x="0" y="0"/>
          <a:ext cx="0" cy="0"/>
          <a:chOff x="0" y="0"/>
          <a:chExt cx="0" cy="0"/>
        </a:xfrm>
      </p:grpSpPr>
      <p:sp>
        <p:nvSpPr>
          <p:cNvPr id="16"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17"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lstStyle/>
          <a:p>
            <a:pPr indent="0">
              <a:spcBef>
                <a:spcPts val="1417"/>
              </a:spcBef>
              <a:buNone/>
            </a:pPr>
            <a:endParaRPr lang="en-NG"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2AAA27D9-2E42-4B8C-B5B5-823F98702EC1}"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Default 1">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6EDBE3D6-F485-4E2C-B928-B906DFBAD4C2}"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Default 2">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BB5858D2-DADA-4D01-A776-0185181D7762}"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Default 3">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30"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lstStyle/>
          <a:p>
            <a:pPr indent="0">
              <a:spcBef>
                <a:spcPts val="1417"/>
              </a:spcBef>
              <a:buNone/>
            </a:pPr>
            <a:endParaRPr lang="en-NG"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BD4B5BBA-B97B-4F4B-9E2E-F4D3EB675100}"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efault 4">
    <p:spTree>
      <p:nvGrpSpPr>
        <p:cNvPr id="1" name=""/>
        <p:cNvGrpSpPr/>
        <p:nvPr/>
      </p:nvGrpSpPr>
      <p:grpSpPr>
        <a:xfrm>
          <a:off x="0" y="0"/>
          <a:ext cx="0" cy="0"/>
          <a:chOff x="0" y="0"/>
          <a:chExt cx="0" cy="0"/>
        </a:xfrm>
      </p:grpSpPr>
      <p:sp>
        <p:nvSpPr>
          <p:cNvPr id="36"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37" name="PlaceHolder 2"/>
          <p:cNvSpPr>
            <a:spLocks noGrp="1"/>
          </p:cNvSpPr>
          <p:nvPr>
            <p:ph type="subTitle"/>
          </p:nvPr>
        </p:nvSpPr>
        <p:spPr>
          <a:xfrm>
            <a:off x="504000" y="1326600"/>
            <a:ext cx="9072000" cy="3288600"/>
          </a:xfrm>
          <a:prstGeom prst="rect">
            <a:avLst/>
          </a:prstGeom>
          <a:noFill/>
          <a:ln w="0">
            <a:noFill/>
          </a:ln>
        </p:spPr>
        <p:txBody>
          <a:bodyPr lIns="0" tIns="0" rIns="0" bIns="0" anchor="ctr">
            <a:noAutofit/>
          </a:bodyPr>
          <a:lstStyle/>
          <a:p>
            <a:pPr indent="0" algn="ctr">
              <a:buNone/>
            </a:pPr>
            <a:endParaRPr lang="en-NG" sz="3200" b="0" strike="noStrike" spc="-1">
              <a:solidFill>
                <a:srgbClr val="000000"/>
              </a:solidFill>
              <a:latin typeface="Arial"/>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4"/>
          </p:nvPr>
        </p:nvSpPr>
        <p:spPr/>
        <p:txBody>
          <a:bodyPr/>
          <a:lstStyle/>
          <a:p>
            <a:fld id="{B5D20BE8-1F34-45B5-94A8-4C2E9332FA3A}" type="slidenum">
              <a:t>‹#›</a:t>
            </a:fld>
            <a:endParaRPr/>
          </a:p>
        </p:txBody>
      </p:sp>
      <p:sp>
        <p:nvSpPr>
          <p:cNvPr id="6" name="PlaceHolder 5"/>
          <p:cNvSpPr>
            <a:spLocks noGrp="1"/>
          </p:cNvSpPr>
          <p:nvPr>
            <p:ph type="dt" idx="1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buNone/>
            </a:pPr>
            <a:r>
              <a:rPr lang="en-NG" sz="1800" b="0" strike="noStrike" spc="-1">
                <a:solidFill>
                  <a:srgbClr val="000000"/>
                </a:solidFill>
                <a:latin typeface="Arial"/>
              </a:rPr>
              <a:t>Click to edit the title text format</a:t>
            </a:r>
          </a:p>
        </p:txBody>
      </p:sp>
      <p:sp>
        <p:nvSpPr>
          <p:cNvPr id="8" name="PlaceHolder 2"/>
          <p:cNvSpPr>
            <a:spLocks noGrp="1"/>
          </p:cNvSpPr>
          <p:nvPr>
            <p:ph type="body"/>
          </p:nvPr>
        </p:nvSpPr>
        <p:spPr>
          <a:xfrm>
            <a:off x="504000" y="1326600"/>
            <a:ext cx="4426560" cy="1567800"/>
          </a:xfrm>
          <a:prstGeom prst="rect">
            <a:avLst/>
          </a:prstGeom>
          <a:noFill/>
          <a:ln w="0">
            <a:noFill/>
          </a:ln>
        </p:spPr>
        <p:txBody>
          <a:bodyPr lIns="0" tIns="0" rIns="0" bIns="0" anchor="t">
            <a:normAutofit fontScale="56111"/>
          </a:bodyPr>
          <a:lstStyle/>
          <a:p>
            <a:pPr marL="432000" indent="-324000">
              <a:spcBef>
                <a:spcPts val="1417"/>
              </a:spcBef>
              <a:buClr>
                <a:srgbClr val="000000"/>
              </a:buClr>
              <a:buSzPct val="45000"/>
              <a:buFont typeface="Wingdings" charset="2"/>
              <a:buChar char=""/>
            </a:pPr>
            <a:r>
              <a:rPr lang="en-NG"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NG"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NG"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NG"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NG"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NG"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NG" sz="1800" b="0" strike="noStrike" spc="-1">
                <a:solidFill>
                  <a:srgbClr val="000000"/>
                </a:solidFill>
                <a:latin typeface="Arial"/>
              </a:rPr>
              <a:t>Seventh Outline Level</a:t>
            </a:r>
          </a:p>
        </p:txBody>
      </p:sp>
      <p:sp>
        <p:nvSpPr>
          <p:cNvPr id="2" name="PlaceHolder 3"/>
          <p:cNvSpPr>
            <a:spLocks noGrp="1"/>
          </p:cNvSpPr>
          <p:nvPr>
            <p:ph type="body"/>
          </p:nvPr>
        </p:nvSpPr>
        <p:spPr>
          <a:xfrm>
            <a:off x="5152680" y="1326600"/>
            <a:ext cx="4426560" cy="3287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NG"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NG"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NG"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NG"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NG"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NG"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NG" sz="1800" b="0" strike="noStrike" spc="-1">
                <a:solidFill>
                  <a:srgbClr val="000000"/>
                </a:solidFill>
                <a:latin typeface="Arial"/>
              </a:rPr>
              <a:t>Seventh Outline Level</a:t>
            </a:r>
          </a:p>
        </p:txBody>
      </p:sp>
      <p:sp>
        <p:nvSpPr>
          <p:cNvPr id="3" name="PlaceHolder 4"/>
          <p:cNvSpPr>
            <a:spLocks noGrp="1"/>
          </p:cNvSpPr>
          <p:nvPr>
            <p:ph type="body"/>
          </p:nvPr>
        </p:nvSpPr>
        <p:spPr>
          <a:xfrm>
            <a:off x="504000" y="3044160"/>
            <a:ext cx="4426560" cy="1567800"/>
          </a:xfrm>
          <a:prstGeom prst="rect">
            <a:avLst/>
          </a:prstGeom>
          <a:noFill/>
          <a:ln w="0">
            <a:noFill/>
          </a:ln>
        </p:spPr>
        <p:txBody>
          <a:bodyPr lIns="0" tIns="0" rIns="0" bIns="0" anchor="t">
            <a:normAutofit fontScale="56111"/>
          </a:bodyPr>
          <a:lstStyle/>
          <a:p>
            <a:pPr marL="432000" indent="-324000">
              <a:spcBef>
                <a:spcPts val="1417"/>
              </a:spcBef>
              <a:buClr>
                <a:srgbClr val="000000"/>
              </a:buClr>
              <a:buSzPct val="45000"/>
              <a:buFont typeface="Wingdings" charset="2"/>
              <a:buChar char=""/>
            </a:pPr>
            <a:r>
              <a:rPr lang="en-NG"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NG"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NG"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NG"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NG"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NG"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NG" sz="1800" b="0" strike="noStrike" spc="-1">
                <a:solidFill>
                  <a:srgbClr val="000000"/>
                </a:solidFill>
                <a:latin typeface="Arial"/>
              </a:rPr>
              <a:t>Seventh Outline Level</a:t>
            </a:r>
          </a:p>
        </p:txBody>
      </p:sp>
      <p:sp>
        <p:nvSpPr>
          <p:cNvPr id="4" name="PlaceHolder 5"/>
          <p:cNvSpPr>
            <a:spLocks noGrp="1"/>
          </p:cNvSpPr>
          <p:nvPr>
            <p:ph type="ftr" idx="1"/>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NG" sz="1400" b="0" strike="noStrike" spc="-1">
                <a:solidFill>
                  <a:srgbClr val="000000"/>
                </a:solidFill>
                <a:latin typeface="Times New Roman"/>
              </a:defRPr>
            </a:lvl1pPr>
          </a:lstStyle>
          <a:p>
            <a:pPr indent="0" algn="ctr">
              <a:lnSpc>
                <a:spcPct val="100000"/>
              </a:lnSpc>
              <a:buNone/>
              <a:tabLst>
                <a:tab pos="0" algn="l"/>
              </a:tabLst>
            </a:pPr>
            <a:r>
              <a:rPr lang="en-NG" sz="1400" b="0" strike="noStrike" spc="-1">
                <a:solidFill>
                  <a:srgbClr val="000000"/>
                </a:solidFill>
                <a:latin typeface="Times New Roman"/>
              </a:rPr>
              <a:t>&lt;footer&gt;</a:t>
            </a:r>
          </a:p>
        </p:txBody>
      </p:sp>
      <p:sp>
        <p:nvSpPr>
          <p:cNvPr id="5" name="PlaceHolder 6"/>
          <p:cNvSpPr>
            <a:spLocks noGrp="1"/>
          </p:cNvSpPr>
          <p:nvPr>
            <p:ph type="sldNum" idx="2"/>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NG" sz="1400" b="0" strike="noStrike" spc="-1">
                <a:solidFill>
                  <a:srgbClr val="000000"/>
                </a:solidFill>
                <a:latin typeface="Times New Roman"/>
              </a:defRPr>
            </a:lvl1pPr>
          </a:lstStyle>
          <a:p>
            <a:pPr indent="0" algn="r">
              <a:lnSpc>
                <a:spcPct val="100000"/>
              </a:lnSpc>
              <a:buNone/>
              <a:tabLst>
                <a:tab pos="0" algn="l"/>
              </a:tabLst>
            </a:pPr>
            <a:fld id="{10F49532-3350-4504-93EE-898C78A14077}" type="slidenum">
              <a:rPr lang="en-NG" sz="1400" b="0" strike="noStrike" spc="-1">
                <a:solidFill>
                  <a:srgbClr val="000000"/>
                </a:solidFill>
                <a:latin typeface="Times New Roman"/>
              </a:rPr>
              <a:t>‹#›</a:t>
            </a:fld>
            <a:endParaRPr lang="en-NG" sz="1400" b="0" strike="noStrike" spc="-1">
              <a:solidFill>
                <a:srgbClr val="000000"/>
              </a:solidFill>
              <a:latin typeface="Times New Roman"/>
            </a:endParaRPr>
          </a:p>
        </p:txBody>
      </p:sp>
      <p:sp>
        <p:nvSpPr>
          <p:cNvPr id="6" name="PlaceHolder 7"/>
          <p:cNvSpPr>
            <a:spLocks noGrp="1"/>
          </p:cNvSpPr>
          <p:nvPr>
            <p:ph type="dt" idx="3"/>
          </p:nvPr>
        </p:nvSpPr>
        <p:spPr>
          <a:xfrm>
            <a:off x="504000" y="5165280"/>
            <a:ext cx="2347920" cy="390240"/>
          </a:xfrm>
          <a:prstGeom prst="rect">
            <a:avLst/>
          </a:prstGeom>
          <a:noFill/>
          <a:ln w="0">
            <a:noFill/>
          </a:ln>
        </p:spPr>
        <p:txBody>
          <a:bodyPr lIns="0" tIns="0" rIns="0" bIns="0" anchor="t">
            <a:noAutofit/>
          </a:bodyPr>
          <a:lstStyle>
            <a:lvl1pPr indent="0">
              <a:buNone/>
              <a:defRPr lang="en-NG" sz="1400" b="0" strike="noStrike" spc="-1">
                <a:solidFill>
                  <a:srgbClr val="000000"/>
                </a:solidFill>
                <a:latin typeface="Times New Roman"/>
              </a:defRPr>
            </a:lvl1pPr>
          </a:lstStyle>
          <a:p>
            <a:pPr indent="0">
              <a:buNone/>
            </a:pPr>
            <a:r>
              <a:rPr lang="en-NG"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buNone/>
            </a:pPr>
            <a:r>
              <a:rPr lang="en-NG" sz="1800" b="0" strike="noStrike" spc="-1">
                <a:solidFill>
                  <a:srgbClr val="000000"/>
                </a:solidFill>
                <a:latin typeface="Arial"/>
              </a:rPr>
              <a:t>Click to edit the title text format</a:t>
            </a:r>
          </a:p>
        </p:txBody>
      </p:sp>
      <p:sp>
        <p:nvSpPr>
          <p:cNvPr id="12" name="PlaceHolder 2"/>
          <p:cNvSpPr>
            <a:spLocks noGrp="1"/>
          </p:cNvSpPr>
          <p:nvPr>
            <p:ph type="ftr" idx="4"/>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NG" sz="1400" b="0" strike="noStrike" spc="-1">
                <a:solidFill>
                  <a:srgbClr val="000000"/>
                </a:solidFill>
                <a:latin typeface="Times New Roman"/>
              </a:defRPr>
            </a:lvl1pPr>
          </a:lstStyle>
          <a:p>
            <a:pPr indent="0" algn="ctr">
              <a:lnSpc>
                <a:spcPct val="100000"/>
              </a:lnSpc>
              <a:buNone/>
              <a:tabLst>
                <a:tab pos="0" algn="l"/>
              </a:tabLst>
            </a:pPr>
            <a:r>
              <a:rPr lang="en-NG" sz="1400" b="0" strike="noStrike" spc="-1">
                <a:solidFill>
                  <a:srgbClr val="000000"/>
                </a:solidFill>
                <a:latin typeface="Times New Roman"/>
              </a:rPr>
              <a:t>&lt;footer&gt;</a:t>
            </a:r>
          </a:p>
        </p:txBody>
      </p:sp>
      <p:sp>
        <p:nvSpPr>
          <p:cNvPr id="13" name="PlaceHolder 3"/>
          <p:cNvSpPr>
            <a:spLocks noGrp="1"/>
          </p:cNvSpPr>
          <p:nvPr>
            <p:ph type="sldNum" idx="5"/>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NG" sz="1400" b="0" strike="noStrike" spc="-1">
                <a:solidFill>
                  <a:srgbClr val="000000"/>
                </a:solidFill>
                <a:latin typeface="Times New Roman"/>
              </a:defRPr>
            </a:lvl1pPr>
          </a:lstStyle>
          <a:p>
            <a:pPr indent="0" algn="r">
              <a:lnSpc>
                <a:spcPct val="100000"/>
              </a:lnSpc>
              <a:buNone/>
              <a:tabLst>
                <a:tab pos="0" algn="l"/>
              </a:tabLst>
            </a:pPr>
            <a:fld id="{5D34313E-DC01-4923-81A2-7461D4808733}" type="slidenum">
              <a:rPr lang="en-NG" sz="1400" b="0" strike="noStrike" spc="-1">
                <a:solidFill>
                  <a:srgbClr val="000000"/>
                </a:solidFill>
                <a:latin typeface="Times New Roman"/>
              </a:rPr>
              <a:t>‹#›</a:t>
            </a:fld>
            <a:endParaRPr lang="en-NG" sz="1400" b="0" strike="noStrike" spc="-1">
              <a:solidFill>
                <a:srgbClr val="000000"/>
              </a:solidFill>
              <a:latin typeface="Times New Roman"/>
            </a:endParaRPr>
          </a:p>
        </p:txBody>
      </p:sp>
      <p:sp>
        <p:nvSpPr>
          <p:cNvPr id="14" name="PlaceHolder 4"/>
          <p:cNvSpPr>
            <a:spLocks noGrp="1"/>
          </p:cNvSpPr>
          <p:nvPr>
            <p:ph type="dt" idx="6"/>
          </p:nvPr>
        </p:nvSpPr>
        <p:spPr>
          <a:xfrm>
            <a:off x="504000" y="5165280"/>
            <a:ext cx="2347920" cy="390240"/>
          </a:xfrm>
          <a:prstGeom prst="rect">
            <a:avLst/>
          </a:prstGeom>
          <a:noFill/>
          <a:ln w="0">
            <a:noFill/>
          </a:ln>
        </p:spPr>
        <p:txBody>
          <a:bodyPr lIns="0" tIns="0" rIns="0" bIns="0" anchor="t">
            <a:noAutofit/>
          </a:bodyPr>
          <a:lstStyle>
            <a:lvl1pPr indent="0">
              <a:buNone/>
              <a:defRPr lang="en-NG" sz="1400" b="0" strike="noStrike" spc="-1">
                <a:solidFill>
                  <a:srgbClr val="000000"/>
                </a:solidFill>
                <a:latin typeface="Times New Roman"/>
              </a:defRPr>
            </a:lvl1pPr>
          </a:lstStyle>
          <a:p>
            <a:pPr indent="0">
              <a:buNone/>
            </a:pPr>
            <a:r>
              <a:rPr lang="en-NG" sz="1400" b="0" strike="noStrike" spc="-1">
                <a:solidFill>
                  <a:srgbClr val="000000"/>
                </a:solidFill>
                <a:latin typeface="Times New Roman"/>
              </a:rPr>
              <a:t>&lt;date/time&gt;</a:t>
            </a:r>
          </a:p>
        </p:txBody>
      </p:sp>
      <p:sp>
        <p:nvSpPr>
          <p:cNvPr id="15"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NG"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NG"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NG"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NG"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NG"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NG"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PlaceHolder 1"/>
          <p:cNvSpPr>
            <a:spLocks noGrp="1"/>
          </p:cNvSpPr>
          <p:nvPr>
            <p:ph type="ftr" idx="7"/>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NG" sz="1400" b="0" strike="noStrike" spc="-1">
                <a:solidFill>
                  <a:srgbClr val="000000"/>
                </a:solidFill>
                <a:latin typeface="Times New Roman"/>
              </a:defRPr>
            </a:lvl1pPr>
          </a:lstStyle>
          <a:p>
            <a:pPr indent="0" algn="ctr">
              <a:lnSpc>
                <a:spcPct val="100000"/>
              </a:lnSpc>
              <a:buNone/>
              <a:tabLst>
                <a:tab pos="0" algn="l"/>
              </a:tabLst>
            </a:pPr>
            <a:r>
              <a:rPr lang="en-NG" sz="1400" b="0" strike="noStrike" spc="-1">
                <a:solidFill>
                  <a:srgbClr val="000000"/>
                </a:solidFill>
                <a:latin typeface="Times New Roman"/>
              </a:rPr>
              <a:t>&lt;footer&gt;</a:t>
            </a:r>
          </a:p>
        </p:txBody>
      </p:sp>
      <p:sp>
        <p:nvSpPr>
          <p:cNvPr id="20" name="PlaceHolder 2"/>
          <p:cNvSpPr>
            <a:spLocks noGrp="1"/>
          </p:cNvSpPr>
          <p:nvPr>
            <p:ph type="sldNum" idx="8"/>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NG" sz="1400" b="0" strike="noStrike" spc="-1">
                <a:solidFill>
                  <a:srgbClr val="000000"/>
                </a:solidFill>
                <a:latin typeface="Times New Roman"/>
              </a:defRPr>
            </a:lvl1pPr>
          </a:lstStyle>
          <a:p>
            <a:pPr indent="0" algn="r">
              <a:lnSpc>
                <a:spcPct val="100000"/>
              </a:lnSpc>
              <a:buNone/>
              <a:tabLst>
                <a:tab pos="0" algn="l"/>
              </a:tabLst>
            </a:pPr>
            <a:fld id="{7F98FB1D-EC8B-48D8-ADEB-EF1D226360FC}" type="slidenum">
              <a:rPr lang="en-NG" sz="1400" b="0" strike="noStrike" spc="-1">
                <a:solidFill>
                  <a:srgbClr val="000000"/>
                </a:solidFill>
                <a:latin typeface="Times New Roman"/>
              </a:rPr>
              <a:t>‹#›</a:t>
            </a:fld>
            <a:endParaRPr lang="en-NG" sz="1400" b="0" strike="noStrike" spc="-1">
              <a:solidFill>
                <a:srgbClr val="000000"/>
              </a:solidFill>
              <a:latin typeface="Times New Roman"/>
            </a:endParaRPr>
          </a:p>
        </p:txBody>
      </p:sp>
      <p:sp>
        <p:nvSpPr>
          <p:cNvPr id="21" name="PlaceHolder 3"/>
          <p:cNvSpPr>
            <a:spLocks noGrp="1"/>
          </p:cNvSpPr>
          <p:nvPr>
            <p:ph type="dt" idx="9"/>
          </p:nvPr>
        </p:nvSpPr>
        <p:spPr>
          <a:xfrm>
            <a:off x="504000" y="5165280"/>
            <a:ext cx="2347920" cy="390240"/>
          </a:xfrm>
          <a:prstGeom prst="rect">
            <a:avLst/>
          </a:prstGeom>
          <a:noFill/>
          <a:ln w="0">
            <a:noFill/>
          </a:ln>
        </p:spPr>
        <p:txBody>
          <a:bodyPr lIns="0" tIns="0" rIns="0" bIns="0" anchor="t">
            <a:noAutofit/>
          </a:bodyPr>
          <a:lstStyle>
            <a:lvl1pPr indent="0">
              <a:buNone/>
              <a:defRPr lang="en-NG" sz="1400" b="0" strike="noStrike" spc="-1">
                <a:solidFill>
                  <a:srgbClr val="000000"/>
                </a:solidFill>
                <a:latin typeface="Times New Roman"/>
              </a:defRPr>
            </a:lvl1pPr>
          </a:lstStyle>
          <a:p>
            <a:pPr indent="0">
              <a:buNone/>
            </a:pPr>
            <a:r>
              <a:rPr lang="en-NG" sz="1400" b="0" strike="noStrike" spc="-1">
                <a:solidFill>
                  <a:srgbClr val="000000"/>
                </a:solidFill>
                <a:latin typeface="Times New Roman"/>
              </a:rPr>
              <a:t>&lt;date/time&gt;</a:t>
            </a:r>
          </a:p>
        </p:txBody>
      </p:sp>
      <p:sp>
        <p:nvSpPr>
          <p:cNvPr id="22"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en-NG" sz="4400" b="0" strike="noStrike" spc="-1">
                <a:solidFill>
                  <a:srgbClr val="000000"/>
                </a:solidFill>
                <a:latin typeface="Arial"/>
              </a:rPr>
              <a:t>Click to edit the title text format</a:t>
            </a:r>
          </a:p>
        </p:txBody>
      </p:sp>
      <p:sp>
        <p:nvSpPr>
          <p:cNvPr id="23"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NG"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NG"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NG"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NG"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NG"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NG"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buNone/>
            </a:pPr>
            <a:r>
              <a:rPr lang="en-NG" sz="1800" b="0" strike="noStrike" spc="-1">
                <a:solidFill>
                  <a:srgbClr val="000000"/>
                </a:solidFill>
                <a:latin typeface="Arial"/>
              </a:rPr>
              <a:t>Click to edit the title text format</a:t>
            </a:r>
          </a:p>
        </p:txBody>
      </p:sp>
      <p:sp>
        <p:nvSpPr>
          <p:cNvPr id="25" name="PlaceHolder 2"/>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NG"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NG"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NG"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NG"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NG"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NG"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NG" sz="1800" b="0" strike="noStrike" spc="-1">
                <a:solidFill>
                  <a:srgbClr val="000000"/>
                </a:solidFill>
                <a:latin typeface="Arial"/>
              </a:rPr>
              <a:t>Seventh Outline Level</a:t>
            </a:r>
          </a:p>
        </p:txBody>
      </p:sp>
      <p:sp>
        <p:nvSpPr>
          <p:cNvPr id="26" name="PlaceHolder 3"/>
          <p:cNvSpPr>
            <a:spLocks noGrp="1"/>
          </p:cNvSpPr>
          <p:nvPr>
            <p:ph type="ftr" idx="10"/>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NG" sz="1400" b="0" strike="noStrike" spc="-1">
                <a:solidFill>
                  <a:srgbClr val="000000"/>
                </a:solidFill>
                <a:latin typeface="Times New Roman"/>
              </a:defRPr>
            </a:lvl1pPr>
          </a:lstStyle>
          <a:p>
            <a:pPr indent="0" algn="ctr">
              <a:lnSpc>
                <a:spcPct val="100000"/>
              </a:lnSpc>
              <a:buNone/>
              <a:tabLst>
                <a:tab pos="0" algn="l"/>
              </a:tabLst>
            </a:pPr>
            <a:r>
              <a:rPr lang="en-NG" sz="1400" b="0" strike="noStrike" spc="-1">
                <a:solidFill>
                  <a:srgbClr val="000000"/>
                </a:solidFill>
                <a:latin typeface="Times New Roman"/>
              </a:rPr>
              <a:t>&lt;footer&gt;</a:t>
            </a:r>
          </a:p>
        </p:txBody>
      </p:sp>
      <p:sp>
        <p:nvSpPr>
          <p:cNvPr id="27" name="PlaceHolder 4"/>
          <p:cNvSpPr>
            <a:spLocks noGrp="1"/>
          </p:cNvSpPr>
          <p:nvPr>
            <p:ph type="sldNum" idx="11"/>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NG" sz="1400" b="0" strike="noStrike" spc="-1">
                <a:solidFill>
                  <a:srgbClr val="000000"/>
                </a:solidFill>
                <a:latin typeface="Times New Roman"/>
              </a:defRPr>
            </a:lvl1pPr>
          </a:lstStyle>
          <a:p>
            <a:pPr indent="0" algn="r">
              <a:lnSpc>
                <a:spcPct val="100000"/>
              </a:lnSpc>
              <a:buNone/>
              <a:tabLst>
                <a:tab pos="0" algn="l"/>
              </a:tabLst>
            </a:pPr>
            <a:fld id="{18493DC4-F0B1-4CDA-A5F1-5EF805791462}" type="slidenum">
              <a:rPr lang="en-NG" sz="1400" b="0" strike="noStrike" spc="-1">
                <a:solidFill>
                  <a:srgbClr val="000000"/>
                </a:solidFill>
                <a:latin typeface="Times New Roman"/>
              </a:rPr>
              <a:t>‹#›</a:t>
            </a:fld>
            <a:endParaRPr lang="en-NG" sz="1400" b="0" strike="noStrike" spc="-1">
              <a:solidFill>
                <a:srgbClr val="000000"/>
              </a:solidFill>
              <a:latin typeface="Times New Roman"/>
            </a:endParaRPr>
          </a:p>
        </p:txBody>
      </p:sp>
      <p:sp>
        <p:nvSpPr>
          <p:cNvPr id="28" name="PlaceHolder 5"/>
          <p:cNvSpPr>
            <a:spLocks noGrp="1"/>
          </p:cNvSpPr>
          <p:nvPr>
            <p:ph type="dt" idx="12"/>
          </p:nvPr>
        </p:nvSpPr>
        <p:spPr>
          <a:xfrm>
            <a:off x="504000" y="5165280"/>
            <a:ext cx="2347920" cy="390240"/>
          </a:xfrm>
          <a:prstGeom prst="rect">
            <a:avLst/>
          </a:prstGeom>
          <a:noFill/>
          <a:ln w="0">
            <a:noFill/>
          </a:ln>
        </p:spPr>
        <p:txBody>
          <a:bodyPr lIns="0" tIns="0" rIns="0" bIns="0" anchor="t">
            <a:noAutofit/>
          </a:bodyPr>
          <a:lstStyle>
            <a:lvl1pPr indent="0">
              <a:buNone/>
              <a:defRPr lang="en-NG" sz="1400" b="0" strike="noStrike" spc="-1">
                <a:solidFill>
                  <a:srgbClr val="000000"/>
                </a:solidFill>
                <a:latin typeface="Times New Roman"/>
              </a:defRPr>
            </a:lvl1pPr>
          </a:lstStyle>
          <a:p>
            <a:pPr indent="0">
              <a:buNone/>
            </a:pPr>
            <a:r>
              <a:rPr lang="en-NG"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buNone/>
            </a:pPr>
            <a:r>
              <a:rPr lang="en-NG" sz="1800" b="0" strike="noStrike" spc="-1">
                <a:solidFill>
                  <a:srgbClr val="000000"/>
                </a:solidFill>
                <a:latin typeface="Arial"/>
              </a:rPr>
              <a:t>Click to edit the title text format</a:t>
            </a:r>
          </a:p>
        </p:txBody>
      </p:sp>
      <p:sp>
        <p:nvSpPr>
          <p:cNvPr id="32" name="PlaceHolder 2"/>
          <p:cNvSpPr>
            <a:spLocks noGrp="1"/>
          </p:cNvSpPr>
          <p:nvPr>
            <p:ph type="ftr" idx="13"/>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NG" sz="1400" b="0" strike="noStrike" spc="-1">
                <a:solidFill>
                  <a:srgbClr val="000000"/>
                </a:solidFill>
                <a:latin typeface="Times New Roman"/>
              </a:defRPr>
            </a:lvl1pPr>
          </a:lstStyle>
          <a:p>
            <a:pPr indent="0" algn="ctr">
              <a:lnSpc>
                <a:spcPct val="100000"/>
              </a:lnSpc>
              <a:buNone/>
              <a:tabLst>
                <a:tab pos="0" algn="l"/>
              </a:tabLst>
            </a:pPr>
            <a:r>
              <a:rPr lang="en-NG" sz="1400" b="0" strike="noStrike" spc="-1">
                <a:solidFill>
                  <a:srgbClr val="000000"/>
                </a:solidFill>
                <a:latin typeface="Times New Roman"/>
              </a:rPr>
              <a:t>&lt;footer&gt;</a:t>
            </a:r>
          </a:p>
        </p:txBody>
      </p:sp>
      <p:sp>
        <p:nvSpPr>
          <p:cNvPr id="33" name="PlaceHolder 3"/>
          <p:cNvSpPr>
            <a:spLocks noGrp="1"/>
          </p:cNvSpPr>
          <p:nvPr>
            <p:ph type="sldNum" idx="14"/>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NG" sz="1400" b="0" strike="noStrike" spc="-1">
                <a:solidFill>
                  <a:srgbClr val="000000"/>
                </a:solidFill>
                <a:latin typeface="Times New Roman"/>
              </a:defRPr>
            </a:lvl1pPr>
          </a:lstStyle>
          <a:p>
            <a:pPr indent="0" algn="r">
              <a:lnSpc>
                <a:spcPct val="100000"/>
              </a:lnSpc>
              <a:buNone/>
              <a:tabLst>
                <a:tab pos="0" algn="l"/>
              </a:tabLst>
            </a:pPr>
            <a:fld id="{86C8EBA4-DCDE-4AE4-A3C7-5CA180877BC4}" type="slidenum">
              <a:rPr lang="en-NG" sz="1400" b="0" strike="noStrike" spc="-1">
                <a:solidFill>
                  <a:srgbClr val="000000"/>
                </a:solidFill>
                <a:latin typeface="Times New Roman"/>
              </a:rPr>
              <a:t>‹#›</a:t>
            </a:fld>
            <a:endParaRPr lang="en-NG" sz="1400" b="0" strike="noStrike" spc="-1">
              <a:solidFill>
                <a:srgbClr val="000000"/>
              </a:solidFill>
              <a:latin typeface="Times New Roman"/>
            </a:endParaRPr>
          </a:p>
        </p:txBody>
      </p:sp>
      <p:sp>
        <p:nvSpPr>
          <p:cNvPr id="34" name="PlaceHolder 4"/>
          <p:cNvSpPr>
            <a:spLocks noGrp="1"/>
          </p:cNvSpPr>
          <p:nvPr>
            <p:ph type="dt" idx="15"/>
          </p:nvPr>
        </p:nvSpPr>
        <p:spPr>
          <a:xfrm>
            <a:off x="504000" y="5165280"/>
            <a:ext cx="2347920" cy="390240"/>
          </a:xfrm>
          <a:prstGeom prst="rect">
            <a:avLst/>
          </a:prstGeom>
          <a:noFill/>
          <a:ln w="0">
            <a:noFill/>
          </a:ln>
        </p:spPr>
        <p:txBody>
          <a:bodyPr lIns="0" tIns="0" rIns="0" bIns="0" anchor="t">
            <a:noAutofit/>
          </a:bodyPr>
          <a:lstStyle>
            <a:lvl1pPr indent="0">
              <a:buNone/>
              <a:defRPr lang="en-NG" sz="1400" b="0" strike="noStrike" spc="-1">
                <a:solidFill>
                  <a:srgbClr val="000000"/>
                </a:solidFill>
                <a:latin typeface="Times New Roman"/>
              </a:defRPr>
            </a:lvl1pPr>
          </a:lstStyle>
          <a:p>
            <a:pPr indent="0">
              <a:buNone/>
            </a:pPr>
            <a:r>
              <a:rPr lang="en-NG" sz="1400" b="0" strike="noStrike" spc="-1">
                <a:solidFill>
                  <a:srgbClr val="000000"/>
                </a:solidFill>
                <a:latin typeface="Times New Roman"/>
              </a:rPr>
              <a:t>&lt;date/time&gt;</a:t>
            </a:r>
          </a:p>
        </p:txBody>
      </p:sp>
      <p:sp>
        <p:nvSpPr>
          <p:cNvPr id="35"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NG"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NG"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NG"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NG"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NG"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NG"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PlaceHolder 1"/>
          <p:cNvSpPr>
            <a:spLocks noGrp="1"/>
          </p:cNvSpPr>
          <p:nvPr>
            <p:ph type="subTitle"/>
          </p:nvPr>
        </p:nvSpPr>
        <p:spPr>
          <a:xfrm>
            <a:off x="504000" y="540000"/>
            <a:ext cx="9071280" cy="4074480"/>
          </a:xfrm>
          <a:prstGeom prst="rect">
            <a:avLst/>
          </a:prstGeom>
          <a:noFill/>
          <a:ln w="0">
            <a:noFill/>
          </a:ln>
        </p:spPr>
        <p:txBody>
          <a:bodyPr lIns="0" tIns="0" rIns="0" bIns="0" anchor="ctr">
            <a:noAutofit/>
          </a:bodyPr>
          <a:lstStyle/>
          <a:p>
            <a:pPr algn="ctr">
              <a:lnSpc>
                <a:spcPct val="100000"/>
              </a:lnSpc>
            </a:pPr>
            <a:r>
              <a:rPr lang="en-NG" sz="8800" b="0" strike="noStrike" spc="-1">
                <a:solidFill>
                  <a:srgbClr val="000000"/>
                </a:solidFill>
                <a:latin typeface="Arial"/>
              </a:rPr>
              <a:t>Requirements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417"/>
              </a:spcBef>
              <a:buNone/>
              <a:tabLst>
                <a:tab pos="0" algn="l"/>
              </a:tabLst>
            </a:pPr>
            <a:r>
              <a:rPr lang="en-NG" sz="4400" b="0" strike="noStrike" spc="-1">
                <a:solidFill>
                  <a:srgbClr val="000000"/>
                </a:solidFill>
                <a:latin typeface="Arial"/>
              </a:rPr>
              <a:t>Requirements Engineering</a:t>
            </a:r>
          </a:p>
        </p:txBody>
      </p:sp>
      <p:sp>
        <p:nvSpPr>
          <p:cNvPr id="40"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 requirements for a system are the descriptions of what the system should do</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 process of </a:t>
            </a:r>
            <a:r>
              <a:rPr lang="en-NG" sz="3200" b="1" strike="noStrike" spc="-1">
                <a:solidFill>
                  <a:srgbClr val="000000"/>
                </a:solidFill>
                <a:latin typeface="Arial"/>
              </a:rPr>
              <a:t>finding out</a:t>
            </a:r>
            <a:r>
              <a:rPr lang="en-NG" sz="3200" b="0" strike="noStrike" spc="-1">
                <a:solidFill>
                  <a:srgbClr val="000000"/>
                </a:solidFill>
                <a:latin typeface="Arial"/>
              </a:rPr>
              <a:t>, </a:t>
            </a:r>
            <a:r>
              <a:rPr lang="en-NG" sz="3200" b="1" strike="noStrike" spc="-1">
                <a:solidFill>
                  <a:srgbClr val="000000"/>
                </a:solidFill>
                <a:latin typeface="Arial"/>
              </a:rPr>
              <a:t>analyzing</a:t>
            </a:r>
            <a:r>
              <a:rPr lang="en-NG" sz="3200" b="0" strike="noStrike" spc="-1">
                <a:solidFill>
                  <a:srgbClr val="000000"/>
                </a:solidFill>
                <a:latin typeface="Arial"/>
              </a:rPr>
              <a:t>, </a:t>
            </a:r>
            <a:r>
              <a:rPr lang="en-NG" sz="3200" b="1" strike="noStrike" spc="-1">
                <a:solidFill>
                  <a:srgbClr val="000000"/>
                </a:solidFill>
                <a:latin typeface="Arial"/>
              </a:rPr>
              <a:t>documenting</a:t>
            </a:r>
            <a:r>
              <a:rPr lang="en-NG" sz="3200" b="0" strike="noStrike" spc="-1">
                <a:solidFill>
                  <a:srgbClr val="000000"/>
                </a:solidFill>
                <a:latin typeface="Arial"/>
              </a:rPr>
              <a:t> and </a:t>
            </a:r>
            <a:r>
              <a:rPr lang="en-NG" sz="3200" b="1" strike="noStrike" spc="-1">
                <a:solidFill>
                  <a:srgbClr val="000000"/>
                </a:solidFill>
                <a:latin typeface="Arial"/>
              </a:rPr>
              <a:t>checking these services</a:t>
            </a:r>
            <a:r>
              <a:rPr lang="en-NG" sz="3200" b="0" strike="noStrike" spc="-1">
                <a:solidFill>
                  <a:srgbClr val="000000"/>
                </a:solidFill>
                <a:latin typeface="Arial"/>
              </a:rPr>
              <a:t> and </a:t>
            </a:r>
            <a:r>
              <a:rPr lang="en-NG" sz="3200" b="1" strike="noStrike" spc="-1">
                <a:solidFill>
                  <a:srgbClr val="000000"/>
                </a:solidFill>
                <a:latin typeface="Arial"/>
              </a:rPr>
              <a:t>constraints</a:t>
            </a:r>
            <a:r>
              <a:rPr lang="en-NG" sz="3200" b="0" strike="noStrike" spc="-1">
                <a:solidFill>
                  <a:srgbClr val="000000"/>
                </a:solidFill>
                <a:latin typeface="Arial"/>
              </a:rPr>
              <a:t> is called Requirements Engineering (RE).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417"/>
              </a:spcBef>
              <a:buNone/>
              <a:tabLst>
                <a:tab pos="0" algn="l"/>
              </a:tabLst>
            </a:pPr>
            <a:r>
              <a:rPr lang="en-NG" sz="4400" b="0" strike="noStrike" spc="-1">
                <a:solidFill>
                  <a:srgbClr val="000000"/>
                </a:solidFill>
                <a:latin typeface="Arial"/>
              </a:rPr>
              <a:t>Requirements Engineering </a:t>
            </a:r>
          </a:p>
        </p:txBody>
      </p:sp>
      <p:sp>
        <p:nvSpPr>
          <p:cNvPr id="42"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1388" lnSpcReduction="10000"/>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 term ‘requirement’ is not used consistently in the software industry. </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In some cases, a requirement is simply a </a:t>
            </a:r>
            <a:r>
              <a:rPr lang="en-NG" sz="3200" b="1" strike="noStrike" spc="-1">
                <a:solidFill>
                  <a:srgbClr val="000000"/>
                </a:solidFill>
                <a:latin typeface="Arial"/>
              </a:rPr>
              <a:t>high-level, abstract statement of a service</a:t>
            </a:r>
            <a:r>
              <a:rPr lang="en-NG" sz="3200" b="0" strike="noStrike" spc="-1">
                <a:solidFill>
                  <a:srgbClr val="000000"/>
                </a:solidFill>
                <a:latin typeface="Arial"/>
              </a:rPr>
              <a:t> that a system should provide or a constraint on a system. </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At the other extreme, </a:t>
            </a:r>
            <a:r>
              <a:rPr lang="en-NG" sz="3200" b="1" strike="noStrike" spc="-1">
                <a:solidFill>
                  <a:srgbClr val="000000"/>
                </a:solidFill>
                <a:latin typeface="Arial"/>
              </a:rPr>
              <a:t>it is a detailed, formal definition of a system function</a:t>
            </a:r>
            <a:r>
              <a:rPr lang="en-NG" sz="3200" b="0" strike="noStrike" spc="-1">
                <a:solidFill>
                  <a:srgbClr val="000000"/>
                </a:solidFill>
                <a:latin typeface="A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laceHolder 2"/>
          <p:cNvSpPr>
            <a:spLocks noGrp="1"/>
          </p:cNvSpPr>
          <p:nvPr>
            <p:ph/>
          </p:nvPr>
        </p:nvSpPr>
        <p:spPr>
          <a:xfrm>
            <a:off x="504000" y="430307"/>
            <a:ext cx="9071280" cy="4184174"/>
          </a:xfrm>
          <a:prstGeom prst="rect">
            <a:avLst/>
          </a:prstGeom>
          <a:noFill/>
          <a:ln w="0">
            <a:noFill/>
          </a:ln>
        </p:spPr>
        <p:txBody>
          <a:bodyPr lIns="0" tIns="0" rIns="0" bIns="0" anchor="t">
            <a:normAutofit fontScale="81111" lnSpcReduction="20000"/>
          </a:bodyPr>
          <a:lstStyle/>
          <a:p>
            <a:pPr marL="432000" indent="-324000">
              <a:lnSpc>
                <a:spcPct val="100000"/>
              </a:lnSpc>
              <a:spcBef>
                <a:spcPts val="1417"/>
              </a:spcBef>
              <a:buClr>
                <a:srgbClr val="000000"/>
              </a:buClr>
              <a:buSzPct val="45000"/>
              <a:buFont typeface="Wingdings" charset="2"/>
              <a:buChar char=""/>
            </a:pPr>
            <a:r>
              <a:rPr lang="en-NG" sz="2800" b="1" strike="noStrike" spc="-1" dirty="0">
                <a:solidFill>
                  <a:srgbClr val="000000"/>
                </a:solidFill>
                <a:latin typeface="Arial"/>
              </a:rPr>
              <a:t>SRS=User Requirements + System Requirement</a:t>
            </a:r>
            <a:endParaRPr lang="en-NG" sz="2800" b="0" strike="noStrike" spc="-1" dirty="0">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User requirements are statements, in a </a:t>
            </a:r>
            <a:r>
              <a:rPr lang="en-NG" sz="3200" b="0" strike="noStrike" spc="-1" dirty="0">
                <a:solidFill>
                  <a:srgbClr val="FF0000"/>
                </a:solidFill>
                <a:latin typeface="Arial"/>
              </a:rPr>
              <a:t>natural language </a:t>
            </a:r>
            <a:r>
              <a:rPr lang="en-NG" sz="3200" b="0" strike="noStrike" spc="-1" dirty="0">
                <a:solidFill>
                  <a:srgbClr val="000000"/>
                </a:solidFill>
                <a:latin typeface="Arial"/>
              </a:rPr>
              <a:t>plus diagrams, of what services the system is expected to provide to system users and the constraints under which it must operate.</a:t>
            </a:r>
          </a:p>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System requirements are </a:t>
            </a:r>
            <a:r>
              <a:rPr lang="en-NG" sz="3200" b="0" strike="noStrike" spc="-1" dirty="0">
                <a:solidFill>
                  <a:srgbClr val="FF0000"/>
                </a:solidFill>
                <a:latin typeface="Arial"/>
              </a:rPr>
              <a:t>more detailed </a:t>
            </a:r>
            <a:r>
              <a:rPr lang="en-NG" sz="3200" b="0" strike="noStrike" spc="-1" dirty="0">
                <a:solidFill>
                  <a:srgbClr val="000000"/>
                </a:solidFill>
                <a:latin typeface="Arial"/>
              </a:rPr>
              <a:t>descriptions of the software system’s functions, services, and operational constraints. The system requirements document (sometimes called a functional specification) should define exactly what is to be implemented. </a:t>
            </a:r>
            <a:r>
              <a:rPr lang="en-NG" sz="3200" b="0" strike="noStrike" spc="-1" dirty="0">
                <a:solidFill>
                  <a:srgbClr val="FF0000"/>
                </a:solidFill>
                <a:latin typeface="Arial"/>
              </a:rPr>
              <a:t>It may be part of the contract between the system buyer and the software developers.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p:cNvPicPr/>
          <p:nvPr/>
        </p:nvPicPr>
        <p:blipFill>
          <a:blip r:embed="rId2"/>
          <a:stretch/>
        </p:blipFill>
        <p:spPr>
          <a:xfrm>
            <a:off x="366480" y="540000"/>
            <a:ext cx="9508320" cy="485964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p:cNvPicPr/>
          <p:nvPr/>
        </p:nvPicPr>
        <p:blipFill>
          <a:blip r:embed="rId2"/>
          <a:stretch/>
        </p:blipFill>
        <p:spPr>
          <a:xfrm rot="21576600">
            <a:off x="537120" y="224556"/>
            <a:ext cx="9199080" cy="510300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1280" cy="720593"/>
          </a:xfrm>
          <a:prstGeom prst="rect">
            <a:avLst/>
          </a:prstGeom>
          <a:noFill/>
          <a:ln w="0">
            <a:noFill/>
          </a:ln>
        </p:spPr>
        <p:txBody>
          <a:bodyPr lIns="0" tIns="0" rIns="0" bIns="0" anchor="ctr">
            <a:noAutofit/>
          </a:bodyPr>
          <a:lstStyle/>
          <a:p>
            <a:pPr algn="ctr"/>
            <a:r>
              <a:rPr lang="en-NG" sz="1800" b="1" spc="-1" dirty="0">
                <a:solidFill>
                  <a:srgbClr val="000000"/>
                </a:solidFill>
              </a:rPr>
              <a:t>Functional </a:t>
            </a:r>
            <a:r>
              <a:rPr lang="en-US" sz="1800" b="1" spc="-1" dirty="0">
                <a:solidFill>
                  <a:srgbClr val="000000"/>
                </a:solidFill>
              </a:rPr>
              <a:t>&amp; </a:t>
            </a:r>
            <a:r>
              <a:rPr lang="en-NG" sz="1800" b="1" spc="-1" dirty="0">
                <a:solidFill>
                  <a:srgbClr val="000000"/>
                </a:solidFill>
              </a:rPr>
              <a:t>Non-functiona</a:t>
            </a:r>
            <a:r>
              <a:rPr lang="en-US" sz="1800" b="1" spc="-1" dirty="0">
                <a:solidFill>
                  <a:srgbClr val="000000"/>
                </a:solidFill>
              </a:rPr>
              <a:t>l </a:t>
            </a:r>
            <a:r>
              <a:rPr lang="en-NG" sz="1800" b="1" spc="-1" dirty="0">
                <a:solidFill>
                  <a:srgbClr val="000000"/>
                </a:solidFill>
              </a:rPr>
              <a:t>requirements</a:t>
            </a:r>
            <a:r>
              <a:rPr lang="en-US" sz="1800" b="1" spc="-1" dirty="0">
                <a:solidFill>
                  <a:srgbClr val="000000"/>
                </a:solidFill>
              </a:rPr>
              <a:t> </a:t>
            </a:r>
            <a:endParaRPr lang="en-NG" sz="1800" b="1" strike="noStrike" spc="-1" dirty="0">
              <a:solidFill>
                <a:srgbClr val="000000"/>
              </a:solidFill>
              <a:latin typeface="Arial"/>
            </a:endParaRPr>
          </a:p>
        </p:txBody>
      </p:sp>
      <p:sp>
        <p:nvSpPr>
          <p:cNvPr id="48" name="PlaceHolder 2"/>
          <p:cNvSpPr>
            <a:spLocks noGrp="1"/>
          </p:cNvSpPr>
          <p:nvPr>
            <p:ph/>
          </p:nvPr>
        </p:nvSpPr>
        <p:spPr>
          <a:xfrm>
            <a:off x="504000" y="1161826"/>
            <a:ext cx="9071280" cy="3452654"/>
          </a:xfrm>
          <a:prstGeom prst="rect">
            <a:avLst/>
          </a:prstGeom>
          <a:noFill/>
          <a:ln w="0">
            <a:noFill/>
          </a:ln>
        </p:spPr>
        <p:txBody>
          <a:bodyPr lIns="0" tIns="0" rIns="0" bIns="0" anchor="t">
            <a:normAutofit fontScale="69722" lnSpcReduction="20000"/>
          </a:bodyPr>
          <a:lstStyle/>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Functional requirements These are statements of </a:t>
            </a:r>
            <a:r>
              <a:rPr lang="en-NG" sz="3200" b="1" strike="noStrike" spc="-1" dirty="0">
                <a:solidFill>
                  <a:srgbClr val="FF0000"/>
                </a:solidFill>
                <a:latin typeface="Arial"/>
              </a:rPr>
              <a:t>services</a:t>
            </a:r>
            <a:r>
              <a:rPr lang="en-NG" sz="3200" b="0" strike="noStrike" spc="-1" dirty="0">
                <a:solidFill>
                  <a:srgbClr val="FF0000"/>
                </a:solidFill>
                <a:latin typeface="Arial"/>
              </a:rPr>
              <a:t> the system should provide</a:t>
            </a:r>
            <a:r>
              <a:rPr lang="en-NG" sz="3200" b="0" strike="noStrike" spc="-1" dirty="0">
                <a:solidFill>
                  <a:srgbClr val="000000"/>
                </a:solidFill>
                <a:latin typeface="Arial"/>
              </a:rPr>
              <a:t>, how the system should react to particular inputs, and how the system should behave in particular situations. In some cases, the functional requirements may also explicitly state what the system should not do.</a:t>
            </a:r>
          </a:p>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Non-functional requirements These are </a:t>
            </a:r>
            <a:r>
              <a:rPr lang="en-NG" sz="3200" b="0" strike="noStrike" spc="-1" dirty="0">
                <a:solidFill>
                  <a:srgbClr val="FF0000"/>
                </a:solidFill>
                <a:latin typeface="Arial"/>
              </a:rPr>
              <a:t>c</a:t>
            </a:r>
            <a:r>
              <a:rPr lang="en-NG" sz="3200" b="1" strike="noStrike" spc="-1" dirty="0">
                <a:solidFill>
                  <a:srgbClr val="FF0000"/>
                </a:solidFill>
                <a:latin typeface="Arial"/>
              </a:rPr>
              <a:t>onstraints</a:t>
            </a:r>
            <a:r>
              <a:rPr lang="en-NG" sz="3200" b="1" strike="noStrike" spc="-1" dirty="0">
                <a:solidFill>
                  <a:srgbClr val="000000"/>
                </a:solidFill>
                <a:latin typeface="Arial"/>
              </a:rPr>
              <a:t> on the services</a:t>
            </a:r>
            <a:r>
              <a:rPr lang="en-NG" sz="3200" b="0" strike="noStrike" spc="-1" dirty="0">
                <a:solidFill>
                  <a:srgbClr val="000000"/>
                </a:solidFill>
                <a:latin typeface="Arial"/>
              </a:rPr>
              <a:t> or functions offered by the system. They include timing constraints, constraints on the devel opment process, and constraints imposed by standards. </a:t>
            </a:r>
            <a:r>
              <a:rPr lang="en-NG" sz="3200" b="0" strike="noStrike" spc="-1" dirty="0">
                <a:solidFill>
                  <a:srgbClr val="FF0000"/>
                </a:solidFill>
                <a:latin typeface="Arial"/>
              </a:rPr>
              <a:t>Non-functional requirements often apply to the system as a whole, rather than individual system features or services.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417"/>
              </a:spcBef>
              <a:buNone/>
              <a:tabLst>
                <a:tab pos="0" algn="l"/>
              </a:tabLst>
            </a:pPr>
            <a:r>
              <a:rPr lang="en-NG" sz="4400" b="0" strike="noStrike" spc="-1">
                <a:solidFill>
                  <a:srgbClr val="000000"/>
                </a:solidFill>
                <a:latin typeface="Arial"/>
                <a:ea typeface="Noto Sans CJK SC"/>
              </a:rPr>
              <a:t>Example of Functional requirements</a:t>
            </a:r>
            <a:endParaRPr lang="en-NG" sz="4400" b="0" strike="noStrike" spc="-1">
              <a:solidFill>
                <a:srgbClr val="000000"/>
              </a:solidFill>
              <a:latin typeface="Arial"/>
            </a:endParaRPr>
          </a:p>
        </p:txBody>
      </p:sp>
      <p:sp>
        <p:nvSpPr>
          <p:cNvPr id="50"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1388" lnSpcReduction="20000"/>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A user shall be able to search the appointments lists for all clinics.</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 system shall generate each day, for each clinic, a list of patients who are expected to attend appointments that day.</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Each staff member using the system shall be uniquely identified by his or her eight-digit employee number.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1800" b="0" strike="noStrike" spc="-1">
              <a:solidFill>
                <a:srgbClr val="000000"/>
              </a:solidFill>
              <a:latin typeface="Arial"/>
            </a:endParaRPr>
          </a:p>
        </p:txBody>
      </p:sp>
      <p:sp>
        <p:nvSpPr>
          <p:cNvPr id="52"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83333" lnSpcReduction="20000"/>
          </a:bodyPr>
          <a:lstStyle/>
          <a:p>
            <a:pPr marL="432000" indent="-324000">
              <a:lnSpc>
                <a:spcPct val="100000"/>
              </a:lnSpc>
              <a:spcBef>
                <a:spcPts val="1417"/>
              </a:spcBef>
              <a:buClr>
                <a:srgbClr val="000000"/>
              </a:buClr>
              <a:buSzPct val="45000"/>
              <a:buFont typeface="Wingdings" charset="2"/>
              <a:buChar char=""/>
            </a:pPr>
            <a:r>
              <a:rPr lang="en-NG" sz="3200" b="1" strike="noStrike" spc="-1">
                <a:solidFill>
                  <a:srgbClr val="000000"/>
                </a:solidFill>
                <a:latin typeface="Arial"/>
              </a:rPr>
              <a:t>Imprecision in the requirements specification is the cause of many software engineering problems.</a:t>
            </a:r>
            <a:endParaRPr lang="en-NG" sz="3200" b="0" strike="noStrike" spc="-1">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In principle, the functional requirements specification of a system </a:t>
            </a:r>
            <a:r>
              <a:rPr lang="en-NG" sz="3200" b="1" strike="noStrike" spc="-1">
                <a:solidFill>
                  <a:srgbClr val="000000"/>
                </a:solidFill>
                <a:latin typeface="Arial"/>
              </a:rPr>
              <a:t>should be both complete and consistent</a:t>
            </a:r>
            <a:r>
              <a:rPr lang="en-NG" sz="3200" b="0" strike="noStrike" spc="-1">
                <a:solidFill>
                  <a:srgbClr val="000000"/>
                </a:solidFill>
                <a:latin typeface="Arial"/>
              </a:rPr>
              <a:t>. </a:t>
            </a:r>
          </a:p>
          <a:p>
            <a:pPr marL="432000" indent="-324000">
              <a:lnSpc>
                <a:spcPct val="100000"/>
              </a:lnSpc>
              <a:spcBef>
                <a:spcPts val="1417"/>
              </a:spcBef>
              <a:buClr>
                <a:srgbClr val="000000"/>
              </a:buClr>
              <a:buSzPct val="45000"/>
              <a:buFont typeface="Wingdings" charset="2"/>
              <a:buChar char=""/>
            </a:pPr>
            <a:r>
              <a:rPr lang="en-NG" sz="3200" b="1" strike="noStrike" spc="-1">
                <a:solidFill>
                  <a:srgbClr val="000000"/>
                </a:solidFill>
                <a:latin typeface="Arial"/>
              </a:rPr>
              <a:t>Completeness</a:t>
            </a:r>
            <a:r>
              <a:rPr lang="en-NG" sz="3200" b="0" strike="noStrike" spc="-1">
                <a:solidFill>
                  <a:srgbClr val="000000"/>
                </a:solidFill>
                <a:latin typeface="Arial"/>
              </a:rPr>
              <a:t> means that </a:t>
            </a:r>
            <a:r>
              <a:rPr lang="en-NG" sz="3200" b="1" strike="noStrike" spc="-1">
                <a:solidFill>
                  <a:srgbClr val="000000"/>
                </a:solidFill>
                <a:latin typeface="Arial"/>
              </a:rPr>
              <a:t>all services</a:t>
            </a:r>
            <a:r>
              <a:rPr lang="en-NG" sz="3200" b="0" strike="noStrike" spc="-1">
                <a:solidFill>
                  <a:srgbClr val="000000"/>
                </a:solidFill>
                <a:latin typeface="Arial"/>
              </a:rPr>
              <a:t> required by the user should be defined. </a:t>
            </a:r>
          </a:p>
          <a:p>
            <a:pPr marL="432000" indent="-324000">
              <a:lnSpc>
                <a:spcPct val="100000"/>
              </a:lnSpc>
              <a:spcBef>
                <a:spcPts val="1417"/>
              </a:spcBef>
              <a:buClr>
                <a:srgbClr val="000000"/>
              </a:buClr>
              <a:buSzPct val="45000"/>
              <a:buFont typeface="Wingdings" charset="2"/>
              <a:buChar char=""/>
            </a:pPr>
            <a:r>
              <a:rPr lang="en-NG" sz="3200" b="1" strike="noStrike" spc="-1">
                <a:solidFill>
                  <a:srgbClr val="000000"/>
                </a:solidFill>
                <a:latin typeface="Arial"/>
              </a:rPr>
              <a:t>Consistency</a:t>
            </a:r>
            <a:r>
              <a:rPr lang="en-NG" sz="3200" b="0" strike="noStrike" spc="-1">
                <a:solidFill>
                  <a:srgbClr val="000000"/>
                </a:solidFill>
                <a:latin typeface="Arial"/>
              </a:rPr>
              <a:t> means that requirements should not have </a:t>
            </a:r>
            <a:r>
              <a:rPr lang="en-NG" sz="3200" b="1" strike="noStrike" spc="-1">
                <a:solidFill>
                  <a:srgbClr val="000000"/>
                </a:solidFill>
                <a:latin typeface="Arial"/>
              </a:rPr>
              <a:t>contradictory</a:t>
            </a:r>
            <a:r>
              <a:rPr lang="en-NG" sz="3200" b="0" strike="noStrike" spc="-1">
                <a:solidFill>
                  <a:srgbClr val="000000"/>
                </a:solidFill>
                <a:latin typeface="Arial"/>
              </a:rPr>
              <a:t> definitions.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rPr>
              <a:t>Non-functional requirements</a:t>
            </a:r>
          </a:p>
        </p:txBody>
      </p:sp>
      <p:sp>
        <p:nvSpPr>
          <p:cNvPr id="54"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1388" lnSpcReduction="10000"/>
          </a:bodyPr>
          <a:lstStyle/>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Non-functional requirements are </a:t>
            </a:r>
            <a:r>
              <a:rPr lang="en-NG" sz="3200" b="0" strike="noStrike" spc="-1" dirty="0">
                <a:solidFill>
                  <a:srgbClr val="FF0000"/>
                </a:solidFill>
                <a:latin typeface="Arial"/>
              </a:rPr>
              <a:t>performance, security, or availability,</a:t>
            </a:r>
            <a:r>
              <a:rPr lang="en-NG" sz="3200" b="0" strike="noStrike" spc="-1" dirty="0">
                <a:solidFill>
                  <a:srgbClr val="000000"/>
                </a:solidFill>
                <a:latin typeface="Arial"/>
              </a:rPr>
              <a:t> usually specify or constrain characteristics of the </a:t>
            </a:r>
            <a:r>
              <a:rPr lang="en-NG" sz="3200" b="1" strike="noStrike" spc="-1" dirty="0">
                <a:solidFill>
                  <a:srgbClr val="000000"/>
                </a:solidFill>
                <a:latin typeface="Arial"/>
              </a:rPr>
              <a:t>system as a whole</a:t>
            </a:r>
            <a:r>
              <a:rPr lang="en-NG" sz="3200" b="0" strike="noStrike" spc="-1" dirty="0">
                <a:solidFill>
                  <a:srgbClr val="000000"/>
                </a:solidFill>
                <a:latin typeface="Arial"/>
              </a:rPr>
              <a:t>. Eg:</a:t>
            </a:r>
          </a:p>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reliability, response time, store occupancy, interoperability,safety, and confidentiality</a:t>
            </a:r>
          </a:p>
          <a:p>
            <a:pPr marL="432000" indent="-324000">
              <a:lnSpc>
                <a:spcPct val="100000"/>
              </a:lnSpc>
              <a:spcBef>
                <a:spcPts val="1417"/>
              </a:spcBef>
              <a:buClr>
                <a:srgbClr val="000000"/>
              </a:buClr>
              <a:buSzPct val="45000"/>
              <a:buFont typeface="Wingdings" charset="2"/>
              <a:buChar char=""/>
            </a:pPr>
            <a:r>
              <a:rPr lang="en-NG" sz="3200" b="1" strike="noStrike" spc="-1" dirty="0">
                <a:solidFill>
                  <a:srgbClr val="000000"/>
                </a:solidFill>
                <a:latin typeface="Arial"/>
              </a:rPr>
              <a:t>Non-functional requirements are </a:t>
            </a:r>
            <a:r>
              <a:rPr lang="en-NG" sz="3200" b="1" i="1" strike="noStrike" spc="-1" dirty="0">
                <a:solidFill>
                  <a:srgbClr val="000000"/>
                </a:solidFill>
                <a:latin typeface="Arial"/>
              </a:rPr>
              <a:t>often more critical</a:t>
            </a:r>
            <a:r>
              <a:rPr lang="en-NG" sz="3200" b="1" strike="noStrike" spc="-1" dirty="0">
                <a:solidFill>
                  <a:srgbClr val="000000"/>
                </a:solidFill>
                <a:latin typeface="Arial"/>
              </a:rPr>
              <a:t> than individual functional requirements.</a:t>
            </a:r>
            <a:endParaRPr lang="en-NG" sz="3200" b="0" strike="noStrike" spc="-1" dirty="0">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1280" cy="67356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rPr>
              <a:t>Types of non-functionalrequirement</a:t>
            </a:r>
          </a:p>
        </p:txBody>
      </p:sp>
      <p:pic>
        <p:nvPicPr>
          <p:cNvPr id="56" name="Picture 55"/>
          <p:cNvPicPr/>
          <p:nvPr/>
        </p:nvPicPr>
        <p:blipFill>
          <a:blip r:embed="rId2"/>
          <a:stretch/>
        </p:blipFill>
        <p:spPr>
          <a:xfrm>
            <a:off x="360000" y="1080000"/>
            <a:ext cx="9539640" cy="431964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74160"/>
            <a:ext cx="9071280" cy="124992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rPr>
              <a:t>Eg of non-functional requirements in the MHC-PMS</a:t>
            </a:r>
          </a:p>
        </p:txBody>
      </p:sp>
      <p:pic>
        <p:nvPicPr>
          <p:cNvPr id="58" name="Picture 57"/>
          <p:cNvPicPr/>
          <p:nvPr/>
        </p:nvPicPr>
        <p:blipFill>
          <a:blip r:embed="rId2"/>
          <a:stretch/>
        </p:blipFill>
        <p:spPr>
          <a:xfrm>
            <a:off x="180000" y="1260000"/>
            <a:ext cx="9539640" cy="413964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1800" b="0" strike="noStrike" spc="-1">
              <a:solidFill>
                <a:srgbClr val="000000"/>
              </a:solidFill>
              <a:latin typeface="Arial"/>
            </a:endParaRPr>
          </a:p>
        </p:txBody>
      </p:sp>
      <p:sp>
        <p:nvSpPr>
          <p:cNvPr id="60"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you should write non-functional requirements </a:t>
            </a:r>
            <a:r>
              <a:rPr lang="en-NG" sz="3200" b="1" strike="noStrike" spc="-1">
                <a:solidFill>
                  <a:srgbClr val="000000"/>
                </a:solidFill>
                <a:latin typeface="Arial"/>
              </a:rPr>
              <a:t>quantitatively</a:t>
            </a:r>
            <a:r>
              <a:rPr lang="en-NG" sz="3200" b="0" strike="noStrike" spc="-1">
                <a:solidFill>
                  <a:srgbClr val="000000"/>
                </a:solidFill>
                <a:latin typeface="Arial"/>
              </a:rPr>
              <a:t> so that they can be </a:t>
            </a:r>
            <a:r>
              <a:rPr lang="en-NG" sz="3200" b="1" strike="noStrike" spc="-1">
                <a:solidFill>
                  <a:srgbClr val="000000"/>
                </a:solidFill>
                <a:latin typeface="Arial"/>
              </a:rPr>
              <a:t>objectively tested</a:t>
            </a:r>
            <a:endParaRPr lang="en-NG" sz="3200" b="0" strike="noStrike" spc="-1">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Non-functional requirements </a:t>
            </a:r>
            <a:r>
              <a:rPr lang="en-NG" sz="3200" b="1" strike="noStrike" spc="-1">
                <a:solidFill>
                  <a:srgbClr val="000000"/>
                </a:solidFill>
                <a:latin typeface="Arial"/>
              </a:rPr>
              <a:t>often conflict</a:t>
            </a:r>
            <a:r>
              <a:rPr lang="en-NG" sz="3200" b="0" strike="noStrike" spc="-1">
                <a:solidFill>
                  <a:srgbClr val="000000"/>
                </a:solidFill>
                <a:latin typeface="Arial"/>
              </a:rPr>
              <a:t> and </a:t>
            </a:r>
            <a:r>
              <a:rPr lang="en-NG" sz="3200" b="1" strike="noStrike" spc="-1">
                <a:solidFill>
                  <a:srgbClr val="000000"/>
                </a:solidFill>
                <a:latin typeface="Arial"/>
              </a:rPr>
              <a:t>interact</a:t>
            </a:r>
            <a:r>
              <a:rPr lang="en-NG" sz="3200" b="0" strike="noStrike" spc="-1">
                <a:solidFill>
                  <a:srgbClr val="000000"/>
                </a:solidFill>
                <a:latin typeface="Arial"/>
              </a:rPr>
              <a:t> with other functional or non-functional requirements.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5720"/>
            <a:ext cx="9071280" cy="946080"/>
          </a:xfrm>
          <a:prstGeom prst="rect">
            <a:avLst/>
          </a:prstGeom>
          <a:noFill/>
          <a:ln w="0">
            <a:noFill/>
          </a:ln>
        </p:spPr>
        <p:txBody>
          <a:bodyPr lIns="0" tIns="0" rIns="0" bIns="0" anchor="ctr">
            <a:noAutofit/>
          </a:bodyPr>
          <a:lstStyle/>
          <a:p>
            <a:pPr indent="0" algn="ctr">
              <a:lnSpc>
                <a:spcPct val="100000"/>
              </a:lnSpc>
              <a:buNone/>
              <a:tabLst>
                <a:tab pos="0" algn="l"/>
              </a:tabLst>
            </a:pPr>
            <a:r>
              <a:rPr lang="en-NG" sz="2600" b="0" strike="noStrike" spc="-1">
                <a:solidFill>
                  <a:srgbClr val="000000"/>
                </a:solidFill>
                <a:latin typeface="Arial"/>
                <a:ea typeface="Noto Sans CJK SC"/>
              </a:rPr>
              <a:t>Metrics for specifying </a:t>
            </a:r>
            <a:r>
              <a:rPr lang="en-NG" sz="2600" b="1" strike="noStrike" spc="-1">
                <a:solidFill>
                  <a:srgbClr val="000000"/>
                </a:solidFill>
                <a:latin typeface="Arial"/>
                <a:ea typeface="Noto Sans CJK SC"/>
              </a:rPr>
              <a:t>objectively testable</a:t>
            </a:r>
            <a:r>
              <a:rPr lang="en-NG" sz="2600" b="0" strike="noStrike" spc="-1">
                <a:solidFill>
                  <a:srgbClr val="000000"/>
                </a:solidFill>
                <a:latin typeface="Arial"/>
                <a:ea typeface="Noto Sans CJK SC"/>
              </a:rPr>
              <a:t> non-functional requirements</a:t>
            </a:r>
            <a:endParaRPr lang="en-NG" sz="2600" b="0" strike="noStrike" spc="-1">
              <a:solidFill>
                <a:srgbClr val="000000"/>
              </a:solidFill>
              <a:latin typeface="Arial"/>
            </a:endParaRPr>
          </a:p>
        </p:txBody>
      </p:sp>
      <p:pic>
        <p:nvPicPr>
          <p:cNvPr id="62" name="Picture 61"/>
          <p:cNvPicPr/>
          <p:nvPr/>
        </p:nvPicPr>
        <p:blipFill>
          <a:blip r:embed="rId2"/>
          <a:stretch/>
        </p:blipFill>
        <p:spPr>
          <a:xfrm>
            <a:off x="180000" y="1080000"/>
            <a:ext cx="9719640" cy="431964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rPr>
              <a:t>software requirements document</a:t>
            </a:r>
          </a:p>
        </p:txBody>
      </p:sp>
      <p:sp>
        <p:nvSpPr>
          <p:cNvPr id="64"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7499" lnSpcReduction="10000"/>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 software requirements document (sometimes called the software requirements specification or SRS) is an </a:t>
            </a:r>
            <a:r>
              <a:rPr lang="en-NG" sz="3200" b="1" strike="noStrike" spc="-1">
                <a:solidFill>
                  <a:srgbClr val="000000"/>
                </a:solidFill>
                <a:latin typeface="Arial"/>
              </a:rPr>
              <a:t>official statement</a:t>
            </a:r>
            <a:r>
              <a:rPr lang="en-NG" sz="3200" b="0" strike="noStrike" spc="-1">
                <a:solidFill>
                  <a:srgbClr val="000000"/>
                </a:solidFill>
                <a:latin typeface="Arial"/>
              </a:rPr>
              <a:t> of what the system </a:t>
            </a:r>
            <a:r>
              <a:rPr lang="en-NG" sz="3200" b="1" strike="noStrike" spc="-1">
                <a:solidFill>
                  <a:srgbClr val="000000"/>
                </a:solidFill>
                <a:latin typeface="Arial"/>
              </a:rPr>
              <a:t>developers should implement</a:t>
            </a:r>
            <a:r>
              <a:rPr lang="en-NG" sz="3200" b="0" strike="noStrike" spc="-1">
                <a:solidFill>
                  <a:srgbClr val="000000"/>
                </a:solidFill>
                <a:latin typeface="Arial"/>
              </a:rPr>
              <a:t>.</a:t>
            </a:r>
          </a:p>
          <a:p>
            <a:pPr marL="432000" indent="-324000">
              <a:lnSpc>
                <a:spcPct val="100000"/>
              </a:lnSpc>
              <a:spcBef>
                <a:spcPts val="1417"/>
              </a:spcBef>
              <a:buClr>
                <a:srgbClr val="000000"/>
              </a:buClr>
              <a:buSzPct val="45000"/>
              <a:buFont typeface="Wingdings" charset="2"/>
              <a:buChar char=""/>
            </a:pPr>
            <a:r>
              <a:rPr lang="en-NG" sz="2800" b="0" strike="noStrike" spc="-1">
                <a:solidFill>
                  <a:srgbClr val="000000"/>
                </a:solidFill>
                <a:latin typeface="Arial"/>
              </a:rPr>
              <a:t>SRS=User Requirements + System Requirement</a:t>
            </a:r>
          </a:p>
          <a:p>
            <a:pPr marL="432000" indent="-324000">
              <a:lnSpc>
                <a:spcPct val="100000"/>
              </a:lnSpc>
              <a:spcBef>
                <a:spcPts val="1417"/>
              </a:spcBef>
              <a:buClr>
                <a:srgbClr val="000000"/>
              </a:buClr>
              <a:buSzPct val="45000"/>
              <a:buFont typeface="Wingdings" charset="2"/>
              <a:buChar char=""/>
            </a:pPr>
            <a:r>
              <a:rPr lang="en-NG" sz="2800" b="0" strike="noStrike" spc="-1">
                <a:solidFill>
                  <a:srgbClr val="000000"/>
                </a:solidFill>
                <a:latin typeface="Arial"/>
              </a:rPr>
              <a:t>Requirements documents are essential when an outside contractor is developing the software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nSpc>
                <a:spcPct val="100000"/>
              </a:lnSpc>
              <a:spcBef>
                <a:spcPts val="1417"/>
              </a:spcBef>
              <a:buNone/>
              <a:tabLst>
                <a:tab pos="0" algn="l"/>
              </a:tabLst>
            </a:pPr>
            <a:r>
              <a:rPr lang="en-NG" sz="4400" b="0" strike="noStrike" spc="-1">
                <a:solidFill>
                  <a:srgbClr val="000000"/>
                </a:solidFill>
                <a:latin typeface="Arial"/>
                <a:ea typeface="Noto Sans CJK SC"/>
              </a:rPr>
              <a:t>Agile A</a:t>
            </a:r>
            <a:r>
              <a:rPr lang="en-NG" sz="4400" b="1" strike="noStrike" spc="-1">
                <a:solidFill>
                  <a:srgbClr val="000000"/>
                </a:solidFill>
                <a:latin typeface="Arial"/>
                <a:ea typeface="Noto Sans CJK SC"/>
              </a:rPr>
              <a:t>rgue Otherwise(let’s talk)</a:t>
            </a:r>
            <a:endParaRPr lang="en-NG" sz="4400" b="0" strike="noStrike" spc="-1">
              <a:solidFill>
                <a:srgbClr val="000000"/>
              </a:solidFill>
              <a:latin typeface="Arial"/>
            </a:endParaRPr>
          </a:p>
        </p:txBody>
      </p:sp>
      <p:sp>
        <p:nvSpPr>
          <p:cNvPr id="66" name="PlaceHolder 2"/>
          <p:cNvSpPr>
            <a:spLocks noGrp="1"/>
          </p:cNvSpPr>
          <p:nvPr>
            <p:ph/>
          </p:nvPr>
        </p:nvSpPr>
        <p:spPr>
          <a:xfrm>
            <a:off x="504000" y="1326600"/>
            <a:ext cx="4426560" cy="1567800"/>
          </a:xfrm>
          <a:prstGeom prst="rect">
            <a:avLst/>
          </a:prstGeom>
          <a:noFill/>
          <a:ln w="12600">
            <a:solidFill>
              <a:srgbClr val="FF4000"/>
            </a:solidFill>
            <a:round/>
          </a:ln>
        </p:spPr>
        <p:txBody>
          <a:bodyPr lIns="0" tIns="0" rIns="0" bIns="0" anchor="t">
            <a:normAutofit fontScale="93333"/>
          </a:bodyPr>
          <a:lstStyle/>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Requirements change so rapidly </a:t>
            </a:r>
          </a:p>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rPr>
              <a:t>Effort is largely wasted</a:t>
            </a:r>
          </a:p>
        </p:txBody>
      </p:sp>
      <p:pic>
        <p:nvPicPr>
          <p:cNvPr id="67" name="Picture 66"/>
          <p:cNvPicPr/>
          <p:nvPr/>
        </p:nvPicPr>
        <p:blipFill>
          <a:blip r:embed="rId2"/>
          <a:stretch/>
        </p:blipFill>
        <p:spPr>
          <a:xfrm>
            <a:off x="5152320" y="1640520"/>
            <a:ext cx="4426560" cy="3399120"/>
          </a:xfrm>
          <a:prstGeom prst="rect">
            <a:avLst/>
          </a:prstGeom>
          <a:ln w="0">
            <a:noFill/>
          </a:ln>
        </p:spPr>
      </p:pic>
      <p:sp>
        <p:nvSpPr>
          <p:cNvPr id="68" name="PlaceHolder 3"/>
          <p:cNvSpPr>
            <a:spLocks noGrp="1"/>
          </p:cNvSpPr>
          <p:nvPr>
            <p:ph/>
          </p:nvPr>
        </p:nvSpPr>
        <p:spPr>
          <a:xfrm>
            <a:off x="504000" y="3044160"/>
            <a:ext cx="4426560" cy="1567800"/>
          </a:xfrm>
          <a:prstGeom prst="rect">
            <a:avLst/>
          </a:prstGeom>
          <a:noFill/>
          <a:ln w="0">
            <a:solidFill>
              <a:srgbClr val="00A933"/>
            </a:solidFill>
          </a:ln>
        </p:spPr>
        <p:txBody>
          <a:bodyPr lIns="0" tIns="0" rIns="0" bIns="0" anchor="t">
            <a:normAutofit fontScale="69722" lnSpcReduction="20000"/>
          </a:bodyPr>
          <a:lstStyle/>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ea typeface="Noto Sans CJK SC"/>
              </a:rPr>
              <a:t>Incrementally write  user stories on cards</a:t>
            </a:r>
            <a:endParaRPr lang="en-NG" sz="3200" b="0" strike="noStrike" spc="-1" dirty="0">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lang="en-NG" sz="3200" b="0" strike="noStrike" spc="-1" dirty="0">
                <a:solidFill>
                  <a:srgbClr val="000000"/>
                </a:solidFill>
                <a:latin typeface="Arial"/>
                <a:ea typeface="Noto Sans CJK SC"/>
              </a:rPr>
              <a:t>User prioritizes requirements for implementation in the next increment</a:t>
            </a:r>
            <a:endParaRPr lang="en-NG" sz="3200" b="0" strike="noStrike" spc="-1" dirty="0">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rPr>
              <a:t>Take away </a:t>
            </a:r>
          </a:p>
        </p:txBody>
      </p:sp>
      <p:sp>
        <p:nvSpPr>
          <p:cNvPr id="70" name="PlaceHolder 2"/>
          <p:cNvSpPr>
            <a:spLocks noGrp="1"/>
          </p:cNvSpPr>
          <p:nvPr>
            <p:ph/>
          </p:nvPr>
        </p:nvSpPr>
        <p:spPr>
          <a:xfrm>
            <a:off x="504000" y="121176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For business systems where </a:t>
            </a:r>
            <a:r>
              <a:rPr lang="en-NG" sz="3200" b="1" strike="noStrike" spc="-1">
                <a:solidFill>
                  <a:srgbClr val="000000"/>
                </a:solidFill>
                <a:latin typeface="Arial"/>
              </a:rPr>
              <a:t>requirements are unstable</a:t>
            </a:r>
            <a:r>
              <a:rPr lang="en-NG" sz="3200" b="0" strike="noStrike" spc="-1">
                <a:solidFill>
                  <a:srgbClr val="000000"/>
                </a:solidFill>
                <a:latin typeface="Arial"/>
              </a:rPr>
              <a:t>, Agile approach is a good 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504000" y="226080"/>
            <a:ext cx="9071280" cy="67356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rPr>
              <a:t>Users of a Requirements Document</a:t>
            </a:r>
          </a:p>
        </p:txBody>
      </p:sp>
      <p:pic>
        <p:nvPicPr>
          <p:cNvPr id="72" name="Picture 71"/>
          <p:cNvPicPr/>
          <p:nvPr/>
        </p:nvPicPr>
        <p:blipFill>
          <a:blip r:embed="rId2"/>
          <a:stretch/>
        </p:blipFill>
        <p:spPr>
          <a:xfrm>
            <a:off x="1080000" y="1080000"/>
            <a:ext cx="7739640" cy="449964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1800" b="0" strike="noStrike" spc="-1">
              <a:solidFill>
                <a:srgbClr val="000000"/>
              </a:solidFill>
              <a:latin typeface="Arial"/>
            </a:endParaRPr>
          </a:p>
        </p:txBody>
      </p:sp>
      <p:sp>
        <p:nvSpPr>
          <p:cNvPr id="74"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87222" lnSpcReduction="10000"/>
          </a:bodyPr>
          <a:lstStyle/>
          <a:p>
            <a:pPr marL="432000" indent="-324000">
              <a:lnSpc>
                <a:spcPct val="100000"/>
              </a:lnSpc>
              <a:spcBef>
                <a:spcPts val="1417"/>
              </a:spcBef>
              <a:buClr>
                <a:srgbClr val="000000"/>
              </a:buClr>
              <a:buSzPct val="45000"/>
              <a:buFont typeface="Wingdings" charset="2"/>
              <a:buChar char=""/>
            </a:pPr>
            <a:r>
              <a:rPr lang="en-NG" sz="3200" b="1" strike="noStrike" spc="-1">
                <a:solidFill>
                  <a:srgbClr val="000000"/>
                </a:solidFill>
                <a:latin typeface="Arial"/>
              </a:rPr>
              <a:t>The level of detail</a:t>
            </a:r>
            <a:r>
              <a:rPr lang="en-NG" sz="3200" b="0" strike="noStrike" spc="-1">
                <a:solidFill>
                  <a:srgbClr val="000000"/>
                </a:solidFill>
                <a:latin typeface="Arial"/>
              </a:rPr>
              <a:t> that you should include in a requirements document </a:t>
            </a:r>
            <a:r>
              <a:rPr lang="en-NG" sz="3200" b="1" strike="noStrike" spc="-1">
                <a:solidFill>
                  <a:srgbClr val="000000"/>
                </a:solidFill>
                <a:latin typeface="Arial"/>
              </a:rPr>
              <a:t>depends</a:t>
            </a:r>
            <a:r>
              <a:rPr lang="en-NG" sz="3200" b="0" strike="noStrike" spc="-1">
                <a:solidFill>
                  <a:srgbClr val="000000"/>
                </a:solidFill>
                <a:latin typeface="Arial"/>
              </a:rPr>
              <a:t> on the type of system that is being developed and the development process used. Eg:</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Critical systems = </a:t>
            </a:r>
            <a:r>
              <a:rPr lang="en-NG" sz="3200" b="1" strike="noStrike" spc="-1">
                <a:solidFill>
                  <a:srgbClr val="000000"/>
                </a:solidFill>
                <a:latin typeface="Arial"/>
              </a:rPr>
              <a:t>detailed</a:t>
            </a:r>
            <a:r>
              <a:rPr lang="en-NG" sz="3200" b="0" strike="noStrike" spc="-1">
                <a:solidFill>
                  <a:srgbClr val="000000"/>
                </a:solidFill>
                <a:latin typeface="Arial"/>
              </a:rPr>
              <a:t> requirements </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ea typeface="Noto Sans CJK SC"/>
              </a:rPr>
              <a:t>Outsourcing Development= detailed and precise</a:t>
            </a:r>
            <a:endParaRPr lang="en-NG" sz="3200" b="0" strike="noStrike" spc="-1">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ea typeface="Noto Sans CJK SC"/>
              </a:rPr>
              <a:t>inhouse, iterative development= less detailed</a:t>
            </a:r>
            <a:endParaRPr lang="en-NG" sz="3200" b="0" strike="noStrike" spc="-1">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71280" cy="673560"/>
          </a:xfrm>
          <a:prstGeom prst="rect">
            <a:avLst/>
          </a:prstGeom>
          <a:noFill/>
          <a:ln w="0">
            <a:noFill/>
          </a:ln>
        </p:spPr>
        <p:txBody>
          <a:bodyPr lIns="0" tIns="0" rIns="0" bIns="0" anchor="ctr">
            <a:noAutofit/>
          </a:bodyPr>
          <a:lstStyle/>
          <a:p>
            <a:pPr indent="0" algn="ctr">
              <a:lnSpc>
                <a:spcPct val="100000"/>
              </a:lnSpc>
              <a:buNone/>
              <a:tabLst>
                <a:tab pos="0" algn="l"/>
              </a:tabLst>
            </a:pPr>
            <a:r>
              <a:rPr lang="en-NG" sz="2600" b="0" strike="noStrike" spc="-1">
                <a:solidFill>
                  <a:srgbClr val="000000"/>
                </a:solidFill>
                <a:latin typeface="Arial"/>
              </a:rPr>
              <a:t>IEEE Standard for Requirements Documents (IEEE, 1998)</a:t>
            </a:r>
          </a:p>
        </p:txBody>
      </p:sp>
      <p:pic>
        <p:nvPicPr>
          <p:cNvPr id="76" name="Picture 75"/>
          <p:cNvPicPr/>
          <p:nvPr/>
        </p:nvPicPr>
        <p:blipFill>
          <a:blip r:embed="rId2"/>
          <a:stretch/>
        </p:blipFill>
        <p:spPr>
          <a:xfrm>
            <a:off x="360000" y="933120"/>
            <a:ext cx="9179640" cy="446652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p:cNvPicPr/>
          <p:nvPr/>
        </p:nvPicPr>
        <p:blipFill>
          <a:blip r:embed="rId2"/>
          <a:stretch/>
        </p:blipFill>
        <p:spPr>
          <a:xfrm>
            <a:off x="540000" y="360000"/>
            <a:ext cx="9359640" cy="485964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buNone/>
              <a:tabLst>
                <a:tab pos="0" algn="l"/>
              </a:tabLst>
            </a:pPr>
            <a:r>
              <a:rPr lang="en-NG" sz="2600" b="0" strike="noStrike" spc="-1">
                <a:solidFill>
                  <a:srgbClr val="000000"/>
                </a:solidFill>
                <a:latin typeface="Arial"/>
              </a:rPr>
              <a:t>Problems with using natural language for requirements specification</a:t>
            </a:r>
          </a:p>
        </p:txBody>
      </p:sp>
      <p:pic>
        <p:nvPicPr>
          <p:cNvPr id="79" name="Picture 78"/>
          <p:cNvPicPr/>
          <p:nvPr/>
        </p:nvPicPr>
        <p:blipFill>
          <a:blip r:embed="rId2"/>
          <a:stretch/>
        </p:blipFill>
        <p:spPr>
          <a:xfrm>
            <a:off x="360000" y="1260000"/>
            <a:ext cx="9179640" cy="395964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504000" y="226080"/>
            <a:ext cx="9071280" cy="409356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rPr>
              <a:t>Requirements specification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1800" b="0" strike="noStrike" spc="-1">
              <a:solidFill>
                <a:srgbClr val="000000"/>
              </a:solidFill>
              <a:latin typeface="Arial"/>
            </a:endParaRPr>
          </a:p>
        </p:txBody>
      </p:sp>
      <p:sp>
        <p:nvSpPr>
          <p:cNvPr id="82"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Requirements specification is the process of writing down the user and system requirements in a requirements document.</a:t>
            </a:r>
          </a:p>
          <a:p>
            <a:pPr marL="432000" indent="-324000">
              <a:lnSpc>
                <a:spcPct val="100000"/>
              </a:lnSpc>
              <a:spcBef>
                <a:spcPts val="1417"/>
              </a:spcBef>
              <a:buClr>
                <a:srgbClr val="000000"/>
              </a:buClr>
              <a:buSzPct val="45000"/>
              <a:buFont typeface="Wingdings" charset="2"/>
              <a:buChar char=""/>
            </a:pPr>
            <a:r>
              <a:rPr lang="en-NG" sz="2800" b="0" strike="noStrike" spc="-1">
                <a:solidFill>
                  <a:srgbClr val="000000"/>
                </a:solidFill>
                <a:latin typeface="Arial"/>
              </a:rPr>
              <a:t>SRS=User Requirements + System Requirement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417"/>
              </a:spcBef>
              <a:buNone/>
              <a:tabLst>
                <a:tab pos="0" algn="l"/>
              </a:tabLst>
            </a:pPr>
            <a:r>
              <a:rPr lang="en-NG" sz="4400" b="0" strike="noStrike" spc="-1">
                <a:solidFill>
                  <a:srgbClr val="000000"/>
                </a:solidFill>
                <a:latin typeface="Arial"/>
              </a:rPr>
              <a:t>user requirements</a:t>
            </a:r>
          </a:p>
        </p:txBody>
      </p:sp>
      <p:sp>
        <p:nvSpPr>
          <p:cNvPr id="84"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 user requirements for a system should describe the functional and non-functional requirements so that they are understandable by system users who don’t have detailed technical knowledge.</a:t>
            </a:r>
          </a:p>
          <a:p>
            <a:pPr marL="432000" indent="-324000">
              <a:lnSpc>
                <a:spcPct val="100000"/>
              </a:lnSpc>
              <a:spcBef>
                <a:spcPts val="1417"/>
              </a:spcBef>
              <a:buClr>
                <a:srgbClr val="000000"/>
              </a:buClr>
              <a:buSzPct val="45000"/>
              <a:buFont typeface="Wingdings" charset="2"/>
              <a:buChar char=""/>
            </a:pPr>
            <a:r>
              <a:rPr lang="en-NG" sz="2100" b="1" strike="noStrike" spc="-1">
                <a:solidFill>
                  <a:srgbClr val="000000"/>
                </a:solidFill>
                <a:latin typeface="Arial"/>
                <a:ea typeface="Noto Sans CJK SC"/>
              </a:rPr>
              <a:t>user requirements = functional + non-functional - software jargon</a:t>
            </a:r>
            <a:endParaRPr lang="en-NG" sz="210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1800" b="0" strike="noStrike" spc="-1">
              <a:solidFill>
                <a:srgbClr val="000000"/>
              </a:solidFill>
              <a:latin typeface="Arial"/>
            </a:endParaRPr>
          </a:p>
        </p:txBody>
      </p:sp>
      <p:sp>
        <p:nvSpPr>
          <p:cNvPr id="86"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3333"/>
          </a:bodyPr>
          <a:lstStyle/>
          <a:p>
            <a:pPr marL="432000" indent="-324000">
              <a:lnSpc>
                <a:spcPct val="100000"/>
              </a:lnSpc>
              <a:spcBef>
                <a:spcPts val="1417"/>
              </a:spcBef>
              <a:buClr>
                <a:srgbClr val="000000"/>
              </a:buClr>
              <a:buSzPct val="45000"/>
              <a:buFont typeface="Wingdings" charset="2"/>
              <a:buChar char=""/>
            </a:pPr>
            <a:r>
              <a:rPr lang="en-NG" sz="2800" b="0" strike="noStrike" spc="-1">
                <a:solidFill>
                  <a:srgbClr val="000000"/>
                </a:solidFill>
                <a:latin typeface="Arial"/>
              </a:rPr>
              <a:t>Ideally, the user and system requirements should be clear, unambiguous, </a:t>
            </a:r>
            <a:r>
              <a:rPr lang="en-NG" sz="2800" b="1" strike="noStrike" spc="-1">
                <a:solidFill>
                  <a:srgbClr val="000000"/>
                </a:solidFill>
                <a:latin typeface="Arial"/>
              </a:rPr>
              <a:t>easy to understand, complete, and consistent.</a:t>
            </a:r>
            <a:endParaRPr lang="en-NG" sz="2800" b="0" strike="noStrike" spc="-1">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lang="en-NG" sz="2800" b="0" strike="noStrike" spc="-1">
                <a:solidFill>
                  <a:srgbClr val="000000"/>
                </a:solidFill>
                <a:latin typeface="Arial"/>
              </a:rPr>
              <a:t>you should </a:t>
            </a:r>
            <a:r>
              <a:rPr lang="en-NG" sz="2800" b="1" strike="noStrike" spc="-1">
                <a:solidFill>
                  <a:srgbClr val="000000"/>
                </a:solidFill>
                <a:latin typeface="Arial"/>
              </a:rPr>
              <a:t>not use</a:t>
            </a:r>
            <a:r>
              <a:rPr lang="en-NG" sz="2800" b="0" strike="noStrike" spc="-1">
                <a:solidFill>
                  <a:srgbClr val="000000"/>
                </a:solidFill>
                <a:latin typeface="Arial"/>
              </a:rPr>
              <a:t> </a:t>
            </a:r>
            <a:r>
              <a:rPr lang="en-NG" sz="2800" b="1" strike="noStrike" spc="-1">
                <a:solidFill>
                  <a:srgbClr val="FF4000"/>
                </a:solidFill>
                <a:latin typeface="Arial"/>
              </a:rPr>
              <a:t>software jargon, structured notations, or formal notations</a:t>
            </a:r>
            <a:r>
              <a:rPr lang="en-NG" sz="2800" b="0" strike="noStrike" spc="-1">
                <a:solidFill>
                  <a:srgbClr val="000000"/>
                </a:solidFill>
                <a:latin typeface="Arial"/>
              </a:rPr>
              <a:t>.</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You should</a:t>
            </a:r>
            <a:r>
              <a:rPr lang="en-NG" sz="3200" b="1" strike="noStrike" spc="-1">
                <a:solidFill>
                  <a:srgbClr val="000000"/>
                </a:solidFill>
                <a:latin typeface="Arial"/>
              </a:rPr>
              <a:t> use</a:t>
            </a:r>
            <a:r>
              <a:rPr lang="en-NG" sz="3200" b="0" strike="noStrike" spc="-1">
                <a:solidFill>
                  <a:srgbClr val="000000"/>
                </a:solidFill>
                <a:latin typeface="Arial"/>
              </a:rPr>
              <a:t> </a:t>
            </a:r>
            <a:r>
              <a:rPr lang="en-NG" sz="3200" b="1" strike="noStrike" spc="-1">
                <a:solidFill>
                  <a:srgbClr val="00A933"/>
                </a:solidFill>
                <a:latin typeface="Arial"/>
              </a:rPr>
              <a:t>natural language</a:t>
            </a:r>
            <a:r>
              <a:rPr lang="en-NG" sz="3200" b="0" strike="noStrike" spc="-1">
                <a:solidFill>
                  <a:srgbClr val="000000"/>
                </a:solidFill>
                <a:latin typeface="Arial"/>
              </a:rPr>
              <a:t>, </a:t>
            </a:r>
            <a:r>
              <a:rPr lang="en-NG" sz="3200" b="1" strike="noStrike" spc="-1">
                <a:solidFill>
                  <a:srgbClr val="158466"/>
                </a:solidFill>
                <a:latin typeface="Arial"/>
              </a:rPr>
              <a:t>with simple tables</a:t>
            </a:r>
            <a:r>
              <a:rPr lang="en-NG" sz="3200" b="0" strike="noStrike" spc="-1">
                <a:solidFill>
                  <a:srgbClr val="000000"/>
                </a:solidFill>
                <a:latin typeface="Arial"/>
              </a:rPr>
              <a:t>, </a:t>
            </a:r>
            <a:r>
              <a:rPr lang="en-NG" sz="3200" b="1" strike="noStrike" spc="-1">
                <a:solidFill>
                  <a:srgbClr val="00A933"/>
                </a:solidFill>
                <a:latin typeface="Arial"/>
              </a:rPr>
              <a:t>forms, and intuitive diagrams.</a:t>
            </a:r>
            <a:endParaRPr lang="en-NG" sz="3200" b="0" strike="noStrike" spc="-1">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417"/>
              </a:spcBef>
              <a:buNone/>
              <a:tabLst>
                <a:tab pos="0" algn="l"/>
              </a:tabLst>
            </a:pPr>
            <a:r>
              <a:rPr lang="en-NG" sz="4400" b="0" strike="noStrike" spc="-1">
                <a:solidFill>
                  <a:srgbClr val="000000"/>
                </a:solidFill>
                <a:latin typeface="Arial"/>
              </a:rPr>
              <a:t>System requirements</a:t>
            </a:r>
          </a:p>
        </p:txBody>
      </p:sp>
      <p:sp>
        <p:nvSpPr>
          <p:cNvPr id="88"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System requirements are </a:t>
            </a:r>
            <a:r>
              <a:rPr lang="en-NG" sz="3200" b="1" strike="noStrike" spc="-1">
                <a:solidFill>
                  <a:srgbClr val="000000"/>
                </a:solidFill>
                <a:latin typeface="Arial"/>
              </a:rPr>
              <a:t>expanded versions</a:t>
            </a:r>
            <a:r>
              <a:rPr lang="en-NG" sz="3200" b="0" strike="noStrike" spc="-1">
                <a:solidFill>
                  <a:srgbClr val="000000"/>
                </a:solidFill>
                <a:latin typeface="Arial"/>
              </a:rPr>
              <a:t> of the </a:t>
            </a:r>
            <a:r>
              <a:rPr lang="en-NG" sz="3200" b="1" strike="noStrike" spc="-1">
                <a:solidFill>
                  <a:srgbClr val="000000"/>
                </a:solidFill>
                <a:latin typeface="Arial"/>
              </a:rPr>
              <a:t>user requirements</a:t>
            </a:r>
            <a:r>
              <a:rPr lang="en-NG" sz="3200" b="0" strike="noStrike" spc="-1">
                <a:solidFill>
                  <a:srgbClr val="000000"/>
                </a:solidFill>
                <a:latin typeface="Arial"/>
              </a:rPr>
              <a:t> that are used by software engineers as the starting point for the system design</a:t>
            </a:r>
          </a:p>
          <a:p>
            <a:pPr marL="432000" indent="-324000">
              <a:lnSpc>
                <a:spcPct val="100000"/>
              </a:lnSpc>
              <a:spcBef>
                <a:spcPts val="1417"/>
              </a:spcBef>
              <a:buClr>
                <a:srgbClr val="000000"/>
              </a:buClr>
              <a:buSzPct val="45000"/>
              <a:buFont typeface="Wingdings" charset="2"/>
              <a:buChar char=""/>
            </a:pPr>
            <a:r>
              <a:rPr lang="en-NG" sz="1800" b="1" strike="noStrike" spc="-1">
                <a:solidFill>
                  <a:srgbClr val="000000"/>
                </a:solidFill>
                <a:latin typeface="Arial"/>
                <a:ea typeface="Noto Sans CJK SC"/>
              </a:rPr>
              <a:t>System requirements = user requirements + More Details + software jargon</a:t>
            </a:r>
            <a:endParaRPr lang="en-NG" sz="1800" b="0" strike="noStrike" spc="-1">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lnSpc>
                <a:spcPct val="100000"/>
              </a:lnSpc>
              <a:spcBef>
                <a:spcPts val="1417"/>
              </a:spcBef>
              <a:buNone/>
              <a:tabLst>
                <a:tab pos="0" algn="l"/>
              </a:tabLst>
            </a:pPr>
            <a:r>
              <a:rPr lang="en-NG" sz="4400" b="0" strike="noStrike" spc="-1">
                <a:solidFill>
                  <a:srgbClr val="000000"/>
                </a:solidFill>
                <a:latin typeface="Arial"/>
              </a:rPr>
              <a:t>System requirements</a:t>
            </a:r>
          </a:p>
        </p:txBody>
      </p:sp>
      <p:sp>
        <p:nvSpPr>
          <p:cNvPr id="90"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6666"/>
          </a:bodyPr>
          <a:lstStyle/>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They add detail and explain how the user requirements should be provided by the system. </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They may be used as part of the contract for the implementation </a:t>
            </a:r>
          </a:p>
          <a:p>
            <a:pPr marL="432000" indent="-324000">
              <a:lnSpc>
                <a:spcPct val="100000"/>
              </a:lnSpc>
              <a:spcBef>
                <a:spcPts val="1417"/>
              </a:spcBef>
              <a:buClr>
                <a:srgbClr val="000000"/>
              </a:buClr>
              <a:buSzPct val="45000"/>
              <a:buFont typeface="Wingdings" charset="2"/>
              <a:buChar char=""/>
            </a:pPr>
            <a:r>
              <a:rPr lang="en-NG" sz="3200" b="0" strike="noStrike" spc="-1">
                <a:solidFill>
                  <a:srgbClr val="000000"/>
                </a:solidFill>
                <a:latin typeface="Arial"/>
              </a:rPr>
              <a:t>They should not be concerned with how the system should be designed or implemented.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71280" cy="673560"/>
          </a:xfrm>
          <a:prstGeom prst="rect">
            <a:avLst/>
          </a:prstGeom>
          <a:noFill/>
          <a:ln w="0">
            <a:noFill/>
          </a:ln>
        </p:spPr>
        <p:txBody>
          <a:bodyPr lIns="0" tIns="0" rIns="0" bIns="0" anchor="ctr">
            <a:noAutofit/>
          </a:bodyPr>
          <a:lstStyle/>
          <a:p>
            <a:pPr indent="0" algn="ctr">
              <a:lnSpc>
                <a:spcPct val="100000"/>
              </a:lnSpc>
              <a:buNone/>
              <a:tabLst>
                <a:tab pos="0" algn="l"/>
              </a:tabLst>
            </a:pPr>
            <a:r>
              <a:rPr lang="en-NG" sz="2500" b="0" strike="noStrike" spc="-1">
                <a:solidFill>
                  <a:srgbClr val="000000"/>
                </a:solidFill>
                <a:latin typeface="Arial"/>
              </a:rPr>
              <a:t>Ways of writing a system requirements specification</a:t>
            </a:r>
          </a:p>
        </p:txBody>
      </p:sp>
      <p:pic>
        <p:nvPicPr>
          <p:cNvPr id="92" name="Picture 91"/>
          <p:cNvPicPr/>
          <p:nvPr/>
        </p:nvPicPr>
        <p:blipFill>
          <a:blip r:embed="rId2"/>
          <a:stretch/>
        </p:blipFill>
        <p:spPr>
          <a:xfrm>
            <a:off x="360000" y="1080000"/>
            <a:ext cx="9539640" cy="4139640"/>
          </a:xfrm>
          <a:prstGeom prst="rect">
            <a:avLst/>
          </a:prstGeom>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94"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93740" lnSpcReduction="10000"/>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User requirements are almost always written in </a:t>
            </a:r>
            <a:r>
              <a:rPr lang="en-NG" sz="3200" b="1" strike="noStrike" spc="-1">
                <a:solidFill>
                  <a:srgbClr val="000000"/>
                </a:solidFill>
                <a:latin typeface="Arial"/>
              </a:rPr>
              <a:t>natural language</a:t>
            </a:r>
            <a:r>
              <a:rPr lang="en-NG" sz="3200" b="0" strike="noStrike" spc="-1">
                <a:solidFill>
                  <a:srgbClr val="000000"/>
                </a:solidFill>
                <a:latin typeface="Arial"/>
              </a:rPr>
              <a:t> </a:t>
            </a:r>
            <a:r>
              <a:rPr lang="en-NG" sz="3200" b="1" strike="noStrike" spc="-1">
                <a:solidFill>
                  <a:srgbClr val="000000"/>
                </a:solidFill>
                <a:latin typeface="Arial"/>
              </a:rPr>
              <a:t>supplemented by appropriate diagrams</a:t>
            </a:r>
            <a:r>
              <a:rPr lang="en-NG" sz="3200" b="0" strike="noStrike" spc="-1">
                <a:solidFill>
                  <a:srgbClr val="000000"/>
                </a:solidFill>
                <a:latin typeface="Arial"/>
              </a:rPr>
              <a:t> and </a:t>
            </a:r>
            <a:r>
              <a:rPr lang="en-NG" sz="3200" b="1" strike="noStrike" spc="-1">
                <a:solidFill>
                  <a:srgbClr val="000000"/>
                </a:solidFill>
                <a:latin typeface="Arial"/>
              </a:rPr>
              <a:t>tables</a:t>
            </a:r>
            <a:r>
              <a:rPr lang="en-NG" sz="3200" b="0" strike="noStrike" spc="-1">
                <a:solidFill>
                  <a:srgbClr val="000000"/>
                </a:solidFill>
                <a:latin typeface="Arial"/>
              </a:rPr>
              <a:t> in the requirements document.</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System requirements may also be written in natural language </a:t>
            </a:r>
            <a:r>
              <a:rPr lang="en-NG" sz="3200" b="1" strike="noStrike" spc="-1">
                <a:solidFill>
                  <a:srgbClr val="000000"/>
                </a:solidFill>
                <a:latin typeface="Arial"/>
              </a:rPr>
              <a:t>but other notations</a:t>
            </a:r>
            <a:r>
              <a:rPr lang="en-NG" sz="3200" b="0" strike="noStrike" spc="-1">
                <a:solidFill>
                  <a:srgbClr val="000000"/>
                </a:solidFill>
                <a:latin typeface="Arial"/>
              </a:rPr>
              <a:t> based on forms, </a:t>
            </a:r>
            <a:r>
              <a:rPr lang="en-NG" sz="3200" b="1" strike="noStrike" spc="-1">
                <a:solidFill>
                  <a:srgbClr val="000000"/>
                </a:solidFill>
                <a:latin typeface="Arial"/>
              </a:rPr>
              <a:t>graphical system models, or mathematical system models</a:t>
            </a:r>
            <a:r>
              <a:rPr lang="en-NG" sz="3200" b="0" strike="noStrike" spc="-1">
                <a:solidFill>
                  <a:srgbClr val="000000"/>
                </a:solidFill>
                <a:latin typeface="Arial"/>
              </a:rPr>
              <a:t> can also be used.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96"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96865"/>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Graphical models are most useful when you need to show how a </a:t>
            </a:r>
            <a:r>
              <a:rPr lang="en-NG" sz="3200" b="1" strike="noStrike" spc="-1">
                <a:solidFill>
                  <a:srgbClr val="000000"/>
                </a:solidFill>
                <a:latin typeface="Arial"/>
              </a:rPr>
              <a:t>state changes </a:t>
            </a:r>
            <a:r>
              <a:rPr lang="en-NG" sz="3200" b="0" strike="noStrike" spc="-1">
                <a:solidFill>
                  <a:srgbClr val="000000"/>
                </a:solidFill>
                <a:latin typeface="Arial"/>
              </a:rPr>
              <a:t>or when you need to describe a </a:t>
            </a:r>
            <a:r>
              <a:rPr lang="en-NG" sz="3200" b="1" strike="noStrike" spc="-1">
                <a:solidFill>
                  <a:srgbClr val="000000"/>
                </a:solidFill>
                <a:latin typeface="Arial"/>
              </a:rPr>
              <a:t>sequence of actions </a:t>
            </a:r>
            <a:r>
              <a:rPr lang="en-NG" sz="3200" b="0" strike="noStrike" spc="-1">
                <a:solidFill>
                  <a:srgbClr val="000000"/>
                </a:solidFill>
                <a:latin typeface="Arial"/>
              </a:rPr>
              <a:t>eg UML</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Formal mathematical specifications are sometimes used to describe the requirements for </a:t>
            </a:r>
            <a:r>
              <a:rPr lang="en-NG" sz="3200" b="1" strike="noStrike" spc="-1">
                <a:solidFill>
                  <a:srgbClr val="000000"/>
                </a:solidFill>
                <a:latin typeface="Arial"/>
              </a:rPr>
              <a:t>safety- or security-critical systems</a:t>
            </a:r>
            <a:r>
              <a:rPr lang="en-NG" sz="3200" b="0" strike="noStrike" spc="-1">
                <a:solidFill>
                  <a:srgbClr val="000000"/>
                </a:solidFill>
                <a:latin typeface="Arial"/>
              </a:rPr>
              <a:t>, but are </a:t>
            </a:r>
            <a:r>
              <a:rPr lang="en-NG" sz="3200" b="1" strike="noStrike" spc="-1">
                <a:solidFill>
                  <a:srgbClr val="000000"/>
                </a:solidFill>
                <a:latin typeface="Arial"/>
              </a:rPr>
              <a:t>rarely used in other circumstances</a:t>
            </a:r>
            <a:r>
              <a:rPr lang="en-NG" sz="3200" b="0" strike="noStrike" spc="-1">
                <a:solidFill>
                  <a:srgbClr val="000000"/>
                </a:solidFill>
                <a:latin typeface="Arial"/>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r>
              <a:rPr lang="en-NG" sz="4400" b="0" strike="noStrike" spc="-1">
                <a:solidFill>
                  <a:srgbClr val="000000"/>
                </a:solidFill>
                <a:latin typeface="Arial"/>
              </a:rPr>
              <a:t>Natural language specification</a:t>
            </a:r>
          </a:p>
        </p:txBody>
      </p:sp>
      <p:sp>
        <p:nvSpPr>
          <p:cNvPr id="98"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96865" lnSpcReduction="10000"/>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Natural language has been used to write requirements for software since the beginning of software engineering. </a:t>
            </a:r>
          </a:p>
          <a:p>
            <a:pPr marL="432000" indent="-324000">
              <a:spcBef>
                <a:spcPts val="1417"/>
              </a:spcBef>
              <a:buClr>
                <a:srgbClr val="000000"/>
              </a:buClr>
              <a:buSzPct val="45000"/>
              <a:buFont typeface="Wingdings" charset="2"/>
              <a:buChar char=""/>
            </a:pPr>
            <a:r>
              <a:rPr lang="en-NG" sz="3200" b="0" strike="noStrike" spc="-1">
                <a:solidFill>
                  <a:srgbClr val="00A933"/>
                </a:solidFill>
                <a:latin typeface="Arial"/>
              </a:rPr>
              <a:t>It is expressive, intuitive, and universal.</a:t>
            </a:r>
            <a:endParaRPr lang="en-NG" sz="3200" b="0" strike="noStrike" spc="-1">
              <a:solidFill>
                <a:srgbClr val="000000"/>
              </a:solidFill>
              <a:latin typeface="Arial"/>
            </a:endParaRPr>
          </a:p>
          <a:p>
            <a:pPr marL="432000" indent="-324000">
              <a:spcBef>
                <a:spcPts val="1417"/>
              </a:spcBef>
              <a:buClr>
                <a:srgbClr val="000000"/>
              </a:buClr>
              <a:buSzPct val="45000"/>
              <a:buFont typeface="Wingdings" charset="2"/>
              <a:buChar char=""/>
            </a:pPr>
            <a:r>
              <a:rPr lang="en-NG" sz="3200" b="0" strike="noStrike" spc="-1">
                <a:solidFill>
                  <a:srgbClr val="FF0000"/>
                </a:solidFill>
                <a:latin typeface="Arial"/>
              </a:rPr>
              <a:t>It is also potentially vague, ambiguous, and its meaning depends on the background of the reader</a:t>
            </a:r>
            <a:endParaRPr lang="en-NG" sz="3200" b="0" strike="noStrike" spc="-1">
              <a:solidFill>
                <a:srgbClr val="000000"/>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r>
              <a:rPr lang="en-NG" sz="2400" b="1" strike="noStrike" spc="-1">
                <a:solidFill>
                  <a:srgbClr val="000000"/>
                </a:solidFill>
                <a:latin typeface="Arial"/>
              </a:rPr>
              <a:t>To minimize misunderstandings when writing natural language requirement</a:t>
            </a:r>
          </a:p>
        </p:txBody>
      </p:sp>
      <p:sp>
        <p:nvSpPr>
          <p:cNvPr id="100"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76243" lnSpcReduction="10000"/>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Invent a standard format(eg</a:t>
            </a:r>
            <a:r>
              <a:rPr lang="en-NG" sz="3200" b="1" strike="noStrike" spc="-1">
                <a:solidFill>
                  <a:srgbClr val="000000"/>
                </a:solidFill>
                <a:latin typeface="Arial"/>
              </a:rPr>
              <a:t> 1 requirment : 1 sentence</a:t>
            </a:r>
            <a:r>
              <a:rPr lang="en-NG" sz="3200" b="0" strike="noStrike" spc="-1">
                <a:solidFill>
                  <a:srgbClr val="000000"/>
                </a:solidFill>
                <a:latin typeface="Arial"/>
              </a:rPr>
              <a:t>)</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Use language consistently (eg </a:t>
            </a:r>
            <a:r>
              <a:rPr lang="en-NG" sz="3200" b="1" strike="noStrike" spc="-1">
                <a:solidFill>
                  <a:srgbClr val="000000"/>
                </a:solidFill>
                <a:latin typeface="Arial"/>
              </a:rPr>
              <a:t>‘shall’ for must have</a:t>
            </a:r>
            <a:r>
              <a:rPr lang="en-NG" sz="3200" b="0" strike="noStrike" spc="-1">
                <a:solidFill>
                  <a:srgbClr val="000000"/>
                </a:solidFill>
                <a:latin typeface="Arial"/>
              </a:rPr>
              <a:t>)</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Use text </a:t>
            </a:r>
            <a:r>
              <a:rPr lang="en-NG" sz="3200" b="0" strike="noStrike" spc="-1">
                <a:solidFill>
                  <a:srgbClr val="000000"/>
                </a:solidFill>
                <a:highlight>
                  <a:srgbClr val="FFFF00"/>
                </a:highlight>
                <a:latin typeface="Arial"/>
              </a:rPr>
              <a:t>highlighting</a:t>
            </a:r>
            <a:r>
              <a:rPr lang="en-NG" sz="3200" b="0" strike="noStrike" spc="-1">
                <a:solidFill>
                  <a:srgbClr val="000000"/>
                </a:solidFill>
                <a:latin typeface="Arial"/>
              </a:rPr>
              <a:t> (bold, italic, or color) to pick out </a:t>
            </a:r>
            <a:r>
              <a:rPr lang="en-NG" sz="3200" b="0" strike="noStrike" spc="-1">
                <a:solidFill>
                  <a:srgbClr val="000000"/>
                </a:solidFill>
                <a:highlight>
                  <a:srgbClr val="FFFF00"/>
                </a:highlight>
                <a:latin typeface="Arial"/>
              </a:rPr>
              <a:t>key parts</a:t>
            </a:r>
            <a:r>
              <a:rPr lang="en-NG" sz="3200" b="0" strike="noStrike" spc="-1">
                <a:solidFill>
                  <a:srgbClr val="000000"/>
                </a:solidFill>
                <a:latin typeface="Arial"/>
              </a:rPr>
              <a:t> of the </a:t>
            </a:r>
            <a:r>
              <a:rPr lang="en-NG" sz="3200" b="0" strike="noStrike" spc="-1">
                <a:solidFill>
                  <a:srgbClr val="000000"/>
                </a:solidFill>
                <a:highlight>
                  <a:srgbClr val="FFFF00"/>
                </a:highlight>
                <a:latin typeface="Arial"/>
              </a:rPr>
              <a:t>requirement</a:t>
            </a:r>
            <a:r>
              <a:rPr lang="en-NG" sz="3200" b="0" strike="noStrike" spc="-1">
                <a:solidFill>
                  <a:srgbClr val="000000"/>
                </a:solidFill>
                <a:latin typeface="Arial"/>
              </a:rPr>
              <a:t>.</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Do not assume that readers understand technical software engineering language(words like ‘architecture’ and ‘module’)</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Whenever possible, you should try to </a:t>
            </a:r>
            <a:r>
              <a:rPr lang="en-NG" sz="3200" b="1" strike="noStrike" spc="-1">
                <a:solidFill>
                  <a:srgbClr val="000000"/>
                </a:solidFill>
                <a:latin typeface="Arial"/>
              </a:rPr>
              <a:t>associate a rationale</a:t>
            </a:r>
            <a:r>
              <a:rPr lang="en-NG" sz="3200" b="0" strike="noStrike" spc="-1">
                <a:solidFill>
                  <a:srgbClr val="000000"/>
                </a:solidFill>
                <a:latin typeface="Arial"/>
              </a:rPr>
              <a:t> with each user requirement(</a:t>
            </a:r>
            <a:r>
              <a:rPr lang="en-NG" sz="3200" b="1" strike="noStrike" spc="-1">
                <a:solidFill>
                  <a:srgbClr val="000000"/>
                </a:solidFill>
                <a:latin typeface="Arial"/>
              </a:rPr>
              <a:t>Why The Reuirement</a:t>
            </a:r>
            <a:r>
              <a:rPr lang="en-NG" sz="3200" b="0" strike="noStrike" spc="-1">
                <a:solidFill>
                  <a:srgbClr val="000000"/>
                </a:solidFill>
                <a:latin typeface="Arial"/>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r>
              <a:rPr lang="en-NG" sz="2400" b="1" strike="noStrike" spc="-1">
                <a:solidFill>
                  <a:srgbClr val="000000"/>
                </a:solidFill>
                <a:latin typeface="Arial"/>
              </a:rPr>
              <a:t>Example requirements for the insulin pump software system</a:t>
            </a:r>
          </a:p>
        </p:txBody>
      </p:sp>
      <p:pic>
        <p:nvPicPr>
          <p:cNvPr id="102" name="Picture 101"/>
          <p:cNvPicPr/>
          <p:nvPr/>
        </p:nvPicPr>
        <p:blipFill>
          <a:blip r:embed="rId2"/>
          <a:stretch/>
        </p:blipFill>
        <p:spPr>
          <a:xfrm>
            <a:off x="720000" y="1260000"/>
            <a:ext cx="8820000" cy="3780000"/>
          </a:xfrm>
          <a:prstGeom prst="rect">
            <a:avLst/>
          </a:prstGeom>
          <a:ln w="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r>
              <a:rPr lang="en-NG" sz="4400" b="0" strike="noStrike" spc="-1">
                <a:solidFill>
                  <a:srgbClr val="000000"/>
                </a:solidFill>
                <a:latin typeface="Arial"/>
              </a:rPr>
              <a:t>Structured specifications</a:t>
            </a:r>
          </a:p>
        </p:txBody>
      </p:sp>
      <p:sp>
        <p:nvSpPr>
          <p:cNvPr id="104"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85304" lnSpcReduction="20000"/>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Structured natural language is a way of writing system requirements where the </a:t>
            </a:r>
            <a:r>
              <a:rPr lang="en-NG" sz="3200" b="1" strike="noStrike" spc="-1">
                <a:solidFill>
                  <a:srgbClr val="000000"/>
                </a:solidFill>
                <a:latin typeface="Arial"/>
              </a:rPr>
              <a:t>freedom </a:t>
            </a:r>
            <a:r>
              <a:rPr lang="en-NG" sz="3200" b="0" strike="noStrike" spc="-1">
                <a:solidFill>
                  <a:srgbClr val="000000"/>
                </a:solidFill>
                <a:latin typeface="Arial"/>
              </a:rPr>
              <a:t>of the requirements writer is </a:t>
            </a:r>
            <a:r>
              <a:rPr lang="en-NG" sz="3200" b="1" strike="noStrike" spc="-1">
                <a:solidFill>
                  <a:srgbClr val="000000"/>
                </a:solidFill>
                <a:latin typeface="Arial"/>
              </a:rPr>
              <a:t>limited</a:t>
            </a:r>
            <a:r>
              <a:rPr lang="en-NG" sz="3200" b="0" strike="noStrike" spc="-1">
                <a:solidFill>
                  <a:srgbClr val="000000"/>
                </a:solidFill>
                <a:latin typeface="Arial"/>
              </a:rPr>
              <a:t> and all </a:t>
            </a:r>
            <a:r>
              <a:rPr lang="en-NG" sz="3200" b="1" strike="noStrike" spc="-1">
                <a:solidFill>
                  <a:srgbClr val="000000"/>
                </a:solidFill>
                <a:latin typeface="Arial"/>
              </a:rPr>
              <a:t>requirements are written in a standard way</a:t>
            </a:r>
            <a:r>
              <a:rPr lang="en-NG" sz="3200" b="0" strike="noStrike" spc="-1">
                <a:solidFill>
                  <a:srgbClr val="000000"/>
                </a:solidFill>
                <a:latin typeface="Arial"/>
              </a:rPr>
              <a:t>.</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This approach </a:t>
            </a:r>
            <a:r>
              <a:rPr lang="en-NG" sz="3200" b="1" strike="noStrike" spc="-1">
                <a:solidFill>
                  <a:srgbClr val="000000"/>
                </a:solidFill>
                <a:latin typeface="Arial"/>
              </a:rPr>
              <a:t>maintains most of the expressiveness and understandability</a:t>
            </a:r>
            <a:r>
              <a:rPr lang="en-NG" sz="3200" b="0" strike="noStrike" spc="-1">
                <a:solidFill>
                  <a:srgbClr val="000000"/>
                </a:solidFill>
                <a:latin typeface="Arial"/>
              </a:rPr>
              <a:t> of natural language but ensures that some </a:t>
            </a:r>
            <a:r>
              <a:rPr lang="en-NG" sz="3200" b="1" strike="noStrike" spc="-1">
                <a:solidFill>
                  <a:srgbClr val="000000"/>
                </a:solidFill>
                <a:latin typeface="Arial"/>
              </a:rPr>
              <a:t>uniformity is imposed</a:t>
            </a:r>
            <a:r>
              <a:rPr lang="en-NG" sz="3200" b="0" strike="noStrike" spc="-1">
                <a:solidFill>
                  <a:srgbClr val="000000"/>
                </a:solidFill>
                <a:latin typeface="Arial"/>
              </a:rPr>
              <a:t> on the specification.</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Structured language notations use </a:t>
            </a:r>
            <a:r>
              <a:rPr lang="en-NG" sz="3200" b="1" strike="noStrike" spc="-1">
                <a:solidFill>
                  <a:srgbClr val="000000"/>
                </a:solidFill>
                <a:latin typeface="Arial"/>
              </a:rPr>
              <a:t>templates</a:t>
            </a:r>
            <a:r>
              <a:rPr lang="en-NG" sz="3200" b="0" strike="noStrike" spc="-1">
                <a:solidFill>
                  <a:srgbClr val="000000"/>
                </a:solidFill>
                <a:latin typeface="Arial"/>
              </a:rPr>
              <a:t> to specify system requirements.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504000" y="226080"/>
            <a:ext cx="9071280" cy="853920"/>
          </a:xfrm>
          <a:prstGeom prst="rect">
            <a:avLst/>
          </a:prstGeom>
          <a:noFill/>
          <a:ln w="0">
            <a:noFill/>
          </a:ln>
        </p:spPr>
        <p:txBody>
          <a:bodyPr lIns="0" tIns="0" rIns="0" bIns="0" anchor="ctr">
            <a:noAutofit/>
          </a:bodyPr>
          <a:lstStyle/>
          <a:p>
            <a:pPr indent="0" algn="ctr">
              <a:buNone/>
            </a:pPr>
            <a:r>
              <a:rPr lang="en-NG" sz="2600" b="0" strike="noStrike" spc="-1">
                <a:solidFill>
                  <a:srgbClr val="000000"/>
                </a:solidFill>
                <a:latin typeface="Arial"/>
              </a:rPr>
              <a:t>A structured specification of a requirement for an insulin pump</a:t>
            </a:r>
          </a:p>
        </p:txBody>
      </p:sp>
      <p:pic>
        <p:nvPicPr>
          <p:cNvPr id="106" name="Picture 105"/>
          <p:cNvPicPr/>
          <p:nvPr/>
        </p:nvPicPr>
        <p:blipFill>
          <a:blip r:embed="rId2"/>
          <a:stretch/>
        </p:blipFill>
        <p:spPr>
          <a:xfrm>
            <a:off x="720000" y="1137960"/>
            <a:ext cx="8820000" cy="4262040"/>
          </a:xfrm>
          <a:prstGeom prst="rect">
            <a:avLst/>
          </a:prstGeom>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spcBef>
                <a:spcPts val="1417"/>
              </a:spcBef>
              <a:buNone/>
            </a:pPr>
            <a:r>
              <a:rPr lang="en-NG" sz="2600" b="0" strike="noStrike" spc="-1">
                <a:solidFill>
                  <a:srgbClr val="000000"/>
                </a:solidFill>
                <a:latin typeface="Arial"/>
                <a:ea typeface="Noto Sans CJK SC"/>
              </a:rPr>
              <a:t>The Robertsons (Robertson and Robertson, 1999) Book </a:t>
            </a:r>
            <a:r>
              <a:rPr lang="en-NG" sz="2600" b="1" strike="noStrike" spc="-1">
                <a:solidFill>
                  <a:srgbClr val="000000"/>
                </a:solidFill>
                <a:latin typeface="Arial"/>
              </a:rPr>
              <a:t>recommend</a:t>
            </a:r>
            <a:endParaRPr lang="en-NG" sz="2600" b="0" strike="noStrike" spc="-1">
              <a:solidFill>
                <a:srgbClr val="000000"/>
              </a:solidFill>
              <a:latin typeface="Arial"/>
            </a:endParaRPr>
          </a:p>
        </p:txBody>
      </p:sp>
      <p:sp>
        <p:nvSpPr>
          <p:cNvPr id="108"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96865"/>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 that user requirements be initially written on cards, one requirement per card.</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They suggest a number of fields on each card, such as the </a:t>
            </a:r>
            <a:r>
              <a:rPr lang="en-NG" sz="3200" b="1" strike="noStrike" spc="-1">
                <a:solidFill>
                  <a:srgbClr val="000000"/>
                </a:solidFill>
                <a:latin typeface="Arial"/>
              </a:rPr>
              <a:t>requirements rationale</a:t>
            </a:r>
            <a:r>
              <a:rPr lang="en-NG" sz="3200" b="0" strike="noStrike" spc="-1">
                <a:solidFill>
                  <a:srgbClr val="000000"/>
                </a:solidFill>
                <a:latin typeface="Arial"/>
              </a:rPr>
              <a:t>, the </a:t>
            </a:r>
            <a:r>
              <a:rPr lang="en-NG" sz="3200" b="1" strike="noStrike" spc="-1">
                <a:solidFill>
                  <a:srgbClr val="000000"/>
                </a:solidFill>
                <a:latin typeface="Arial"/>
              </a:rPr>
              <a:t>dependencies on other requirements</a:t>
            </a:r>
            <a:r>
              <a:rPr lang="en-NG" sz="3200" b="0" strike="noStrike" spc="-1">
                <a:solidFill>
                  <a:srgbClr val="000000"/>
                </a:solidFill>
                <a:latin typeface="Arial"/>
              </a:rPr>
              <a:t>, the </a:t>
            </a:r>
            <a:r>
              <a:rPr lang="en-NG" sz="3200" b="1" strike="noStrike" spc="-1">
                <a:solidFill>
                  <a:srgbClr val="000000"/>
                </a:solidFill>
                <a:latin typeface="Arial"/>
              </a:rPr>
              <a:t>source of the requirements</a:t>
            </a:r>
            <a:r>
              <a:rPr lang="en-NG" sz="3200" b="0" strike="noStrike" spc="-1">
                <a:solidFill>
                  <a:srgbClr val="000000"/>
                </a:solidFill>
                <a:latin typeface="Arial"/>
              </a:rPr>
              <a:t>, </a:t>
            </a:r>
            <a:r>
              <a:rPr lang="en-NG" sz="3200" b="1" strike="noStrike" spc="-1">
                <a:solidFill>
                  <a:srgbClr val="000000"/>
                </a:solidFill>
                <a:latin typeface="Arial"/>
              </a:rPr>
              <a:t>supporting materials</a:t>
            </a:r>
            <a:endParaRPr lang="en-NG" sz="3200" b="0" strike="noStrike" spc="-1">
              <a:solidFill>
                <a:srgbClr val="000000"/>
              </a:solidFill>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r>
              <a:rPr lang="en-NG" sz="2400" b="0" strike="noStrike" spc="-1">
                <a:solidFill>
                  <a:srgbClr val="000000"/>
                </a:solidFill>
                <a:latin typeface="Arial"/>
              </a:rPr>
              <a:t>To Use standard form  for specifying functional requirements included:</a:t>
            </a:r>
          </a:p>
        </p:txBody>
      </p:sp>
      <p:sp>
        <p:nvSpPr>
          <p:cNvPr id="110"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63744" lnSpcReduction="20000"/>
          </a:bodyPr>
          <a:lstStyle/>
          <a:p>
            <a:pPr marL="432000" indent="-324000">
              <a:spcBef>
                <a:spcPts val="1417"/>
              </a:spcBef>
              <a:buClr>
                <a:srgbClr val="000000"/>
              </a:buClr>
              <a:buFont typeface="OpenSymbol"/>
              <a:buAutoNum type="arabicPeriod"/>
            </a:pPr>
            <a:r>
              <a:rPr lang="en-NG" sz="3200" b="0" strike="noStrike" spc="-1">
                <a:solidFill>
                  <a:srgbClr val="000000"/>
                </a:solidFill>
                <a:latin typeface="Arial"/>
              </a:rPr>
              <a:t>A </a:t>
            </a:r>
            <a:r>
              <a:rPr lang="en-NG" sz="3200" b="1" strike="noStrike" spc="-1">
                <a:solidFill>
                  <a:srgbClr val="000000"/>
                </a:solidFill>
                <a:latin typeface="Arial"/>
              </a:rPr>
              <a:t>description of the function or entity</a:t>
            </a:r>
            <a:r>
              <a:rPr lang="en-NG" sz="3200" b="0" strike="noStrike" spc="-1">
                <a:solidFill>
                  <a:srgbClr val="000000"/>
                </a:solidFill>
                <a:latin typeface="Arial"/>
              </a:rPr>
              <a:t> being specified.</a:t>
            </a:r>
          </a:p>
          <a:p>
            <a:pPr marL="432000" indent="-324000">
              <a:spcBef>
                <a:spcPts val="1417"/>
              </a:spcBef>
              <a:buClr>
                <a:srgbClr val="000000"/>
              </a:buClr>
              <a:buFont typeface="OpenSymbol"/>
              <a:buAutoNum type="arabicPeriod"/>
            </a:pPr>
            <a:r>
              <a:rPr lang="en-NG" sz="3200" b="0" strike="noStrike" spc="-1">
                <a:solidFill>
                  <a:srgbClr val="000000"/>
                </a:solidFill>
                <a:latin typeface="Arial"/>
              </a:rPr>
              <a:t>A </a:t>
            </a:r>
            <a:r>
              <a:rPr lang="en-NG" sz="3200" b="1" strike="noStrike" spc="-1">
                <a:solidFill>
                  <a:srgbClr val="000000"/>
                </a:solidFill>
                <a:latin typeface="Arial"/>
              </a:rPr>
              <a:t>description of its inputs</a:t>
            </a:r>
            <a:r>
              <a:rPr lang="en-NG" sz="3200" b="0" strike="noStrike" spc="-1">
                <a:solidFill>
                  <a:srgbClr val="000000"/>
                </a:solidFill>
                <a:latin typeface="Arial"/>
              </a:rPr>
              <a:t> and where these </a:t>
            </a:r>
            <a:r>
              <a:rPr lang="en-NG" sz="3200" b="1" strike="noStrike" spc="-1">
                <a:solidFill>
                  <a:srgbClr val="000000"/>
                </a:solidFill>
                <a:latin typeface="Arial"/>
              </a:rPr>
              <a:t>come from</a:t>
            </a:r>
            <a:r>
              <a:rPr lang="en-NG" sz="3200" b="0" strike="noStrike" spc="-1">
                <a:solidFill>
                  <a:srgbClr val="000000"/>
                </a:solidFill>
                <a:latin typeface="Arial"/>
              </a:rPr>
              <a:t>.</a:t>
            </a:r>
          </a:p>
          <a:p>
            <a:pPr marL="432000" indent="-324000">
              <a:spcBef>
                <a:spcPts val="1417"/>
              </a:spcBef>
              <a:buClr>
                <a:srgbClr val="000000"/>
              </a:buClr>
              <a:buFont typeface="OpenSymbol"/>
              <a:buAutoNum type="arabicPeriod"/>
            </a:pPr>
            <a:r>
              <a:rPr lang="en-NG" sz="3200" b="0" strike="noStrike" spc="-1">
                <a:solidFill>
                  <a:srgbClr val="000000"/>
                </a:solidFill>
                <a:latin typeface="Arial"/>
              </a:rPr>
              <a:t>A </a:t>
            </a:r>
            <a:r>
              <a:rPr lang="en-NG" sz="3200" b="1" strike="noStrike" spc="-1">
                <a:solidFill>
                  <a:srgbClr val="000000"/>
                </a:solidFill>
                <a:latin typeface="Arial"/>
              </a:rPr>
              <a:t>description of its outputs</a:t>
            </a:r>
            <a:r>
              <a:rPr lang="en-NG" sz="3200" b="0" strike="noStrike" spc="-1">
                <a:solidFill>
                  <a:srgbClr val="000000"/>
                </a:solidFill>
                <a:latin typeface="Arial"/>
              </a:rPr>
              <a:t> and where these </a:t>
            </a:r>
            <a:r>
              <a:rPr lang="en-NG" sz="3200" b="1" strike="noStrike" spc="-1">
                <a:solidFill>
                  <a:srgbClr val="000000"/>
                </a:solidFill>
                <a:latin typeface="Arial"/>
              </a:rPr>
              <a:t>go to</a:t>
            </a:r>
            <a:r>
              <a:rPr lang="en-NG" sz="3200" b="0" strike="noStrike" spc="-1">
                <a:solidFill>
                  <a:srgbClr val="000000"/>
                </a:solidFill>
                <a:latin typeface="Arial"/>
              </a:rPr>
              <a:t>.</a:t>
            </a:r>
          </a:p>
          <a:p>
            <a:pPr marL="432000" indent="-324000">
              <a:spcBef>
                <a:spcPts val="1417"/>
              </a:spcBef>
              <a:buClr>
                <a:srgbClr val="000000"/>
              </a:buClr>
              <a:buFont typeface="OpenSymbol"/>
              <a:buAutoNum type="arabicPeriod"/>
            </a:pPr>
            <a:r>
              <a:rPr lang="en-NG" sz="3200" b="0" strike="noStrike" spc="-1">
                <a:solidFill>
                  <a:srgbClr val="000000"/>
                </a:solidFill>
                <a:latin typeface="Arial"/>
              </a:rPr>
              <a:t>Information that is needed for the computation or other entities in the system that are used (the ‘requires’ part).</a:t>
            </a:r>
          </a:p>
          <a:p>
            <a:pPr marL="432000" indent="-324000">
              <a:spcBef>
                <a:spcPts val="1417"/>
              </a:spcBef>
              <a:buClr>
                <a:srgbClr val="000000"/>
              </a:buClr>
              <a:buFont typeface="OpenSymbol"/>
              <a:buAutoNum type="arabicPeriod"/>
            </a:pPr>
            <a:r>
              <a:rPr lang="en-NG" sz="3200" b="0" strike="noStrike" spc="-1">
                <a:solidFill>
                  <a:srgbClr val="000000"/>
                </a:solidFill>
                <a:latin typeface="Arial"/>
              </a:rPr>
              <a:t>A description of the action to be taken.</a:t>
            </a:r>
          </a:p>
          <a:p>
            <a:pPr marL="432000" indent="-324000">
              <a:spcBef>
                <a:spcPts val="1417"/>
              </a:spcBef>
              <a:buClr>
                <a:srgbClr val="000000"/>
              </a:buClr>
              <a:buFont typeface="OpenSymbol"/>
              <a:buAutoNum type="arabicPeriod"/>
            </a:pPr>
            <a:r>
              <a:rPr lang="en-NG" sz="3200" b="0" strike="noStrike" spc="-1">
                <a:solidFill>
                  <a:srgbClr val="000000"/>
                </a:solidFill>
                <a:latin typeface="Arial"/>
              </a:rPr>
              <a:t>If a functional approach is used, a pre-condition setting out what must be true before the function is called, and a post-condition specifying what is true after the function is called.</a:t>
            </a:r>
          </a:p>
          <a:p>
            <a:pPr marL="432000" indent="-324000">
              <a:spcBef>
                <a:spcPts val="1417"/>
              </a:spcBef>
              <a:buClr>
                <a:srgbClr val="000000"/>
              </a:buClr>
              <a:buFont typeface="OpenSymbol"/>
              <a:buAutoNum type="arabicPeriod"/>
            </a:pPr>
            <a:r>
              <a:rPr lang="en-NG" sz="3200" b="0" strike="noStrike" spc="-1">
                <a:solidFill>
                  <a:srgbClr val="000000"/>
                </a:solidFill>
                <a:latin typeface="Arial"/>
              </a:rPr>
              <a:t>A description of the side effects (if any) of the operation.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buNone/>
            </a:pPr>
            <a:endParaRPr lang="en-NG" sz="4400" b="0" strike="noStrike" spc="-1">
              <a:solidFill>
                <a:srgbClr val="000000"/>
              </a:solidFill>
              <a:latin typeface="Arial"/>
            </a:endParaRPr>
          </a:p>
        </p:txBody>
      </p:sp>
      <p:sp>
        <p:nvSpPr>
          <p:cNvPr id="112" name="PlaceHolder 2"/>
          <p:cNvSpPr>
            <a:spLocks noGrp="1"/>
          </p:cNvSpPr>
          <p:nvPr>
            <p:ph/>
          </p:nvPr>
        </p:nvSpPr>
        <p:spPr>
          <a:xfrm>
            <a:off x="504000" y="1326600"/>
            <a:ext cx="9072000" cy="3288600"/>
          </a:xfrm>
          <a:prstGeom prst="rect">
            <a:avLst/>
          </a:prstGeom>
          <a:noFill/>
          <a:ln w="0">
            <a:noFill/>
          </a:ln>
        </p:spPr>
        <p:txBody>
          <a:bodyPr lIns="0" tIns="0" rIns="0" bIns="0" anchor="t">
            <a:normAutofit fontScale="90616"/>
          </a:bodyPr>
          <a:lstStyle/>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Using structured specifications r</a:t>
            </a:r>
            <a:r>
              <a:rPr lang="en-NG" sz="3200" b="1" strike="noStrike" spc="-1">
                <a:solidFill>
                  <a:srgbClr val="000000"/>
                </a:solidFill>
                <a:latin typeface="Arial"/>
              </a:rPr>
              <a:t>emoves some of the problems of natural language specification</a:t>
            </a:r>
            <a:r>
              <a:rPr lang="en-NG" sz="3200" b="0" strike="noStrike" spc="-1">
                <a:solidFill>
                  <a:srgbClr val="000000"/>
                </a:solidFill>
                <a:latin typeface="Arial"/>
              </a:rPr>
              <a:t>.</a:t>
            </a:r>
          </a:p>
          <a:p>
            <a:pPr marL="432000" indent="-324000">
              <a:spcBef>
                <a:spcPts val="1417"/>
              </a:spcBef>
              <a:buClr>
                <a:srgbClr val="000000"/>
              </a:buClr>
              <a:buSzPct val="45000"/>
              <a:buFont typeface="Wingdings" charset="2"/>
              <a:buChar char=""/>
            </a:pPr>
            <a:r>
              <a:rPr lang="en-NG" sz="3200" b="0" strike="noStrike" spc="-1">
                <a:solidFill>
                  <a:srgbClr val="000000"/>
                </a:solidFill>
                <a:latin typeface="Arial"/>
              </a:rPr>
              <a:t>However, it is still sometimes difficult to write requirements in a clear and unambiguous way, particularly when complex computations</a:t>
            </a:r>
          </a:p>
          <a:p>
            <a:pPr marL="432000" indent="-324000">
              <a:spcBef>
                <a:spcPts val="1417"/>
              </a:spcBef>
              <a:buClr>
                <a:srgbClr val="000000"/>
              </a:buClr>
              <a:buSzPct val="45000"/>
              <a:buFont typeface="Wingdings" charset="2"/>
              <a:buChar char=""/>
            </a:pPr>
            <a:r>
              <a:rPr lang="en-NG" sz="3200" b="1" strike="noStrike" spc="-1">
                <a:solidFill>
                  <a:srgbClr val="158466"/>
                </a:solidFill>
                <a:latin typeface="Arial"/>
              </a:rPr>
              <a:t>Solution: Tables are particularly useful (see next slide)</a:t>
            </a:r>
            <a:endParaRPr lang="en-NG" sz="3200" b="0" strike="noStrike" spc="-1">
              <a:solidFill>
                <a:srgbClr val="00000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74160"/>
            <a:ext cx="9071280" cy="1250280"/>
          </a:xfrm>
          <a:prstGeom prst="rect">
            <a:avLst/>
          </a:prstGeom>
          <a:noFill/>
          <a:ln w="0">
            <a:noFill/>
          </a:ln>
        </p:spPr>
        <p:txBody>
          <a:bodyPr lIns="0" tIns="0" rIns="0" bIns="0" anchor="ctr">
            <a:noAutofit/>
          </a:bodyPr>
          <a:lstStyle/>
          <a:p>
            <a:pPr indent="0" algn="ctr">
              <a:buNone/>
            </a:pPr>
            <a:r>
              <a:rPr lang="en-NG" sz="4400" b="0" strike="noStrike" spc="-1">
                <a:solidFill>
                  <a:srgbClr val="000000"/>
                </a:solidFill>
                <a:latin typeface="Arial"/>
              </a:rPr>
              <a:t>Tabular specification of computation for an insulin pump</a:t>
            </a:r>
          </a:p>
        </p:txBody>
      </p:sp>
      <p:pic>
        <p:nvPicPr>
          <p:cNvPr id="114" name="Picture 113"/>
          <p:cNvPicPr/>
          <p:nvPr/>
        </p:nvPicPr>
        <p:blipFill>
          <a:blip r:embed="rId2"/>
          <a:stretch/>
        </p:blipFill>
        <p:spPr>
          <a:xfrm>
            <a:off x="504000" y="1339200"/>
            <a:ext cx="9072000" cy="3262680"/>
          </a:xfrm>
          <a:prstGeom prst="rect">
            <a:avLst/>
          </a:prstGeom>
          <a:ln w="0">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indent="0" algn="ctr">
              <a:spcBef>
                <a:spcPts val="1191"/>
              </a:spcBef>
              <a:spcAft>
                <a:spcPts val="992"/>
              </a:spcAft>
              <a:buNone/>
            </a:pPr>
            <a:r>
              <a:rPr lang="en-NG" sz="2400" b="1" strike="noStrike" spc="-1">
                <a:solidFill>
                  <a:srgbClr val="000000"/>
                </a:solidFill>
                <a:latin typeface="Arial"/>
              </a:rPr>
              <a:t>Exercise Scenario: Landmark University Bread Industry Software Development</a:t>
            </a:r>
            <a:br>
              <a:rPr sz="1200"/>
            </a:br>
            <a:endParaRPr lang="en-NG" sz="2400" b="1" strike="noStrike" spc="-1">
              <a:solidFill>
                <a:srgbClr val="000000"/>
              </a:solidFill>
              <a:latin typeface="Arial"/>
            </a:endParaRPr>
          </a:p>
        </p:txBody>
      </p:sp>
      <p:sp>
        <p:nvSpPr>
          <p:cNvPr id="116"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191"/>
              </a:spcBef>
              <a:spcAft>
                <a:spcPts val="992"/>
              </a:spcAft>
              <a:buClr>
                <a:srgbClr val="000000"/>
              </a:buClr>
              <a:buSzPct val="45000"/>
              <a:buFont typeface="Wingdings" charset="2"/>
              <a:buChar char=""/>
            </a:pPr>
            <a:r>
              <a:rPr lang="en-NG" sz="2600" b="0" strike="noStrike" spc="-1">
                <a:solidFill>
                  <a:srgbClr val="000000"/>
                </a:solidFill>
                <a:latin typeface="Arial"/>
              </a:rPr>
              <a:t>Landmark University's Bread Industry is looking to modernize its bread production process and supply by developing a software system to manage various aspects of the production, inventory, and sales. </a:t>
            </a:r>
          </a:p>
          <a:p>
            <a:pPr marL="432000" indent="-324000">
              <a:spcBef>
                <a:spcPts val="1191"/>
              </a:spcBef>
              <a:spcAft>
                <a:spcPts val="992"/>
              </a:spcAft>
              <a:buClr>
                <a:srgbClr val="000000"/>
              </a:buClr>
              <a:buSzPct val="45000"/>
              <a:buFont typeface="Wingdings" charset="2"/>
              <a:buChar char=""/>
            </a:pPr>
            <a:r>
              <a:rPr lang="en-NG" sz="2600" b="1" strike="noStrike" spc="-1">
                <a:solidFill>
                  <a:srgbClr val="000000"/>
                </a:solidFill>
                <a:latin typeface="Arial"/>
              </a:rPr>
              <a:t>Students are tasked with writing structured specifications for the software system(10 min)</a:t>
            </a:r>
            <a:r>
              <a:rPr lang="en-NG" sz="2600" b="0" strike="noStrike" spc="-1">
                <a:solidFill>
                  <a:srgbClr val="000000"/>
                </a:solidFill>
                <a:latin typeface="Arial"/>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504000" y="226080"/>
            <a:ext cx="9071280" cy="4453560"/>
          </a:xfrm>
          <a:prstGeom prst="rect">
            <a:avLst/>
          </a:prstGeom>
          <a:noFill/>
          <a:ln w="0">
            <a:noFill/>
          </a:ln>
        </p:spPr>
        <p:txBody>
          <a:bodyPr lIns="0" tIns="0" rIns="0" bIns="0" anchor="ctr">
            <a:noAutofit/>
          </a:bodyPr>
          <a:lstStyle/>
          <a:p>
            <a:pPr indent="0" algn="ctr">
              <a:lnSpc>
                <a:spcPct val="100000"/>
              </a:lnSpc>
              <a:buNone/>
              <a:tabLst>
                <a:tab pos="0" algn="l"/>
              </a:tabLst>
            </a:pPr>
            <a:r>
              <a:rPr lang="en-NG" sz="4400" b="0" strike="noStrike" spc="-1">
                <a:solidFill>
                  <a:srgbClr val="000000"/>
                </a:solidFill>
                <a:latin typeface="Arial"/>
                <a:ea typeface="Noto Sans CJK SC"/>
              </a:rPr>
              <a:t>THANKS</a:t>
            </a:r>
            <a:br>
              <a:rPr sz="4400"/>
            </a:br>
            <a:r>
              <a:rPr lang="en-NG" sz="4400" b="0" strike="noStrike" spc="-1">
                <a:solidFill>
                  <a:srgbClr val="000000"/>
                </a:solidFill>
                <a:latin typeface="Arial"/>
                <a:ea typeface="Noto Sans CJK SC"/>
              </a:rPr>
              <a:t>(More on “Requirements engineering processes</a:t>
            </a:r>
            <a:r>
              <a:rPr lang="en-NG" sz="2500" b="0" strike="noStrike" spc="-1">
                <a:solidFill>
                  <a:srgbClr val="000000"/>
                </a:solidFill>
                <a:latin typeface="Arial"/>
                <a:ea typeface="Noto Sans CJK SC"/>
              </a:rPr>
              <a:t>........!!!</a:t>
            </a:r>
            <a:r>
              <a:rPr lang="en-NG" sz="4400" b="0" strike="noStrike" spc="-1">
                <a:solidFill>
                  <a:srgbClr val="000000"/>
                </a:solidFill>
                <a:latin typeface="Arial"/>
                <a:ea typeface="Noto Sans CJK SC"/>
              </a:rPr>
              <a:t>)</a:t>
            </a:r>
            <a:br>
              <a:rPr sz="4400"/>
            </a:br>
            <a:br>
              <a:rPr sz="4400"/>
            </a:br>
            <a:r>
              <a:rPr lang="en-NG" sz="4400" b="0" strike="noStrike" spc="-1">
                <a:solidFill>
                  <a:srgbClr val="000000"/>
                </a:solidFill>
                <a:latin typeface="Arial"/>
                <a:ea typeface="Noto Sans CJK SC"/>
              </a:rPr>
              <a:t>Q&amp;A</a:t>
            </a:r>
            <a:endParaRPr lang="en-NG" sz="44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TotalTime>
  <Words>1505</Words>
  <Application>Microsoft Office PowerPoint</Application>
  <PresentationFormat>Custom</PresentationFormat>
  <Paragraphs>105</Paragraphs>
  <Slides>42</Slides>
  <Notes>0</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42</vt:i4>
      </vt:variant>
    </vt:vector>
  </HeadingPairs>
  <TitlesOfParts>
    <vt:vector size="53" baseType="lpstr">
      <vt:lpstr>Arial</vt:lpstr>
      <vt:lpstr>Calibri</vt:lpstr>
      <vt:lpstr>OpenSymbol</vt:lpstr>
      <vt:lpstr>Symbol</vt:lpstr>
      <vt:lpstr>Times New Roman</vt:lpstr>
      <vt:lpstr>Wingdings</vt:lpstr>
      <vt:lpstr>Office</vt:lpstr>
      <vt:lpstr>Office</vt:lpstr>
      <vt:lpstr>Office</vt:lpstr>
      <vt:lpstr>Office</vt:lpstr>
      <vt:lpstr>Office</vt:lpstr>
      <vt:lpstr>PowerPoint Presentation</vt:lpstr>
      <vt:lpstr>Requirements Engineering</vt:lpstr>
      <vt:lpstr>Requirements Engineering </vt:lpstr>
      <vt:lpstr>PowerPoint Presentation</vt:lpstr>
      <vt:lpstr>PowerPoint Presentation</vt:lpstr>
      <vt:lpstr>PowerPoint Presentation</vt:lpstr>
      <vt:lpstr>Functional &amp; Non-functional requirements </vt:lpstr>
      <vt:lpstr>Example of Functional requirements</vt:lpstr>
      <vt:lpstr>PowerPoint Presentation</vt:lpstr>
      <vt:lpstr>Non-functional requirements</vt:lpstr>
      <vt:lpstr>Types of non-functionalrequirement</vt:lpstr>
      <vt:lpstr>Eg of non-functional requirements in the MHC-PMS</vt:lpstr>
      <vt:lpstr>PowerPoint Presentation</vt:lpstr>
      <vt:lpstr>Metrics for specifying objectively testable non-functional requirements</vt:lpstr>
      <vt:lpstr>software requirements document</vt:lpstr>
      <vt:lpstr>Agile Argue Otherwise(let’s talk)</vt:lpstr>
      <vt:lpstr>Take away </vt:lpstr>
      <vt:lpstr>Users of a Requirements Document</vt:lpstr>
      <vt:lpstr>PowerPoint Presentation</vt:lpstr>
      <vt:lpstr>IEEE Standard for Requirements Documents (IEEE, 1998)</vt:lpstr>
      <vt:lpstr>PowerPoint Presentation</vt:lpstr>
      <vt:lpstr>Problems with using natural language for requirements specification</vt:lpstr>
      <vt:lpstr>Requirements specification</vt:lpstr>
      <vt:lpstr>PowerPoint Presentation</vt:lpstr>
      <vt:lpstr>user requirements</vt:lpstr>
      <vt:lpstr>PowerPoint Presentation</vt:lpstr>
      <vt:lpstr>System requirements</vt:lpstr>
      <vt:lpstr>System requirements</vt:lpstr>
      <vt:lpstr>Ways of writing a system requirements specification</vt:lpstr>
      <vt:lpstr>PowerPoint Presentation</vt:lpstr>
      <vt:lpstr>PowerPoint Presentation</vt:lpstr>
      <vt:lpstr>Natural language specification</vt:lpstr>
      <vt:lpstr>To minimize misunderstandings when writing natural language requirement</vt:lpstr>
      <vt:lpstr>Example requirements for the insulin pump software system</vt:lpstr>
      <vt:lpstr>Structured specifications</vt:lpstr>
      <vt:lpstr>A structured specification of a requirement for an insulin pump</vt:lpstr>
      <vt:lpstr>The Robertsons (Robertson and Robertson, 1999) Book recommend</vt:lpstr>
      <vt:lpstr>To Use standard form  for specifying functional requirements included:</vt:lpstr>
      <vt:lpstr>PowerPoint Presentation</vt:lpstr>
      <vt:lpstr>Tabular specification of computation for an insulin pump</vt:lpstr>
      <vt:lpstr>Exercise Scenario: Landmark University Bread Industry Software Development </vt:lpstr>
      <vt:lpstr>THANKS (More on “Requirements engineering processes........!!!)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Emmanuel Ogbonnia</cp:lastModifiedBy>
  <cp:revision>10</cp:revision>
  <dcterms:created xsi:type="dcterms:W3CDTF">2024-10-28T01:02:33Z</dcterms:created>
  <dcterms:modified xsi:type="dcterms:W3CDTF">2025-10-28T06:21:21Z</dcterms:modified>
  <dc:language>en-NG</dc:language>
</cp:coreProperties>
</file>