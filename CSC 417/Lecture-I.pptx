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notesMasterIdLst>
    <p:notesMasterId r:id="rId28"/>
  </p:notesMasterIdLst>
  <p:sldIdLst>
    <p:sldId id="256" r:id="rId2"/>
    <p:sldId id="257" r:id="rId3"/>
    <p:sldId id="280" r:id="rId4"/>
    <p:sldId id="258" r:id="rId5"/>
    <p:sldId id="273" r:id="rId6"/>
    <p:sldId id="272" r:id="rId7"/>
    <p:sldId id="259" r:id="rId8"/>
    <p:sldId id="274" r:id="rId9"/>
    <p:sldId id="275" r:id="rId10"/>
    <p:sldId id="276" r:id="rId11"/>
    <p:sldId id="278" r:id="rId12"/>
    <p:sldId id="277" r:id="rId13"/>
    <p:sldId id="279" r:id="rId14"/>
    <p:sldId id="263" r:id="rId15"/>
    <p:sldId id="260" r:id="rId16"/>
    <p:sldId id="262" r:id="rId17"/>
    <p:sldId id="264" r:id="rId18"/>
    <p:sldId id="281" r:id="rId19"/>
    <p:sldId id="265" r:id="rId20"/>
    <p:sldId id="282" r:id="rId21"/>
    <p:sldId id="283" r:id="rId22"/>
    <p:sldId id="284" r:id="rId23"/>
    <p:sldId id="285" r:id="rId24"/>
    <p:sldId id="286" r:id="rId25"/>
    <p:sldId id="287" r:id="rId26"/>
    <p:sldId id="288"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159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D68F25-EB19-4BF4-BF33-33D11E13AC84}" type="datetimeFigureOut">
              <a:rPr lang="en-US" smtClean="0"/>
              <a:t>10/26/2025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6C9271-2CD3-4224-9A7F-28C59DD56657}" type="slidenum">
              <a:rPr lang="en-US" smtClean="0"/>
              <a:t>‹#›</a:t>
            </a:fld>
            <a:endParaRPr lang="en-US"/>
          </a:p>
        </p:txBody>
      </p:sp>
    </p:spTree>
    <p:extLst>
      <p:ext uri="{BB962C8B-B14F-4D97-AF65-F5344CB8AC3E}">
        <p14:creationId xmlns:p14="http://schemas.microsoft.com/office/powerpoint/2010/main" val="250625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learning outcomes to students and connect them to broader OS memory handling concepts.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how memory management underpins multitasking and system efficiency.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483584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how memory management underpins multitasking and system efficiency.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how memory management underpins multitasking and system efficiency.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195290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how memory management underpins multitasking and system efficiency.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02139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Explain that modern OSs rely on concurrency; multiple processes prevent idle CPU time.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how memory management underpins multitasking and system efficiency.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03575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how memory management underpins multitasking and system efficiency.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472209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how memory management underpins multitasking and system efficiency.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85711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how memory management underpins multitasking and system efficiency.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51649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how memory management underpins multitasking and system efficiency.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46209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how memory management underpins multitasking and system efficiency.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40499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Highlight advantages for modular programs and compiler design.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Outline OS responsibilities; emphasize protection and efficiency.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diagram to explain page/frame mapping; discuss simplicity of paging.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Relate to page file in Windows and swap space in Linux.</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Relate to page file in Windows and swap space in Linux.</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220843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Illustrate how fragmentation wastes space; connect to paging as a solution.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Relate to page file in Windows and swap space in Linux.</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188293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Relate to page file in Windows and swap space in Linux.</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795916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Relate to page file in Windows and swap space in Linux.</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130369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Relate to page file in Windows and swap space in Linux.</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507165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Relate to page file in Windows and swap space in Linux.</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89135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Illustrate how fragmentation wastes space; connect to paging as a solution.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239274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Illustrate how fragmentation wastes space; connect to paging as a solution.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64657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Freeform 28"/>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8489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6650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03649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96601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4899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46017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57254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90955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91357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64279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38187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3611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264137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631035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794789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14897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cxnSp>
          <p:nvCxnSpPr>
            <p:cNvPr id="7" name="Straight Connector 6"/>
            <p:cNvCxnSpPr/>
            <p:nvPr/>
          </p:nvCxnSpPr>
          <p:spPr>
            <a:xfrm flipV="1">
              <a:off x="5130830" y="4175605"/>
              <a:ext cx="4022475" cy="2682396"/>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10/26/2025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053600414"/>
      </p:ext>
    </p:extLst>
  </p:cSld>
  <p:clrMap bg1="dk1" tx1="lt1" bg2="dk2" tx2="lt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0634" y="1050747"/>
            <a:ext cx="7208322" cy="1646302"/>
          </a:xfrm>
        </p:spPr>
        <p:txBody>
          <a:bodyPr/>
          <a:lstStyle/>
          <a:p>
            <a:pPr algn="ctr"/>
            <a:r>
              <a:rPr sz="4400" dirty="0"/>
              <a:t>Overview of Memory Management</a:t>
            </a:r>
          </a:p>
        </p:txBody>
      </p:sp>
      <p:sp>
        <p:nvSpPr>
          <p:cNvPr id="3" name="Subtitle 2"/>
          <p:cNvSpPr>
            <a:spLocks noGrp="1"/>
          </p:cNvSpPr>
          <p:nvPr>
            <p:ph type="subTitle" idx="1"/>
          </p:nvPr>
        </p:nvSpPr>
        <p:spPr>
          <a:xfrm>
            <a:off x="807521" y="3862449"/>
            <a:ext cx="6590805" cy="1752600"/>
          </a:xfrm>
        </p:spPr>
        <p:txBody>
          <a:bodyPr>
            <a:normAutofit fontScale="92500" lnSpcReduction="10000"/>
          </a:bodyPr>
          <a:lstStyle/>
          <a:p>
            <a:pPr algn="ctr"/>
            <a:r>
              <a:rPr sz="3600" dirty="0"/>
              <a:t>Course: Operating Systems</a:t>
            </a:r>
          </a:p>
          <a:p>
            <a:pPr algn="ctr"/>
            <a:r>
              <a:rPr sz="3600" dirty="0"/>
              <a:t>Instructor: </a:t>
            </a:r>
            <a:r>
              <a:rPr lang="en-US" sz="3600" dirty="0"/>
              <a:t>AWOTUNDE J. B.</a:t>
            </a:r>
            <a:endParaRPr sz="3600" dirty="0"/>
          </a:p>
          <a:p>
            <a:pPr algn="ctr"/>
            <a:r>
              <a:rPr sz="3600" dirty="0"/>
              <a:t>Date: </a:t>
            </a:r>
            <a:r>
              <a:rPr lang="en-US" sz="3600" dirty="0"/>
              <a:t>27</a:t>
            </a:r>
            <a:r>
              <a:rPr lang="en-US" sz="3600" baseline="30000" dirty="0"/>
              <a:t>Th</a:t>
            </a:r>
            <a:r>
              <a:rPr lang="en-US" sz="3600" dirty="0"/>
              <a:t> October 2025</a:t>
            </a:r>
            <a:endParaRP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Lecture Objectives</a:t>
            </a:r>
          </a:p>
        </p:txBody>
      </p:sp>
      <p:sp>
        <p:nvSpPr>
          <p:cNvPr id="3" name="Content Placeholder 2"/>
          <p:cNvSpPr>
            <a:spLocks noGrp="1"/>
          </p:cNvSpPr>
          <p:nvPr>
            <p:ph idx="1"/>
          </p:nvPr>
        </p:nvSpPr>
        <p:spPr/>
        <p:txBody>
          <a:bodyPr/>
          <a:lstStyle/>
          <a:p>
            <a:r>
              <a:t>• Explain why several processes must be kept in memory.</a:t>
            </a:r>
          </a:p>
          <a:p>
            <a:r>
              <a:t>• Describe the activities performed by the OS in memory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073" y="96508"/>
            <a:ext cx="8229600" cy="746640"/>
          </a:xfrm>
        </p:spPr>
        <p:txBody>
          <a:bodyPr>
            <a:normAutofit/>
          </a:bodyPr>
          <a:lstStyle/>
          <a:p>
            <a:r>
              <a:rPr dirty="0"/>
              <a:t>Introduction to Memory Management</a:t>
            </a:r>
          </a:p>
        </p:txBody>
      </p:sp>
      <p:sp>
        <p:nvSpPr>
          <p:cNvPr id="3" name="Content Placeholder 2"/>
          <p:cNvSpPr>
            <a:spLocks noGrp="1"/>
          </p:cNvSpPr>
          <p:nvPr>
            <p:ph idx="1"/>
          </p:nvPr>
        </p:nvSpPr>
        <p:spPr>
          <a:xfrm>
            <a:off x="190005" y="843148"/>
            <a:ext cx="8870868" cy="5918344"/>
          </a:xfrm>
        </p:spPr>
        <p:txBody>
          <a:bodyPr>
            <a:normAutofit lnSpcReduction="10000"/>
          </a:bodyPr>
          <a:lstStyle/>
          <a:p>
            <a:pPr algn="just">
              <a:lnSpc>
                <a:spcPct val="150000"/>
              </a:lnSpc>
              <a:buFont typeface="Wingdings" panose="05000000000000000000" pitchFamily="2" charset="2"/>
              <a:buChar char="q"/>
            </a:pPr>
            <a:r>
              <a:rPr lang="en-US" sz="2800" dirty="0"/>
              <a:t>Memory is large array of words or bytes, each having its unique address. </a:t>
            </a:r>
          </a:p>
          <a:p>
            <a:pPr algn="just">
              <a:lnSpc>
                <a:spcPct val="150000"/>
              </a:lnSpc>
              <a:buFont typeface="Wingdings" panose="05000000000000000000" pitchFamily="2" charset="2"/>
              <a:buChar char="q"/>
            </a:pPr>
            <a:r>
              <a:rPr lang="en-US" sz="2800" dirty="0"/>
              <a:t>CPU fetches instructions from memory according to value of program counter. </a:t>
            </a:r>
          </a:p>
          <a:p>
            <a:pPr algn="just">
              <a:lnSpc>
                <a:spcPct val="150000"/>
              </a:lnSpc>
              <a:buFont typeface="Wingdings" panose="05000000000000000000" pitchFamily="2" charset="2"/>
              <a:buChar char="q"/>
            </a:pPr>
            <a:r>
              <a:rPr lang="en-US" sz="2800" dirty="0"/>
              <a:t>The instructions undergo instruction execution cycle. </a:t>
            </a:r>
          </a:p>
          <a:p>
            <a:pPr algn="just">
              <a:lnSpc>
                <a:spcPct val="150000"/>
              </a:lnSpc>
              <a:buFont typeface="Wingdings" panose="05000000000000000000" pitchFamily="2" charset="2"/>
              <a:buChar char="q"/>
            </a:pPr>
            <a:r>
              <a:rPr lang="en-US" sz="2800" dirty="0"/>
              <a:t>To increase both CPU utilization and speed of its response to users, computers must keep several processes in memory. </a:t>
            </a:r>
            <a:endParaRPr sz="2800" dirty="0"/>
          </a:p>
        </p:txBody>
      </p:sp>
    </p:spTree>
    <p:extLst>
      <p:ext uri="{BB962C8B-B14F-4D97-AF65-F5344CB8AC3E}">
        <p14:creationId xmlns:p14="http://schemas.microsoft.com/office/powerpoint/2010/main" val="3866850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3751"/>
            <a:ext cx="8870868" cy="6745184"/>
          </a:xfrm>
        </p:spPr>
        <p:txBody>
          <a:bodyPr>
            <a:normAutofit fontScale="92500" lnSpcReduction="20000"/>
          </a:bodyPr>
          <a:lstStyle/>
          <a:p>
            <a:pPr algn="just">
              <a:lnSpc>
                <a:spcPct val="150000"/>
              </a:lnSpc>
              <a:buFont typeface="Wingdings" panose="05000000000000000000" pitchFamily="2" charset="2"/>
              <a:buChar char="q"/>
            </a:pPr>
            <a:r>
              <a:rPr lang="en-US" sz="2800" dirty="0"/>
              <a:t>Memory management is the functionality of an operating system which handles or manages primary memory and moves processes back and forth between main memory and disk during execution.</a:t>
            </a:r>
          </a:p>
          <a:p>
            <a:pPr algn="just">
              <a:lnSpc>
                <a:spcPct val="150000"/>
              </a:lnSpc>
              <a:buFont typeface="Wingdings" panose="05000000000000000000" pitchFamily="2" charset="2"/>
              <a:buChar char="q"/>
            </a:pPr>
            <a:r>
              <a:rPr lang="en-US" sz="2800" dirty="0"/>
              <a:t>Memory management keeps track of each and every memory location, regardless of either it is allocated to some process or it is free.</a:t>
            </a:r>
          </a:p>
          <a:p>
            <a:pPr algn="just">
              <a:lnSpc>
                <a:spcPct val="150000"/>
              </a:lnSpc>
              <a:buFont typeface="Wingdings" panose="05000000000000000000" pitchFamily="2" charset="2"/>
              <a:buChar char="q"/>
            </a:pPr>
            <a:r>
              <a:rPr lang="en-US" sz="2800" dirty="0"/>
              <a:t>It checks how much memory is to be allocated to processes.</a:t>
            </a:r>
          </a:p>
          <a:p>
            <a:pPr algn="just">
              <a:lnSpc>
                <a:spcPct val="150000"/>
              </a:lnSpc>
              <a:buFont typeface="Wingdings" panose="05000000000000000000" pitchFamily="2" charset="2"/>
              <a:buChar char="q"/>
            </a:pPr>
            <a:r>
              <a:rPr lang="en-US" sz="2800" dirty="0"/>
              <a:t>It decides which process will get memory at what time.</a:t>
            </a:r>
          </a:p>
          <a:p>
            <a:pPr algn="just">
              <a:lnSpc>
                <a:spcPct val="150000"/>
              </a:lnSpc>
              <a:buFont typeface="Wingdings" panose="05000000000000000000" pitchFamily="2" charset="2"/>
              <a:buChar char="q"/>
            </a:pPr>
            <a:r>
              <a:rPr lang="en-US" sz="2800" dirty="0"/>
              <a:t>It tracks whenever some memory gets freed or unallocated and correspondingly it updates the status</a:t>
            </a:r>
            <a:endParaRPr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005" y="154379"/>
            <a:ext cx="8870868" cy="6607113"/>
          </a:xfrm>
        </p:spPr>
        <p:txBody>
          <a:bodyPr>
            <a:normAutofit lnSpcReduction="10000"/>
          </a:bodyPr>
          <a:lstStyle/>
          <a:p>
            <a:pPr marL="0" indent="0" algn="just">
              <a:buNone/>
            </a:pPr>
            <a:r>
              <a:rPr lang="en-US" sz="3600" dirty="0"/>
              <a:t>Specifically, the memory management modules are concerned with following four functions: </a:t>
            </a:r>
          </a:p>
          <a:p>
            <a:pPr marL="0" indent="0" algn="just">
              <a:buNone/>
            </a:pPr>
            <a:r>
              <a:rPr lang="en-US" sz="3600" dirty="0"/>
              <a:t>1. Keeping track of whether each location is allocated or unallocated, to which process and how much. </a:t>
            </a:r>
          </a:p>
          <a:p>
            <a:pPr marL="0" indent="0" algn="just">
              <a:buNone/>
            </a:pPr>
            <a:r>
              <a:rPr lang="en-US" sz="3600" dirty="0"/>
              <a:t>2. Deciding to whom the memory is allocated, how much, when and where. </a:t>
            </a:r>
          </a:p>
          <a:p>
            <a:pPr marL="0" indent="0" algn="just">
              <a:buNone/>
            </a:pPr>
            <a:r>
              <a:rPr lang="en-US" sz="3600" dirty="0"/>
              <a:t>If memory is to be shared by more than one process concurrently, it must be determined which process’ request should be satisfied. </a:t>
            </a:r>
          </a:p>
        </p:txBody>
      </p:sp>
    </p:spTree>
    <p:extLst>
      <p:ext uri="{BB962C8B-B14F-4D97-AF65-F5344CB8AC3E}">
        <p14:creationId xmlns:p14="http://schemas.microsoft.com/office/powerpoint/2010/main" val="2858135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005" y="154379"/>
            <a:ext cx="8870868" cy="6607113"/>
          </a:xfrm>
        </p:spPr>
        <p:txBody>
          <a:bodyPr>
            <a:normAutofit lnSpcReduction="10000"/>
          </a:bodyPr>
          <a:lstStyle/>
          <a:p>
            <a:pPr marL="0" indent="0" algn="just">
              <a:buNone/>
            </a:pPr>
            <a:r>
              <a:rPr lang="en-US" sz="4000" dirty="0"/>
              <a:t>3. Once it is decided to allocate memory, the specific locations must be selected and allocated. </a:t>
            </a:r>
          </a:p>
          <a:p>
            <a:pPr marL="0" indent="0" algn="just">
              <a:buNone/>
            </a:pPr>
            <a:r>
              <a:rPr lang="en-US" sz="4000" dirty="0"/>
              <a:t>Memory status information is updated. </a:t>
            </a:r>
          </a:p>
          <a:p>
            <a:pPr marL="0" indent="0" algn="just">
              <a:buNone/>
            </a:pPr>
            <a:r>
              <a:rPr lang="en-US" sz="4000" dirty="0"/>
              <a:t>4. Handling the deallocation/reallocation of memory. </a:t>
            </a:r>
          </a:p>
          <a:p>
            <a:pPr marL="0" indent="0" algn="just">
              <a:buNone/>
            </a:pPr>
            <a:r>
              <a:rPr lang="en-US" sz="4000" dirty="0"/>
              <a:t>After the process holding memory is finished, memory locations held by it are declared free by changing the status information. </a:t>
            </a:r>
            <a:endParaRPr sz="3600" dirty="0"/>
          </a:p>
        </p:txBody>
      </p:sp>
    </p:spTree>
    <p:extLst>
      <p:ext uri="{BB962C8B-B14F-4D97-AF65-F5344CB8AC3E}">
        <p14:creationId xmlns:p14="http://schemas.microsoft.com/office/powerpoint/2010/main" val="906003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944" y="161821"/>
            <a:ext cx="8686800" cy="685801"/>
          </a:xfrm>
        </p:spPr>
        <p:txBody>
          <a:bodyPr>
            <a:normAutofit/>
          </a:bodyPr>
          <a:lstStyle/>
          <a:p>
            <a:r>
              <a:rPr b="1" dirty="0"/>
              <a:t>Why Keep Several Processes in Memory</a:t>
            </a:r>
          </a:p>
        </p:txBody>
      </p:sp>
      <p:sp>
        <p:nvSpPr>
          <p:cNvPr id="3" name="Content Placeholder 2"/>
          <p:cNvSpPr>
            <a:spLocks noGrp="1"/>
          </p:cNvSpPr>
          <p:nvPr>
            <p:ph idx="1"/>
          </p:nvPr>
        </p:nvSpPr>
        <p:spPr>
          <a:xfrm>
            <a:off x="166256" y="847621"/>
            <a:ext cx="8811487" cy="5648181"/>
          </a:xfrm>
        </p:spPr>
        <p:txBody>
          <a:bodyPr>
            <a:normAutofit fontScale="92500" lnSpcReduction="20000"/>
          </a:bodyPr>
          <a:lstStyle/>
          <a:p>
            <a:pPr marL="0" indent="0" algn="just">
              <a:lnSpc>
                <a:spcPct val="220000"/>
              </a:lnSpc>
              <a:buNone/>
            </a:pPr>
            <a:r>
              <a:rPr sz="4800" dirty="0"/>
              <a:t>• Improves CPU utilization.</a:t>
            </a:r>
          </a:p>
          <a:p>
            <a:pPr marL="0" indent="0" algn="just">
              <a:lnSpc>
                <a:spcPct val="220000"/>
              </a:lnSpc>
              <a:buNone/>
            </a:pPr>
            <a:r>
              <a:rPr sz="4800" dirty="0"/>
              <a:t>• Enables multiprogramming.</a:t>
            </a:r>
          </a:p>
          <a:p>
            <a:pPr marL="0" indent="0" algn="just">
              <a:lnSpc>
                <a:spcPct val="220000"/>
              </a:lnSpc>
              <a:buNone/>
            </a:pPr>
            <a:r>
              <a:rPr sz="4800" dirty="0"/>
              <a:t>•</a:t>
            </a:r>
            <a:r>
              <a:rPr lang="en-US" sz="4800" dirty="0"/>
              <a:t> </a:t>
            </a:r>
            <a:r>
              <a:rPr sz="4800" dirty="0"/>
              <a:t>Supports communication and </a:t>
            </a:r>
            <a:r>
              <a:rPr lang="en-US" sz="4800" dirty="0"/>
              <a:t>	</a:t>
            </a:r>
            <a:r>
              <a:rPr sz="4800" dirty="0"/>
              <a:t>virtual memory.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005" y="213756"/>
            <a:ext cx="8870868" cy="6495802"/>
          </a:xfrm>
        </p:spPr>
        <p:txBody>
          <a:bodyPr>
            <a:normAutofit fontScale="92500"/>
          </a:bodyPr>
          <a:lstStyle/>
          <a:p>
            <a:pPr marL="0" indent="0" algn="just">
              <a:buNone/>
            </a:pPr>
            <a:r>
              <a:rPr lang="en-US" sz="4400" dirty="0"/>
              <a:t>Modern operating systems rely heavily on </a:t>
            </a:r>
            <a:r>
              <a:rPr lang="en-US" sz="4400" b="1" dirty="0"/>
              <a:t>concurrency</a:t>
            </a:r>
            <a:r>
              <a:rPr lang="en-US" sz="4400" dirty="0"/>
              <a:t> — the ability to execute multiple processes or threads seemingly at the same time. </a:t>
            </a:r>
          </a:p>
          <a:p>
            <a:pPr marL="0" indent="0" algn="just">
              <a:buNone/>
            </a:pPr>
            <a:r>
              <a:rPr lang="en-US" sz="4400" dirty="0"/>
              <a:t>This design ensures that the </a:t>
            </a:r>
            <a:r>
              <a:rPr lang="en-US" sz="4400" b="1" dirty="0"/>
              <a:t>CPU is kept busy and productive</a:t>
            </a:r>
            <a:r>
              <a:rPr lang="en-US" sz="4400" dirty="0"/>
              <a:t> instead of sitting idle while waiting for slower operations, such as input/output (I/O) or memory access, to complete.</a:t>
            </a:r>
            <a:endParaRPr sz="4000" dirty="0"/>
          </a:p>
        </p:txBody>
      </p:sp>
    </p:spTree>
    <p:extLst>
      <p:ext uri="{BB962C8B-B14F-4D97-AF65-F5344CB8AC3E}">
        <p14:creationId xmlns:p14="http://schemas.microsoft.com/office/powerpoint/2010/main" val="301650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005" y="213756"/>
            <a:ext cx="8870868" cy="6495802"/>
          </a:xfrm>
        </p:spPr>
        <p:txBody>
          <a:bodyPr>
            <a:normAutofit fontScale="92500"/>
          </a:bodyPr>
          <a:lstStyle/>
          <a:p>
            <a:pPr marL="0" indent="0" algn="just">
              <a:buNone/>
            </a:pPr>
            <a:r>
              <a:rPr lang="en-US" sz="4400" dirty="0"/>
              <a:t>When one process is waiting for an event (for example, reading data from a disk), the operating system can </a:t>
            </a:r>
            <a:r>
              <a:rPr lang="en-US" sz="4400" b="1" dirty="0"/>
              <a:t>switch to another ready process</a:t>
            </a:r>
            <a:r>
              <a:rPr lang="en-US" sz="4400" dirty="0"/>
              <a:t>, keeping the CPU active. </a:t>
            </a:r>
          </a:p>
          <a:p>
            <a:pPr marL="0" indent="0" algn="just">
              <a:buNone/>
            </a:pPr>
            <a:r>
              <a:rPr lang="en-US" sz="4400" dirty="0"/>
              <a:t>This </a:t>
            </a:r>
            <a:r>
              <a:rPr lang="en-US" sz="4400" b="1" dirty="0"/>
              <a:t>overlapping of computation and I/O</a:t>
            </a:r>
            <a:r>
              <a:rPr lang="en-US" sz="4400" dirty="0"/>
              <a:t> allows better utilization of system resources, faster response times, and improved overall performance.</a:t>
            </a:r>
            <a:endParaRPr sz="4000" dirty="0"/>
          </a:p>
        </p:txBody>
      </p:sp>
    </p:spTree>
    <p:extLst>
      <p:ext uri="{BB962C8B-B14F-4D97-AF65-F5344CB8AC3E}">
        <p14:creationId xmlns:p14="http://schemas.microsoft.com/office/powerpoint/2010/main" val="919711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005" y="213756"/>
            <a:ext cx="8870868" cy="6495802"/>
          </a:xfrm>
        </p:spPr>
        <p:txBody>
          <a:bodyPr>
            <a:normAutofit lnSpcReduction="10000"/>
          </a:bodyPr>
          <a:lstStyle/>
          <a:p>
            <a:pPr marL="0" indent="0" algn="just">
              <a:lnSpc>
                <a:spcPct val="150000"/>
              </a:lnSpc>
              <a:buNone/>
            </a:pPr>
            <a:r>
              <a:rPr lang="en-US" dirty="0"/>
              <a:t>In essence, concurrency helps the OS to:</a:t>
            </a:r>
          </a:p>
          <a:p>
            <a:pPr algn="just">
              <a:lnSpc>
                <a:spcPct val="200000"/>
              </a:lnSpc>
            </a:pPr>
            <a:r>
              <a:rPr lang="en-US" sz="2400" b="1" dirty="0"/>
              <a:t>Maximize CPU utilization</a:t>
            </a:r>
            <a:r>
              <a:rPr lang="en-US" sz="2400" dirty="0"/>
              <a:t> by filling idle gaps.</a:t>
            </a:r>
          </a:p>
          <a:p>
            <a:pPr algn="just">
              <a:lnSpc>
                <a:spcPct val="200000"/>
              </a:lnSpc>
            </a:pPr>
            <a:r>
              <a:rPr lang="en-US" sz="2400" b="1" dirty="0"/>
              <a:t>Support multitasking</a:t>
            </a:r>
            <a:r>
              <a:rPr lang="en-US" sz="2400" dirty="0"/>
              <a:t>, allowing multiple applications to run smoothly.</a:t>
            </a:r>
          </a:p>
          <a:p>
            <a:pPr algn="just">
              <a:lnSpc>
                <a:spcPct val="200000"/>
              </a:lnSpc>
            </a:pPr>
            <a:r>
              <a:rPr lang="en-US" sz="2400" b="1" dirty="0"/>
              <a:t>Enhance system responsiveness</a:t>
            </a:r>
            <a:r>
              <a:rPr lang="en-US" sz="2400" dirty="0"/>
              <a:t> for users and background tasks.</a:t>
            </a:r>
          </a:p>
          <a:p>
            <a:pPr algn="just">
              <a:lnSpc>
                <a:spcPct val="200000"/>
              </a:lnSpc>
            </a:pPr>
            <a:r>
              <a:rPr lang="en-US" sz="2400" dirty="0"/>
              <a:t>Thus, without concurrency and multiple processes, modern systems would waste valuable CPU cycles during waiting periods, leading to poor efficiency and slower performance.</a:t>
            </a:r>
          </a:p>
        </p:txBody>
      </p:sp>
    </p:spTree>
    <p:extLst>
      <p:ext uri="{BB962C8B-B14F-4D97-AF65-F5344CB8AC3E}">
        <p14:creationId xmlns:p14="http://schemas.microsoft.com/office/powerpoint/2010/main" val="3914338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005" y="213756"/>
            <a:ext cx="8870868" cy="6495802"/>
          </a:xfrm>
        </p:spPr>
        <p:txBody>
          <a:bodyPr>
            <a:normAutofit lnSpcReduction="10000"/>
          </a:bodyPr>
          <a:lstStyle/>
          <a:p>
            <a:pPr marL="0" indent="0" algn="ctr">
              <a:buNone/>
            </a:pPr>
            <a:r>
              <a:rPr lang="en-US" sz="3600" b="1" dirty="0"/>
              <a:t>Logical Address</a:t>
            </a:r>
          </a:p>
          <a:p>
            <a:pPr marL="0" indent="0" algn="just">
              <a:buNone/>
            </a:pPr>
            <a:r>
              <a:rPr lang="en-US" sz="2400" dirty="0"/>
              <a:t>A logical address (also called a virtual address) is the address generated by the CPU when a program is running.</a:t>
            </a:r>
          </a:p>
          <a:p>
            <a:pPr marL="0" indent="0" algn="just">
              <a:buNone/>
            </a:pPr>
            <a:r>
              <a:rPr lang="en-US" sz="2400" b="1" dirty="0"/>
              <a:t>Where it exists:</a:t>
            </a:r>
            <a:r>
              <a:rPr lang="en-US" sz="2400" dirty="0"/>
              <a:t> In the user’s view (program’s perspective).</a:t>
            </a:r>
            <a:br>
              <a:rPr lang="en-US" sz="2400" dirty="0"/>
            </a:br>
            <a:r>
              <a:rPr lang="en-US" sz="2400" dirty="0"/>
              <a:t>Each running process believes it has its own continuous block of memory.</a:t>
            </a:r>
          </a:p>
          <a:p>
            <a:pPr marL="0" indent="0" algn="just">
              <a:buNone/>
            </a:pPr>
            <a:r>
              <a:rPr lang="en-US" sz="2400" b="1" dirty="0"/>
              <a:t>Who generates it:</a:t>
            </a:r>
            <a:r>
              <a:rPr lang="en-US" sz="2400" dirty="0"/>
              <a:t> The CPU, during program execution.</a:t>
            </a:r>
          </a:p>
          <a:p>
            <a:pPr marL="0" indent="0" algn="just">
              <a:buNone/>
            </a:pPr>
            <a:r>
              <a:rPr lang="en-US" sz="2400" b="1" dirty="0"/>
              <a:t>Purpose:</a:t>
            </a:r>
            <a:r>
              <a:rPr lang="en-US" sz="2400" dirty="0"/>
              <a:t> It allows programs to be independent of physical memory — meaning they don’t need to know where their data actually sits in RAM.</a:t>
            </a:r>
          </a:p>
          <a:p>
            <a:pPr marL="0" indent="0">
              <a:buNone/>
            </a:pPr>
            <a:r>
              <a:rPr lang="en-US" sz="2400" b="1" dirty="0"/>
              <a:t>Example:</a:t>
            </a:r>
          </a:p>
          <a:p>
            <a:pPr marL="0" indent="0" algn="just">
              <a:buNone/>
            </a:pPr>
            <a:r>
              <a:rPr lang="en-US" sz="2400" dirty="0"/>
              <a:t>If a program accesses memory location </a:t>
            </a:r>
            <a:r>
              <a:rPr lang="en-US" sz="2400" b="1" dirty="0"/>
              <a:t>1000</a:t>
            </a:r>
            <a:r>
              <a:rPr lang="en-US" sz="2400" dirty="0"/>
              <a:t>, that’s a </a:t>
            </a:r>
            <a:r>
              <a:rPr lang="en-US" sz="2400" i="1" dirty="0"/>
              <a:t>logical address</a:t>
            </a:r>
            <a:r>
              <a:rPr lang="en-US" sz="2400" dirty="0"/>
              <a:t>.</a:t>
            </a:r>
          </a:p>
          <a:p>
            <a:pPr marL="0" indent="0" algn="just">
              <a:buNone/>
            </a:pPr>
            <a:r>
              <a:rPr lang="en-US" sz="2400" dirty="0"/>
              <a:t>But this 1000 might not correspond to the same physical address in RAM.</a:t>
            </a:r>
          </a:p>
        </p:txBody>
      </p:sp>
    </p:spTree>
    <p:extLst>
      <p:ext uri="{BB962C8B-B14F-4D97-AF65-F5344CB8AC3E}">
        <p14:creationId xmlns:p14="http://schemas.microsoft.com/office/powerpoint/2010/main" val="465638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005" y="213756"/>
            <a:ext cx="8870868" cy="6495802"/>
          </a:xfrm>
        </p:spPr>
        <p:txBody>
          <a:bodyPr>
            <a:normAutofit lnSpcReduction="10000"/>
          </a:bodyPr>
          <a:lstStyle/>
          <a:p>
            <a:pPr marL="0" indent="0">
              <a:buNone/>
            </a:pPr>
            <a:r>
              <a:rPr lang="en-US" b="1" dirty="0"/>
              <a:t>Physical Address</a:t>
            </a:r>
          </a:p>
          <a:p>
            <a:pPr marL="0" indent="0" algn="just">
              <a:buNone/>
            </a:pPr>
            <a:r>
              <a:rPr lang="en-US" sz="2800" dirty="0"/>
              <a:t>The physical address is the actual location in the computer’s RAM (main memory).</a:t>
            </a:r>
          </a:p>
          <a:p>
            <a:pPr marL="0" indent="0" algn="just">
              <a:buNone/>
            </a:pPr>
            <a:r>
              <a:rPr lang="en-US" sz="2800" dirty="0"/>
              <a:t>Where it exists: In the hardware’s view (memory chips).</a:t>
            </a:r>
            <a:br>
              <a:rPr lang="en-US" sz="2800" dirty="0"/>
            </a:br>
            <a:r>
              <a:rPr lang="en-US" sz="2800" dirty="0"/>
              <a:t>It’s the address that the memory unit (RAM) uses to store or fetch data.</a:t>
            </a:r>
          </a:p>
          <a:p>
            <a:pPr marL="0" indent="0" algn="just">
              <a:buNone/>
            </a:pPr>
            <a:r>
              <a:rPr lang="en-US" sz="2800" b="1" dirty="0"/>
              <a:t>Who uses it:</a:t>
            </a:r>
            <a:r>
              <a:rPr lang="en-US" sz="2800" dirty="0"/>
              <a:t> The Memory Unit, it only understands physical addresses.</a:t>
            </a:r>
          </a:p>
          <a:p>
            <a:pPr marL="0" indent="0" algn="just">
              <a:buNone/>
            </a:pPr>
            <a:r>
              <a:rPr lang="en-US" sz="2800" b="1" dirty="0"/>
              <a:t>Relation to logical address:</a:t>
            </a:r>
            <a:r>
              <a:rPr lang="en-US" sz="2800" dirty="0"/>
              <a:t> A logical address must be translated to a physical address before the data can be accessed.</a:t>
            </a:r>
          </a:p>
          <a:p>
            <a:pPr marL="0" indent="0" algn="just">
              <a:buNone/>
            </a:pPr>
            <a:r>
              <a:rPr lang="en-US" sz="2800" b="1" dirty="0"/>
              <a:t>Example:</a:t>
            </a:r>
          </a:p>
          <a:p>
            <a:pPr marL="0" indent="0" algn="just">
              <a:buNone/>
            </a:pPr>
            <a:r>
              <a:rPr lang="en-US" sz="2800" dirty="0"/>
              <a:t>The logical address 1000 (from CPU) may correspond to physical address 5000 in RAM.</a:t>
            </a:r>
          </a:p>
          <a:p>
            <a:pPr marL="0" indent="0" algn="just">
              <a:buNone/>
            </a:pPr>
            <a:endParaRPr lang="en-US" dirty="0"/>
          </a:p>
        </p:txBody>
      </p:sp>
    </p:spTree>
    <p:extLst>
      <p:ext uri="{BB962C8B-B14F-4D97-AF65-F5344CB8AC3E}">
        <p14:creationId xmlns:p14="http://schemas.microsoft.com/office/powerpoint/2010/main" val="2424909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005" y="213756"/>
            <a:ext cx="8870868" cy="6495802"/>
          </a:xfrm>
        </p:spPr>
        <p:txBody>
          <a:bodyPr>
            <a:normAutofit lnSpcReduction="10000"/>
          </a:bodyPr>
          <a:lstStyle/>
          <a:p>
            <a:pPr marL="0" indent="0" algn="just">
              <a:lnSpc>
                <a:spcPct val="170000"/>
              </a:lnSpc>
              <a:buNone/>
            </a:pPr>
            <a:r>
              <a:rPr lang="en-US" sz="1800" b="1" dirty="0">
                <a:latin typeface="Times New Roman" panose="02020603050405020304" pitchFamily="18" charset="0"/>
                <a:ea typeface="Tahoma" panose="020B0604030504040204" pitchFamily="34" charset="0"/>
                <a:cs typeface="Times New Roman" panose="02020603050405020304" pitchFamily="18" charset="0"/>
              </a:rPr>
              <a:t>MMU (Memory Management Unit)</a:t>
            </a:r>
          </a:p>
          <a:p>
            <a:pPr algn="just">
              <a:lnSpc>
                <a:spcPct val="11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The MMU is a hardware component that automatically translates logical addresses to physical addresses.</a:t>
            </a:r>
          </a:p>
          <a:p>
            <a:pPr algn="just">
              <a:lnSpc>
                <a:spcPct val="110000"/>
              </a:lnSpc>
            </a:pPr>
            <a:r>
              <a:rPr lang="en-US" sz="2000" b="1" dirty="0">
                <a:latin typeface="Times New Roman" panose="02020603050405020304" pitchFamily="18" charset="0"/>
                <a:ea typeface="Tahoma" panose="020B0604030504040204" pitchFamily="34" charset="0"/>
                <a:cs typeface="Times New Roman" panose="02020603050405020304" pitchFamily="18" charset="0"/>
              </a:rPr>
              <a:t>Function:</a:t>
            </a:r>
            <a:r>
              <a:rPr lang="en-US" sz="2000" dirty="0">
                <a:latin typeface="Times New Roman" panose="02020603050405020304" pitchFamily="18" charset="0"/>
                <a:ea typeface="Tahoma" panose="020B0604030504040204" pitchFamily="34" charset="0"/>
                <a:cs typeface="Times New Roman" panose="02020603050405020304" pitchFamily="18" charset="0"/>
              </a:rPr>
              <a:t> It sits between the CPU and the physical memory, performing address mapping in real time.</a:t>
            </a:r>
          </a:p>
          <a:p>
            <a:pPr algn="just">
              <a:lnSpc>
                <a:spcPct val="110000"/>
              </a:lnSpc>
            </a:pPr>
            <a:r>
              <a:rPr lang="en-US" sz="2000" b="1" dirty="0">
                <a:latin typeface="Times New Roman" panose="02020603050405020304" pitchFamily="18" charset="0"/>
                <a:ea typeface="Tahoma" panose="020B0604030504040204" pitchFamily="34" charset="0"/>
                <a:cs typeface="Times New Roman" panose="02020603050405020304" pitchFamily="18" charset="0"/>
              </a:rPr>
              <a:t>Controlled by:</a:t>
            </a:r>
            <a:r>
              <a:rPr lang="en-US" sz="2000" dirty="0">
                <a:latin typeface="Times New Roman" panose="02020603050405020304" pitchFamily="18" charset="0"/>
                <a:ea typeface="Tahoma" panose="020B0604030504040204" pitchFamily="34" charset="0"/>
                <a:cs typeface="Times New Roman" panose="02020603050405020304" pitchFamily="18" charset="0"/>
              </a:rPr>
              <a:t> The Operating System, which provides the mapping tables (like page tables in virtual memory).</a:t>
            </a:r>
          </a:p>
          <a:p>
            <a:pPr algn="just">
              <a:lnSpc>
                <a:spcPct val="110000"/>
              </a:lnSpc>
            </a:pPr>
            <a:r>
              <a:rPr lang="en-US" sz="2000" b="1" dirty="0">
                <a:latin typeface="Times New Roman" panose="02020603050405020304" pitchFamily="18" charset="0"/>
                <a:ea typeface="Tahoma" panose="020B0604030504040204" pitchFamily="34" charset="0"/>
                <a:cs typeface="Times New Roman" panose="02020603050405020304" pitchFamily="18" charset="0"/>
              </a:rPr>
              <a:t>Importance:</a:t>
            </a:r>
            <a:r>
              <a:rPr lang="en-US" sz="2000" dirty="0">
                <a:latin typeface="Times New Roman" panose="02020603050405020304" pitchFamily="18" charset="0"/>
                <a:ea typeface="Tahoma" panose="020B0604030504040204" pitchFamily="34" charset="0"/>
                <a:cs typeface="Times New Roman" panose="02020603050405020304" pitchFamily="18" charset="0"/>
              </a:rPr>
              <a:t> This translation allows:</a:t>
            </a:r>
          </a:p>
          <a:p>
            <a:pPr lvl="1" algn="just">
              <a:lnSpc>
                <a:spcPct val="110000"/>
              </a:lnSpc>
            </a:pPr>
            <a:r>
              <a:rPr lang="en-US" sz="1800" dirty="0">
                <a:latin typeface="Times New Roman" panose="02020603050405020304" pitchFamily="18" charset="0"/>
                <a:ea typeface="Tahoma" panose="020B0604030504040204" pitchFamily="34" charset="0"/>
                <a:cs typeface="Times New Roman" panose="02020603050405020304" pitchFamily="18" charset="0"/>
              </a:rPr>
              <a:t>Memory protection: Each process accesses only its own memory.</a:t>
            </a:r>
          </a:p>
          <a:p>
            <a:pPr lvl="1" algn="just">
              <a:lnSpc>
                <a:spcPct val="110000"/>
              </a:lnSpc>
            </a:pPr>
            <a:r>
              <a:rPr lang="en-US" sz="1800" dirty="0">
                <a:latin typeface="Times New Roman" panose="02020603050405020304" pitchFamily="18" charset="0"/>
                <a:ea typeface="Tahoma" panose="020B0604030504040204" pitchFamily="34" charset="0"/>
                <a:cs typeface="Times New Roman" panose="02020603050405020304" pitchFamily="18" charset="0"/>
              </a:rPr>
              <a:t>Efficient memory use: Enables features like paging and segmentation.</a:t>
            </a:r>
          </a:p>
          <a:p>
            <a:pPr lvl="1" algn="just">
              <a:lnSpc>
                <a:spcPct val="110000"/>
              </a:lnSpc>
            </a:pPr>
            <a:r>
              <a:rPr lang="en-US" sz="1800" dirty="0">
                <a:latin typeface="Times New Roman" panose="02020603050405020304" pitchFamily="18" charset="0"/>
                <a:ea typeface="Tahoma" panose="020B0604030504040204" pitchFamily="34" charset="0"/>
                <a:cs typeface="Times New Roman" panose="02020603050405020304" pitchFamily="18" charset="0"/>
              </a:rPr>
              <a:t>Process isolation: Prevents one program from interfering with another.</a:t>
            </a:r>
          </a:p>
          <a:p>
            <a:pPr marL="0" indent="0" algn="just">
              <a:lnSpc>
                <a:spcPct val="110000"/>
              </a:lnSpc>
              <a:buNone/>
            </a:pPr>
            <a:r>
              <a:rPr lang="en-US" sz="2000" b="1" dirty="0">
                <a:latin typeface="Times New Roman" panose="02020603050405020304" pitchFamily="18" charset="0"/>
                <a:ea typeface="Tahoma" panose="020B0604030504040204" pitchFamily="34" charset="0"/>
                <a:cs typeface="Times New Roman" panose="02020603050405020304" pitchFamily="18" charset="0"/>
              </a:rPr>
              <a:t>Example Workflow:</a:t>
            </a:r>
          </a:p>
          <a:p>
            <a:pPr marL="0" indent="0" algn="just">
              <a:lnSpc>
                <a:spcPct val="110000"/>
              </a:lnSpc>
              <a:buNone/>
            </a:pPr>
            <a:r>
              <a:rPr lang="en-US" sz="2000" dirty="0">
                <a:latin typeface="Times New Roman" panose="02020603050405020304" pitchFamily="18" charset="0"/>
                <a:ea typeface="Tahoma" panose="020B0604030504040204" pitchFamily="34" charset="0"/>
                <a:cs typeface="Times New Roman" panose="02020603050405020304" pitchFamily="18" charset="0"/>
              </a:rPr>
              <a:t>CPU generates a logical address → 1000</a:t>
            </a:r>
          </a:p>
          <a:p>
            <a:pPr marL="0" indent="0" algn="just">
              <a:lnSpc>
                <a:spcPct val="110000"/>
              </a:lnSpc>
              <a:buNone/>
            </a:pPr>
            <a:r>
              <a:rPr lang="en-US" sz="2000" dirty="0">
                <a:latin typeface="Times New Roman" panose="02020603050405020304" pitchFamily="18" charset="0"/>
                <a:ea typeface="Tahoma" panose="020B0604030504040204" pitchFamily="34" charset="0"/>
                <a:cs typeface="Times New Roman" panose="02020603050405020304" pitchFamily="18" charset="0"/>
              </a:rPr>
              <a:t>MMU checks its mapping table and translates it to physical address → 5000</a:t>
            </a:r>
          </a:p>
          <a:p>
            <a:pPr marL="0" indent="0" algn="just">
              <a:lnSpc>
                <a:spcPct val="110000"/>
              </a:lnSpc>
              <a:buNone/>
            </a:pPr>
            <a:r>
              <a:rPr lang="en-US" sz="2000" dirty="0">
                <a:latin typeface="Times New Roman" panose="02020603050405020304" pitchFamily="18" charset="0"/>
                <a:ea typeface="Tahoma" panose="020B0604030504040204" pitchFamily="34" charset="0"/>
                <a:cs typeface="Times New Roman" panose="02020603050405020304" pitchFamily="18" charset="0"/>
              </a:rPr>
              <a:t>Data is fetched from physical memory location 5000.</a:t>
            </a:r>
          </a:p>
          <a:p>
            <a:pPr marL="0" indent="0" algn="just">
              <a:lnSpc>
                <a:spcPct val="170000"/>
              </a:lnSpc>
              <a:buNone/>
            </a:pPr>
            <a:endParaRPr lang="en-US" sz="18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576708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3C82D59D-C113-4BDE-8C68-615D10901AD3}"/>
              </a:ext>
            </a:extLst>
          </p:cNvPr>
          <p:cNvGraphicFramePr>
            <a:graphicFrameLocks noGrp="1"/>
          </p:cNvGraphicFramePr>
          <p:nvPr>
            <p:extLst>
              <p:ext uri="{D42A27DB-BD31-4B8C-83A1-F6EECF244321}">
                <p14:modId xmlns:p14="http://schemas.microsoft.com/office/powerpoint/2010/main" val="783346968"/>
              </p:ext>
            </p:extLst>
          </p:nvPr>
        </p:nvGraphicFramePr>
        <p:xfrm>
          <a:off x="415636" y="448431"/>
          <a:ext cx="8508670" cy="5964244"/>
        </p:xfrm>
        <a:graphic>
          <a:graphicData uri="http://schemas.openxmlformats.org/drawingml/2006/table">
            <a:tbl>
              <a:tblPr/>
              <a:tblGrid>
                <a:gridCol w="1701734">
                  <a:extLst>
                    <a:ext uri="{9D8B030D-6E8A-4147-A177-3AD203B41FA5}">
                      <a16:colId xmlns:a16="http://schemas.microsoft.com/office/drawing/2014/main" val="1899063733"/>
                    </a:ext>
                  </a:extLst>
                </a:gridCol>
                <a:gridCol w="1852753">
                  <a:extLst>
                    <a:ext uri="{9D8B030D-6E8A-4147-A177-3AD203B41FA5}">
                      <a16:colId xmlns:a16="http://schemas.microsoft.com/office/drawing/2014/main" val="1412224921"/>
                    </a:ext>
                  </a:extLst>
                </a:gridCol>
                <a:gridCol w="2148654">
                  <a:extLst>
                    <a:ext uri="{9D8B030D-6E8A-4147-A177-3AD203B41FA5}">
                      <a16:colId xmlns:a16="http://schemas.microsoft.com/office/drawing/2014/main" val="1173740751"/>
                    </a:ext>
                  </a:extLst>
                </a:gridCol>
                <a:gridCol w="1386428">
                  <a:extLst>
                    <a:ext uri="{9D8B030D-6E8A-4147-A177-3AD203B41FA5}">
                      <a16:colId xmlns:a16="http://schemas.microsoft.com/office/drawing/2014/main" val="2877495133"/>
                    </a:ext>
                  </a:extLst>
                </a:gridCol>
                <a:gridCol w="1419101">
                  <a:extLst>
                    <a:ext uri="{9D8B030D-6E8A-4147-A177-3AD203B41FA5}">
                      <a16:colId xmlns:a16="http://schemas.microsoft.com/office/drawing/2014/main" val="508314798"/>
                    </a:ext>
                  </a:extLst>
                </a:gridCol>
              </a:tblGrid>
              <a:tr h="970923">
                <a:tc>
                  <a:txBody>
                    <a:bodyPr/>
                    <a:lstStyle/>
                    <a:p>
                      <a:pPr algn="ctr"/>
                      <a:r>
                        <a:rPr lang="en-US" b="1" u="none" dirty="0"/>
                        <a:t>Concept</a:t>
                      </a:r>
                    </a:p>
                  </a:txBody>
                  <a:tcPr anchor="ctr">
                    <a:lnL>
                      <a:noFill/>
                    </a:lnL>
                    <a:lnR>
                      <a:noFill/>
                    </a:lnR>
                    <a:lnT>
                      <a:noFill/>
                    </a:lnT>
                    <a:lnB>
                      <a:noFill/>
                    </a:lnB>
                  </a:tcPr>
                </a:tc>
                <a:tc>
                  <a:txBody>
                    <a:bodyPr/>
                    <a:lstStyle/>
                    <a:p>
                      <a:pPr algn="ctr"/>
                      <a:r>
                        <a:rPr lang="en-US" b="1" u="none" dirty="0"/>
                        <a:t>Description</a:t>
                      </a:r>
                    </a:p>
                  </a:txBody>
                  <a:tcPr anchor="ctr">
                    <a:lnL>
                      <a:noFill/>
                    </a:lnL>
                    <a:lnR>
                      <a:noFill/>
                    </a:lnR>
                    <a:lnT>
                      <a:noFill/>
                    </a:lnT>
                    <a:lnB>
                      <a:noFill/>
                    </a:lnB>
                  </a:tcPr>
                </a:tc>
                <a:tc>
                  <a:txBody>
                    <a:bodyPr/>
                    <a:lstStyle/>
                    <a:p>
                      <a:pPr algn="ctr"/>
                      <a:r>
                        <a:rPr lang="en-US" b="1" u="none" dirty="0"/>
                        <a:t>Generated/Used by</a:t>
                      </a:r>
                    </a:p>
                  </a:txBody>
                  <a:tcPr anchor="ctr">
                    <a:lnL>
                      <a:noFill/>
                    </a:lnL>
                    <a:lnR>
                      <a:noFill/>
                    </a:lnR>
                    <a:lnT>
                      <a:noFill/>
                    </a:lnT>
                    <a:lnB>
                      <a:noFill/>
                    </a:lnB>
                  </a:tcPr>
                </a:tc>
                <a:tc>
                  <a:txBody>
                    <a:bodyPr/>
                    <a:lstStyle/>
                    <a:p>
                      <a:pPr algn="ctr"/>
                      <a:r>
                        <a:rPr lang="en-US" b="1" u="none" dirty="0"/>
                        <a:t>Example Address</a:t>
                      </a:r>
                    </a:p>
                  </a:txBody>
                  <a:tcPr anchor="ctr">
                    <a:lnL>
                      <a:noFill/>
                    </a:lnL>
                    <a:lnR>
                      <a:noFill/>
                    </a:lnR>
                    <a:lnT>
                      <a:noFill/>
                    </a:lnT>
                    <a:lnB>
                      <a:noFill/>
                    </a:lnB>
                  </a:tcPr>
                </a:tc>
                <a:tc>
                  <a:txBody>
                    <a:bodyPr/>
                    <a:lstStyle/>
                    <a:p>
                      <a:pPr algn="ctr"/>
                      <a:r>
                        <a:rPr lang="en-US" b="1" u="none" dirty="0"/>
                        <a:t>Role</a:t>
                      </a:r>
                    </a:p>
                  </a:txBody>
                  <a:tcPr anchor="ctr">
                    <a:lnL>
                      <a:noFill/>
                    </a:lnL>
                    <a:lnR>
                      <a:noFill/>
                    </a:lnR>
                    <a:lnT>
                      <a:noFill/>
                    </a:lnT>
                    <a:lnB>
                      <a:noFill/>
                    </a:lnB>
                  </a:tcPr>
                </a:tc>
                <a:extLst>
                  <a:ext uri="{0D108BD9-81ED-4DB2-BD59-A6C34878D82A}">
                    <a16:rowId xmlns:a16="http://schemas.microsoft.com/office/drawing/2014/main" val="3090213636"/>
                  </a:ext>
                </a:extLst>
              </a:tr>
              <a:tr h="1803144">
                <a:tc>
                  <a:txBody>
                    <a:bodyPr/>
                    <a:lstStyle/>
                    <a:p>
                      <a:r>
                        <a:rPr lang="en-US" b="1"/>
                        <a:t>Logical Address</a:t>
                      </a:r>
                      <a:endParaRPr lang="en-US"/>
                    </a:p>
                  </a:txBody>
                  <a:tcPr anchor="ctr">
                    <a:lnL>
                      <a:noFill/>
                    </a:lnL>
                    <a:lnR>
                      <a:noFill/>
                    </a:lnR>
                    <a:lnT>
                      <a:noFill/>
                    </a:lnT>
                    <a:lnB>
                      <a:noFill/>
                    </a:lnB>
                  </a:tcPr>
                </a:tc>
                <a:tc>
                  <a:txBody>
                    <a:bodyPr/>
                    <a:lstStyle/>
                    <a:p>
                      <a:r>
                        <a:rPr lang="en-US"/>
                        <a:t>Address generated by the CPU during execution</a:t>
                      </a:r>
                    </a:p>
                  </a:txBody>
                  <a:tcPr anchor="ctr">
                    <a:lnL>
                      <a:noFill/>
                    </a:lnL>
                    <a:lnR>
                      <a:noFill/>
                    </a:lnR>
                    <a:lnT>
                      <a:noFill/>
                    </a:lnT>
                    <a:lnB>
                      <a:noFill/>
                    </a:lnB>
                  </a:tcPr>
                </a:tc>
                <a:tc>
                  <a:txBody>
                    <a:bodyPr/>
                    <a:lstStyle/>
                    <a:p>
                      <a:r>
                        <a:rPr lang="en-US"/>
                        <a:t>CPU</a:t>
                      </a:r>
                    </a:p>
                  </a:txBody>
                  <a:tcPr anchor="ctr">
                    <a:lnL>
                      <a:noFill/>
                    </a:lnL>
                    <a:lnR>
                      <a:noFill/>
                    </a:lnR>
                    <a:lnT>
                      <a:noFill/>
                    </a:lnT>
                    <a:lnB>
                      <a:noFill/>
                    </a:lnB>
                  </a:tcPr>
                </a:tc>
                <a:tc>
                  <a:txBody>
                    <a:bodyPr/>
                    <a:lstStyle/>
                    <a:p>
                      <a:r>
                        <a:rPr lang="en-US"/>
                        <a:t>1000</a:t>
                      </a:r>
                    </a:p>
                  </a:txBody>
                  <a:tcPr anchor="ctr">
                    <a:lnL>
                      <a:noFill/>
                    </a:lnL>
                    <a:lnR>
                      <a:noFill/>
                    </a:lnR>
                    <a:lnT>
                      <a:noFill/>
                    </a:lnT>
                    <a:lnB>
                      <a:noFill/>
                    </a:lnB>
                  </a:tcPr>
                </a:tc>
                <a:tc>
                  <a:txBody>
                    <a:bodyPr/>
                    <a:lstStyle/>
                    <a:p>
                      <a:r>
                        <a:rPr lang="en-US"/>
                        <a:t>Used by programs</a:t>
                      </a:r>
                    </a:p>
                  </a:txBody>
                  <a:tcPr anchor="ctr">
                    <a:lnL>
                      <a:noFill/>
                    </a:lnL>
                    <a:lnR>
                      <a:noFill/>
                    </a:lnR>
                    <a:lnT>
                      <a:noFill/>
                    </a:lnT>
                    <a:lnB>
                      <a:noFill/>
                    </a:lnB>
                  </a:tcPr>
                </a:tc>
                <a:extLst>
                  <a:ext uri="{0D108BD9-81ED-4DB2-BD59-A6C34878D82A}">
                    <a16:rowId xmlns:a16="http://schemas.microsoft.com/office/drawing/2014/main" val="1488394055"/>
                  </a:ext>
                </a:extLst>
              </a:tr>
              <a:tr h="1387033">
                <a:tc>
                  <a:txBody>
                    <a:bodyPr/>
                    <a:lstStyle/>
                    <a:p>
                      <a:r>
                        <a:rPr lang="en-US" b="1"/>
                        <a:t>Physical Address</a:t>
                      </a:r>
                      <a:endParaRPr lang="en-US"/>
                    </a:p>
                  </a:txBody>
                  <a:tcPr anchor="ctr">
                    <a:lnL>
                      <a:noFill/>
                    </a:lnL>
                    <a:lnR>
                      <a:noFill/>
                    </a:lnR>
                    <a:lnT>
                      <a:noFill/>
                    </a:lnT>
                    <a:lnB>
                      <a:noFill/>
                    </a:lnB>
                  </a:tcPr>
                </a:tc>
                <a:tc>
                  <a:txBody>
                    <a:bodyPr/>
                    <a:lstStyle/>
                    <a:p>
                      <a:r>
                        <a:rPr lang="en-US"/>
                        <a:t>Actual location in main memory (RAM)</a:t>
                      </a:r>
                    </a:p>
                  </a:txBody>
                  <a:tcPr anchor="ctr">
                    <a:lnL>
                      <a:noFill/>
                    </a:lnL>
                    <a:lnR>
                      <a:noFill/>
                    </a:lnR>
                    <a:lnT>
                      <a:noFill/>
                    </a:lnT>
                    <a:lnB>
                      <a:noFill/>
                    </a:lnB>
                  </a:tcPr>
                </a:tc>
                <a:tc>
                  <a:txBody>
                    <a:bodyPr/>
                    <a:lstStyle/>
                    <a:p>
                      <a:r>
                        <a:rPr lang="en-US"/>
                        <a:t>Memory hardware</a:t>
                      </a:r>
                    </a:p>
                  </a:txBody>
                  <a:tcPr anchor="ctr">
                    <a:lnL>
                      <a:noFill/>
                    </a:lnL>
                    <a:lnR>
                      <a:noFill/>
                    </a:lnR>
                    <a:lnT>
                      <a:noFill/>
                    </a:lnT>
                    <a:lnB>
                      <a:noFill/>
                    </a:lnB>
                  </a:tcPr>
                </a:tc>
                <a:tc>
                  <a:txBody>
                    <a:bodyPr/>
                    <a:lstStyle/>
                    <a:p>
                      <a:r>
                        <a:rPr lang="en-US"/>
                        <a:t>5000</a:t>
                      </a:r>
                    </a:p>
                  </a:txBody>
                  <a:tcPr anchor="ctr">
                    <a:lnL>
                      <a:noFill/>
                    </a:lnL>
                    <a:lnR>
                      <a:noFill/>
                    </a:lnR>
                    <a:lnT>
                      <a:noFill/>
                    </a:lnT>
                    <a:lnB>
                      <a:noFill/>
                    </a:lnB>
                  </a:tcPr>
                </a:tc>
                <a:tc>
                  <a:txBody>
                    <a:bodyPr/>
                    <a:lstStyle/>
                    <a:p>
                      <a:r>
                        <a:rPr lang="en-US"/>
                        <a:t>Used by RAM</a:t>
                      </a:r>
                    </a:p>
                  </a:txBody>
                  <a:tcPr anchor="ctr">
                    <a:lnL>
                      <a:noFill/>
                    </a:lnL>
                    <a:lnR>
                      <a:noFill/>
                    </a:lnR>
                    <a:lnT>
                      <a:noFill/>
                    </a:lnT>
                    <a:lnB>
                      <a:noFill/>
                    </a:lnB>
                  </a:tcPr>
                </a:tc>
                <a:extLst>
                  <a:ext uri="{0D108BD9-81ED-4DB2-BD59-A6C34878D82A}">
                    <a16:rowId xmlns:a16="http://schemas.microsoft.com/office/drawing/2014/main" val="4054501049"/>
                  </a:ext>
                </a:extLst>
              </a:tr>
              <a:tr h="1803144">
                <a:tc>
                  <a:txBody>
                    <a:bodyPr/>
                    <a:lstStyle/>
                    <a:p>
                      <a:r>
                        <a:rPr lang="en-US" b="1"/>
                        <a:t>MMU</a:t>
                      </a:r>
                      <a:endParaRPr lang="en-US"/>
                    </a:p>
                  </a:txBody>
                  <a:tcPr anchor="ctr">
                    <a:lnL>
                      <a:noFill/>
                    </a:lnL>
                    <a:lnR>
                      <a:noFill/>
                    </a:lnR>
                    <a:lnT>
                      <a:noFill/>
                    </a:lnT>
                    <a:lnB>
                      <a:noFill/>
                    </a:lnB>
                  </a:tcPr>
                </a:tc>
                <a:tc>
                  <a:txBody>
                    <a:bodyPr/>
                    <a:lstStyle/>
                    <a:p>
                      <a:r>
                        <a:rPr lang="en-US"/>
                        <a:t>Hardware that translates logical → physical</a:t>
                      </a:r>
                    </a:p>
                  </a:txBody>
                  <a:tcPr anchor="ctr">
                    <a:lnL>
                      <a:noFill/>
                    </a:lnL>
                    <a:lnR>
                      <a:noFill/>
                    </a:lnR>
                    <a:lnT>
                      <a:noFill/>
                    </a:lnT>
                    <a:lnB>
                      <a:noFill/>
                    </a:lnB>
                  </a:tcPr>
                </a:tc>
                <a:tc>
                  <a:txBody>
                    <a:bodyPr/>
                    <a:lstStyle/>
                    <a:p>
                      <a:r>
                        <a:rPr lang="en-US"/>
                        <a:t>CPU &amp; OS</a:t>
                      </a:r>
                    </a:p>
                  </a:txBody>
                  <a:tcPr anchor="ctr">
                    <a:lnL>
                      <a:noFill/>
                    </a:lnL>
                    <a:lnR>
                      <a:noFill/>
                    </a:lnR>
                    <a:lnT>
                      <a:noFill/>
                    </a:lnT>
                    <a:lnB>
                      <a:noFill/>
                    </a:lnB>
                  </a:tcPr>
                </a:tc>
                <a:tc>
                  <a:txBody>
                    <a:bodyPr/>
                    <a:lstStyle/>
                    <a:p>
                      <a:r>
                        <a:rPr lang="en-US"/>
                        <a:t>1000 → 5000</a:t>
                      </a:r>
                    </a:p>
                  </a:txBody>
                  <a:tcPr anchor="ctr">
                    <a:lnL>
                      <a:noFill/>
                    </a:lnL>
                    <a:lnR>
                      <a:noFill/>
                    </a:lnR>
                    <a:lnT>
                      <a:noFill/>
                    </a:lnT>
                    <a:lnB>
                      <a:noFill/>
                    </a:lnB>
                  </a:tcPr>
                </a:tc>
                <a:tc>
                  <a:txBody>
                    <a:bodyPr/>
                    <a:lstStyle/>
                    <a:p>
                      <a:r>
                        <a:rPr lang="en-US" dirty="0"/>
                        <a:t>Provides mapping &amp; protection</a:t>
                      </a:r>
                    </a:p>
                  </a:txBody>
                  <a:tcPr anchor="ctr">
                    <a:lnL>
                      <a:noFill/>
                    </a:lnL>
                    <a:lnR>
                      <a:noFill/>
                    </a:lnR>
                    <a:lnT>
                      <a:noFill/>
                    </a:lnT>
                    <a:lnB>
                      <a:noFill/>
                    </a:lnB>
                  </a:tcPr>
                </a:tc>
                <a:extLst>
                  <a:ext uri="{0D108BD9-81ED-4DB2-BD59-A6C34878D82A}">
                    <a16:rowId xmlns:a16="http://schemas.microsoft.com/office/drawing/2014/main" val="36882352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056" y="134587"/>
            <a:ext cx="8035637" cy="1320800"/>
          </a:xfrm>
        </p:spPr>
        <p:txBody>
          <a:bodyPr>
            <a:normAutofit/>
          </a:bodyPr>
          <a:lstStyle/>
          <a:p>
            <a:r>
              <a:rPr dirty="0"/>
              <a:t>OS Activities in Memory Management</a:t>
            </a:r>
          </a:p>
        </p:txBody>
      </p:sp>
      <p:sp>
        <p:nvSpPr>
          <p:cNvPr id="3" name="Content Placeholder 2"/>
          <p:cNvSpPr>
            <a:spLocks noGrp="1"/>
          </p:cNvSpPr>
          <p:nvPr>
            <p:ph idx="1"/>
          </p:nvPr>
        </p:nvSpPr>
        <p:spPr>
          <a:xfrm>
            <a:off x="130629" y="1166018"/>
            <a:ext cx="8906493" cy="4525963"/>
          </a:xfrm>
        </p:spPr>
        <p:txBody>
          <a:bodyPr>
            <a:normAutofit fontScale="77500" lnSpcReduction="20000"/>
          </a:bodyPr>
          <a:lstStyle/>
          <a:p>
            <a:pPr marL="0" indent="0">
              <a:lnSpc>
                <a:spcPct val="200000"/>
              </a:lnSpc>
              <a:buNone/>
            </a:pPr>
            <a:r>
              <a:rPr sz="4800" dirty="0"/>
              <a:t>• Tracking memory usage.</a:t>
            </a:r>
          </a:p>
          <a:p>
            <a:pPr marL="0" indent="0">
              <a:lnSpc>
                <a:spcPct val="200000"/>
              </a:lnSpc>
              <a:buNone/>
            </a:pPr>
            <a:r>
              <a:rPr sz="4800" dirty="0"/>
              <a:t>• Allocation and protection.</a:t>
            </a:r>
          </a:p>
          <a:p>
            <a:pPr marL="0" indent="0">
              <a:lnSpc>
                <a:spcPct val="200000"/>
              </a:lnSpc>
              <a:buNone/>
            </a:pPr>
            <a:r>
              <a:rPr sz="4800" dirty="0"/>
              <a:t>• Sharing and mapping.</a:t>
            </a:r>
          </a:p>
          <a:p>
            <a:pPr marL="0" indent="0">
              <a:lnSpc>
                <a:spcPct val="200000"/>
              </a:lnSpc>
              <a:buNone/>
            </a:pPr>
            <a:r>
              <a:rPr sz="4800" dirty="0"/>
              <a:t>• Swapping, paging, segmentation.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5885"/>
            <a:ext cx="8229600" cy="758515"/>
          </a:xfrm>
        </p:spPr>
        <p:txBody>
          <a:bodyPr>
            <a:noAutofit/>
          </a:bodyPr>
          <a:lstStyle/>
          <a:p>
            <a:r>
              <a:rPr lang="en-US" sz="3200" b="1" dirty="0"/>
              <a:t>Binding of Instructions and Data to Memory: </a:t>
            </a:r>
            <a:endParaRPr sz="3200" dirty="0"/>
          </a:p>
        </p:txBody>
      </p:sp>
      <p:sp>
        <p:nvSpPr>
          <p:cNvPr id="3" name="Content Placeholder 2"/>
          <p:cNvSpPr>
            <a:spLocks noGrp="1"/>
          </p:cNvSpPr>
          <p:nvPr>
            <p:ph idx="1"/>
          </p:nvPr>
        </p:nvSpPr>
        <p:spPr>
          <a:xfrm>
            <a:off x="190005" y="914400"/>
            <a:ext cx="8704613" cy="5787715"/>
          </a:xfrm>
        </p:spPr>
        <p:txBody>
          <a:bodyPr>
            <a:noAutofit/>
          </a:bodyPr>
          <a:lstStyle/>
          <a:p>
            <a:pPr marL="0" indent="0">
              <a:lnSpc>
                <a:spcPct val="170000"/>
              </a:lnSpc>
              <a:buNone/>
            </a:pPr>
            <a:r>
              <a:rPr lang="en-US" sz="1800" dirty="0"/>
              <a:t>The binding of data and program to memory address can be done at any of the following steps: </a:t>
            </a:r>
          </a:p>
          <a:p>
            <a:pPr algn="just">
              <a:lnSpc>
                <a:spcPct val="170000"/>
              </a:lnSpc>
            </a:pPr>
            <a:r>
              <a:rPr lang="en-US" sz="1800" b="1" dirty="0"/>
              <a:t>Compile Time: </a:t>
            </a:r>
            <a:r>
              <a:rPr lang="en-US" sz="1800" dirty="0"/>
              <a:t>Binding at compile time generates absolute addresses where a prior knowledge is required that where a process resides in the memory. After sometime if the starting location of a process in memory is changed, then the entire process must be recompiled to generate the absolute address again. </a:t>
            </a:r>
          </a:p>
          <a:p>
            <a:pPr algn="just">
              <a:lnSpc>
                <a:spcPct val="170000"/>
              </a:lnSpc>
            </a:pPr>
            <a:r>
              <a:rPr lang="en-US" sz="1800" b="1" dirty="0"/>
              <a:t>Load Time: </a:t>
            </a:r>
            <a:r>
              <a:rPr lang="en-US" sz="1800" dirty="0"/>
              <a:t>at compile time if it is not known that where a process will reside in memory then the compiler must generate relocatable address. In this case, final binding is delayed until load time. If the starting address is changed then we need only to reload the user code to incorporate this changed value. </a:t>
            </a:r>
          </a:p>
          <a:p>
            <a:pPr algn="just">
              <a:lnSpc>
                <a:spcPct val="170000"/>
              </a:lnSpc>
            </a:pPr>
            <a:r>
              <a:rPr lang="en-US" sz="1800" b="1" dirty="0"/>
              <a:t>Execution Time: </a:t>
            </a:r>
            <a:r>
              <a:rPr lang="en-US" sz="1800" dirty="0"/>
              <a:t>this method permits moving a process from one memory segment to another during rum time. In this case, final binding is delayed until run time. </a:t>
            </a:r>
          </a:p>
          <a:p>
            <a:pPr marL="0" indent="0">
              <a:lnSpc>
                <a:spcPct val="170000"/>
              </a:lnSpc>
              <a:buNone/>
            </a:pPr>
            <a:endParaRPr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877"/>
            <a:ext cx="8229600" cy="800121"/>
          </a:xfrm>
        </p:spPr>
        <p:txBody>
          <a:bodyPr/>
          <a:lstStyle/>
          <a:p>
            <a:r>
              <a:rPr lang="en-US" dirty="0"/>
              <a:t>Memory Management Techniques</a:t>
            </a:r>
            <a:endParaRPr dirty="0"/>
          </a:p>
        </p:txBody>
      </p:sp>
      <p:sp>
        <p:nvSpPr>
          <p:cNvPr id="3" name="Content Placeholder 2"/>
          <p:cNvSpPr>
            <a:spLocks noGrp="1"/>
          </p:cNvSpPr>
          <p:nvPr>
            <p:ph idx="1"/>
          </p:nvPr>
        </p:nvSpPr>
        <p:spPr>
          <a:xfrm>
            <a:off x="457200" y="921110"/>
            <a:ext cx="8229600" cy="5830013"/>
          </a:xfrm>
        </p:spPr>
        <p:txBody>
          <a:bodyPr>
            <a:normAutofit/>
          </a:bodyPr>
          <a:lstStyle/>
          <a:p>
            <a:pPr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There are two Memory Management Techniques: Contiguous, and Non-Contiguous.</a:t>
            </a:r>
          </a:p>
          <a:p>
            <a:pPr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In Contiguous Technique, executing process must be loaded entirely in main-memory. </a:t>
            </a:r>
          </a:p>
          <a:p>
            <a:pPr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In contiguous memory allocation each process is contained in a single contiguous block of memory.</a:t>
            </a:r>
          </a:p>
          <a:p>
            <a:pPr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Memory is divided into several fixed size partitions. Each partition contains exactly one process.</a:t>
            </a:r>
          </a:p>
          <a:p>
            <a:pPr marL="0" indent="0" algn="just">
              <a:buNone/>
            </a:pPr>
            <a:r>
              <a:rPr lang="en-US" sz="2800" dirty="0">
                <a:latin typeface="Times New Roman" panose="02020603050405020304" pitchFamily="18" charset="0"/>
                <a:cs typeface="Times New Roman" panose="02020603050405020304" pitchFamily="18" charset="0"/>
              </a:rPr>
              <a:t>Contiguous Technique can be divided into:</a:t>
            </a:r>
          </a:p>
          <a:p>
            <a:pPr marL="514350" indent="-514350" algn="just">
              <a:buAutoNum type="arabicPeriod"/>
            </a:pPr>
            <a:r>
              <a:rPr lang="en-US" sz="2800" dirty="0">
                <a:latin typeface="Times New Roman" panose="02020603050405020304" pitchFamily="18" charset="0"/>
                <a:cs typeface="Times New Roman" panose="02020603050405020304" pitchFamily="18" charset="0"/>
              </a:rPr>
              <a:t>Fixed (or static) partitioning</a:t>
            </a:r>
          </a:p>
          <a:p>
            <a:pPr marL="514350" indent="-514350" algn="just">
              <a:buAutoNum type="arabicPeriod"/>
            </a:pPr>
            <a:r>
              <a:rPr lang="en-US" sz="2800" dirty="0">
                <a:latin typeface="Times New Roman" panose="02020603050405020304" pitchFamily="18" charset="0"/>
                <a:cs typeface="Times New Roman" panose="02020603050405020304" pitchFamily="18" charset="0"/>
              </a:rPr>
              <a:t>Variable (or dynamic) partitioning</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195" y="161089"/>
            <a:ext cx="8229600" cy="6696911"/>
          </a:xfrm>
        </p:spPr>
        <p:txBody>
          <a:bodyPr>
            <a:normAutofit lnSpcReduction="10000"/>
          </a:bodyPr>
          <a:lstStyle/>
          <a:p>
            <a:pPr marL="0" indent="0" algn="just">
              <a:buNone/>
            </a:pPr>
            <a:r>
              <a:rPr lang="en-US" sz="3600" b="1" dirty="0">
                <a:latin typeface="Times New Roman" panose="02020603050405020304" pitchFamily="18" charset="0"/>
                <a:cs typeface="Times New Roman" panose="02020603050405020304" pitchFamily="18" charset="0"/>
              </a:rPr>
              <a:t>Fixed Partitioning:</a:t>
            </a:r>
          </a:p>
          <a:p>
            <a:pPr algn="just">
              <a:buFont typeface="Wingdings" panose="05000000000000000000" pitchFamily="2" charset="2"/>
              <a:buChar char="q"/>
            </a:pPr>
            <a:r>
              <a:rPr lang="en-US" sz="3600" dirty="0">
                <a:latin typeface="Times New Roman" panose="02020603050405020304" pitchFamily="18" charset="0"/>
                <a:cs typeface="Times New Roman" panose="02020603050405020304" pitchFamily="18" charset="0"/>
              </a:rPr>
              <a:t>This is the oldest and simplest technique used to put more than one processes in the main memory.</a:t>
            </a:r>
          </a:p>
          <a:p>
            <a:pPr algn="just">
              <a:buFont typeface="Wingdings" panose="05000000000000000000" pitchFamily="2" charset="2"/>
              <a:buChar char="q"/>
            </a:pPr>
            <a:r>
              <a:rPr lang="en-US" sz="3600" dirty="0">
                <a:latin typeface="Times New Roman" panose="02020603050405020304" pitchFamily="18" charset="0"/>
                <a:cs typeface="Times New Roman" panose="02020603050405020304" pitchFamily="18" charset="0"/>
              </a:rPr>
              <a:t>In this partitioning, number of partitions (non-overlapping) in RAM are fixed but size of each partition may or may not be same.</a:t>
            </a:r>
          </a:p>
          <a:p>
            <a:pPr algn="just">
              <a:buFont typeface="Wingdings" panose="05000000000000000000" pitchFamily="2" charset="2"/>
              <a:buChar char="q"/>
            </a:pPr>
            <a:r>
              <a:rPr lang="en-US" sz="3600" dirty="0">
                <a:latin typeface="Times New Roman" panose="02020603050405020304" pitchFamily="18" charset="0"/>
                <a:cs typeface="Times New Roman" panose="02020603050405020304" pitchFamily="18" charset="0"/>
              </a:rPr>
              <a:t>As it is contiguous allocation, hence no spanning is allowed.</a:t>
            </a:r>
          </a:p>
          <a:p>
            <a:pPr algn="just">
              <a:buFont typeface="Wingdings" panose="05000000000000000000" pitchFamily="2" charset="2"/>
              <a:buChar char="q"/>
            </a:pPr>
            <a:r>
              <a:rPr lang="en-US" sz="3600" dirty="0">
                <a:latin typeface="Times New Roman" panose="02020603050405020304" pitchFamily="18" charset="0"/>
                <a:cs typeface="Times New Roman" panose="02020603050405020304" pitchFamily="18" charset="0"/>
              </a:rPr>
              <a:t>Here partitions are made before execution or during system configure.</a:t>
            </a:r>
            <a:endParaRPr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6071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43B71CC-5CD8-49DA-814B-285DABB9B131}"/>
              </a:ext>
            </a:extLst>
          </p:cNvPr>
          <p:cNvPicPr>
            <a:picLocks noChangeAspect="1"/>
          </p:cNvPicPr>
          <p:nvPr/>
        </p:nvPicPr>
        <p:blipFill rotWithShape="1">
          <a:blip r:embed="rId3"/>
          <a:srcRect l="19354"/>
          <a:stretch/>
        </p:blipFill>
        <p:spPr>
          <a:xfrm>
            <a:off x="1383475" y="704847"/>
            <a:ext cx="6377049" cy="582658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004" y="161089"/>
            <a:ext cx="8835240" cy="6696911"/>
          </a:xfrm>
        </p:spPr>
        <p:txBody>
          <a:bodyPr>
            <a:normAutofit/>
          </a:bodyPr>
          <a:lstStyle/>
          <a:p>
            <a:pPr marL="0" indent="0" algn="just">
              <a:buNone/>
            </a:pPr>
            <a:r>
              <a:rPr lang="en-US" sz="4000" b="1" dirty="0">
                <a:latin typeface="Times New Roman" panose="02020603050405020304" pitchFamily="18" charset="0"/>
                <a:cs typeface="Times New Roman" panose="02020603050405020304" pitchFamily="18" charset="0"/>
              </a:rPr>
              <a:t>Advantages of Fixed Partitioning</a:t>
            </a:r>
            <a:r>
              <a:rPr lang="en-US" sz="40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q"/>
            </a:pPr>
            <a:r>
              <a:rPr lang="en-US" sz="4000" dirty="0">
                <a:latin typeface="Times New Roman" panose="02020603050405020304" pitchFamily="18" charset="0"/>
                <a:cs typeface="Times New Roman" panose="02020603050405020304" pitchFamily="18" charset="0"/>
              </a:rPr>
              <a:t> Easy to implement:</a:t>
            </a:r>
          </a:p>
          <a:p>
            <a:pPr algn="just">
              <a:buFont typeface="Wingdings" panose="05000000000000000000" pitchFamily="2" charset="2"/>
              <a:buChar char="q"/>
            </a:pPr>
            <a:r>
              <a:rPr lang="en-US" sz="4000" dirty="0">
                <a:latin typeface="Times New Roman" panose="02020603050405020304" pitchFamily="18" charset="0"/>
                <a:cs typeface="Times New Roman" panose="02020603050405020304" pitchFamily="18" charset="0"/>
              </a:rPr>
              <a:t>Little OS overhead: </a:t>
            </a:r>
          </a:p>
          <a:p>
            <a:pPr marL="0" indent="0" algn="just">
              <a:buNone/>
            </a:pPr>
            <a:r>
              <a:rPr lang="en-US" sz="4000" b="1" dirty="0">
                <a:latin typeface="Times New Roman" panose="02020603050405020304" pitchFamily="18" charset="0"/>
                <a:cs typeface="Times New Roman" panose="02020603050405020304" pitchFamily="18" charset="0"/>
              </a:rPr>
              <a:t>Disadvantages of Fixed Partitioning </a:t>
            </a:r>
          </a:p>
          <a:p>
            <a:pPr algn="just">
              <a:buFont typeface="Wingdings" panose="05000000000000000000" pitchFamily="2" charset="2"/>
              <a:buChar char="q"/>
            </a:pPr>
            <a:r>
              <a:rPr lang="en-US" sz="4000" dirty="0">
                <a:latin typeface="Times New Roman" panose="02020603050405020304" pitchFamily="18" charset="0"/>
                <a:cs typeface="Times New Roman" panose="02020603050405020304" pitchFamily="18" charset="0"/>
              </a:rPr>
              <a:t>Internal Fragmentation</a:t>
            </a:r>
          </a:p>
          <a:p>
            <a:pPr algn="just">
              <a:buFont typeface="Wingdings" panose="05000000000000000000" pitchFamily="2" charset="2"/>
              <a:buChar char="q"/>
            </a:pPr>
            <a:r>
              <a:rPr lang="en-US" sz="4000" dirty="0">
                <a:latin typeface="Times New Roman" panose="02020603050405020304" pitchFamily="18" charset="0"/>
                <a:cs typeface="Times New Roman" panose="02020603050405020304" pitchFamily="18" charset="0"/>
              </a:rPr>
              <a:t>External Fragmentation</a:t>
            </a:r>
          </a:p>
          <a:p>
            <a:pPr algn="just">
              <a:buFont typeface="Wingdings" panose="05000000000000000000" pitchFamily="2" charset="2"/>
              <a:buChar char="q"/>
            </a:pPr>
            <a:r>
              <a:rPr lang="en-US" sz="4000" dirty="0">
                <a:latin typeface="Times New Roman" panose="02020603050405020304" pitchFamily="18" charset="0"/>
                <a:cs typeface="Times New Roman" panose="02020603050405020304" pitchFamily="18" charset="0"/>
              </a:rPr>
              <a:t>Limit process size</a:t>
            </a:r>
          </a:p>
          <a:p>
            <a:pPr algn="just">
              <a:buFont typeface="Wingdings" panose="05000000000000000000" pitchFamily="2" charset="2"/>
              <a:buChar char="q"/>
            </a:pPr>
            <a:r>
              <a:rPr lang="en-US" sz="4000" dirty="0">
                <a:latin typeface="Times New Roman" panose="02020603050405020304" pitchFamily="18" charset="0"/>
                <a:cs typeface="Times New Roman" panose="02020603050405020304" pitchFamily="18" charset="0"/>
              </a:rPr>
              <a:t>Limitation on Degree of Multiprogramming</a:t>
            </a:r>
            <a:endParaRPr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2855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195" y="161089"/>
            <a:ext cx="8686800" cy="6696911"/>
          </a:xfrm>
        </p:spPr>
        <p:txBody>
          <a:bodyPr>
            <a:normAutofit/>
          </a:bodyPr>
          <a:lstStyle/>
          <a:p>
            <a:pPr marL="0" indent="0" algn="just">
              <a:buNone/>
            </a:pPr>
            <a:r>
              <a:rPr lang="en-US" sz="4400" b="1" dirty="0">
                <a:latin typeface="Times New Roman" panose="02020603050405020304" pitchFamily="18" charset="0"/>
                <a:cs typeface="Times New Roman" panose="02020603050405020304" pitchFamily="18" charset="0"/>
              </a:rPr>
              <a:t>Variable Partitioning</a:t>
            </a:r>
          </a:p>
          <a:p>
            <a:pPr algn="just">
              <a:buFont typeface="Wingdings" panose="05000000000000000000" pitchFamily="2" charset="2"/>
              <a:buChar char="q"/>
            </a:pPr>
            <a:r>
              <a:rPr lang="en-US" sz="4400" dirty="0">
                <a:latin typeface="Times New Roman" panose="02020603050405020304" pitchFamily="18" charset="0"/>
                <a:cs typeface="Times New Roman" panose="02020603050405020304" pitchFamily="18" charset="0"/>
              </a:rPr>
              <a:t>It is a part of Contiguous allocation technique.</a:t>
            </a:r>
          </a:p>
          <a:p>
            <a:pPr algn="just">
              <a:buFont typeface="Wingdings" panose="05000000000000000000" pitchFamily="2" charset="2"/>
              <a:buChar char="q"/>
            </a:pPr>
            <a:r>
              <a:rPr lang="en-US" sz="4400" dirty="0">
                <a:latin typeface="Times New Roman" panose="02020603050405020304" pitchFamily="18" charset="0"/>
                <a:cs typeface="Times New Roman" panose="02020603050405020304" pitchFamily="18" charset="0"/>
              </a:rPr>
              <a:t>It is used to alleviate the problem faced by Fixed Partitioning.</a:t>
            </a:r>
          </a:p>
          <a:p>
            <a:pPr algn="just">
              <a:buFont typeface="Wingdings" panose="05000000000000000000" pitchFamily="2" charset="2"/>
              <a:buChar char="q"/>
            </a:pPr>
            <a:r>
              <a:rPr lang="en-US" sz="4400" dirty="0">
                <a:latin typeface="Times New Roman" panose="02020603050405020304" pitchFamily="18" charset="0"/>
                <a:cs typeface="Times New Roman" panose="02020603050405020304" pitchFamily="18" charset="0"/>
              </a:rPr>
              <a:t>In contrast with fixed partitioning, partitions are not made before the execution or during system configure</a:t>
            </a:r>
            <a:endParaRPr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97337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195" y="161089"/>
            <a:ext cx="8686800" cy="6696911"/>
          </a:xfrm>
        </p:spPr>
        <p:txBody>
          <a:bodyPr>
            <a:normAutofit fontScale="70000" lnSpcReduction="20000"/>
          </a:bodyPr>
          <a:lstStyle/>
          <a:p>
            <a:pPr marL="0" indent="0" algn="just">
              <a:buNone/>
            </a:pPr>
            <a:r>
              <a:rPr lang="en-US" sz="4400" dirty="0">
                <a:latin typeface="Times New Roman" panose="02020603050405020304" pitchFamily="18" charset="0"/>
                <a:cs typeface="Times New Roman" panose="02020603050405020304" pitchFamily="18" charset="0"/>
              </a:rPr>
              <a:t>Various features associated with variable Partitioning</a:t>
            </a:r>
          </a:p>
          <a:p>
            <a:pPr marL="355600" indent="-355600" algn="just">
              <a:buAutoNum type="arabicPeriod"/>
            </a:pPr>
            <a:r>
              <a:rPr lang="en-US" sz="5100" dirty="0">
                <a:latin typeface="Times New Roman" panose="02020603050405020304" pitchFamily="18" charset="0"/>
                <a:cs typeface="Times New Roman" panose="02020603050405020304" pitchFamily="18" charset="0"/>
              </a:rPr>
              <a:t>Initially RAM is empty and partitions are made during the run-time according to process’s need instead of partitioning during system configure.</a:t>
            </a:r>
          </a:p>
          <a:p>
            <a:pPr marL="355600" indent="-355600" algn="just">
              <a:buAutoNum type="arabicPeriod"/>
            </a:pPr>
            <a:r>
              <a:rPr lang="en-US" sz="5100" dirty="0">
                <a:latin typeface="Times New Roman" panose="02020603050405020304" pitchFamily="18" charset="0"/>
                <a:cs typeface="Times New Roman" panose="02020603050405020304" pitchFamily="18" charset="0"/>
              </a:rPr>
              <a:t>The size of partition will be equal to incoming process.</a:t>
            </a:r>
          </a:p>
          <a:p>
            <a:pPr marL="355600" indent="-355600" algn="just">
              <a:buAutoNum type="arabicPeriod"/>
            </a:pPr>
            <a:r>
              <a:rPr lang="en-US" sz="5100" dirty="0">
                <a:latin typeface="Times New Roman" panose="02020603050405020304" pitchFamily="18" charset="0"/>
                <a:cs typeface="Times New Roman" panose="02020603050405020304" pitchFamily="18" charset="0"/>
              </a:rPr>
              <a:t>The partition size varies according to the need of the process so that the internal fragmentation can be avoided to ensure efficient </a:t>
            </a:r>
            <a:r>
              <a:rPr lang="en-US" sz="5100" dirty="0" err="1">
                <a:latin typeface="Times New Roman" panose="02020603050405020304" pitchFamily="18" charset="0"/>
                <a:cs typeface="Times New Roman" panose="02020603050405020304" pitchFamily="18" charset="0"/>
              </a:rPr>
              <a:t>utilisation</a:t>
            </a:r>
            <a:r>
              <a:rPr lang="en-US" sz="5100" dirty="0">
                <a:latin typeface="Times New Roman" panose="02020603050405020304" pitchFamily="18" charset="0"/>
                <a:cs typeface="Times New Roman" panose="02020603050405020304" pitchFamily="18" charset="0"/>
              </a:rPr>
              <a:t> of RAM.</a:t>
            </a:r>
          </a:p>
          <a:p>
            <a:pPr marL="355600" indent="-355600" algn="just">
              <a:buAutoNum type="arabicPeriod"/>
            </a:pPr>
            <a:r>
              <a:rPr lang="en-US" sz="5100" dirty="0">
                <a:latin typeface="Times New Roman" panose="02020603050405020304" pitchFamily="18" charset="0"/>
                <a:cs typeface="Times New Roman" panose="02020603050405020304" pitchFamily="18" charset="0"/>
              </a:rPr>
              <a:t>Number of partitions in RAM is not fixed and depends on the number of incoming process and Main Memory’s size.</a:t>
            </a:r>
            <a:endParaRPr sz="5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5728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195" y="161089"/>
            <a:ext cx="8686800" cy="5859701"/>
          </a:xfrm>
        </p:spPr>
        <p:txBody>
          <a:bodyPr>
            <a:normAutofit fontScale="92500"/>
          </a:bodyPr>
          <a:lstStyle/>
          <a:p>
            <a:pPr marL="0" indent="0" algn="ctr">
              <a:buNone/>
            </a:pPr>
            <a:r>
              <a:rPr lang="en-US" sz="4400" b="1" dirty="0">
                <a:latin typeface="Times New Roman" panose="02020603050405020304" pitchFamily="18" charset="0"/>
                <a:cs typeface="Times New Roman" panose="02020603050405020304" pitchFamily="18" charset="0"/>
              </a:rPr>
              <a:t>Advantages of Variable Partitioning</a:t>
            </a:r>
          </a:p>
          <a:p>
            <a:pPr marL="0" indent="0" algn="just">
              <a:buNone/>
            </a:pPr>
            <a:r>
              <a:rPr lang="en-US" sz="4400" dirty="0">
                <a:latin typeface="Times New Roman" panose="02020603050405020304" pitchFamily="18" charset="0"/>
                <a:cs typeface="Times New Roman" panose="02020603050405020304" pitchFamily="18" charset="0"/>
              </a:rPr>
              <a:t>1. </a:t>
            </a:r>
            <a:r>
              <a:rPr lang="en-US" sz="6000" dirty="0">
                <a:latin typeface="Times New Roman" panose="02020603050405020304" pitchFamily="18" charset="0"/>
                <a:cs typeface="Times New Roman" panose="02020603050405020304" pitchFamily="18" charset="0"/>
              </a:rPr>
              <a:t>No Internal Fragmentation</a:t>
            </a:r>
          </a:p>
          <a:p>
            <a:pPr marL="0" indent="0" algn="just">
              <a:buNone/>
            </a:pPr>
            <a:r>
              <a:rPr lang="en-US" sz="6000" dirty="0">
                <a:latin typeface="Times New Roman" panose="02020603050405020304" pitchFamily="18" charset="0"/>
                <a:cs typeface="Times New Roman" panose="02020603050405020304" pitchFamily="18" charset="0"/>
              </a:rPr>
              <a:t>2. No restriction on Degree of Multiprogramming</a:t>
            </a:r>
          </a:p>
          <a:p>
            <a:pPr marL="0" indent="0" algn="just">
              <a:buNone/>
            </a:pPr>
            <a:r>
              <a:rPr lang="en-US" sz="6000" dirty="0">
                <a:latin typeface="Times New Roman" panose="02020603050405020304" pitchFamily="18" charset="0"/>
                <a:cs typeface="Times New Roman" panose="02020603050405020304" pitchFamily="18" charset="0"/>
              </a:rPr>
              <a:t>3. No Limitation on the size of the process</a:t>
            </a:r>
            <a:endParaRPr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3145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195" y="161089"/>
            <a:ext cx="8686800" cy="6524719"/>
          </a:xfrm>
        </p:spPr>
        <p:txBody>
          <a:bodyPr>
            <a:normAutofit/>
          </a:bodyPr>
          <a:lstStyle/>
          <a:p>
            <a:pPr marL="0" indent="0" algn="just">
              <a:lnSpc>
                <a:spcPct val="170000"/>
              </a:lnSpc>
              <a:buNone/>
            </a:pPr>
            <a:r>
              <a:rPr lang="en-US" sz="4400" b="1" dirty="0">
                <a:latin typeface="Times New Roman" panose="02020603050405020304" pitchFamily="18" charset="0"/>
                <a:cs typeface="Times New Roman" panose="02020603050405020304" pitchFamily="18" charset="0"/>
              </a:rPr>
              <a:t>Disadvantages of Variable Partitioning</a:t>
            </a:r>
          </a:p>
          <a:p>
            <a:pPr marL="0" indent="0" algn="just">
              <a:buNone/>
            </a:pPr>
            <a:r>
              <a:rPr lang="en-US" sz="6000" dirty="0">
                <a:latin typeface="Times New Roman" panose="02020603050405020304" pitchFamily="18" charset="0"/>
                <a:cs typeface="Times New Roman" panose="02020603050405020304" pitchFamily="18" charset="0"/>
              </a:rPr>
              <a:t>1. Difficult Implementation</a:t>
            </a:r>
          </a:p>
          <a:p>
            <a:pPr marL="0" indent="0" algn="just">
              <a:buNone/>
            </a:pPr>
            <a:r>
              <a:rPr lang="en-US" sz="6000" dirty="0">
                <a:latin typeface="Times New Roman" panose="02020603050405020304" pitchFamily="18" charset="0"/>
                <a:cs typeface="Times New Roman" panose="02020603050405020304" pitchFamily="18" charset="0"/>
              </a:rPr>
              <a:t>2. External Fragmentation</a:t>
            </a:r>
            <a:endParaRPr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47650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D77CA7F-6C42-4DEE-924B-77FAC6F8FF23}"/>
              </a:ext>
            </a:extLst>
          </p:cNvPr>
          <p:cNvPicPr>
            <a:picLocks noChangeAspect="1"/>
          </p:cNvPicPr>
          <p:nvPr/>
        </p:nvPicPr>
        <p:blipFill rotWithShape="1">
          <a:blip r:embed="rId3"/>
          <a:srcRect l="20816" b="2001"/>
          <a:stretch/>
        </p:blipFill>
        <p:spPr>
          <a:xfrm>
            <a:off x="1555668" y="148965"/>
            <a:ext cx="5925787" cy="6097456"/>
          </a:xfrm>
          <a:prstGeom prst="rect">
            <a:avLst/>
          </a:prstGeom>
        </p:spPr>
      </p:pic>
    </p:spTree>
    <p:extLst>
      <p:ext uri="{BB962C8B-B14F-4D97-AF65-F5344CB8AC3E}">
        <p14:creationId xmlns:p14="http://schemas.microsoft.com/office/powerpoint/2010/main" val="31784653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BFB115-EAFB-4AC6-804B-B3D4A6493409}"/>
              </a:ext>
            </a:extLst>
          </p:cNvPr>
          <p:cNvPicPr>
            <a:picLocks noChangeAspect="1"/>
          </p:cNvPicPr>
          <p:nvPr/>
        </p:nvPicPr>
        <p:blipFill>
          <a:blip r:embed="rId3"/>
          <a:stretch>
            <a:fillRect/>
          </a:stretch>
        </p:blipFill>
        <p:spPr>
          <a:xfrm>
            <a:off x="201881" y="201881"/>
            <a:ext cx="8657111" cy="6234545"/>
          </a:xfrm>
          <a:prstGeom prst="rect">
            <a:avLst/>
          </a:prstGeom>
        </p:spPr>
      </p:pic>
    </p:spTree>
    <p:extLst>
      <p:ext uri="{BB962C8B-B14F-4D97-AF65-F5344CB8AC3E}">
        <p14:creationId xmlns:p14="http://schemas.microsoft.com/office/powerpoint/2010/main" val="35516170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118</TotalTime>
  <Words>1765</Words>
  <Application>Microsoft Office PowerPoint</Application>
  <PresentationFormat>On-screen Show (4:3)</PresentationFormat>
  <Paragraphs>157</Paragraphs>
  <Slides>26</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Tahoma</vt:lpstr>
      <vt:lpstr>Times New Roman</vt:lpstr>
      <vt:lpstr>Trebuchet MS</vt:lpstr>
      <vt:lpstr>Wingdings</vt:lpstr>
      <vt:lpstr>Wingdings 3</vt:lpstr>
      <vt:lpstr>Facet</vt:lpstr>
      <vt:lpstr>Overview of Memory Management</vt:lpstr>
      <vt:lpstr>Lecture Objectives</vt:lpstr>
      <vt:lpstr>Introduction to Memory Management</vt:lpstr>
      <vt:lpstr>PowerPoint Presentation</vt:lpstr>
      <vt:lpstr>PowerPoint Presentation</vt:lpstr>
      <vt:lpstr>PowerPoint Presentation</vt:lpstr>
      <vt:lpstr>Why Keep Several Processes in Memory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OS Activities in Memory Management</vt:lpstr>
      <vt:lpstr>Binding of Instructions and Data to Memory: </vt:lpstr>
      <vt:lpstr>Memory Management Techniques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Memory Management</dc:title>
  <dc:subject/>
  <dc:creator>Dr Awotunde</dc:creator>
  <cp:keywords/>
  <dc:description>generated using python-pptx</dc:description>
  <cp:lastModifiedBy>Dr Awotunde</cp:lastModifiedBy>
  <cp:revision>12</cp:revision>
  <dcterms:created xsi:type="dcterms:W3CDTF">2013-01-27T09:14:16Z</dcterms:created>
  <dcterms:modified xsi:type="dcterms:W3CDTF">2025-10-26T21:02:09Z</dcterms:modified>
  <cp:category/>
</cp:coreProperties>
</file>