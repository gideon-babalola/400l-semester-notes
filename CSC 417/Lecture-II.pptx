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notesMasterIdLst>
    <p:notesMasterId r:id="rId31"/>
  </p:notesMasterIdLst>
  <p:sldIdLst>
    <p:sldId id="256" r:id="rId2"/>
    <p:sldId id="257" r:id="rId3"/>
    <p:sldId id="264" r:id="rId4"/>
    <p:sldId id="281" r:id="rId5"/>
    <p:sldId id="265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7" r:id="rId21"/>
    <p:sldId id="296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59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68F25-EB19-4BF4-BF33-33D11E13AC8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C9271-2CD3-4224-9A7F-28C59DD56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5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learning outcomes to students and connect them to broader OS memory handling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22084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Illustrate how fragmentation wastes space; connect to paging as a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18829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79591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13036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50716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89135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Illustrate how fragmentation wastes space; connect to paging as a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3927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Illustrate how fragmentation wastes space; connect to paging as a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64657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63570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51464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60695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914978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3932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76006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1462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197665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99137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488405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131624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38303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2383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230997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621285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814521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Relate to page file in Windows and swap space in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39064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89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49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01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99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1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54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55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57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7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8187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11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6413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03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78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97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004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766" y="349664"/>
            <a:ext cx="8716488" cy="730552"/>
          </a:xfrm>
        </p:spPr>
        <p:txBody>
          <a:bodyPr/>
          <a:lstStyle/>
          <a:p>
            <a:pPr algn="ctr"/>
            <a:r>
              <a:rPr sz="6000" dirty="0">
                <a:solidFill>
                  <a:schemeClr val="tx1"/>
                </a:solidFill>
              </a:rPr>
              <a:t>Memory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7521" y="3862449"/>
            <a:ext cx="6590805" cy="17526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sz="3600" dirty="0"/>
              <a:t>Course: Operating Systems</a:t>
            </a:r>
          </a:p>
          <a:p>
            <a:pPr algn="ctr"/>
            <a:r>
              <a:rPr sz="3600" dirty="0"/>
              <a:t>Instructor: </a:t>
            </a:r>
            <a:r>
              <a:rPr lang="en-US" sz="3600" dirty="0"/>
              <a:t>AWOTUNDE J. B.</a:t>
            </a:r>
            <a:endParaRPr sz="3600" dirty="0"/>
          </a:p>
          <a:p>
            <a:pPr algn="ctr"/>
            <a:r>
              <a:rPr sz="3600" dirty="0"/>
              <a:t>Date: </a:t>
            </a:r>
            <a:r>
              <a:rPr lang="en-US" sz="3600" dirty="0"/>
              <a:t>3</a:t>
            </a:r>
            <a:r>
              <a:rPr lang="en-US" sz="3600" baseline="30000" dirty="0"/>
              <a:t>rd</a:t>
            </a:r>
            <a:r>
              <a:rPr lang="en-US" sz="3600" dirty="0"/>
              <a:t>  November 2025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Explain why several processes must be kept in memory.</a:t>
            </a:r>
          </a:p>
          <a:p>
            <a:r>
              <a:t>• Describe the activities performed by the OS in memory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877"/>
            <a:ext cx="8229600" cy="800121"/>
          </a:xfrm>
        </p:spPr>
        <p:txBody>
          <a:bodyPr/>
          <a:lstStyle/>
          <a:p>
            <a:r>
              <a:rPr lang="en-US" dirty="0"/>
              <a:t>Memory Management Techniques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1110"/>
            <a:ext cx="8229600" cy="583001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Memory Management Techniques: Contiguous, and Non-Contiguous.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Contiguous Technique, executing process must be loaded entirely in main-memory.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contiguous memory allocation each process is contained in a single contiguous block of memory.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divided into several fixed size partitions. Each partition contains exactly one process.</a:t>
            </a:r>
          </a:p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 Technique can be divided into: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(or static) partitioning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(or dynamic) partitioning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195" y="161089"/>
            <a:ext cx="8229600" cy="669691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Partitioning: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oldest and simplest technique used to put more than one processes in the main memory.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partitioning, number of partitions (non-overlapping) in RAM are fixed but size of each partition may or may not be same.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 is contiguous allocation, hence no spanning is allowed.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partitions are made before execution or during system configure.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07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43B71CC-5CD8-49DA-814B-285DABB9B1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54"/>
          <a:stretch/>
        </p:blipFill>
        <p:spPr>
          <a:xfrm>
            <a:off x="1383475" y="704847"/>
            <a:ext cx="6377049" cy="58265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04" y="161089"/>
            <a:ext cx="8835240" cy="669691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Fixed Partitioning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to implement: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Little OS overhead: </a:t>
            </a:r>
          </a:p>
          <a:p>
            <a:pPr marL="0" indent="0" algn="just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Fixed Partitioning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process size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on Degree of Multiprogramming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855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195" y="161089"/>
            <a:ext cx="8686800" cy="669691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Partitioning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part of Contiguous allocation technique.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alleviate the problem faced by Fixed Partitioning.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contrast with fixed partitioning, partitions are not made before the execution or during system configure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73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195" y="161089"/>
            <a:ext cx="8686800" cy="6696911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features associated with variable Partitioning</a:t>
            </a:r>
          </a:p>
          <a:p>
            <a:pPr marL="355600" indent="-355600" algn="just">
              <a:buAutoNum type="arabicPeriod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RAM is empty and partitions are made during the run-time according to process’s need instead of partitioning during system configure.</a:t>
            </a:r>
          </a:p>
          <a:p>
            <a:pPr marL="355600" indent="-355600" algn="just">
              <a:buAutoNum type="arabicPeriod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partition will be equal to incoming process.</a:t>
            </a:r>
          </a:p>
          <a:p>
            <a:pPr marL="355600" indent="-355600" algn="just">
              <a:buAutoNum type="arabicPeriod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partition size varies according to the need of the process so that the internal fragmentation can be avoided to ensure efficient </a:t>
            </a:r>
            <a:r>
              <a:rPr lang="en-US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utilisation</a:t>
            </a: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RAM.</a:t>
            </a:r>
          </a:p>
          <a:p>
            <a:pPr marL="355600" indent="-355600" algn="just">
              <a:buAutoNum type="arabicPeriod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partitions in RAM is not fixed and depends on the number of incoming process and Main Memory’s size.</a:t>
            </a:r>
            <a:endParaRPr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72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195" y="161089"/>
            <a:ext cx="8686800" cy="5859701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Variable Partitioning</a:t>
            </a:r>
          </a:p>
          <a:p>
            <a:pPr marL="0" indent="0" algn="just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Internal Fragmentation</a:t>
            </a:r>
          </a:p>
          <a:p>
            <a:pPr marL="0" indent="0" algn="just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 restriction on Degree of Multiprogramming</a:t>
            </a:r>
          </a:p>
          <a:p>
            <a:pPr marL="0" indent="0" algn="just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No Limitation on the size of the process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14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195" y="161089"/>
            <a:ext cx="8686800" cy="652471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Variable Partitioning</a:t>
            </a:r>
          </a:p>
          <a:p>
            <a:pPr marL="0" indent="0" algn="just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Difficult Implementation</a:t>
            </a:r>
          </a:p>
          <a:p>
            <a:pPr marL="0" indent="0" algn="just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External Fragmentation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765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77CA7F-6C42-4DEE-924B-77FAC6F8FF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16" b="2001"/>
          <a:stretch/>
        </p:blipFill>
        <p:spPr>
          <a:xfrm>
            <a:off x="1555668" y="148965"/>
            <a:ext cx="5925787" cy="609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65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FB115-EAFB-4AC6-804B-B3D4A6493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81" y="201881"/>
            <a:ext cx="8657111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61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4400" b="1" dirty="0"/>
              <a:t>Memory Hardware </a:t>
            </a:r>
            <a:r>
              <a:rPr lang="en-US" sz="4400" b="1" dirty="0" err="1"/>
              <a:t>Organisation</a:t>
            </a:r>
            <a:endParaRPr lang="en-US" sz="4400" b="1" dirty="0"/>
          </a:p>
          <a:p>
            <a:pPr marL="0" indent="0">
              <a:buNone/>
            </a:pPr>
            <a:r>
              <a:rPr lang="en-US" sz="4400" b="1" dirty="0"/>
              <a:t>Lecture Objectives</a:t>
            </a:r>
          </a:p>
          <a:p>
            <a:pPr algn="just"/>
            <a:r>
              <a:rPr lang="en-US" sz="4700" dirty="0"/>
              <a:t>At the end of this lecture, students should be able to:</a:t>
            </a:r>
          </a:p>
          <a:p>
            <a:pPr algn="just"/>
            <a:r>
              <a:rPr lang="en-US" sz="4700" dirty="0"/>
              <a:t>Explain the detailed description of various ways of organizing memory hardware.</a:t>
            </a:r>
          </a:p>
          <a:p>
            <a:pPr algn="just"/>
            <a:r>
              <a:rPr lang="en-US" sz="4700" dirty="0"/>
              <a:t>Understand that memory and the registers built into the processor are the only general-purpose storage that the CPU can access directly.</a:t>
            </a:r>
          </a:p>
          <a:p>
            <a:pPr marL="0" indent="0" algn="just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165321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300" b="1" dirty="0"/>
              <a:t>Introduction to Memory Hardware </a:t>
            </a:r>
            <a:r>
              <a:rPr lang="en-US" sz="3300" b="1" dirty="0" err="1"/>
              <a:t>Organisation</a:t>
            </a:r>
            <a:endParaRPr lang="en-US" sz="3300" b="1" dirty="0"/>
          </a:p>
          <a:p>
            <a:pPr marL="0" indent="0" algn="just">
              <a:buNone/>
            </a:pPr>
            <a:r>
              <a:rPr lang="en-US" sz="3000" dirty="0"/>
              <a:t>Memory hardware organization refers to how the memory system of a computer is structured, arranged, and managed to ensure fast and efficient data storage and retrieval.</a:t>
            </a:r>
          </a:p>
          <a:p>
            <a:pPr marL="0" indent="0" algn="just">
              <a:buNone/>
            </a:pPr>
            <a:r>
              <a:rPr lang="en-US" sz="4400" dirty="0"/>
              <a:t>It defines:</a:t>
            </a:r>
          </a:p>
          <a:p>
            <a:pPr algn="just"/>
            <a:r>
              <a:rPr lang="en-US" sz="4400" dirty="0"/>
              <a:t>How data is stored, addressed, and accessed.</a:t>
            </a:r>
          </a:p>
          <a:p>
            <a:pPr algn="just"/>
            <a:r>
              <a:rPr lang="en-US" sz="4400" dirty="0"/>
              <a:t>The relationship between </a:t>
            </a:r>
            <a:r>
              <a:rPr lang="en-US" sz="4400" b="1" dirty="0"/>
              <a:t>memory units</a:t>
            </a:r>
            <a:r>
              <a:rPr lang="en-US" sz="4400" dirty="0"/>
              <a:t>, </a:t>
            </a:r>
            <a:r>
              <a:rPr lang="en-US" sz="4400" b="1" dirty="0"/>
              <a:t>registers</a:t>
            </a:r>
            <a:r>
              <a:rPr lang="en-US" sz="4400" dirty="0"/>
              <a:t>, </a:t>
            </a:r>
            <a:r>
              <a:rPr lang="en-US" sz="4400" b="1" dirty="0"/>
              <a:t>cache</a:t>
            </a:r>
            <a:r>
              <a:rPr lang="en-US" sz="4400" dirty="0"/>
              <a:t>, </a:t>
            </a:r>
            <a:r>
              <a:rPr lang="en-US" sz="4400" b="1" dirty="0"/>
              <a:t>main memory</a:t>
            </a:r>
            <a:r>
              <a:rPr lang="en-US" sz="4400" dirty="0"/>
              <a:t>, and </a:t>
            </a:r>
            <a:r>
              <a:rPr lang="en-US" sz="4400" b="1" dirty="0"/>
              <a:t>secondary storage</a:t>
            </a:r>
            <a:r>
              <a:rPr lang="en-US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4419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600" dirty="0"/>
              <a:t>Components of Memory Hardware</a:t>
            </a:r>
            <a:endParaRPr lang="en-US" sz="3300" b="1" dirty="0"/>
          </a:p>
          <a:p>
            <a:pPr marL="0" indent="0">
              <a:buNone/>
            </a:pPr>
            <a:r>
              <a:rPr lang="en-US" sz="3200" b="1" dirty="0"/>
              <a:t>Processor Registers</a:t>
            </a:r>
            <a:endParaRPr lang="en-US" sz="3200" dirty="0"/>
          </a:p>
          <a:p>
            <a:pPr algn="just"/>
            <a:r>
              <a:rPr lang="en-US" sz="4300" dirty="0"/>
              <a:t>Small, high-speed storage locations within the CPU.</a:t>
            </a:r>
          </a:p>
          <a:p>
            <a:pPr algn="just"/>
            <a:r>
              <a:rPr lang="en-US" sz="4300" dirty="0"/>
              <a:t>Hold data currently being processed or temporarily stored.</a:t>
            </a:r>
          </a:p>
          <a:p>
            <a:pPr algn="just"/>
            <a:r>
              <a:rPr lang="en-US" sz="4300" dirty="0"/>
              <a:t>Examples: Accumulator (ACC), Instruction Register (IR), Program Counter (PC), Stack Pointer (SP).</a:t>
            </a:r>
          </a:p>
          <a:p>
            <a:pPr algn="just"/>
            <a:r>
              <a:rPr lang="en-US" sz="4300" dirty="0"/>
              <a:t>Fastest type of memory but very limited in size.</a:t>
            </a:r>
          </a:p>
        </p:txBody>
      </p:sp>
    </p:spTree>
    <p:extLst>
      <p:ext uri="{BB962C8B-B14F-4D97-AF65-F5344CB8AC3E}">
        <p14:creationId xmlns:p14="http://schemas.microsoft.com/office/powerpoint/2010/main" val="532849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600" b="1" dirty="0"/>
              <a:t>Cache Memory</a:t>
            </a:r>
          </a:p>
          <a:p>
            <a:pPr algn="just"/>
            <a:r>
              <a:rPr lang="en-US" sz="4400" dirty="0"/>
              <a:t>A small, high-speed memory between the CPU and main memory.</a:t>
            </a:r>
            <a:endParaRPr lang="en-US" sz="4300" dirty="0"/>
          </a:p>
          <a:p>
            <a:pPr algn="just"/>
            <a:r>
              <a:rPr lang="en-US" sz="4400" dirty="0"/>
              <a:t>Stores frequently accessed data and instructions to reduce access time.</a:t>
            </a:r>
          </a:p>
          <a:p>
            <a:pPr marL="0" indent="0" algn="just">
              <a:buNone/>
            </a:pPr>
            <a:r>
              <a:rPr lang="en-US" sz="4300" dirty="0"/>
              <a:t>Types:</a:t>
            </a:r>
          </a:p>
          <a:p>
            <a:pPr algn="just"/>
            <a:r>
              <a:rPr lang="en-US" sz="4400" b="1" dirty="0"/>
              <a:t>L1 Cache:</a:t>
            </a:r>
            <a:r>
              <a:rPr lang="en-US" sz="4400" dirty="0"/>
              <a:t> Built into the CPU chip.</a:t>
            </a:r>
          </a:p>
          <a:p>
            <a:pPr algn="just"/>
            <a:r>
              <a:rPr lang="en-US" sz="4400" b="1" dirty="0"/>
              <a:t>L2 Cache:</a:t>
            </a:r>
            <a:r>
              <a:rPr lang="en-US" sz="4400" dirty="0"/>
              <a:t> Located near or within the CPU module.</a:t>
            </a:r>
          </a:p>
          <a:p>
            <a:pPr algn="just"/>
            <a:r>
              <a:rPr lang="en-US" sz="4400" b="1" dirty="0"/>
              <a:t>L3 Cache:</a:t>
            </a:r>
            <a:r>
              <a:rPr lang="en-US" sz="4400" dirty="0"/>
              <a:t> Shared among cores in multi-core processors.</a:t>
            </a:r>
            <a:endParaRPr lang="en-US" sz="4300" dirty="0"/>
          </a:p>
        </p:txBody>
      </p:sp>
    </p:spTree>
    <p:extLst>
      <p:ext uri="{BB962C8B-B14F-4D97-AF65-F5344CB8AC3E}">
        <p14:creationId xmlns:p14="http://schemas.microsoft.com/office/powerpoint/2010/main" val="538269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/>
              <a:t>Main Memory (Primary Memory or RAM)</a:t>
            </a:r>
            <a:endParaRPr lang="en-US" sz="3600" b="1" dirty="0"/>
          </a:p>
          <a:p>
            <a:pPr algn="just"/>
            <a:r>
              <a:rPr lang="en-US" sz="4400" dirty="0"/>
              <a:t>Holds data and instructions that are actively in use.</a:t>
            </a:r>
          </a:p>
          <a:p>
            <a:pPr marL="0" indent="0" algn="just">
              <a:buNone/>
            </a:pPr>
            <a:r>
              <a:rPr lang="en-US" sz="4300" dirty="0"/>
              <a:t>Types:</a:t>
            </a:r>
          </a:p>
          <a:p>
            <a:pPr algn="just"/>
            <a:r>
              <a:rPr lang="en-US" sz="4400" b="1" dirty="0"/>
              <a:t>Static RAM (SRAM):</a:t>
            </a:r>
            <a:r>
              <a:rPr lang="en-US" sz="4400" dirty="0"/>
              <a:t> Used for cache.</a:t>
            </a:r>
          </a:p>
          <a:p>
            <a:pPr marL="0" indent="0" algn="just">
              <a:buNone/>
            </a:pPr>
            <a:r>
              <a:rPr lang="en-US" sz="4400" b="1" dirty="0"/>
              <a:t>SRAM</a:t>
            </a:r>
            <a:r>
              <a:rPr lang="en-US" sz="4400" dirty="0"/>
              <a:t> is a type of memory that stores data using </a:t>
            </a:r>
            <a:r>
              <a:rPr lang="en-US" sz="4400" b="1" dirty="0"/>
              <a:t>flip-flop circuits</a:t>
            </a:r>
            <a:r>
              <a:rPr lang="en-US" sz="4400" dirty="0"/>
              <a:t>, typically made from 6 transistors per bit. </a:t>
            </a:r>
          </a:p>
          <a:p>
            <a:pPr marL="0" indent="0" algn="just">
              <a:buNone/>
            </a:pPr>
            <a:r>
              <a:rPr lang="en-US" sz="4400" dirty="0"/>
              <a:t>Unlike </a:t>
            </a:r>
            <a:r>
              <a:rPr lang="en-US" sz="4400" b="1" dirty="0"/>
              <a:t>Dynamic RAM (DRAM)</a:t>
            </a:r>
            <a:r>
              <a:rPr lang="en-US" sz="4400" dirty="0"/>
              <a:t>, which needs constant refreshing, SRAM retains data </a:t>
            </a:r>
            <a:r>
              <a:rPr lang="en-US" sz="4400" b="1" dirty="0"/>
              <a:t>as long as power is supplied</a:t>
            </a:r>
            <a:r>
              <a:rPr lang="en-US" sz="4400" dirty="0"/>
              <a:t>—hence the term "static."</a:t>
            </a:r>
          </a:p>
        </p:txBody>
      </p:sp>
    </p:spTree>
    <p:extLst>
      <p:ext uri="{BB962C8B-B14F-4D97-AF65-F5344CB8AC3E}">
        <p14:creationId xmlns:p14="http://schemas.microsoft.com/office/powerpoint/2010/main" val="1994228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/>
              <a:t>Key Characteristics of SRAM</a:t>
            </a:r>
          </a:p>
          <a:p>
            <a:pPr algn="just"/>
            <a:r>
              <a:rPr lang="en-US" sz="4000" b="1" dirty="0"/>
              <a:t>Fast access time</a:t>
            </a:r>
            <a:r>
              <a:rPr lang="en-US" sz="4000" dirty="0"/>
              <a:t>: Much quicker than DRAM, making it ideal for cache.</a:t>
            </a:r>
          </a:p>
          <a:p>
            <a:pPr algn="just"/>
            <a:r>
              <a:rPr lang="en-US" sz="4000" b="1" dirty="0"/>
              <a:t>No refresh needed</a:t>
            </a:r>
            <a:r>
              <a:rPr lang="en-US" sz="4000" dirty="0"/>
              <a:t>: Data stays intact without periodic refresh cycles.</a:t>
            </a:r>
          </a:p>
          <a:p>
            <a:pPr algn="just"/>
            <a:r>
              <a:rPr lang="en-US" sz="4000" b="1" dirty="0"/>
              <a:t>Lower density</a:t>
            </a:r>
            <a:r>
              <a:rPr lang="en-US" sz="4000" dirty="0"/>
              <a:t>: Takes up more space per bit due to complex circuitry.</a:t>
            </a:r>
          </a:p>
          <a:p>
            <a:pPr algn="just"/>
            <a:r>
              <a:rPr lang="en-US" sz="4000" b="1" dirty="0"/>
              <a:t>Higher cost</a:t>
            </a:r>
            <a:r>
              <a:rPr lang="en-US" sz="4000" dirty="0"/>
              <a:t>: More expensive to produce than DRAM. </a:t>
            </a:r>
          </a:p>
          <a:p>
            <a:pPr algn="just"/>
            <a:r>
              <a:rPr lang="en-US" sz="4000" b="1" dirty="0"/>
              <a:t>Volatile</a:t>
            </a:r>
            <a:r>
              <a:rPr lang="en-US" sz="4000" dirty="0"/>
              <a:t>: Loses data when power is turned off.</a:t>
            </a:r>
          </a:p>
          <a:p>
            <a:pPr algn="just"/>
            <a:endParaRPr lang="en-US" sz="4000" dirty="0"/>
          </a:p>
          <a:p>
            <a:pPr algn="just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27165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Why SRAM Is Used for Cache</a:t>
            </a:r>
            <a:endParaRPr lang="en-US" sz="3200" b="1" dirty="0"/>
          </a:p>
          <a:p>
            <a:pPr algn="just"/>
            <a:r>
              <a:rPr lang="en-US" sz="3200" dirty="0"/>
              <a:t>Cache memory is designed to be </a:t>
            </a:r>
            <a:r>
              <a:rPr lang="en-US" sz="3200" b="1" dirty="0"/>
              <a:t>extremely fast</a:t>
            </a:r>
            <a:r>
              <a:rPr lang="en-US" sz="3200" dirty="0"/>
              <a:t> and sits close to the CPU. Here's why SRAM is perfect for this role:</a:t>
            </a:r>
          </a:p>
          <a:p>
            <a:pPr algn="just"/>
            <a:endParaRPr lang="en-US" sz="4000" dirty="0"/>
          </a:p>
          <a:p>
            <a:pPr algn="just"/>
            <a:endParaRPr lang="en-US" sz="4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276FA6-C32D-4664-A2AC-37EB9D46F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319753"/>
              </p:ext>
            </p:extLst>
          </p:nvPr>
        </p:nvGraphicFramePr>
        <p:xfrm>
          <a:off x="573974" y="2460135"/>
          <a:ext cx="8463148" cy="4309117"/>
        </p:xfrm>
        <a:graphic>
          <a:graphicData uri="http://schemas.openxmlformats.org/drawingml/2006/table">
            <a:tbl>
              <a:tblPr/>
              <a:tblGrid>
                <a:gridCol w="3665517">
                  <a:extLst>
                    <a:ext uri="{9D8B030D-6E8A-4147-A177-3AD203B41FA5}">
                      <a16:colId xmlns:a16="http://schemas.microsoft.com/office/drawing/2014/main" val="1277962005"/>
                    </a:ext>
                  </a:extLst>
                </a:gridCol>
                <a:gridCol w="4797631">
                  <a:extLst>
                    <a:ext uri="{9D8B030D-6E8A-4147-A177-3AD203B41FA5}">
                      <a16:colId xmlns:a16="http://schemas.microsoft.com/office/drawing/2014/main" val="1128111093"/>
                    </a:ext>
                  </a:extLst>
                </a:gridCol>
              </a:tblGrid>
              <a:tr h="529597">
                <a:tc>
                  <a:txBody>
                    <a:bodyPr/>
                    <a:lstStyle/>
                    <a:p>
                      <a:r>
                        <a:rPr lang="en-US" sz="280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Benefit for Cache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648534"/>
                  </a:ext>
                </a:extLst>
              </a:tr>
              <a:tr h="926795">
                <a:tc>
                  <a:txBody>
                    <a:bodyPr/>
                    <a:lstStyle/>
                    <a:p>
                      <a:r>
                        <a:rPr lang="en-US" sz="2800" dirty="0"/>
                        <a:t>Fast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dirty="0"/>
                        <a:t>Keeps up with CPU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142579"/>
                  </a:ext>
                </a:extLst>
              </a:tr>
              <a:tr h="926795">
                <a:tc>
                  <a:txBody>
                    <a:bodyPr/>
                    <a:lstStyle/>
                    <a:p>
                      <a:r>
                        <a:rPr lang="en-US" sz="2800" dirty="0"/>
                        <a:t>No refresh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dirty="0"/>
                        <a:t>Reduces latency and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107737"/>
                  </a:ext>
                </a:extLst>
              </a:tr>
              <a:tr h="926795">
                <a:tc>
                  <a:txBody>
                    <a:bodyPr/>
                    <a:lstStyle/>
                    <a:p>
                      <a:r>
                        <a:rPr lang="en-US" sz="2800" dirty="0"/>
                        <a:t>Stability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dirty="0"/>
                        <a:t>Reliable for frequent read/write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278090"/>
                  </a:ext>
                </a:extLst>
              </a:tr>
              <a:tr h="926795">
                <a:tc>
                  <a:txBody>
                    <a:bodyPr/>
                    <a:lstStyle/>
                    <a:p>
                      <a:r>
                        <a:rPr lang="en-US" sz="2800" dirty="0"/>
                        <a:t>Low power (at idle)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dirty="0"/>
                        <a:t>Efficient for small, high-speed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768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762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3D8F5A-6A01-499B-813E-C6841D78A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4152572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4400" b="1" dirty="0"/>
              <a:t>Dynamic RAM (DRAM):</a:t>
            </a:r>
            <a:r>
              <a:rPr lang="en-US" sz="4400" dirty="0"/>
              <a:t> Used for main system memory.</a:t>
            </a:r>
          </a:p>
          <a:p>
            <a:pPr algn="just"/>
            <a:r>
              <a:rPr lang="en-US" sz="4400" dirty="0"/>
              <a:t>It stores each bit of data in a </a:t>
            </a:r>
            <a:r>
              <a:rPr lang="en-US" sz="4400" b="1" dirty="0"/>
              <a:t>memory cell composed of a capacitor and a transistor</a:t>
            </a:r>
            <a:r>
              <a:rPr lang="en-US" sz="4400" dirty="0"/>
              <a:t>. </a:t>
            </a:r>
          </a:p>
          <a:p>
            <a:pPr algn="just"/>
            <a:r>
              <a:rPr lang="en-US" sz="4400" dirty="0"/>
              <a:t>The capacitor holds an electrical charge to represent a binary value (1 or 0), but this charge </a:t>
            </a:r>
            <a:r>
              <a:rPr lang="en-US" sz="4400" b="1" dirty="0"/>
              <a:t>leaks over time</a:t>
            </a:r>
            <a:r>
              <a:rPr lang="en-US" sz="4400" dirty="0"/>
              <a:t>, requiring </a:t>
            </a:r>
            <a:r>
              <a:rPr lang="en-US" sz="4400" b="1" dirty="0"/>
              <a:t>constant refreshing</a:t>
            </a:r>
            <a:r>
              <a:rPr lang="en-US" sz="4400" dirty="0"/>
              <a:t>—typically every few milliseconds</a:t>
            </a:r>
          </a:p>
        </p:txBody>
      </p:sp>
    </p:spTree>
    <p:extLst>
      <p:ext uri="{BB962C8B-B14F-4D97-AF65-F5344CB8AC3E}">
        <p14:creationId xmlns:p14="http://schemas.microsoft.com/office/powerpoint/2010/main" val="2585890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4400" dirty="0"/>
              <a:t>How DRAM Functions</a:t>
            </a:r>
          </a:p>
          <a:p>
            <a:pPr algn="just"/>
            <a:r>
              <a:rPr lang="en-US" sz="4400" b="1" dirty="0"/>
              <a:t>Volatile Memory</a:t>
            </a:r>
            <a:r>
              <a:rPr lang="en-US" sz="4400" dirty="0"/>
              <a:t>: DRAM loses all stored data when power is turned off. </a:t>
            </a:r>
          </a:p>
          <a:p>
            <a:pPr algn="just"/>
            <a:r>
              <a:rPr lang="en-US" sz="4400" b="1" dirty="0"/>
              <a:t>Dynamic Nature</a:t>
            </a:r>
            <a:r>
              <a:rPr lang="en-US" sz="4400" dirty="0"/>
              <a:t>: The need for frequent refreshing is what makes it "dynamic" as opposed to "static" RAM (SRAM), which doesn’t require refreshing.</a:t>
            </a:r>
          </a:p>
          <a:p>
            <a:pPr algn="just"/>
            <a:r>
              <a:rPr lang="en-US" sz="4400" b="1" dirty="0"/>
              <a:t>Access Speed</a:t>
            </a:r>
            <a:r>
              <a:rPr lang="en-US" sz="4400" dirty="0"/>
              <a:t>: While slower than SRAM, DRAM is still fast enough for system memory and is much cheaper to produce</a:t>
            </a:r>
          </a:p>
        </p:txBody>
      </p:sp>
    </p:spTree>
    <p:extLst>
      <p:ext uri="{BB962C8B-B14F-4D97-AF65-F5344CB8AC3E}">
        <p14:creationId xmlns:p14="http://schemas.microsoft.com/office/powerpoint/2010/main" val="925685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3600" dirty="0"/>
              <a:t>Why DRAM Is Used for Main System Memory</a:t>
            </a:r>
          </a:p>
          <a:p>
            <a:pPr algn="just"/>
            <a:r>
              <a:rPr lang="en-US" sz="3600" b="1" dirty="0"/>
              <a:t>High Density</a:t>
            </a:r>
            <a:r>
              <a:rPr lang="en-US" sz="3600" dirty="0"/>
              <a:t>: DRAM can pack more memory cells into a smaller space, allowing for </a:t>
            </a:r>
            <a:r>
              <a:rPr lang="en-US" sz="3600" b="1" dirty="0"/>
              <a:t>larger memory capacities</a:t>
            </a:r>
            <a:r>
              <a:rPr lang="en-US" sz="3600" dirty="0"/>
              <a:t>. </a:t>
            </a:r>
          </a:p>
          <a:p>
            <a:pPr algn="just"/>
            <a:r>
              <a:rPr lang="en-US" sz="3600" b="1" dirty="0"/>
              <a:t>Cost Efficiency</a:t>
            </a:r>
            <a:r>
              <a:rPr lang="en-US" sz="3600" dirty="0"/>
              <a:t>: It’s </a:t>
            </a:r>
            <a:r>
              <a:rPr lang="en-US" sz="3600" b="1" dirty="0"/>
              <a:t>less expensive</a:t>
            </a:r>
            <a:r>
              <a:rPr lang="en-US" sz="3600" dirty="0"/>
              <a:t> than SRAM, making it ideal for large-scale memory like that found in desktops, laptops, and servers.</a:t>
            </a:r>
          </a:p>
          <a:p>
            <a:pPr algn="just"/>
            <a:r>
              <a:rPr lang="en-US" sz="3600" b="1" dirty="0"/>
              <a:t>Compatibility</a:t>
            </a:r>
            <a:r>
              <a:rPr lang="en-US" sz="3600" dirty="0"/>
              <a:t>: DRAM is well-suited for the </a:t>
            </a:r>
            <a:r>
              <a:rPr lang="en-US" sz="3600" b="1" dirty="0"/>
              <a:t>frequent read/write operations</a:t>
            </a:r>
            <a:r>
              <a:rPr lang="en-US" sz="3600" dirty="0"/>
              <a:t> performed by CPUs during program execution</a:t>
            </a:r>
          </a:p>
        </p:txBody>
      </p:sp>
    </p:spTree>
    <p:extLst>
      <p:ext uri="{BB962C8B-B14F-4D97-AF65-F5344CB8AC3E}">
        <p14:creationId xmlns:p14="http://schemas.microsoft.com/office/powerpoint/2010/main" val="3996194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Types of DRAM</a:t>
            </a:r>
          </a:p>
          <a:p>
            <a:pPr algn="just"/>
            <a:r>
              <a:rPr lang="en-US" sz="3600" b="1" dirty="0"/>
              <a:t>SDRAM (Synchronous DRAM)</a:t>
            </a:r>
            <a:r>
              <a:rPr lang="en-US" sz="3600" dirty="0"/>
              <a:t>: Syncs with the system clock for faster performance. </a:t>
            </a:r>
          </a:p>
          <a:p>
            <a:pPr algn="just"/>
            <a:r>
              <a:rPr lang="en-US" sz="3600" b="1" dirty="0"/>
              <a:t>DDR (Double Data Rate) SDRAM</a:t>
            </a:r>
            <a:r>
              <a:rPr lang="en-US" sz="3600" dirty="0"/>
              <a:t>: Transfers data on both rising and falling edges of the clock signal. Versions include DDR2, DDR3, DDR4, and DDR5.</a:t>
            </a:r>
          </a:p>
          <a:p>
            <a:pPr algn="just"/>
            <a:r>
              <a:rPr lang="en-US" sz="3600" b="1" dirty="0"/>
              <a:t>LPDDR (Low Power DDR)</a:t>
            </a:r>
            <a:r>
              <a:rPr lang="en-US" sz="3600" dirty="0"/>
              <a:t>: Used in mobile devices for energy efficiency.</a:t>
            </a:r>
          </a:p>
        </p:txBody>
      </p:sp>
    </p:spTree>
    <p:extLst>
      <p:ext uri="{BB962C8B-B14F-4D97-AF65-F5344CB8AC3E}">
        <p14:creationId xmlns:p14="http://schemas.microsoft.com/office/powerpoint/2010/main" val="63826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DRAM vs. SRAM</a:t>
            </a:r>
          </a:p>
          <a:p>
            <a:pPr marL="0" indent="0" algn="just">
              <a:buNone/>
            </a:pPr>
            <a:endParaRPr lang="en-US" sz="3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CB8ADB-FB05-4C47-9DE3-854441D67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968768"/>
              </p:ext>
            </p:extLst>
          </p:nvPr>
        </p:nvGraphicFramePr>
        <p:xfrm>
          <a:off x="106878" y="807522"/>
          <a:ext cx="9037122" cy="6014850"/>
        </p:xfrm>
        <a:graphic>
          <a:graphicData uri="http://schemas.openxmlformats.org/drawingml/2006/table">
            <a:tbl>
              <a:tblPr/>
              <a:tblGrid>
                <a:gridCol w="3012374">
                  <a:extLst>
                    <a:ext uri="{9D8B030D-6E8A-4147-A177-3AD203B41FA5}">
                      <a16:colId xmlns:a16="http://schemas.microsoft.com/office/drawing/2014/main" val="46897853"/>
                    </a:ext>
                  </a:extLst>
                </a:gridCol>
                <a:gridCol w="3012374">
                  <a:extLst>
                    <a:ext uri="{9D8B030D-6E8A-4147-A177-3AD203B41FA5}">
                      <a16:colId xmlns:a16="http://schemas.microsoft.com/office/drawing/2014/main" val="1264622885"/>
                    </a:ext>
                  </a:extLst>
                </a:gridCol>
                <a:gridCol w="3012374">
                  <a:extLst>
                    <a:ext uri="{9D8B030D-6E8A-4147-A177-3AD203B41FA5}">
                      <a16:colId xmlns:a16="http://schemas.microsoft.com/office/drawing/2014/main" val="2279291693"/>
                    </a:ext>
                  </a:extLst>
                </a:gridCol>
              </a:tblGrid>
              <a:tr h="989610">
                <a:tc>
                  <a:txBody>
                    <a:bodyPr/>
                    <a:lstStyle/>
                    <a:p>
                      <a:r>
                        <a:rPr lang="en-US" sz="320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DRAM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SRAM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250097"/>
                  </a:ext>
                </a:extLst>
              </a:tr>
              <a:tr h="989610">
                <a:tc>
                  <a:txBody>
                    <a:bodyPr/>
                    <a:lstStyle/>
                    <a:p>
                      <a:r>
                        <a:rPr lang="en-US" sz="3200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232809"/>
                  </a:ext>
                </a:extLst>
              </a:tr>
              <a:tr h="989610">
                <a:tc>
                  <a:txBody>
                    <a:bodyPr/>
                    <a:lstStyle/>
                    <a:p>
                      <a:r>
                        <a:rPr lang="en-US" sz="3200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Cheaper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More 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254146"/>
                  </a:ext>
                </a:extLst>
              </a:tr>
              <a:tr h="989610">
                <a:tc>
                  <a:txBody>
                    <a:bodyPr/>
                    <a:lstStyle/>
                    <a:p>
                      <a:r>
                        <a:rPr lang="en-US" sz="3200"/>
                        <a:t>Density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544821"/>
                  </a:ext>
                </a:extLst>
              </a:tr>
              <a:tr h="989610">
                <a:tc>
                  <a:txBody>
                    <a:bodyPr/>
                    <a:lstStyle/>
                    <a:p>
                      <a:r>
                        <a:rPr lang="en-US" sz="3200"/>
                        <a:t>Refresh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925224"/>
                  </a:ext>
                </a:extLst>
              </a:tr>
              <a:tr h="989610">
                <a:tc>
                  <a:txBody>
                    <a:bodyPr/>
                    <a:lstStyle/>
                    <a:p>
                      <a:r>
                        <a:rPr lang="en-US" sz="3200"/>
                        <a:t>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Main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Cache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944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807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4800" dirty="0"/>
              <a:t>Secondary Storage</a:t>
            </a:r>
          </a:p>
          <a:p>
            <a:pPr algn="just"/>
            <a:r>
              <a:rPr lang="en-US" sz="4800" dirty="0"/>
              <a:t>Non-volatile and used for long-term data storage.</a:t>
            </a:r>
          </a:p>
          <a:p>
            <a:pPr algn="just"/>
            <a:r>
              <a:rPr lang="en-US" sz="4800" dirty="0"/>
              <a:t>Examples: Hard disk drives (HDD), solid-state drives (SSD), optical discs, flash drives.</a:t>
            </a:r>
          </a:p>
          <a:p>
            <a:pPr algn="just"/>
            <a:r>
              <a:rPr lang="en-US" sz="4800" dirty="0"/>
              <a:t>Slower but much larger in capacity than main memory.</a:t>
            </a:r>
          </a:p>
        </p:txBody>
      </p:sp>
    </p:spTree>
    <p:extLst>
      <p:ext uri="{BB962C8B-B14F-4D97-AF65-F5344CB8AC3E}">
        <p14:creationId xmlns:p14="http://schemas.microsoft.com/office/powerpoint/2010/main" val="1785616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4800" dirty="0"/>
              <a:t>Virtual Memory</a:t>
            </a:r>
          </a:p>
          <a:p>
            <a:pPr algn="just"/>
            <a:r>
              <a:rPr lang="en-US" sz="4800" dirty="0"/>
              <a:t>A technique that allows the execution of processes that may not be completely in main memory.</a:t>
            </a:r>
          </a:p>
          <a:p>
            <a:pPr algn="just"/>
            <a:r>
              <a:rPr lang="en-US" sz="4800" dirty="0"/>
              <a:t>Extends physical memory using disk space.</a:t>
            </a:r>
          </a:p>
          <a:p>
            <a:pPr algn="just"/>
            <a:r>
              <a:rPr lang="en-US" sz="4800" dirty="0"/>
              <a:t>Managed by the operating system through </a:t>
            </a:r>
            <a:r>
              <a:rPr lang="en-US" sz="4800" b="1" dirty="0"/>
              <a:t>paging</a:t>
            </a:r>
            <a:r>
              <a:rPr lang="en-US" sz="4800" dirty="0"/>
              <a:t> and </a:t>
            </a:r>
            <a:r>
              <a:rPr lang="en-US" sz="4800" b="1" dirty="0"/>
              <a:t>segmentation</a:t>
            </a:r>
            <a:r>
              <a:rPr lang="en-US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8176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800" dirty="0"/>
              <a:t>Memory </a:t>
            </a:r>
            <a:r>
              <a:rPr lang="en-US" sz="4800" dirty="0" err="1"/>
              <a:t>Organisation</a:t>
            </a:r>
            <a:r>
              <a:rPr lang="en-US" sz="4800" dirty="0"/>
              <a:t> Hierarchy</a:t>
            </a:r>
          </a:p>
          <a:p>
            <a:pPr marL="0" indent="0" algn="just">
              <a:buNone/>
            </a:pPr>
            <a:endParaRPr lang="en-US" sz="4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5A4281-C74E-4F36-9A7A-0809FD3D7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278489"/>
              </p:ext>
            </p:extLst>
          </p:nvPr>
        </p:nvGraphicFramePr>
        <p:xfrm>
          <a:off x="320635" y="994708"/>
          <a:ext cx="8633359" cy="4477756"/>
        </p:xfrm>
        <a:graphic>
          <a:graphicData uri="http://schemas.openxmlformats.org/drawingml/2006/table">
            <a:tbl>
              <a:tblPr/>
              <a:tblGrid>
                <a:gridCol w="997526">
                  <a:extLst>
                    <a:ext uri="{9D8B030D-6E8A-4147-A177-3AD203B41FA5}">
                      <a16:colId xmlns:a16="http://schemas.microsoft.com/office/drawing/2014/main" val="70366389"/>
                    </a:ext>
                  </a:extLst>
                </a:gridCol>
                <a:gridCol w="2455817">
                  <a:extLst>
                    <a:ext uri="{9D8B030D-6E8A-4147-A177-3AD203B41FA5}">
                      <a16:colId xmlns:a16="http://schemas.microsoft.com/office/drawing/2014/main" val="1565093324"/>
                    </a:ext>
                  </a:extLst>
                </a:gridCol>
                <a:gridCol w="1726672">
                  <a:extLst>
                    <a:ext uri="{9D8B030D-6E8A-4147-A177-3AD203B41FA5}">
                      <a16:colId xmlns:a16="http://schemas.microsoft.com/office/drawing/2014/main" val="2044768760"/>
                    </a:ext>
                  </a:extLst>
                </a:gridCol>
                <a:gridCol w="1726672">
                  <a:extLst>
                    <a:ext uri="{9D8B030D-6E8A-4147-A177-3AD203B41FA5}">
                      <a16:colId xmlns:a16="http://schemas.microsoft.com/office/drawing/2014/main" val="512083496"/>
                    </a:ext>
                  </a:extLst>
                </a:gridCol>
                <a:gridCol w="1726672">
                  <a:extLst>
                    <a:ext uri="{9D8B030D-6E8A-4147-A177-3AD203B41FA5}">
                      <a16:colId xmlns:a16="http://schemas.microsoft.com/office/drawing/2014/main" val="3272478951"/>
                    </a:ext>
                  </a:extLst>
                </a:gridCol>
              </a:tblGrid>
              <a:tr h="532746">
                <a:tc>
                  <a:txBody>
                    <a:bodyPr/>
                    <a:lstStyle/>
                    <a:p>
                      <a:r>
                        <a:rPr lang="en-US" sz="2400" b="1"/>
                        <a:t>Level</a:t>
                      </a:r>
                      <a:endParaRPr lang="en-US" sz="2400"/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Type</a:t>
                      </a:r>
                      <a:endParaRPr lang="en-US" sz="2400"/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Speed</a:t>
                      </a:r>
                      <a:endParaRPr lang="en-US" sz="2400"/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Capacity</a:t>
                      </a:r>
                      <a:endParaRPr lang="en-US" sz="2400"/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Cost per Bit</a:t>
                      </a:r>
                      <a:endParaRPr lang="en-US" sz="2400"/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964519"/>
                  </a:ext>
                </a:extLst>
              </a:tr>
              <a:tr h="532746"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CPU Registers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Fastest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Very Low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Highest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848771"/>
                  </a:ext>
                </a:extLst>
              </a:tr>
              <a:tr h="532746"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Cache Memory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Very Fast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Low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High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161759"/>
                  </a:ext>
                </a:extLst>
              </a:tr>
              <a:tr h="761066">
                <a:tc>
                  <a:txBody>
                    <a:bodyPr/>
                    <a:lstStyle/>
                    <a:p>
                      <a:r>
                        <a:rPr lang="en-US" sz="2400"/>
                        <a:t>3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Main Memory (RAM)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Fast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Medium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Moderate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703937"/>
                  </a:ext>
                </a:extLst>
              </a:tr>
              <a:tr h="532746">
                <a:tc>
                  <a:txBody>
                    <a:bodyPr/>
                    <a:lstStyle/>
                    <a:p>
                      <a:r>
                        <a:rPr lang="en-US" sz="2400"/>
                        <a:t>4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Secondary Storage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Slow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High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Low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271287"/>
                  </a:ext>
                </a:extLst>
              </a:tr>
              <a:tr h="989386">
                <a:tc>
                  <a:txBody>
                    <a:bodyPr/>
                    <a:lstStyle/>
                    <a:p>
                      <a:r>
                        <a:rPr lang="en-US" sz="2400"/>
                        <a:t>5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Archival Storage (Tape, Cloud)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Very Slow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Very High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Lowest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989204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58A9FF1-32E5-4600-B3AF-66714DBAC139}"/>
              </a:ext>
            </a:extLst>
          </p:cNvPr>
          <p:cNvSpPr/>
          <p:nvPr/>
        </p:nvSpPr>
        <p:spPr>
          <a:xfrm>
            <a:off x="106878" y="5416327"/>
            <a:ext cx="903712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This hierarchy balances </a:t>
            </a:r>
            <a:r>
              <a:rPr lang="en-US" sz="2800" b="1" dirty="0"/>
              <a:t>speed, cost, and capacity</a:t>
            </a:r>
            <a:r>
              <a:rPr lang="en-US" sz="2800" dirty="0"/>
              <a:t>, ensuring that frequently used data is kept close to the CPU.</a:t>
            </a:r>
          </a:p>
        </p:txBody>
      </p:sp>
    </p:spTree>
    <p:extLst>
      <p:ext uri="{BB962C8B-B14F-4D97-AF65-F5344CB8AC3E}">
        <p14:creationId xmlns:p14="http://schemas.microsoft.com/office/powerpoint/2010/main" val="2966808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78" y="161089"/>
            <a:ext cx="8847117" cy="658409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4800" dirty="0"/>
              <a:t>Memory Addressing and Access</a:t>
            </a:r>
          </a:p>
          <a:p>
            <a:pPr algn="just"/>
            <a:r>
              <a:rPr lang="en-US" sz="3600" dirty="0"/>
              <a:t>Each memory location has a unique address.</a:t>
            </a:r>
          </a:p>
          <a:p>
            <a:pPr algn="just"/>
            <a:r>
              <a:rPr lang="en-US" sz="3600" dirty="0"/>
              <a:t>The </a:t>
            </a:r>
            <a:r>
              <a:rPr lang="en-US" sz="3600" b="1" dirty="0"/>
              <a:t>CPU</a:t>
            </a:r>
            <a:r>
              <a:rPr lang="en-US" sz="3600" dirty="0"/>
              <a:t> uses </a:t>
            </a:r>
            <a:r>
              <a:rPr lang="en-US" sz="3600" b="1" dirty="0"/>
              <a:t>address buses</a:t>
            </a:r>
            <a:r>
              <a:rPr lang="en-US" sz="3600" dirty="0"/>
              <a:t> to locate data and </a:t>
            </a:r>
            <a:r>
              <a:rPr lang="en-US" sz="3600" b="1" dirty="0"/>
              <a:t>data buses</a:t>
            </a:r>
            <a:r>
              <a:rPr lang="en-US" sz="3600" dirty="0"/>
              <a:t> to transfer it.</a:t>
            </a:r>
          </a:p>
          <a:p>
            <a:pPr algn="just"/>
            <a:r>
              <a:rPr lang="en-US" sz="3600" b="1" dirty="0"/>
              <a:t>Registers and main memory</a:t>
            </a:r>
            <a:r>
              <a:rPr lang="en-US" sz="3600" dirty="0"/>
              <a:t> are the only storage units the CPU can directly access.</a:t>
            </a:r>
          </a:p>
          <a:p>
            <a:pPr algn="just"/>
            <a:r>
              <a:rPr lang="en-US" sz="3600" dirty="0"/>
              <a:t>Accessing secondary or virtual memory requires the </a:t>
            </a:r>
            <a:r>
              <a:rPr lang="en-US" sz="3600" b="1" dirty="0"/>
              <a:t>operating system’s intervention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04277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180</TotalTime>
  <Words>1623</Words>
  <Application>Microsoft Office PowerPoint</Application>
  <PresentationFormat>On-screen Show (4:3)</PresentationFormat>
  <Paragraphs>195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Memory Management</vt:lpstr>
      <vt:lpstr>Lecture Objectives</vt:lpstr>
      <vt:lpstr>Memory Management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Memory Management</dc:title>
  <dc:subject/>
  <dc:creator>Dr Awotunde</dc:creator>
  <cp:keywords/>
  <dc:description>generated using python-pptx</dc:description>
  <cp:lastModifiedBy>Dr Awotunde</cp:lastModifiedBy>
  <cp:revision>19</cp:revision>
  <dcterms:created xsi:type="dcterms:W3CDTF">2013-01-27T09:14:16Z</dcterms:created>
  <dcterms:modified xsi:type="dcterms:W3CDTF">2025-11-02T20:46:23Z</dcterms:modified>
  <cp:category/>
</cp:coreProperties>
</file>