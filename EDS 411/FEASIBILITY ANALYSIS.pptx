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99" r:id="rId1"/>
  </p:sldMasterIdLst>
  <p:sldIdLst>
    <p:sldId id="256" r:id="rId2"/>
    <p:sldId id="257" r:id="rId3"/>
    <p:sldId id="258" r:id="rId4"/>
    <p:sldId id="259" r:id="rId5"/>
    <p:sldId id="269" r:id="rId6"/>
    <p:sldId id="270"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2" d="100"/>
          <a:sy n="62" d="100"/>
        </p:scale>
        <p:origin x="82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lawole oladotun" userId="ef802625cd3b7e04" providerId="LiveId" clId="{A8FC6B5F-BAFF-457E-9CB1-FB67CA282C0F}"/>
    <pc:docChg chg="custSel addSld delSld modSld">
      <pc:chgData name="kolawole oladotun" userId="ef802625cd3b7e04" providerId="LiveId" clId="{A8FC6B5F-BAFF-457E-9CB1-FB67CA282C0F}" dt="2025-11-19T07:09:19.703" v="541" actId="122"/>
      <pc:docMkLst>
        <pc:docMk/>
      </pc:docMkLst>
      <pc:sldChg chg="modSp mod">
        <pc:chgData name="kolawole oladotun" userId="ef802625cd3b7e04" providerId="LiveId" clId="{A8FC6B5F-BAFF-457E-9CB1-FB67CA282C0F}" dt="2025-11-17T09:42:07.889" v="314" actId="1076"/>
        <pc:sldMkLst>
          <pc:docMk/>
          <pc:sldMk cId="1190362320" sldId="256"/>
        </pc:sldMkLst>
        <pc:spChg chg="mod">
          <ac:chgData name="kolawole oladotun" userId="ef802625cd3b7e04" providerId="LiveId" clId="{A8FC6B5F-BAFF-457E-9CB1-FB67CA282C0F}" dt="2025-11-17T09:41:25.766" v="310" actId="255"/>
          <ac:spMkLst>
            <pc:docMk/>
            <pc:sldMk cId="1190362320" sldId="256"/>
            <ac:spMk id="2" creationId="{2122F4FC-1155-4423-977B-07AC8753939D}"/>
          </ac:spMkLst>
        </pc:spChg>
        <pc:spChg chg="mod">
          <ac:chgData name="kolawole oladotun" userId="ef802625cd3b7e04" providerId="LiveId" clId="{A8FC6B5F-BAFF-457E-9CB1-FB67CA282C0F}" dt="2025-11-17T09:42:07.889" v="314" actId="1076"/>
          <ac:spMkLst>
            <pc:docMk/>
            <pc:sldMk cId="1190362320" sldId="256"/>
            <ac:spMk id="3" creationId="{AAE29557-4C5B-4F3B-9A90-4043AE94B616}"/>
          </ac:spMkLst>
        </pc:spChg>
      </pc:sldChg>
      <pc:sldChg chg="modSp mod">
        <pc:chgData name="kolawole oladotun" userId="ef802625cd3b7e04" providerId="LiveId" clId="{A8FC6B5F-BAFF-457E-9CB1-FB67CA282C0F}" dt="2025-11-17T12:16:20.480" v="340" actId="255"/>
        <pc:sldMkLst>
          <pc:docMk/>
          <pc:sldMk cId="3084542898" sldId="257"/>
        </pc:sldMkLst>
        <pc:spChg chg="mod">
          <ac:chgData name="kolawole oladotun" userId="ef802625cd3b7e04" providerId="LiveId" clId="{A8FC6B5F-BAFF-457E-9CB1-FB67CA282C0F}" dt="2025-11-17T12:10:50.951" v="331" actId="255"/>
          <ac:spMkLst>
            <pc:docMk/>
            <pc:sldMk cId="3084542898" sldId="257"/>
            <ac:spMk id="2" creationId="{49A0EA0F-F4BA-42BF-A6A8-4F80C13AEB0A}"/>
          </ac:spMkLst>
        </pc:spChg>
        <pc:spChg chg="mod">
          <ac:chgData name="kolawole oladotun" userId="ef802625cd3b7e04" providerId="LiveId" clId="{A8FC6B5F-BAFF-457E-9CB1-FB67CA282C0F}" dt="2025-11-17T12:16:20.480" v="340" actId="255"/>
          <ac:spMkLst>
            <pc:docMk/>
            <pc:sldMk cId="3084542898" sldId="257"/>
            <ac:spMk id="3" creationId="{67189912-812E-48C3-A3E4-8A06A36B7278}"/>
          </ac:spMkLst>
        </pc:spChg>
      </pc:sldChg>
      <pc:sldChg chg="modSp mod">
        <pc:chgData name="kolawole oladotun" userId="ef802625cd3b7e04" providerId="LiveId" clId="{A8FC6B5F-BAFF-457E-9CB1-FB67CA282C0F}" dt="2025-11-17T12:17:44.418" v="492" actId="1076"/>
        <pc:sldMkLst>
          <pc:docMk/>
          <pc:sldMk cId="3333019215" sldId="258"/>
        </pc:sldMkLst>
        <pc:spChg chg="mod">
          <ac:chgData name="kolawole oladotun" userId="ef802625cd3b7e04" providerId="LiveId" clId="{A8FC6B5F-BAFF-457E-9CB1-FB67CA282C0F}" dt="2025-11-17T12:16:40.951" v="342" actId="122"/>
          <ac:spMkLst>
            <pc:docMk/>
            <pc:sldMk cId="3333019215" sldId="258"/>
            <ac:spMk id="2" creationId="{2FED63E0-2846-458B-B255-AC4F20CF4D2D}"/>
          </ac:spMkLst>
        </pc:spChg>
        <pc:spChg chg="mod">
          <ac:chgData name="kolawole oladotun" userId="ef802625cd3b7e04" providerId="LiveId" clId="{A8FC6B5F-BAFF-457E-9CB1-FB67CA282C0F}" dt="2025-11-17T12:17:44.418" v="492" actId="1076"/>
          <ac:spMkLst>
            <pc:docMk/>
            <pc:sldMk cId="3333019215" sldId="258"/>
            <ac:spMk id="3" creationId="{52E52ACC-ACAC-4368-8D14-231EF4FDCF8C}"/>
          </ac:spMkLst>
        </pc:spChg>
      </pc:sldChg>
      <pc:sldChg chg="modSp mod">
        <pc:chgData name="kolawole oladotun" userId="ef802625cd3b7e04" providerId="LiveId" clId="{A8FC6B5F-BAFF-457E-9CB1-FB67CA282C0F}" dt="2025-11-17T12:19:34.841" v="503" actId="255"/>
        <pc:sldMkLst>
          <pc:docMk/>
          <pc:sldMk cId="1520361134" sldId="259"/>
        </pc:sldMkLst>
        <pc:spChg chg="mod">
          <ac:chgData name="kolawole oladotun" userId="ef802625cd3b7e04" providerId="LiveId" clId="{A8FC6B5F-BAFF-457E-9CB1-FB67CA282C0F}" dt="2025-11-17T12:18:32.150" v="495" actId="1076"/>
          <ac:spMkLst>
            <pc:docMk/>
            <pc:sldMk cId="1520361134" sldId="259"/>
            <ac:spMk id="2" creationId="{67C119A6-EFC1-494F-A492-7859F3512994}"/>
          </ac:spMkLst>
        </pc:spChg>
        <pc:spChg chg="mod">
          <ac:chgData name="kolawole oladotun" userId="ef802625cd3b7e04" providerId="LiveId" clId="{A8FC6B5F-BAFF-457E-9CB1-FB67CA282C0F}" dt="2025-11-17T12:19:34.841" v="503" actId="255"/>
          <ac:spMkLst>
            <pc:docMk/>
            <pc:sldMk cId="1520361134" sldId="259"/>
            <ac:spMk id="3" creationId="{ECF84014-613F-4493-86D7-0F62C23ACA66}"/>
          </ac:spMkLst>
        </pc:spChg>
      </pc:sldChg>
      <pc:sldChg chg="modSp del mod">
        <pc:chgData name="kolawole oladotun" userId="ef802625cd3b7e04" providerId="LiveId" clId="{A8FC6B5F-BAFF-457E-9CB1-FB67CA282C0F}" dt="2025-11-17T12:20:22.243" v="504" actId="2696"/>
        <pc:sldMkLst>
          <pc:docMk/>
          <pc:sldMk cId="3348035897" sldId="260"/>
        </pc:sldMkLst>
        <pc:spChg chg="mod">
          <ac:chgData name="kolawole oladotun" userId="ef802625cd3b7e04" providerId="LiveId" clId="{A8FC6B5F-BAFF-457E-9CB1-FB67CA282C0F}" dt="2025-11-17T09:40:43.135" v="306"/>
          <ac:spMkLst>
            <pc:docMk/>
            <pc:sldMk cId="3348035897" sldId="260"/>
            <ac:spMk id="2" creationId="{0907AE04-BC3A-4EB9-9A52-E92251F27D3F}"/>
          </ac:spMkLst>
        </pc:spChg>
        <pc:spChg chg="mod">
          <ac:chgData name="kolawole oladotun" userId="ef802625cd3b7e04" providerId="LiveId" clId="{A8FC6B5F-BAFF-457E-9CB1-FB67CA282C0F}" dt="2025-11-17T09:40:43.135" v="306"/>
          <ac:spMkLst>
            <pc:docMk/>
            <pc:sldMk cId="3348035897" sldId="260"/>
            <ac:spMk id="3" creationId="{0C8B79BD-CC71-4BCE-B507-EAB11B18C63A}"/>
          </ac:spMkLst>
        </pc:spChg>
      </pc:sldChg>
      <pc:sldChg chg="modSp del mod">
        <pc:chgData name="kolawole oladotun" userId="ef802625cd3b7e04" providerId="LiveId" clId="{A8FC6B5F-BAFF-457E-9CB1-FB67CA282C0F}" dt="2025-11-17T12:22:43.693" v="512" actId="2696"/>
        <pc:sldMkLst>
          <pc:docMk/>
          <pc:sldMk cId="2009505145" sldId="261"/>
        </pc:sldMkLst>
        <pc:spChg chg="mod">
          <ac:chgData name="kolawole oladotun" userId="ef802625cd3b7e04" providerId="LiveId" clId="{A8FC6B5F-BAFF-457E-9CB1-FB67CA282C0F}" dt="2025-11-17T12:22:09.474" v="506" actId="1076"/>
          <ac:spMkLst>
            <pc:docMk/>
            <pc:sldMk cId="2009505145" sldId="261"/>
            <ac:spMk id="2" creationId="{358FFD0C-8A0A-41A6-8DFD-FB868E44C249}"/>
          </ac:spMkLst>
        </pc:spChg>
        <pc:spChg chg="mod">
          <ac:chgData name="kolawole oladotun" userId="ef802625cd3b7e04" providerId="LiveId" clId="{A8FC6B5F-BAFF-457E-9CB1-FB67CA282C0F}" dt="2025-11-17T12:22:33.348" v="511" actId="20577"/>
          <ac:spMkLst>
            <pc:docMk/>
            <pc:sldMk cId="2009505145" sldId="261"/>
            <ac:spMk id="3" creationId="{9FCA23AA-F16A-4B0B-A258-EA0B51ED5371}"/>
          </ac:spMkLst>
        </pc:spChg>
      </pc:sldChg>
      <pc:sldChg chg="modSp del mod">
        <pc:chgData name="kolawole oladotun" userId="ef802625cd3b7e04" providerId="LiveId" clId="{A8FC6B5F-BAFF-457E-9CB1-FB67CA282C0F}" dt="2025-11-17T12:22:48.556" v="513" actId="2696"/>
        <pc:sldMkLst>
          <pc:docMk/>
          <pc:sldMk cId="1633949420" sldId="262"/>
        </pc:sldMkLst>
        <pc:spChg chg="mod">
          <ac:chgData name="kolawole oladotun" userId="ef802625cd3b7e04" providerId="LiveId" clId="{A8FC6B5F-BAFF-457E-9CB1-FB67CA282C0F}" dt="2025-11-17T09:40:43.135" v="306"/>
          <ac:spMkLst>
            <pc:docMk/>
            <pc:sldMk cId="1633949420" sldId="262"/>
            <ac:spMk id="2" creationId="{708642FE-93E5-45A1-B50E-17D4FD5F6416}"/>
          </ac:spMkLst>
        </pc:spChg>
        <pc:spChg chg="mod">
          <ac:chgData name="kolawole oladotun" userId="ef802625cd3b7e04" providerId="LiveId" clId="{A8FC6B5F-BAFF-457E-9CB1-FB67CA282C0F}" dt="2025-11-17T09:40:23.271" v="294" actId="27636"/>
          <ac:spMkLst>
            <pc:docMk/>
            <pc:sldMk cId="1633949420" sldId="262"/>
            <ac:spMk id="3" creationId="{3F1CDD90-1324-4473-BC2E-5D864C1E55A9}"/>
          </ac:spMkLst>
        </pc:spChg>
      </pc:sldChg>
      <pc:sldChg chg="modSp del mod">
        <pc:chgData name="kolawole oladotun" userId="ef802625cd3b7e04" providerId="LiveId" clId="{A8FC6B5F-BAFF-457E-9CB1-FB67CA282C0F}" dt="2025-11-17T12:22:53.312" v="514" actId="2696"/>
        <pc:sldMkLst>
          <pc:docMk/>
          <pc:sldMk cId="1064141983" sldId="263"/>
        </pc:sldMkLst>
        <pc:spChg chg="mod">
          <ac:chgData name="kolawole oladotun" userId="ef802625cd3b7e04" providerId="LiveId" clId="{A8FC6B5F-BAFF-457E-9CB1-FB67CA282C0F}" dt="2025-11-17T09:40:43.135" v="306"/>
          <ac:spMkLst>
            <pc:docMk/>
            <pc:sldMk cId="1064141983" sldId="263"/>
            <ac:spMk id="2" creationId="{4F91679A-DB86-42C9-A403-AF2E4C8C579B}"/>
          </ac:spMkLst>
        </pc:spChg>
        <pc:spChg chg="mod">
          <ac:chgData name="kolawole oladotun" userId="ef802625cd3b7e04" providerId="LiveId" clId="{A8FC6B5F-BAFF-457E-9CB1-FB67CA282C0F}" dt="2025-11-17T09:40:23.279" v="295" actId="27636"/>
          <ac:spMkLst>
            <pc:docMk/>
            <pc:sldMk cId="1064141983" sldId="263"/>
            <ac:spMk id="3" creationId="{48235F00-3223-4C95-84A1-03A2FCE8AF56}"/>
          </ac:spMkLst>
        </pc:spChg>
      </pc:sldChg>
      <pc:sldChg chg="delSp modSp mod">
        <pc:chgData name="kolawole oladotun" userId="ef802625cd3b7e04" providerId="LiveId" clId="{A8FC6B5F-BAFF-457E-9CB1-FB67CA282C0F}" dt="2025-11-19T07:09:19.703" v="541" actId="122"/>
        <pc:sldMkLst>
          <pc:docMk/>
          <pc:sldMk cId="588250125" sldId="264"/>
        </pc:sldMkLst>
        <pc:spChg chg="mod">
          <ac:chgData name="kolawole oladotun" userId="ef802625cd3b7e04" providerId="LiveId" clId="{A8FC6B5F-BAFF-457E-9CB1-FB67CA282C0F}" dt="2025-11-19T07:09:19.703" v="541" actId="122"/>
          <ac:spMkLst>
            <pc:docMk/>
            <pc:sldMk cId="588250125" sldId="264"/>
            <ac:spMk id="2" creationId="{82F63ADD-6FEA-4847-A3CD-00E5518DE169}"/>
          </ac:spMkLst>
        </pc:spChg>
        <pc:spChg chg="del mod">
          <ac:chgData name="kolawole oladotun" userId="ef802625cd3b7e04" providerId="LiveId" clId="{A8FC6B5F-BAFF-457E-9CB1-FB67CA282C0F}" dt="2025-11-19T07:09:06.054" v="539" actId="478"/>
          <ac:spMkLst>
            <pc:docMk/>
            <pc:sldMk cId="588250125" sldId="264"/>
            <ac:spMk id="3" creationId="{6B7F5F09-1DE5-4512-BB2E-1784C35F6AE5}"/>
          </ac:spMkLst>
        </pc:spChg>
      </pc:sldChg>
      <pc:sldChg chg="modSp del">
        <pc:chgData name="kolawole oladotun" userId="ef802625cd3b7e04" providerId="LiveId" clId="{A8FC6B5F-BAFF-457E-9CB1-FB67CA282C0F}" dt="2025-11-02T13:58:42.322" v="148" actId="2696"/>
        <pc:sldMkLst>
          <pc:docMk/>
          <pc:sldMk cId="2229400394" sldId="266"/>
        </pc:sldMkLst>
        <pc:spChg chg="mod">
          <ac:chgData name="kolawole oladotun" userId="ef802625cd3b7e04" providerId="LiveId" clId="{A8FC6B5F-BAFF-457E-9CB1-FB67CA282C0F}" dt="2025-11-02T13:48:18.308" v="0"/>
          <ac:spMkLst>
            <pc:docMk/>
            <pc:sldMk cId="2229400394" sldId="266"/>
            <ac:spMk id="2" creationId="{B6783640-1289-455C-AA99-1DC13E35F0EA}"/>
          </ac:spMkLst>
        </pc:spChg>
      </pc:sldChg>
      <pc:sldChg chg="modSp del">
        <pc:chgData name="kolawole oladotun" userId="ef802625cd3b7e04" providerId="LiveId" clId="{A8FC6B5F-BAFF-457E-9CB1-FB67CA282C0F}" dt="2025-11-02T13:58:46.323" v="149" actId="2696"/>
        <pc:sldMkLst>
          <pc:docMk/>
          <pc:sldMk cId="667989906" sldId="267"/>
        </pc:sldMkLst>
        <pc:spChg chg="mod">
          <ac:chgData name="kolawole oladotun" userId="ef802625cd3b7e04" providerId="LiveId" clId="{A8FC6B5F-BAFF-457E-9CB1-FB67CA282C0F}" dt="2025-11-02T13:48:18.308" v="0"/>
          <ac:spMkLst>
            <pc:docMk/>
            <pc:sldMk cId="667989906" sldId="267"/>
            <ac:spMk id="2" creationId="{B9DE3C5A-DB42-4A1F-83AB-7F19E2A6A402}"/>
          </ac:spMkLst>
        </pc:spChg>
        <pc:spChg chg="mod">
          <ac:chgData name="kolawole oladotun" userId="ef802625cd3b7e04" providerId="LiveId" clId="{A8FC6B5F-BAFF-457E-9CB1-FB67CA282C0F}" dt="2025-11-02T13:48:18.308" v="0"/>
          <ac:spMkLst>
            <pc:docMk/>
            <pc:sldMk cId="667989906" sldId="267"/>
            <ac:spMk id="3" creationId="{4C386C03-A3E3-4956-9F69-5C81898BD5EC}"/>
          </ac:spMkLst>
        </pc:spChg>
      </pc:sldChg>
      <pc:sldChg chg="modSp del">
        <pc:chgData name="kolawole oladotun" userId="ef802625cd3b7e04" providerId="LiveId" clId="{A8FC6B5F-BAFF-457E-9CB1-FB67CA282C0F}" dt="2025-11-02T13:58:49.654" v="150" actId="2696"/>
        <pc:sldMkLst>
          <pc:docMk/>
          <pc:sldMk cId="1279978043" sldId="268"/>
        </pc:sldMkLst>
        <pc:spChg chg="mod">
          <ac:chgData name="kolawole oladotun" userId="ef802625cd3b7e04" providerId="LiveId" clId="{A8FC6B5F-BAFF-457E-9CB1-FB67CA282C0F}" dt="2025-11-02T13:48:18.308" v="0"/>
          <ac:spMkLst>
            <pc:docMk/>
            <pc:sldMk cId="1279978043" sldId="268"/>
            <ac:spMk id="2" creationId="{40AAEFC8-7C29-4BE6-95C3-3CDA62A0A27C}"/>
          </ac:spMkLst>
        </pc:spChg>
        <pc:spChg chg="mod">
          <ac:chgData name="kolawole oladotun" userId="ef802625cd3b7e04" providerId="LiveId" clId="{A8FC6B5F-BAFF-457E-9CB1-FB67CA282C0F}" dt="2025-11-02T13:48:18.308" v="0"/>
          <ac:spMkLst>
            <pc:docMk/>
            <pc:sldMk cId="1279978043" sldId="268"/>
            <ac:spMk id="3" creationId="{2E71BA5A-DCFC-45FE-94AE-7864E02448E1}"/>
          </ac:spMkLst>
        </pc:spChg>
      </pc:sldChg>
      <pc:sldChg chg="modSp mod">
        <pc:chgData name="kolawole oladotun" userId="ef802625cd3b7e04" providerId="LiveId" clId="{A8FC6B5F-BAFF-457E-9CB1-FB67CA282C0F}" dt="2025-11-17T12:24:15.724" v="526" actId="255"/>
        <pc:sldMkLst>
          <pc:docMk/>
          <pc:sldMk cId="1180813805" sldId="269"/>
        </pc:sldMkLst>
        <pc:spChg chg="mod">
          <ac:chgData name="kolawole oladotun" userId="ef802625cd3b7e04" providerId="LiveId" clId="{A8FC6B5F-BAFF-457E-9CB1-FB67CA282C0F}" dt="2025-11-17T12:23:26.346" v="519" actId="1076"/>
          <ac:spMkLst>
            <pc:docMk/>
            <pc:sldMk cId="1180813805" sldId="269"/>
            <ac:spMk id="2" creationId="{0F42FC71-164F-4342-A53E-6499B24E8E79}"/>
          </ac:spMkLst>
        </pc:spChg>
        <pc:spChg chg="mod">
          <ac:chgData name="kolawole oladotun" userId="ef802625cd3b7e04" providerId="LiveId" clId="{A8FC6B5F-BAFF-457E-9CB1-FB67CA282C0F}" dt="2025-11-17T12:24:15.724" v="526" actId="255"/>
          <ac:spMkLst>
            <pc:docMk/>
            <pc:sldMk cId="1180813805" sldId="269"/>
            <ac:spMk id="3" creationId="{E9E9EB58-466D-466D-BB18-9C01F35CE4E1}"/>
          </ac:spMkLst>
        </pc:spChg>
      </pc:sldChg>
      <pc:sldChg chg="modSp new mod">
        <pc:chgData name="kolawole oladotun" userId="ef802625cd3b7e04" providerId="LiveId" clId="{A8FC6B5F-BAFF-457E-9CB1-FB67CA282C0F}" dt="2025-11-17T12:26:05.575" v="536" actId="1076"/>
        <pc:sldMkLst>
          <pc:docMk/>
          <pc:sldMk cId="4000884740" sldId="270"/>
        </pc:sldMkLst>
        <pc:spChg chg="mod">
          <ac:chgData name="kolawole oladotun" userId="ef802625cd3b7e04" providerId="LiveId" clId="{A8FC6B5F-BAFF-457E-9CB1-FB67CA282C0F}" dt="2025-11-17T12:26:05.575" v="536" actId="1076"/>
          <ac:spMkLst>
            <pc:docMk/>
            <pc:sldMk cId="4000884740" sldId="270"/>
            <ac:spMk id="2" creationId="{D2683FAA-77B0-403A-90E3-37F8A19E2911}"/>
          </ac:spMkLst>
        </pc:spChg>
        <pc:spChg chg="mod">
          <ac:chgData name="kolawole oladotun" userId="ef802625cd3b7e04" providerId="LiveId" clId="{A8FC6B5F-BAFF-457E-9CB1-FB67CA282C0F}" dt="2025-11-17T12:25:48.595" v="535" actId="122"/>
          <ac:spMkLst>
            <pc:docMk/>
            <pc:sldMk cId="4000884740" sldId="270"/>
            <ac:spMk id="3" creationId="{51DE6F72-CEE1-464D-9283-FC6720B7654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ED80EFF6-B19B-43E3-8F6C-0002040DBE94}" type="datetimeFigureOut">
              <a:rPr lang="en-NG" smtClean="0"/>
              <a:t>19/11/2025</a:t>
            </a:fld>
            <a:endParaRPr lang="en-NG"/>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NG"/>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9B03F5DC-62D6-4451-8495-CF93899C182A}" type="slidenum">
              <a:rPr lang="en-NG" smtClean="0"/>
              <a:t>‹#›</a:t>
            </a:fld>
            <a:endParaRPr lang="en-NG"/>
          </a:p>
        </p:txBody>
      </p:sp>
    </p:spTree>
    <p:extLst>
      <p:ext uri="{BB962C8B-B14F-4D97-AF65-F5344CB8AC3E}">
        <p14:creationId xmlns:p14="http://schemas.microsoft.com/office/powerpoint/2010/main" val="935366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80EFF6-B19B-43E3-8F6C-0002040DBE94}" type="datetimeFigureOut">
              <a:rPr lang="en-NG" smtClean="0"/>
              <a:t>19/11/2025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a:xfrm>
            <a:off x="10558300" y="5956137"/>
            <a:ext cx="1052508" cy="365125"/>
          </a:xfrm>
        </p:spPr>
        <p:txBody>
          <a:bodyPr/>
          <a:lstStyle/>
          <a:p>
            <a:fld id="{9B03F5DC-62D6-4451-8495-CF93899C182A}" type="slidenum">
              <a:rPr lang="en-NG" smtClean="0"/>
              <a:t>‹#›</a:t>
            </a:fld>
            <a:endParaRPr lang="en-NG"/>
          </a:p>
        </p:txBody>
      </p:sp>
    </p:spTree>
    <p:extLst>
      <p:ext uri="{BB962C8B-B14F-4D97-AF65-F5344CB8AC3E}">
        <p14:creationId xmlns:p14="http://schemas.microsoft.com/office/powerpoint/2010/main" val="2912329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D80EFF6-B19B-43E3-8F6C-0002040DBE94}" type="datetimeFigureOut">
              <a:rPr lang="en-NG" smtClean="0"/>
              <a:t>19/11/2025</a:t>
            </a:fld>
            <a:endParaRPr lang="en-NG"/>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NG"/>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9B03F5DC-62D6-4451-8495-CF93899C182A}" type="slidenum">
              <a:rPr lang="en-NG" smtClean="0"/>
              <a:t>‹#›</a:t>
            </a:fld>
            <a:endParaRPr lang="en-NG"/>
          </a:p>
        </p:txBody>
      </p:sp>
    </p:spTree>
    <p:extLst>
      <p:ext uri="{BB962C8B-B14F-4D97-AF65-F5344CB8AC3E}">
        <p14:creationId xmlns:p14="http://schemas.microsoft.com/office/powerpoint/2010/main" val="4127310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80EFF6-B19B-43E3-8F6C-0002040DBE94}" type="datetimeFigureOut">
              <a:rPr lang="en-NG" smtClean="0"/>
              <a:t>19/11/2025</a:t>
            </a:fld>
            <a:endParaRPr lang="en-NG"/>
          </a:p>
        </p:txBody>
      </p:sp>
      <p:sp>
        <p:nvSpPr>
          <p:cNvPr id="6" name="Footer Placeholder 5"/>
          <p:cNvSpPr>
            <a:spLocks noGrp="1"/>
          </p:cNvSpPr>
          <p:nvPr>
            <p:ph type="ftr" sz="quarter" idx="11"/>
          </p:nvPr>
        </p:nvSpPr>
        <p:spPr/>
        <p:txBody>
          <a:bodyPr/>
          <a:lstStyle/>
          <a:p>
            <a:endParaRPr lang="en-NG"/>
          </a:p>
        </p:txBody>
      </p:sp>
      <p:sp>
        <p:nvSpPr>
          <p:cNvPr id="7" name="Slide Number Placeholder 6"/>
          <p:cNvSpPr>
            <a:spLocks noGrp="1"/>
          </p:cNvSpPr>
          <p:nvPr>
            <p:ph type="sldNum" sz="quarter" idx="12"/>
          </p:nvPr>
        </p:nvSpPr>
        <p:spPr/>
        <p:txBody>
          <a:bodyPr/>
          <a:lstStyle/>
          <a:p>
            <a:fld id="{9B03F5DC-62D6-4451-8495-CF93899C182A}" type="slidenum">
              <a:rPr lang="en-NG" smtClean="0"/>
              <a:t>‹#›</a:t>
            </a:fld>
            <a:endParaRPr lang="en-NG"/>
          </a:p>
        </p:txBody>
      </p:sp>
    </p:spTree>
    <p:extLst>
      <p:ext uri="{BB962C8B-B14F-4D97-AF65-F5344CB8AC3E}">
        <p14:creationId xmlns:p14="http://schemas.microsoft.com/office/powerpoint/2010/main" val="531890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80EFF6-B19B-43E3-8F6C-0002040DBE94}" type="datetimeFigureOut">
              <a:rPr lang="en-NG" smtClean="0"/>
              <a:t>19/11/2025</a:t>
            </a:fld>
            <a:endParaRPr lang="en-NG"/>
          </a:p>
        </p:txBody>
      </p:sp>
      <p:sp>
        <p:nvSpPr>
          <p:cNvPr id="8" name="Footer Placeholder 7"/>
          <p:cNvSpPr>
            <a:spLocks noGrp="1"/>
          </p:cNvSpPr>
          <p:nvPr>
            <p:ph type="ftr" sz="quarter" idx="11"/>
          </p:nvPr>
        </p:nvSpPr>
        <p:spPr/>
        <p:txBody>
          <a:bodyPr/>
          <a:lstStyle/>
          <a:p>
            <a:endParaRPr lang="en-NG"/>
          </a:p>
        </p:txBody>
      </p:sp>
      <p:sp>
        <p:nvSpPr>
          <p:cNvPr id="9" name="Slide Number Placeholder 8"/>
          <p:cNvSpPr>
            <a:spLocks noGrp="1"/>
          </p:cNvSpPr>
          <p:nvPr>
            <p:ph type="sldNum" sz="quarter" idx="12"/>
          </p:nvPr>
        </p:nvSpPr>
        <p:spPr/>
        <p:txBody>
          <a:bodyPr/>
          <a:lstStyle/>
          <a:p>
            <a:fld id="{9B03F5DC-62D6-4451-8495-CF93899C182A}" type="slidenum">
              <a:rPr lang="en-NG" smtClean="0"/>
              <a:t>‹#›</a:t>
            </a:fld>
            <a:endParaRPr lang="en-NG"/>
          </a:p>
        </p:txBody>
      </p:sp>
    </p:spTree>
    <p:extLst>
      <p:ext uri="{BB962C8B-B14F-4D97-AF65-F5344CB8AC3E}">
        <p14:creationId xmlns:p14="http://schemas.microsoft.com/office/powerpoint/2010/main" val="3711882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80EFF6-B19B-43E3-8F6C-0002040DBE94}" type="datetimeFigureOut">
              <a:rPr lang="en-NG" smtClean="0"/>
              <a:t>19/11/2025</a:t>
            </a:fld>
            <a:endParaRPr lang="en-NG"/>
          </a:p>
        </p:txBody>
      </p:sp>
      <p:sp>
        <p:nvSpPr>
          <p:cNvPr id="4" name="Footer Placeholder 3"/>
          <p:cNvSpPr>
            <a:spLocks noGrp="1"/>
          </p:cNvSpPr>
          <p:nvPr>
            <p:ph type="ftr" sz="quarter" idx="11"/>
          </p:nvPr>
        </p:nvSpPr>
        <p:spPr/>
        <p:txBody>
          <a:bodyPr/>
          <a:lstStyle/>
          <a:p>
            <a:endParaRPr lang="en-NG"/>
          </a:p>
        </p:txBody>
      </p:sp>
      <p:sp>
        <p:nvSpPr>
          <p:cNvPr id="5" name="Slide Number Placeholder 4"/>
          <p:cNvSpPr>
            <a:spLocks noGrp="1"/>
          </p:cNvSpPr>
          <p:nvPr>
            <p:ph type="sldNum" sz="quarter" idx="12"/>
          </p:nvPr>
        </p:nvSpPr>
        <p:spPr/>
        <p:txBody>
          <a:bodyPr/>
          <a:lstStyle/>
          <a:p>
            <a:fld id="{9B03F5DC-62D6-4451-8495-CF93899C182A}" type="slidenum">
              <a:rPr lang="en-NG" smtClean="0"/>
              <a:t>‹#›</a:t>
            </a:fld>
            <a:endParaRPr lang="en-NG"/>
          </a:p>
        </p:txBody>
      </p:sp>
    </p:spTree>
    <p:extLst>
      <p:ext uri="{BB962C8B-B14F-4D97-AF65-F5344CB8AC3E}">
        <p14:creationId xmlns:p14="http://schemas.microsoft.com/office/powerpoint/2010/main" val="3567018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80EFF6-B19B-43E3-8F6C-0002040DBE94}" type="datetimeFigureOut">
              <a:rPr lang="en-NG" smtClean="0"/>
              <a:t>19/11/2025</a:t>
            </a:fld>
            <a:endParaRPr lang="en-NG"/>
          </a:p>
        </p:txBody>
      </p:sp>
      <p:sp>
        <p:nvSpPr>
          <p:cNvPr id="3" name="Footer Placeholder 2"/>
          <p:cNvSpPr>
            <a:spLocks noGrp="1"/>
          </p:cNvSpPr>
          <p:nvPr>
            <p:ph type="ftr" sz="quarter" idx="11"/>
          </p:nvPr>
        </p:nvSpPr>
        <p:spPr/>
        <p:txBody>
          <a:bodyPr/>
          <a:lstStyle/>
          <a:p>
            <a:endParaRPr lang="en-NG"/>
          </a:p>
        </p:txBody>
      </p:sp>
      <p:sp>
        <p:nvSpPr>
          <p:cNvPr id="4" name="Slide Number Placeholder 3"/>
          <p:cNvSpPr>
            <a:spLocks noGrp="1"/>
          </p:cNvSpPr>
          <p:nvPr>
            <p:ph type="sldNum" sz="quarter" idx="12"/>
          </p:nvPr>
        </p:nvSpPr>
        <p:spPr/>
        <p:txBody>
          <a:bodyPr/>
          <a:lstStyle/>
          <a:p>
            <a:fld id="{9B03F5DC-62D6-4451-8495-CF93899C182A}" type="slidenum">
              <a:rPr lang="en-NG" smtClean="0"/>
              <a:t>‹#›</a:t>
            </a:fld>
            <a:endParaRPr lang="en-NG"/>
          </a:p>
        </p:txBody>
      </p:sp>
    </p:spTree>
    <p:extLst>
      <p:ext uri="{BB962C8B-B14F-4D97-AF65-F5344CB8AC3E}">
        <p14:creationId xmlns:p14="http://schemas.microsoft.com/office/powerpoint/2010/main" val="1904300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D80EFF6-B19B-43E3-8F6C-0002040DBE94}" type="datetimeFigureOut">
              <a:rPr lang="en-NG" smtClean="0"/>
              <a:t>19/11/2025</a:t>
            </a:fld>
            <a:endParaRPr lang="en-NG"/>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NG"/>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9B03F5DC-62D6-4451-8495-CF93899C182A}" type="slidenum">
              <a:rPr lang="en-NG" smtClean="0"/>
              <a:t>‹#›</a:t>
            </a:fld>
            <a:endParaRPr lang="en-NG"/>
          </a:p>
        </p:txBody>
      </p:sp>
    </p:spTree>
    <p:extLst>
      <p:ext uri="{BB962C8B-B14F-4D97-AF65-F5344CB8AC3E}">
        <p14:creationId xmlns:p14="http://schemas.microsoft.com/office/powerpoint/2010/main" val="634694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80EFF6-B19B-43E3-8F6C-0002040DBE94}" type="datetimeFigureOut">
              <a:rPr lang="en-NG" smtClean="0"/>
              <a:t>19/11/2025</a:t>
            </a:fld>
            <a:endParaRPr lang="en-NG"/>
          </a:p>
        </p:txBody>
      </p:sp>
      <p:sp>
        <p:nvSpPr>
          <p:cNvPr id="6" name="Footer Placeholder 5"/>
          <p:cNvSpPr>
            <a:spLocks noGrp="1"/>
          </p:cNvSpPr>
          <p:nvPr>
            <p:ph type="ftr" sz="quarter" idx="11"/>
          </p:nvPr>
        </p:nvSpPr>
        <p:spPr/>
        <p:txBody>
          <a:bodyPr/>
          <a:lstStyle/>
          <a:p>
            <a:endParaRPr lang="en-NG"/>
          </a:p>
        </p:txBody>
      </p:sp>
      <p:sp>
        <p:nvSpPr>
          <p:cNvPr id="7" name="Slide Number Placeholder 6"/>
          <p:cNvSpPr>
            <a:spLocks noGrp="1"/>
          </p:cNvSpPr>
          <p:nvPr>
            <p:ph type="sldNum" sz="quarter" idx="12"/>
          </p:nvPr>
        </p:nvSpPr>
        <p:spPr/>
        <p:txBody>
          <a:bodyPr/>
          <a:lstStyle/>
          <a:p>
            <a:fld id="{9B03F5DC-62D6-4451-8495-CF93899C182A}" type="slidenum">
              <a:rPr lang="en-NG" smtClean="0"/>
              <a:t>‹#›</a:t>
            </a:fld>
            <a:endParaRPr lang="en-NG"/>
          </a:p>
        </p:txBody>
      </p:sp>
    </p:spTree>
    <p:extLst>
      <p:ext uri="{BB962C8B-B14F-4D97-AF65-F5344CB8AC3E}">
        <p14:creationId xmlns:p14="http://schemas.microsoft.com/office/powerpoint/2010/main" val="376501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80EFF6-B19B-43E3-8F6C-0002040DBE94}" type="datetimeFigureOut">
              <a:rPr lang="en-NG" smtClean="0"/>
              <a:t>19/11/2025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9B03F5DC-62D6-4451-8495-CF93899C182A}" type="slidenum">
              <a:rPr lang="en-NG" smtClean="0"/>
              <a:t>‹#›</a:t>
            </a:fld>
            <a:endParaRPr lang="en-NG"/>
          </a:p>
        </p:txBody>
      </p:sp>
    </p:spTree>
    <p:extLst>
      <p:ext uri="{BB962C8B-B14F-4D97-AF65-F5344CB8AC3E}">
        <p14:creationId xmlns:p14="http://schemas.microsoft.com/office/powerpoint/2010/main" val="4091096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ED80EFF6-B19B-43E3-8F6C-0002040DBE94}" type="datetimeFigureOut">
              <a:rPr lang="en-NG" smtClean="0"/>
              <a:t>19/11/2025</a:t>
            </a:fld>
            <a:endParaRPr lang="en-NG"/>
          </a:p>
        </p:txBody>
      </p:sp>
      <p:sp>
        <p:nvSpPr>
          <p:cNvPr id="5" name="Footer Placeholder 4"/>
          <p:cNvSpPr>
            <a:spLocks noGrp="1"/>
          </p:cNvSpPr>
          <p:nvPr>
            <p:ph type="ftr" sz="quarter" idx="11"/>
          </p:nvPr>
        </p:nvSpPr>
        <p:spPr>
          <a:xfrm>
            <a:off x="774923" y="5951811"/>
            <a:ext cx="7896279" cy="365125"/>
          </a:xfrm>
        </p:spPr>
        <p:txBody>
          <a:bodyPr/>
          <a:lstStyle/>
          <a:p>
            <a:endParaRPr lang="en-NG"/>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9B03F5DC-62D6-4451-8495-CF93899C182A}" type="slidenum">
              <a:rPr lang="en-NG" smtClean="0"/>
              <a:t>‹#›</a:t>
            </a:fld>
            <a:endParaRPr lang="en-NG"/>
          </a:p>
        </p:txBody>
      </p:sp>
    </p:spTree>
    <p:extLst>
      <p:ext uri="{BB962C8B-B14F-4D97-AF65-F5344CB8AC3E}">
        <p14:creationId xmlns:p14="http://schemas.microsoft.com/office/powerpoint/2010/main" val="1812957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ED80EFF6-B19B-43E3-8F6C-0002040DBE94}" type="datetimeFigureOut">
              <a:rPr lang="en-NG" smtClean="0"/>
              <a:t>19/11/2025</a:t>
            </a:fld>
            <a:endParaRPr lang="en-NG"/>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NG"/>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9B03F5DC-62D6-4451-8495-CF93899C182A}" type="slidenum">
              <a:rPr lang="en-NG" smtClean="0"/>
              <a:t>‹#›</a:t>
            </a:fld>
            <a:endParaRPr lang="en-NG"/>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574137659"/>
      </p:ext>
    </p:extLst>
  </p:cSld>
  <p:clrMap bg1="lt1" tx1="dk1" bg2="lt2" tx2="dk2" accent1="accent1" accent2="accent2" accent3="accent3" accent4="accent4" accent5="accent5" accent6="accent6" hlink="hlink" folHlink="folHlink"/>
  <p:sldLayoutIdLst>
    <p:sldLayoutId id="2147484200" r:id="rId1"/>
    <p:sldLayoutId id="2147484201" r:id="rId2"/>
    <p:sldLayoutId id="2147484202" r:id="rId3"/>
    <p:sldLayoutId id="2147484203" r:id="rId4"/>
    <p:sldLayoutId id="2147484204" r:id="rId5"/>
    <p:sldLayoutId id="2147484205" r:id="rId6"/>
    <p:sldLayoutId id="2147484206" r:id="rId7"/>
    <p:sldLayoutId id="2147484207" r:id="rId8"/>
    <p:sldLayoutId id="2147484208" r:id="rId9"/>
    <p:sldLayoutId id="2147484209" r:id="rId10"/>
    <p:sldLayoutId id="2147484210"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2F4FC-1155-4423-977B-07AC8753939D}"/>
              </a:ext>
            </a:extLst>
          </p:cNvPr>
          <p:cNvSpPr>
            <a:spLocks noGrp="1"/>
          </p:cNvSpPr>
          <p:nvPr>
            <p:ph type="ctrTitle"/>
          </p:nvPr>
        </p:nvSpPr>
        <p:spPr>
          <a:xfrm>
            <a:off x="2823877" y="923989"/>
            <a:ext cx="6820637" cy="1475013"/>
          </a:xfrm>
        </p:spPr>
        <p:txBody>
          <a:bodyPr>
            <a:normAutofit/>
          </a:bodyPr>
          <a:lstStyle/>
          <a:p>
            <a:r>
              <a:rPr lang="en-US" sz="4800" dirty="0"/>
              <a:t>FEASIBILITY STUDY</a:t>
            </a:r>
            <a:endParaRPr lang="en-NG" sz="4800" dirty="0"/>
          </a:p>
        </p:txBody>
      </p:sp>
      <p:sp>
        <p:nvSpPr>
          <p:cNvPr id="3" name="Subtitle 2">
            <a:extLst>
              <a:ext uri="{FF2B5EF4-FFF2-40B4-BE49-F238E27FC236}">
                <a16:creationId xmlns:a16="http://schemas.microsoft.com/office/drawing/2014/main" id="{AAE29557-4C5B-4F3B-9A90-4043AE94B616}"/>
              </a:ext>
            </a:extLst>
          </p:cNvPr>
          <p:cNvSpPr>
            <a:spLocks noGrp="1"/>
          </p:cNvSpPr>
          <p:nvPr>
            <p:ph type="subTitle" idx="1"/>
          </p:nvPr>
        </p:nvSpPr>
        <p:spPr>
          <a:xfrm>
            <a:off x="459535" y="4362746"/>
            <a:ext cx="10993546" cy="590321"/>
          </a:xfrm>
        </p:spPr>
        <p:txBody>
          <a:bodyPr>
            <a:normAutofit/>
          </a:bodyPr>
          <a:lstStyle/>
          <a:p>
            <a:pPr algn="ctr"/>
            <a:r>
              <a:rPr lang="en-US" sz="2800" dirty="0">
                <a:solidFill>
                  <a:schemeClr val="bg1"/>
                </a:solidFill>
              </a:rPr>
              <a:t>DR. ABIMBOLA OLADOTUN</a:t>
            </a:r>
            <a:endParaRPr lang="en-NG" sz="2800" dirty="0">
              <a:solidFill>
                <a:schemeClr val="bg1"/>
              </a:solidFill>
            </a:endParaRPr>
          </a:p>
        </p:txBody>
      </p:sp>
      <p:pic>
        <p:nvPicPr>
          <p:cNvPr id="4" name="Picture 3">
            <a:extLst>
              <a:ext uri="{FF2B5EF4-FFF2-40B4-BE49-F238E27FC236}">
                <a16:creationId xmlns:a16="http://schemas.microsoft.com/office/drawing/2014/main" id="{D7022A1E-5648-4896-A54F-1600AFFD06EF}"/>
              </a:ext>
            </a:extLst>
          </p:cNvPr>
          <p:cNvPicPr/>
          <p:nvPr/>
        </p:nvPicPr>
        <p:blipFill>
          <a:blip r:embed="rId2">
            <a:extLst>
              <a:ext uri="{28A0092B-C50C-407E-A947-70E740481C1C}">
                <a14:useLocalDpi xmlns:a14="http://schemas.microsoft.com/office/drawing/2010/main" val="0"/>
              </a:ext>
            </a:extLst>
          </a:blip>
          <a:srcRect l="12619" t="13414" r="12123" b="10818"/>
          <a:stretch>
            <a:fillRect/>
          </a:stretch>
        </p:blipFill>
        <p:spPr bwMode="auto">
          <a:xfrm>
            <a:off x="221807" y="484626"/>
            <a:ext cx="2304256" cy="2105453"/>
          </a:xfrm>
          <a:prstGeom prst="rect">
            <a:avLst/>
          </a:prstGeom>
          <a:noFill/>
          <a:ln>
            <a:noFill/>
          </a:ln>
        </p:spPr>
      </p:pic>
    </p:spTree>
    <p:extLst>
      <p:ext uri="{BB962C8B-B14F-4D97-AF65-F5344CB8AC3E}">
        <p14:creationId xmlns:p14="http://schemas.microsoft.com/office/powerpoint/2010/main" val="1190362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0EA0F-F4BA-42BF-A6A8-4F80C13AEB0A}"/>
              </a:ext>
            </a:extLst>
          </p:cNvPr>
          <p:cNvSpPr>
            <a:spLocks noGrp="1"/>
          </p:cNvSpPr>
          <p:nvPr>
            <p:ph type="title"/>
          </p:nvPr>
        </p:nvSpPr>
        <p:spPr/>
        <p:txBody>
          <a:bodyPr>
            <a:normAutofit/>
          </a:bodyPr>
          <a:lstStyle/>
          <a:p>
            <a:pPr algn="ctr"/>
            <a:r>
              <a:rPr lang="en-US" sz="4000" dirty="0"/>
              <a:t>FEASIBILITY STUDY</a:t>
            </a:r>
            <a:endParaRPr lang="en-NG" sz="4000" dirty="0"/>
          </a:p>
        </p:txBody>
      </p:sp>
      <p:sp>
        <p:nvSpPr>
          <p:cNvPr id="3" name="Content Placeholder 2">
            <a:extLst>
              <a:ext uri="{FF2B5EF4-FFF2-40B4-BE49-F238E27FC236}">
                <a16:creationId xmlns:a16="http://schemas.microsoft.com/office/drawing/2014/main" id="{67189912-812E-48C3-A3E4-8A06A36B7278}"/>
              </a:ext>
            </a:extLst>
          </p:cNvPr>
          <p:cNvSpPr>
            <a:spLocks noGrp="1"/>
          </p:cNvSpPr>
          <p:nvPr>
            <p:ph idx="1"/>
          </p:nvPr>
        </p:nvSpPr>
        <p:spPr>
          <a:xfrm>
            <a:off x="581192" y="1511166"/>
            <a:ext cx="11029615" cy="5002650"/>
          </a:xfrm>
        </p:spPr>
        <p:txBody>
          <a:bodyPr>
            <a:noAutofit/>
          </a:bodyPr>
          <a:lstStyle/>
          <a:p>
            <a:pPr marL="0" indent="0">
              <a:buNone/>
            </a:pPr>
            <a:endParaRPr lang="en-US" sz="2200" b="0" i="0" u="none" strike="noStrike" baseline="0" dirty="0">
              <a:solidFill>
                <a:srgbClr val="000000"/>
              </a:solidFill>
              <a:latin typeface="Times New Roman" panose="02020603050405020304" pitchFamily="18" charset="0"/>
            </a:endParaRPr>
          </a:p>
          <a:p>
            <a:r>
              <a:rPr lang="en-US" sz="2200" b="0" i="0" u="none" strike="noStrike" baseline="0" dirty="0">
                <a:solidFill>
                  <a:srgbClr val="000000"/>
                </a:solidFill>
                <a:latin typeface="Times New Roman" panose="02020603050405020304" pitchFamily="18" charset="0"/>
              </a:rPr>
              <a:t>Scarborough (2013) defines a feasibility analysis as the process of determining whether or not an entrepreneur‘s idea is a viable foundation for creating a successful business. Its purpose is to determine whether or not a business idea is worth pursuing. If the idea passes the feasibility analysis, the next step is for the entrepreneur is to build a solid business plan for capitalizing on the idea. The entrepreneur drops the idea if it fails to achieve the set goal and moves on to the next opportunity. </a:t>
            </a:r>
          </a:p>
          <a:p>
            <a:r>
              <a:rPr lang="en-US" sz="2200" b="0" i="0" u="none" strike="noStrike" baseline="0" dirty="0" err="1">
                <a:solidFill>
                  <a:srgbClr val="000000"/>
                </a:solidFill>
                <a:latin typeface="Times New Roman" panose="02020603050405020304" pitchFamily="18" charset="0"/>
              </a:rPr>
              <a:t>Inegbenebor</a:t>
            </a:r>
            <a:r>
              <a:rPr lang="en-US" sz="2200" b="0" i="0" u="none" strike="noStrike" baseline="0" dirty="0">
                <a:solidFill>
                  <a:srgbClr val="000000"/>
                </a:solidFill>
                <a:latin typeface="Times New Roman" panose="02020603050405020304" pitchFamily="18" charset="0"/>
              </a:rPr>
              <a:t> (2006) defines a feasibility study as the process by which an entrepreneur investigates the potential outcome of a project. It may also be seen as the process of checking out the workability and profitability of the proposed business. Rather than depend on trial and error, the entrepreneur painstaking collects, summarizes and analyses data on the different aspects the business in order to decide objectively whether or not to commit funds to the project. </a:t>
            </a:r>
          </a:p>
        </p:txBody>
      </p:sp>
    </p:spTree>
    <p:extLst>
      <p:ext uri="{BB962C8B-B14F-4D97-AF65-F5344CB8AC3E}">
        <p14:creationId xmlns:p14="http://schemas.microsoft.com/office/powerpoint/2010/main" val="3084542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D63E0-2846-458B-B255-AC4F20CF4D2D}"/>
              </a:ext>
            </a:extLst>
          </p:cNvPr>
          <p:cNvSpPr>
            <a:spLocks noGrp="1"/>
          </p:cNvSpPr>
          <p:nvPr>
            <p:ph type="title"/>
          </p:nvPr>
        </p:nvSpPr>
        <p:spPr/>
        <p:txBody>
          <a:bodyPr>
            <a:normAutofit fontScale="90000"/>
          </a:bodyPr>
          <a:lstStyle/>
          <a:p>
            <a:pPr algn="ctr"/>
            <a:br>
              <a:rPr lang="en-NG" sz="3600" b="0" i="0" u="none" strike="noStrike" baseline="0" dirty="0">
                <a:solidFill>
                  <a:srgbClr val="000000"/>
                </a:solidFill>
                <a:highlight>
                  <a:srgbClr val="C0C0C0"/>
                </a:highlight>
                <a:latin typeface="Times New Roman" panose="02020603050405020304" pitchFamily="18" charset="0"/>
              </a:rPr>
            </a:br>
            <a:r>
              <a:rPr lang="en-US" sz="3600" b="1" i="0" u="none" strike="noStrike" baseline="0" dirty="0">
                <a:solidFill>
                  <a:srgbClr val="000000"/>
                </a:solidFill>
                <a:highlight>
                  <a:srgbClr val="C0C0C0"/>
                </a:highlight>
                <a:latin typeface="Times New Roman" panose="02020603050405020304" pitchFamily="18" charset="0"/>
              </a:rPr>
              <a:t>The Purpose of a Feasibility Study </a:t>
            </a:r>
            <a:endParaRPr lang="en-US" sz="3600" b="0" i="0" u="none" strike="noStrike" baseline="0" dirty="0">
              <a:solidFill>
                <a:srgbClr val="000000"/>
              </a:solidFill>
              <a:highlight>
                <a:srgbClr val="C0C0C0"/>
              </a:highlight>
              <a:latin typeface="Times New Roman" panose="02020603050405020304" pitchFamily="18" charset="0"/>
            </a:endParaRPr>
          </a:p>
        </p:txBody>
      </p:sp>
      <p:sp>
        <p:nvSpPr>
          <p:cNvPr id="3" name="Content Placeholder 2">
            <a:extLst>
              <a:ext uri="{FF2B5EF4-FFF2-40B4-BE49-F238E27FC236}">
                <a16:creationId xmlns:a16="http://schemas.microsoft.com/office/drawing/2014/main" id="{52E52ACC-ACAC-4368-8D14-231EF4FDCF8C}"/>
              </a:ext>
            </a:extLst>
          </p:cNvPr>
          <p:cNvSpPr>
            <a:spLocks noGrp="1"/>
          </p:cNvSpPr>
          <p:nvPr>
            <p:ph idx="1"/>
          </p:nvPr>
        </p:nvSpPr>
        <p:spPr>
          <a:xfrm>
            <a:off x="581193" y="1906664"/>
            <a:ext cx="11029615" cy="4249180"/>
          </a:xfrm>
        </p:spPr>
        <p:txBody>
          <a:bodyPr>
            <a:normAutofit lnSpcReduction="10000"/>
          </a:bodyPr>
          <a:lstStyle/>
          <a:p>
            <a:pPr marL="0" indent="0">
              <a:buNone/>
            </a:pPr>
            <a:endParaRPr lang="en-US" sz="1800" b="0" i="0" u="none" strike="noStrike" baseline="0" dirty="0">
              <a:solidFill>
                <a:srgbClr val="000000"/>
              </a:solidFill>
              <a:latin typeface="Times New Roman" panose="02020603050405020304" pitchFamily="18" charset="0"/>
            </a:endParaRPr>
          </a:p>
          <a:p>
            <a:r>
              <a:rPr lang="en-US" sz="2200" b="0" i="0" u="none" strike="noStrike" baseline="0" dirty="0">
                <a:solidFill>
                  <a:srgbClr val="000000"/>
                </a:solidFill>
                <a:latin typeface="Times New Roman" panose="02020603050405020304" pitchFamily="18" charset="0"/>
              </a:rPr>
              <a:t>1. It helps to determine the profitability level of the project. Most entrepreneurs want to find out if the project will be worth the effort so as to avoid waste of time and resources. </a:t>
            </a:r>
          </a:p>
          <a:p>
            <a:r>
              <a:rPr lang="en-US" sz="2200" b="0" i="0" u="none" strike="noStrike" baseline="0" dirty="0">
                <a:solidFill>
                  <a:srgbClr val="000000"/>
                </a:solidFill>
                <a:latin typeface="Times New Roman" panose="02020603050405020304" pitchFamily="18" charset="0"/>
              </a:rPr>
              <a:t>2. It demonstrates to potential lenders and investors of the existence and size of the market, the liquidity or otherwise of the project. By liquidity, we mean the tendency of the project to generate enough cash to repay the loan and interest. </a:t>
            </a:r>
          </a:p>
          <a:p>
            <a:r>
              <a:rPr lang="en-US" sz="2200" b="0" i="0" u="none" strike="noStrike" baseline="0" dirty="0">
                <a:solidFill>
                  <a:srgbClr val="000000"/>
                </a:solidFill>
                <a:latin typeface="Times New Roman" panose="02020603050405020304" pitchFamily="18" charset="0"/>
              </a:rPr>
              <a:t>3. A feasibility study enables the entrepreneur to subject his/her ideas to critical investigation in order to identify flaws in the product or service which may jeopardize the success of the project.</a:t>
            </a:r>
          </a:p>
          <a:p>
            <a:r>
              <a:rPr lang="en-US" sz="2200" b="0" i="0" u="none" strike="noStrike" baseline="0" dirty="0">
                <a:solidFill>
                  <a:srgbClr val="000000"/>
                </a:solidFill>
                <a:latin typeface="Times New Roman" panose="02020603050405020304" pitchFamily="18" charset="0"/>
              </a:rPr>
              <a:t>4. A feasibility study also point to the financial and human resources that will be required to operate the business successfully. Inadequate capital or inadequate skills may be responsible for most start up businesses failure especially in developing societies.  </a:t>
            </a:r>
            <a:endParaRPr lang="en-NG" sz="2200" dirty="0"/>
          </a:p>
        </p:txBody>
      </p:sp>
    </p:spTree>
    <p:extLst>
      <p:ext uri="{BB962C8B-B14F-4D97-AF65-F5344CB8AC3E}">
        <p14:creationId xmlns:p14="http://schemas.microsoft.com/office/powerpoint/2010/main" val="3333019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119A6-EFC1-494F-A492-7859F3512994}"/>
              </a:ext>
            </a:extLst>
          </p:cNvPr>
          <p:cNvSpPr>
            <a:spLocks noGrp="1"/>
          </p:cNvSpPr>
          <p:nvPr>
            <p:ph type="title"/>
          </p:nvPr>
        </p:nvSpPr>
        <p:spPr>
          <a:xfrm>
            <a:off x="773698" y="603235"/>
            <a:ext cx="11029616" cy="791931"/>
          </a:xfrm>
        </p:spPr>
        <p:txBody>
          <a:bodyPr>
            <a:normAutofit fontScale="90000"/>
          </a:bodyPr>
          <a:lstStyle/>
          <a:p>
            <a:pPr algn="l"/>
            <a:br>
              <a:rPr lang="en-NG" sz="3600" b="0" i="0" u="none" strike="noStrike" baseline="0" dirty="0">
                <a:latin typeface="Times New Roman" panose="02020603050405020304" pitchFamily="18" charset="0"/>
              </a:rPr>
            </a:br>
            <a:r>
              <a:rPr lang="en-US" sz="3600" b="1" i="0" u="none" strike="noStrike" baseline="0" dirty="0">
                <a:latin typeface="Times New Roman" panose="02020603050405020304" pitchFamily="18" charset="0"/>
              </a:rPr>
              <a:t>Problems of Writing a Feasibility Report </a:t>
            </a:r>
            <a:endParaRPr lang="en-US" sz="3600" b="0" i="0" u="none" strike="noStrike" baseline="0" dirty="0">
              <a:latin typeface="Times New Roman" panose="02020603050405020304" pitchFamily="18" charset="0"/>
            </a:endParaRPr>
          </a:p>
        </p:txBody>
      </p:sp>
      <p:sp>
        <p:nvSpPr>
          <p:cNvPr id="3" name="Content Placeholder 2">
            <a:extLst>
              <a:ext uri="{FF2B5EF4-FFF2-40B4-BE49-F238E27FC236}">
                <a16:creationId xmlns:a16="http://schemas.microsoft.com/office/drawing/2014/main" id="{ECF84014-613F-4493-86D7-0F62C23ACA66}"/>
              </a:ext>
            </a:extLst>
          </p:cNvPr>
          <p:cNvSpPr>
            <a:spLocks noGrp="1"/>
          </p:cNvSpPr>
          <p:nvPr>
            <p:ph idx="1"/>
          </p:nvPr>
        </p:nvSpPr>
        <p:spPr>
          <a:xfrm>
            <a:off x="581192" y="2180496"/>
            <a:ext cx="11029615" cy="4287681"/>
          </a:xfrm>
        </p:spPr>
        <p:txBody>
          <a:bodyPr>
            <a:normAutofit/>
          </a:bodyPr>
          <a:lstStyle/>
          <a:p>
            <a:r>
              <a:rPr lang="en-US" sz="2600" b="0" i="0" u="none" strike="noStrike" baseline="0" dirty="0">
                <a:solidFill>
                  <a:srgbClr val="000000"/>
                </a:solidFill>
                <a:latin typeface="Times New Roman" panose="02020603050405020304" pitchFamily="18" charset="0"/>
              </a:rPr>
              <a:t>1. </a:t>
            </a:r>
            <a:r>
              <a:rPr lang="en-US" sz="2600" b="1" i="1" u="none" strike="noStrike" baseline="0" dirty="0">
                <a:solidFill>
                  <a:srgbClr val="000000"/>
                </a:solidFill>
                <a:latin typeface="Times New Roman" panose="02020603050405020304" pitchFamily="18" charset="0"/>
              </a:rPr>
              <a:t>Paucity of statistical data</a:t>
            </a:r>
            <a:r>
              <a:rPr lang="en-US" sz="2600" b="0" i="1" u="none" strike="noStrike" baseline="0" dirty="0">
                <a:solidFill>
                  <a:srgbClr val="000000"/>
                </a:solidFill>
                <a:latin typeface="Times New Roman" panose="02020603050405020304" pitchFamily="18" charset="0"/>
              </a:rPr>
              <a:t>: </a:t>
            </a:r>
            <a:r>
              <a:rPr lang="en-US" sz="2600" b="0" i="0" u="none" strike="noStrike" baseline="0" dirty="0">
                <a:solidFill>
                  <a:srgbClr val="000000"/>
                </a:solidFill>
                <a:latin typeface="Times New Roman" panose="02020603050405020304" pitchFamily="18" charset="0"/>
              </a:rPr>
              <a:t>Data is either out-of-date or not available. </a:t>
            </a:r>
          </a:p>
          <a:p>
            <a:r>
              <a:rPr lang="en-US" sz="2600" b="0" i="0" u="none" strike="noStrike" baseline="0" dirty="0">
                <a:solidFill>
                  <a:srgbClr val="000000"/>
                </a:solidFill>
                <a:latin typeface="Times New Roman" panose="02020603050405020304" pitchFamily="18" charset="0"/>
              </a:rPr>
              <a:t>2. </a:t>
            </a:r>
            <a:r>
              <a:rPr lang="en-US" sz="2600" b="1" i="1" u="none" strike="noStrike" baseline="0" dirty="0">
                <a:solidFill>
                  <a:srgbClr val="000000"/>
                </a:solidFill>
                <a:latin typeface="Times New Roman" panose="02020603050405020304" pitchFamily="18" charset="0"/>
              </a:rPr>
              <a:t>Pressure from clients</a:t>
            </a:r>
            <a:r>
              <a:rPr lang="en-US" sz="2600" b="0" i="1" u="none" strike="noStrike" baseline="0" dirty="0">
                <a:solidFill>
                  <a:srgbClr val="000000"/>
                </a:solidFill>
                <a:latin typeface="Times New Roman" panose="02020603050405020304" pitchFamily="18" charset="0"/>
              </a:rPr>
              <a:t>: </a:t>
            </a:r>
            <a:r>
              <a:rPr lang="en-US" sz="2600" b="0" i="0" u="none" strike="noStrike" baseline="0" dirty="0">
                <a:solidFill>
                  <a:srgbClr val="000000"/>
                </a:solidFill>
                <a:latin typeface="Times New Roman" panose="02020603050405020304" pitchFamily="18" charset="0"/>
              </a:rPr>
              <a:t>Clients may become sentimentally involved in a project to the point that they may want the report to reflect certain of their expectations. </a:t>
            </a:r>
          </a:p>
          <a:p>
            <a:r>
              <a:rPr lang="en-US" sz="2600" b="0" i="0" u="none" strike="noStrike" baseline="0" dirty="0">
                <a:solidFill>
                  <a:srgbClr val="000000"/>
                </a:solidFill>
                <a:latin typeface="Times New Roman" panose="02020603050405020304" pitchFamily="18" charset="0"/>
              </a:rPr>
              <a:t>3. </a:t>
            </a:r>
            <a:r>
              <a:rPr lang="en-US" sz="2600" b="1" i="1" u="none" strike="noStrike" baseline="0" dirty="0">
                <a:solidFill>
                  <a:srgbClr val="000000"/>
                </a:solidFill>
                <a:latin typeface="Times New Roman" panose="02020603050405020304" pitchFamily="18" charset="0"/>
              </a:rPr>
              <a:t>Unethical behavior of consultants</a:t>
            </a:r>
            <a:r>
              <a:rPr lang="en-US" sz="2600" b="0" i="1" u="none" strike="noStrike" baseline="0" dirty="0">
                <a:solidFill>
                  <a:srgbClr val="000000"/>
                </a:solidFill>
                <a:latin typeface="Times New Roman" panose="02020603050405020304" pitchFamily="18" charset="0"/>
              </a:rPr>
              <a:t>: </a:t>
            </a:r>
            <a:r>
              <a:rPr lang="en-US" sz="2600" b="0" i="0" u="none" strike="noStrike" baseline="0" dirty="0">
                <a:solidFill>
                  <a:srgbClr val="000000"/>
                </a:solidFill>
                <a:latin typeface="Times New Roman" panose="02020603050405020304" pitchFamily="18" charset="0"/>
              </a:rPr>
              <a:t>There are ―wait-and-take‖ consultants who simply adapt existing reports by substituting the names of new clients. </a:t>
            </a:r>
          </a:p>
          <a:p>
            <a:r>
              <a:rPr lang="en-US" sz="2600" b="0" i="0" u="none" strike="noStrike" baseline="0" dirty="0">
                <a:solidFill>
                  <a:srgbClr val="000000"/>
                </a:solidFill>
                <a:latin typeface="Times New Roman" panose="02020603050405020304" pitchFamily="18" charset="0"/>
              </a:rPr>
              <a:t>4. </a:t>
            </a:r>
            <a:r>
              <a:rPr lang="en-US" sz="2600" b="1" i="1" u="none" strike="noStrike" baseline="0" dirty="0">
                <a:solidFill>
                  <a:srgbClr val="000000"/>
                </a:solidFill>
                <a:latin typeface="Times New Roman" panose="02020603050405020304" pitchFamily="18" charset="0"/>
              </a:rPr>
              <a:t>Unwillingness of sponsor to be guided by the feasibility report</a:t>
            </a:r>
            <a:r>
              <a:rPr lang="en-US" sz="2600" b="0" i="1" u="none" strike="noStrike" baseline="0" dirty="0">
                <a:solidFill>
                  <a:srgbClr val="000000"/>
                </a:solidFill>
                <a:latin typeface="Times New Roman" panose="02020603050405020304" pitchFamily="18" charset="0"/>
              </a:rPr>
              <a:t>: </a:t>
            </a:r>
            <a:r>
              <a:rPr lang="en-US" sz="2600" b="0" i="0" u="none" strike="noStrike" baseline="0" dirty="0">
                <a:solidFill>
                  <a:srgbClr val="000000"/>
                </a:solidFill>
                <a:latin typeface="Times New Roman" panose="02020603050405020304" pitchFamily="18" charset="0"/>
              </a:rPr>
              <a:t>Having used the report to secure a loan, the sponsor may neglect or fails to use the report as a guide in his/her future decisions. </a:t>
            </a:r>
            <a:endParaRPr lang="en-NG" sz="2600" dirty="0"/>
          </a:p>
        </p:txBody>
      </p:sp>
    </p:spTree>
    <p:extLst>
      <p:ext uri="{BB962C8B-B14F-4D97-AF65-F5344CB8AC3E}">
        <p14:creationId xmlns:p14="http://schemas.microsoft.com/office/powerpoint/2010/main" val="1520361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2FC71-164F-4342-A53E-6499B24E8E79}"/>
              </a:ext>
            </a:extLst>
          </p:cNvPr>
          <p:cNvSpPr>
            <a:spLocks noGrp="1"/>
          </p:cNvSpPr>
          <p:nvPr>
            <p:ph type="title"/>
          </p:nvPr>
        </p:nvSpPr>
        <p:spPr>
          <a:xfrm>
            <a:off x="681121" y="720067"/>
            <a:ext cx="11029616" cy="716755"/>
          </a:xfrm>
        </p:spPr>
        <p:txBody>
          <a:bodyPr>
            <a:normAutofit/>
          </a:bodyPr>
          <a:lstStyle/>
          <a:p>
            <a:r>
              <a:rPr lang="en-US" sz="2400" b="1" i="0" u="none" strike="noStrike" baseline="0" dirty="0">
                <a:latin typeface="Times New Roman" panose="02020603050405020304" pitchFamily="18" charset="0"/>
              </a:rPr>
              <a:t>Differences between a Feasibility study and a Business Plan</a:t>
            </a:r>
            <a:endParaRPr lang="en-NG" sz="2400" dirty="0"/>
          </a:p>
        </p:txBody>
      </p:sp>
      <p:sp>
        <p:nvSpPr>
          <p:cNvPr id="3" name="Content Placeholder 2">
            <a:extLst>
              <a:ext uri="{FF2B5EF4-FFF2-40B4-BE49-F238E27FC236}">
                <a16:creationId xmlns:a16="http://schemas.microsoft.com/office/drawing/2014/main" id="{E9E9EB58-466D-466D-BB18-9C01F35CE4E1}"/>
              </a:ext>
            </a:extLst>
          </p:cNvPr>
          <p:cNvSpPr>
            <a:spLocks noGrp="1"/>
          </p:cNvSpPr>
          <p:nvPr>
            <p:ph idx="1"/>
          </p:nvPr>
        </p:nvSpPr>
        <p:spPr>
          <a:xfrm>
            <a:off x="581192" y="1915427"/>
            <a:ext cx="11029615" cy="4706753"/>
          </a:xfrm>
        </p:spPr>
        <p:txBody>
          <a:bodyPr>
            <a:normAutofit/>
          </a:bodyPr>
          <a:lstStyle/>
          <a:p>
            <a:r>
              <a:rPr lang="en-US" sz="2000" b="1" i="0" u="none" strike="noStrike" baseline="0" dirty="0">
                <a:solidFill>
                  <a:srgbClr val="000000"/>
                </a:solidFill>
                <a:latin typeface="Times New Roman" panose="02020603050405020304" pitchFamily="18" charset="0"/>
              </a:rPr>
              <a:t>FEASILBILITY STUDY</a:t>
            </a:r>
          </a:p>
          <a:p>
            <a:r>
              <a:rPr lang="en-US" sz="2000" b="0" i="0" u="none" strike="noStrike" baseline="0" dirty="0">
                <a:solidFill>
                  <a:srgbClr val="000000"/>
                </a:solidFill>
                <a:latin typeface="Times New Roman" panose="02020603050405020304" pitchFamily="18" charset="0"/>
              </a:rPr>
              <a:t>The key objective is to ascertain the workability and profitability of a business enterprise 	</a:t>
            </a:r>
          </a:p>
          <a:p>
            <a:r>
              <a:rPr lang="en-US" sz="2000" b="0" i="0" u="none" strike="noStrike" baseline="0" dirty="0">
                <a:solidFill>
                  <a:srgbClr val="000000"/>
                </a:solidFill>
                <a:latin typeface="Times New Roman" panose="02020603050405020304" pitchFamily="18" charset="0"/>
              </a:rPr>
              <a:t>It is carried out before a final decision is made to committing resources to the project.</a:t>
            </a:r>
          </a:p>
          <a:p>
            <a:r>
              <a:rPr lang="en-US" sz="2000" b="0" i="0" u="none" strike="noStrike" baseline="0" dirty="0">
                <a:solidFill>
                  <a:srgbClr val="000000"/>
                </a:solidFill>
                <a:latin typeface="Times New Roman" panose="02020603050405020304" pitchFamily="18" charset="0"/>
              </a:rPr>
              <a:t>It suggests the broad strategies that may be adopted to achieve profitability 	</a:t>
            </a:r>
          </a:p>
          <a:p>
            <a:endParaRPr lang="en-US" sz="2000" b="0" i="0" u="none" strike="noStrike" baseline="0" dirty="0">
              <a:solidFill>
                <a:srgbClr val="000000"/>
              </a:solidFill>
              <a:latin typeface="Times New Roman" panose="02020603050405020304" pitchFamily="18" charset="0"/>
            </a:endParaRPr>
          </a:p>
          <a:p>
            <a:r>
              <a:rPr lang="en-US" sz="2000" b="1" dirty="0">
                <a:solidFill>
                  <a:srgbClr val="000000"/>
                </a:solidFill>
                <a:latin typeface="Times New Roman" panose="02020603050405020304" pitchFamily="18" charset="0"/>
              </a:rPr>
              <a:t>BUSINESS PLAN</a:t>
            </a:r>
          </a:p>
          <a:p>
            <a:r>
              <a:rPr lang="en-US" sz="2000" b="0" i="0" u="none" strike="noStrike" baseline="0" dirty="0">
                <a:solidFill>
                  <a:srgbClr val="000000"/>
                </a:solidFill>
                <a:latin typeface="Times New Roman" panose="02020603050405020304" pitchFamily="18" charset="0"/>
              </a:rPr>
              <a:t>The key objective is to determine the sustainability and growth of the business enterprise 	</a:t>
            </a:r>
          </a:p>
          <a:p>
            <a:r>
              <a:rPr lang="en-US" sz="2000" b="0" i="0" u="none" strike="noStrike" baseline="0" dirty="0">
                <a:solidFill>
                  <a:srgbClr val="000000"/>
                </a:solidFill>
                <a:latin typeface="Times New Roman" panose="02020603050405020304" pitchFamily="18" charset="0"/>
              </a:rPr>
              <a:t>It is developed only after it has been ascertained that a business opportunity </a:t>
            </a:r>
          </a:p>
          <a:p>
            <a:r>
              <a:rPr lang="en-US" sz="2000" b="0" i="0" u="none" strike="noStrike" baseline="0" dirty="0">
                <a:solidFill>
                  <a:srgbClr val="000000"/>
                </a:solidFill>
                <a:latin typeface="Times New Roman" panose="02020603050405020304" pitchFamily="18" charset="0"/>
              </a:rPr>
              <a:t>It is more specific in terms of goals, strategies and tactics to be adopted. 	</a:t>
            </a:r>
            <a:r>
              <a:rPr lang="en-US" sz="1800" b="0" i="0" u="none" strike="noStrike" baseline="0" dirty="0">
                <a:solidFill>
                  <a:srgbClr val="000000"/>
                </a:solidFill>
                <a:latin typeface="Times New Roman" panose="02020603050405020304" pitchFamily="18" charset="0"/>
              </a:rPr>
              <a:t>	</a:t>
            </a:r>
          </a:p>
        </p:txBody>
      </p:sp>
    </p:spTree>
    <p:extLst>
      <p:ext uri="{BB962C8B-B14F-4D97-AF65-F5344CB8AC3E}">
        <p14:creationId xmlns:p14="http://schemas.microsoft.com/office/powerpoint/2010/main" val="1180813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83FAA-77B0-403A-90E3-37F8A19E2911}"/>
              </a:ext>
            </a:extLst>
          </p:cNvPr>
          <p:cNvSpPr>
            <a:spLocks noGrp="1"/>
          </p:cNvSpPr>
          <p:nvPr>
            <p:ph type="title"/>
          </p:nvPr>
        </p:nvSpPr>
        <p:spPr>
          <a:xfrm>
            <a:off x="4238792" y="808034"/>
            <a:ext cx="5992863" cy="1013800"/>
          </a:xfrm>
        </p:spPr>
        <p:txBody>
          <a:bodyPr>
            <a:normAutofit fontScale="90000"/>
          </a:bodyPr>
          <a:lstStyle/>
          <a:p>
            <a:r>
              <a:rPr lang="en-US" sz="3600" b="1" i="0" u="none" strike="noStrike" baseline="0" dirty="0">
                <a:latin typeface="Times New Roman" panose="02020603050405020304" pitchFamily="18" charset="0"/>
              </a:rPr>
              <a:t>Conclusion</a:t>
            </a:r>
            <a:r>
              <a:rPr lang="en-US" sz="3600" b="1" i="0" u="none" strike="noStrike" baseline="0" dirty="0">
                <a:solidFill>
                  <a:srgbClr val="000000"/>
                </a:solidFill>
                <a:latin typeface="Times New Roman" panose="02020603050405020304" pitchFamily="18" charset="0"/>
              </a:rPr>
              <a:t> </a:t>
            </a:r>
            <a:br>
              <a:rPr lang="en-US" sz="3600" b="0" i="0" u="none" strike="noStrike" baseline="0" dirty="0">
                <a:solidFill>
                  <a:srgbClr val="000000"/>
                </a:solidFill>
                <a:latin typeface="Times New Roman" panose="02020603050405020304" pitchFamily="18" charset="0"/>
              </a:rPr>
            </a:br>
            <a:endParaRPr lang="en-NG" dirty="0"/>
          </a:p>
        </p:txBody>
      </p:sp>
      <p:sp>
        <p:nvSpPr>
          <p:cNvPr id="3" name="Content Placeholder 2">
            <a:extLst>
              <a:ext uri="{FF2B5EF4-FFF2-40B4-BE49-F238E27FC236}">
                <a16:creationId xmlns:a16="http://schemas.microsoft.com/office/drawing/2014/main" id="{51DE6F72-CEE1-464D-9283-FC6720B7654D}"/>
              </a:ext>
            </a:extLst>
          </p:cNvPr>
          <p:cNvSpPr>
            <a:spLocks noGrp="1"/>
          </p:cNvSpPr>
          <p:nvPr>
            <p:ph idx="1"/>
          </p:nvPr>
        </p:nvSpPr>
        <p:spPr/>
        <p:txBody>
          <a:bodyPr>
            <a:normAutofit/>
          </a:bodyPr>
          <a:lstStyle/>
          <a:p>
            <a:pPr algn="ctr"/>
            <a:r>
              <a:rPr lang="en-US" sz="2800" dirty="0">
                <a:solidFill>
                  <a:srgbClr val="000000"/>
                </a:solidFill>
                <a:latin typeface="Times New Roman" panose="02020603050405020304" pitchFamily="18" charset="0"/>
              </a:rPr>
              <a:t>A</a:t>
            </a:r>
            <a:r>
              <a:rPr lang="en-US" sz="2800" b="0" i="0" u="none" strike="noStrike" baseline="0" dirty="0">
                <a:solidFill>
                  <a:srgbClr val="000000"/>
                </a:solidFill>
                <a:latin typeface="Times New Roman" panose="02020603050405020304" pitchFamily="18" charset="0"/>
              </a:rPr>
              <a:t> feasibility study is not the same thing as a business plan. The process of preparing a business plan enables the entrepreneur to have a deeper understanding of the business, the ―environment‖ in which the business will operate, the opportunities available to it as well as the strengths and weaknesses of the business.</a:t>
            </a:r>
            <a:endParaRPr lang="en-NG" sz="2800" dirty="0"/>
          </a:p>
        </p:txBody>
      </p:sp>
    </p:spTree>
    <p:extLst>
      <p:ext uri="{BB962C8B-B14F-4D97-AF65-F5344CB8AC3E}">
        <p14:creationId xmlns:p14="http://schemas.microsoft.com/office/powerpoint/2010/main" val="4000884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63ADD-6FEA-4847-A3CD-00E5518DE169}"/>
              </a:ext>
            </a:extLst>
          </p:cNvPr>
          <p:cNvSpPr>
            <a:spLocks noGrp="1"/>
          </p:cNvSpPr>
          <p:nvPr>
            <p:ph type="title"/>
          </p:nvPr>
        </p:nvSpPr>
        <p:spPr>
          <a:xfrm>
            <a:off x="1002432" y="794624"/>
            <a:ext cx="11029616" cy="1013800"/>
          </a:xfrm>
        </p:spPr>
        <p:txBody>
          <a:bodyPr/>
          <a:lstStyle/>
          <a:p>
            <a:pPr algn="ctr"/>
            <a:r>
              <a:rPr lang="en-US" dirty="0"/>
              <a:t>THANK YOU FOR LISTENING</a:t>
            </a:r>
            <a:br>
              <a:rPr lang="en-NG" dirty="0"/>
            </a:br>
            <a:endParaRPr lang="en-NG" dirty="0"/>
          </a:p>
        </p:txBody>
      </p:sp>
    </p:spTree>
    <p:extLst>
      <p:ext uri="{BB962C8B-B14F-4D97-AF65-F5344CB8AC3E}">
        <p14:creationId xmlns:p14="http://schemas.microsoft.com/office/powerpoint/2010/main" val="58825012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Template>
  <TotalTime>228</TotalTime>
  <Words>643</Words>
  <Application>Microsoft Office PowerPoint</Application>
  <PresentationFormat>Widescreen</PresentationFormat>
  <Paragraphs>30</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Gill Sans MT</vt:lpstr>
      <vt:lpstr>Times New Roman</vt:lpstr>
      <vt:lpstr>Wingdings 2</vt:lpstr>
      <vt:lpstr>Dividend</vt:lpstr>
      <vt:lpstr>FEASIBILITY STUDY</vt:lpstr>
      <vt:lpstr>FEASIBILITY STUDY</vt:lpstr>
      <vt:lpstr> The Purpose of a Feasibility Study </vt:lpstr>
      <vt:lpstr> Problems of Writing a Feasibility Report </vt:lpstr>
      <vt:lpstr>Differences between a Feasibility study and a Business Plan</vt:lpstr>
      <vt:lpstr>Conclusion  </vt:lpstr>
      <vt:lpstr>THANK YOU FOR LISTENING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kolawole oladotun</dc:creator>
  <cp:lastModifiedBy>kolawole oladotun</cp:lastModifiedBy>
  <cp:revision>5</cp:revision>
  <dcterms:created xsi:type="dcterms:W3CDTF">2025-11-02T12:50:50Z</dcterms:created>
  <dcterms:modified xsi:type="dcterms:W3CDTF">2025-11-19T07:09:23Z</dcterms:modified>
</cp:coreProperties>
</file>