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32" r:id="rId2"/>
  </p:sldMasterIdLst>
  <p:notesMasterIdLst>
    <p:notesMasterId r:id="rId27"/>
  </p:notesMasterIdLst>
  <p:handoutMasterIdLst>
    <p:handoutMasterId r:id="rId28"/>
  </p:handoutMasterIdLst>
  <p:sldIdLst>
    <p:sldId id="281" r:id="rId3"/>
    <p:sldId id="755" r:id="rId4"/>
    <p:sldId id="733" r:id="rId5"/>
    <p:sldId id="753" r:id="rId6"/>
    <p:sldId id="756" r:id="rId7"/>
    <p:sldId id="757" r:id="rId8"/>
    <p:sldId id="597" r:id="rId9"/>
    <p:sldId id="754" r:id="rId10"/>
    <p:sldId id="730" r:id="rId11"/>
    <p:sldId id="737" r:id="rId12"/>
    <p:sldId id="740" r:id="rId13"/>
    <p:sldId id="739" r:id="rId14"/>
    <p:sldId id="738" r:id="rId15"/>
    <p:sldId id="742" r:id="rId16"/>
    <p:sldId id="743" r:id="rId17"/>
    <p:sldId id="747" r:id="rId18"/>
    <p:sldId id="746" r:id="rId19"/>
    <p:sldId id="745" r:id="rId20"/>
    <p:sldId id="744" r:id="rId21"/>
    <p:sldId id="749" r:id="rId22"/>
    <p:sldId id="750" r:id="rId23"/>
    <p:sldId id="748" r:id="rId24"/>
    <p:sldId id="751" r:id="rId25"/>
    <p:sldId id="731" r:id="rId26"/>
  </p:sldIdLst>
  <p:sldSz cx="1219517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lawole oladotun" initials="ko" lastIdx="1" clrIdx="0">
    <p:extLst>
      <p:ext uri="{19B8F6BF-5375-455C-9EA6-DF929625EA0E}">
        <p15:presenceInfo xmlns:p15="http://schemas.microsoft.com/office/powerpoint/2012/main" userId="ef802625cd3b7e0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DDDDD"/>
    <a:srgbClr val="7A0000"/>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88613" autoAdjust="0"/>
  </p:normalViewPr>
  <p:slideViewPr>
    <p:cSldViewPr>
      <p:cViewPr varScale="1">
        <p:scale>
          <a:sx n="58" d="100"/>
          <a:sy n="58" d="100"/>
        </p:scale>
        <p:origin x="956" y="28"/>
      </p:cViewPr>
      <p:guideLst>
        <p:guide orient="horz" pos="2160"/>
        <p:guide pos="384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awole oladotun" userId="ef802625cd3b7e04" providerId="LiveId" clId="{E410030F-EE55-49E3-827C-6B984981E867}"/>
    <pc:docChg chg="custSel addSld delSld modSld sldOrd">
      <pc:chgData name="kolawole oladotun" userId="ef802625cd3b7e04" providerId="LiveId" clId="{E410030F-EE55-49E3-827C-6B984981E867}" dt="2025-11-03T08:49:41.252" v="721"/>
      <pc:docMkLst>
        <pc:docMk/>
      </pc:docMkLst>
      <pc:sldChg chg="modSp mod">
        <pc:chgData name="kolawole oladotun" userId="ef802625cd3b7e04" providerId="LiveId" clId="{E410030F-EE55-49E3-827C-6B984981E867}" dt="2025-10-26T14:22:00.176" v="37" actId="1076"/>
        <pc:sldMkLst>
          <pc:docMk/>
          <pc:sldMk cId="0" sldId="281"/>
        </pc:sldMkLst>
        <pc:spChg chg="mod">
          <ac:chgData name="kolawole oladotun" userId="ef802625cd3b7e04" providerId="LiveId" clId="{E410030F-EE55-49E3-827C-6B984981E867}" dt="2025-10-26T14:22:00.176" v="37" actId="1076"/>
          <ac:spMkLst>
            <pc:docMk/>
            <pc:sldMk cId="0" sldId="281"/>
            <ac:spMk id="7" creationId="{00000000-0000-0000-0000-000000000000}"/>
          </ac:spMkLst>
        </pc:spChg>
      </pc:sldChg>
      <pc:sldChg chg="modSp mod">
        <pc:chgData name="kolawole oladotun" userId="ef802625cd3b7e04" providerId="LiveId" clId="{E410030F-EE55-49E3-827C-6B984981E867}" dt="2025-10-26T14:35:49.373" v="446" actId="20577"/>
        <pc:sldMkLst>
          <pc:docMk/>
          <pc:sldMk cId="518266293" sldId="597"/>
        </pc:sldMkLst>
        <pc:spChg chg="mod">
          <ac:chgData name="kolawole oladotun" userId="ef802625cd3b7e04" providerId="LiveId" clId="{E410030F-EE55-49E3-827C-6B984981E867}" dt="2025-10-26T14:35:49.373" v="446" actId="20577"/>
          <ac:spMkLst>
            <pc:docMk/>
            <pc:sldMk cId="518266293" sldId="597"/>
            <ac:spMk id="3" creationId="{00000000-0000-0000-0000-000000000000}"/>
          </ac:spMkLst>
        </pc:spChg>
      </pc:sldChg>
      <pc:sldChg chg="modSp mod">
        <pc:chgData name="kolawole oladotun" userId="ef802625cd3b7e04" providerId="LiveId" clId="{E410030F-EE55-49E3-827C-6B984981E867}" dt="2025-10-26T14:37:36.221" v="447" actId="1076"/>
        <pc:sldMkLst>
          <pc:docMk/>
          <pc:sldMk cId="653340237" sldId="731"/>
        </pc:sldMkLst>
        <pc:spChg chg="mod">
          <ac:chgData name="kolawole oladotun" userId="ef802625cd3b7e04" providerId="LiveId" clId="{E410030F-EE55-49E3-827C-6B984981E867}" dt="2025-10-26T14:37:36.221" v="447" actId="1076"/>
          <ac:spMkLst>
            <pc:docMk/>
            <pc:sldMk cId="653340237" sldId="731"/>
            <ac:spMk id="2" creationId="{BF8FEE60-BE0F-4310-B400-7EEF81818463}"/>
          </ac:spMkLst>
        </pc:spChg>
      </pc:sldChg>
      <pc:sldChg chg="modSp mod ord">
        <pc:chgData name="kolawole oladotun" userId="ef802625cd3b7e04" providerId="LiveId" clId="{E410030F-EE55-49E3-827C-6B984981E867}" dt="2025-11-03T08:49:32.242" v="719"/>
        <pc:sldMkLst>
          <pc:docMk/>
          <pc:sldMk cId="1357665240" sldId="733"/>
        </pc:sldMkLst>
        <pc:spChg chg="mod">
          <ac:chgData name="kolawole oladotun" userId="ef802625cd3b7e04" providerId="LiveId" clId="{E410030F-EE55-49E3-827C-6B984981E867}" dt="2025-10-26T12:40:16.056" v="4" actId="1076"/>
          <ac:spMkLst>
            <pc:docMk/>
            <pc:sldMk cId="1357665240" sldId="733"/>
            <ac:spMk id="2" creationId="{D06A8615-8B68-4985-8F2E-19C8210B2037}"/>
          </ac:spMkLst>
        </pc:spChg>
        <pc:spChg chg="mod">
          <ac:chgData name="kolawole oladotun" userId="ef802625cd3b7e04" providerId="LiveId" clId="{E410030F-EE55-49E3-827C-6B984981E867}" dt="2025-10-26T14:22:12.251" v="38" actId="20577"/>
          <ac:spMkLst>
            <pc:docMk/>
            <pc:sldMk cId="1357665240" sldId="733"/>
            <ac:spMk id="3" creationId="{BC110C5E-6E54-4E2E-A418-F695A665B6B5}"/>
          </ac:spMkLst>
        </pc:spChg>
      </pc:sldChg>
      <pc:sldChg chg="modSp mod">
        <pc:chgData name="kolawole oladotun" userId="ef802625cd3b7e04" providerId="LiveId" clId="{E410030F-EE55-49E3-827C-6B984981E867}" dt="2025-10-26T14:44:51.848" v="471" actId="20577"/>
        <pc:sldMkLst>
          <pc:docMk/>
          <pc:sldMk cId="2089407026" sldId="738"/>
        </pc:sldMkLst>
        <pc:spChg chg="mod">
          <ac:chgData name="kolawole oladotun" userId="ef802625cd3b7e04" providerId="LiveId" clId="{E410030F-EE55-49E3-827C-6B984981E867}" dt="2025-10-26T14:44:51.848" v="471" actId="20577"/>
          <ac:spMkLst>
            <pc:docMk/>
            <pc:sldMk cId="2089407026" sldId="738"/>
            <ac:spMk id="3" creationId="{786A0D55-1F9C-4DEC-8B8B-E7A7E83C4DFF}"/>
          </ac:spMkLst>
        </pc:spChg>
      </pc:sldChg>
      <pc:sldChg chg="modSp mod">
        <pc:chgData name="kolawole oladotun" userId="ef802625cd3b7e04" providerId="LiveId" clId="{E410030F-EE55-49E3-827C-6B984981E867}" dt="2025-10-26T14:44:03.987" v="449" actId="1076"/>
        <pc:sldMkLst>
          <pc:docMk/>
          <pc:sldMk cId="355682206" sldId="739"/>
        </pc:sldMkLst>
        <pc:spChg chg="mod">
          <ac:chgData name="kolawole oladotun" userId="ef802625cd3b7e04" providerId="LiveId" clId="{E410030F-EE55-49E3-827C-6B984981E867}" dt="2025-10-26T14:43:59.642" v="448" actId="1076"/>
          <ac:spMkLst>
            <pc:docMk/>
            <pc:sldMk cId="355682206" sldId="739"/>
            <ac:spMk id="2" creationId="{893A79EF-85DF-44BA-B9B2-30369B4DC09F}"/>
          </ac:spMkLst>
        </pc:spChg>
        <pc:spChg chg="mod">
          <ac:chgData name="kolawole oladotun" userId="ef802625cd3b7e04" providerId="LiveId" clId="{E410030F-EE55-49E3-827C-6B984981E867}" dt="2025-10-26T14:44:03.987" v="449" actId="1076"/>
          <ac:spMkLst>
            <pc:docMk/>
            <pc:sldMk cId="355682206" sldId="739"/>
            <ac:spMk id="3" creationId="{786A0D55-1F9C-4DEC-8B8B-E7A7E83C4DFF}"/>
          </ac:spMkLst>
        </pc:spChg>
      </pc:sldChg>
      <pc:sldChg chg="modSp mod">
        <pc:chgData name="kolawole oladotun" userId="ef802625cd3b7e04" providerId="LiveId" clId="{E410030F-EE55-49E3-827C-6B984981E867}" dt="2025-10-26T14:47:14.234" v="472" actId="1076"/>
        <pc:sldMkLst>
          <pc:docMk/>
          <pc:sldMk cId="3599454235" sldId="749"/>
        </pc:sldMkLst>
        <pc:spChg chg="mod">
          <ac:chgData name="kolawole oladotun" userId="ef802625cd3b7e04" providerId="LiveId" clId="{E410030F-EE55-49E3-827C-6B984981E867}" dt="2025-10-26T14:47:14.234" v="472" actId="1076"/>
          <ac:spMkLst>
            <pc:docMk/>
            <pc:sldMk cId="3599454235" sldId="749"/>
            <ac:spMk id="2" creationId="{893A79EF-85DF-44BA-B9B2-30369B4DC09F}"/>
          </ac:spMkLst>
        </pc:spChg>
      </pc:sldChg>
      <pc:sldChg chg="modSp mod ord">
        <pc:chgData name="kolawole oladotun" userId="ef802625cd3b7e04" providerId="LiveId" clId="{E410030F-EE55-49E3-827C-6B984981E867}" dt="2025-11-03T08:49:41.252" v="721"/>
        <pc:sldMkLst>
          <pc:docMk/>
          <pc:sldMk cId="479461157" sldId="753"/>
        </pc:sldMkLst>
        <pc:spChg chg="mod">
          <ac:chgData name="kolawole oladotun" userId="ef802625cd3b7e04" providerId="LiveId" clId="{E410030F-EE55-49E3-827C-6B984981E867}" dt="2025-10-26T12:41:23.961" v="30" actId="1076"/>
          <ac:spMkLst>
            <pc:docMk/>
            <pc:sldMk cId="479461157" sldId="753"/>
            <ac:spMk id="2" creationId="{D06A8615-8B68-4985-8F2E-19C8210B2037}"/>
          </ac:spMkLst>
        </pc:spChg>
        <pc:spChg chg="mod">
          <ac:chgData name="kolawole oladotun" userId="ef802625cd3b7e04" providerId="LiveId" clId="{E410030F-EE55-49E3-827C-6B984981E867}" dt="2025-10-26T14:22:28" v="39" actId="20577"/>
          <ac:spMkLst>
            <pc:docMk/>
            <pc:sldMk cId="479461157" sldId="753"/>
            <ac:spMk id="3" creationId="{BC110C5E-6E54-4E2E-A418-F695A665B6B5}"/>
          </ac:spMkLst>
        </pc:spChg>
      </pc:sldChg>
      <pc:sldChg chg="addSp delSp modSp new mod">
        <pc:chgData name="kolawole oladotun" userId="ef802625cd3b7e04" providerId="LiveId" clId="{E410030F-EE55-49E3-827C-6B984981E867}" dt="2025-10-26T14:34:44.688" v="438" actId="20577"/>
        <pc:sldMkLst>
          <pc:docMk/>
          <pc:sldMk cId="1174087343" sldId="754"/>
        </pc:sldMkLst>
        <pc:spChg chg="mod">
          <ac:chgData name="kolawole oladotun" userId="ef802625cd3b7e04" providerId="LiveId" clId="{E410030F-EE55-49E3-827C-6B984981E867}" dt="2025-10-26T14:26:19.919" v="88" actId="1076"/>
          <ac:spMkLst>
            <pc:docMk/>
            <pc:sldMk cId="1174087343" sldId="754"/>
            <ac:spMk id="2" creationId="{FB9DAE26-404E-4045-95AE-83B16821EDB0}"/>
          </ac:spMkLst>
        </pc:spChg>
        <pc:spChg chg="del mod">
          <ac:chgData name="kolawole oladotun" userId="ef802625cd3b7e04" providerId="LiveId" clId="{E410030F-EE55-49E3-827C-6B984981E867}" dt="2025-10-26T14:23:33.825" v="45"/>
          <ac:spMkLst>
            <pc:docMk/>
            <pc:sldMk cId="1174087343" sldId="754"/>
            <ac:spMk id="3" creationId="{593AC6A4-4E23-41BC-ADD0-57A07764E411}"/>
          </ac:spMkLst>
        </pc:spChg>
        <pc:spChg chg="add mod">
          <ac:chgData name="kolawole oladotun" userId="ef802625cd3b7e04" providerId="LiveId" clId="{E410030F-EE55-49E3-827C-6B984981E867}" dt="2025-10-26T14:34:44.688" v="438" actId="20577"/>
          <ac:spMkLst>
            <pc:docMk/>
            <pc:sldMk cId="1174087343" sldId="754"/>
            <ac:spMk id="4" creationId="{EEB6EFEC-F890-4E0E-8612-0B6BD0D12E95}"/>
          </ac:spMkLst>
        </pc:spChg>
      </pc:sldChg>
      <pc:sldChg chg="addSp delSp modSp new del addCm">
        <pc:chgData name="kolawole oladotun" userId="ef802625cd3b7e04" providerId="LiveId" clId="{E410030F-EE55-49E3-827C-6B984981E867}" dt="2025-10-26T12:48:12.839" v="35" actId="2696"/>
        <pc:sldMkLst>
          <pc:docMk/>
          <pc:sldMk cId="1311764668" sldId="754"/>
        </pc:sldMkLst>
        <pc:spChg chg="del">
          <ac:chgData name="kolawole oladotun" userId="ef802625cd3b7e04" providerId="LiveId" clId="{E410030F-EE55-49E3-827C-6B984981E867}" dt="2025-10-26T12:47:43.863" v="32"/>
          <ac:spMkLst>
            <pc:docMk/>
            <pc:sldMk cId="1311764668" sldId="754"/>
            <ac:spMk id="3" creationId="{29AA358D-EF76-4348-908F-DCF55F411DAD}"/>
          </ac:spMkLst>
        </pc:spChg>
        <pc:spChg chg="add mod">
          <ac:chgData name="kolawole oladotun" userId="ef802625cd3b7e04" providerId="LiveId" clId="{E410030F-EE55-49E3-827C-6B984981E867}" dt="2025-10-26T12:47:51.004" v="33" actId="14100"/>
          <ac:spMkLst>
            <pc:docMk/>
            <pc:sldMk cId="1311764668" sldId="754"/>
            <ac:spMk id="4" creationId="{4874E36F-0A9D-4181-B8F1-7EF346CE0171}"/>
          </ac:spMkLst>
        </pc:spChg>
      </pc:sldChg>
      <pc:sldChg chg="modSp new mod">
        <pc:chgData name="kolawole oladotun" userId="ef802625cd3b7e04" providerId="LiveId" clId="{E410030F-EE55-49E3-827C-6B984981E867}" dt="2025-11-03T08:38:33.277" v="585" actId="27636"/>
        <pc:sldMkLst>
          <pc:docMk/>
          <pc:sldMk cId="691515196" sldId="755"/>
        </pc:sldMkLst>
        <pc:spChg chg="mod">
          <ac:chgData name="kolawole oladotun" userId="ef802625cd3b7e04" providerId="LiveId" clId="{E410030F-EE55-49E3-827C-6B984981E867}" dt="2025-11-03T08:38:07.569" v="581" actId="1076"/>
          <ac:spMkLst>
            <pc:docMk/>
            <pc:sldMk cId="691515196" sldId="755"/>
            <ac:spMk id="2" creationId="{3C53B683-CD92-4026-85D3-1E5AAEFBC00A}"/>
          </ac:spMkLst>
        </pc:spChg>
        <pc:spChg chg="mod">
          <ac:chgData name="kolawole oladotun" userId="ef802625cd3b7e04" providerId="LiveId" clId="{E410030F-EE55-49E3-827C-6B984981E867}" dt="2025-11-03T08:38:33.277" v="585" actId="27636"/>
          <ac:spMkLst>
            <pc:docMk/>
            <pc:sldMk cId="691515196" sldId="755"/>
            <ac:spMk id="3" creationId="{65A82FD8-3063-4A83-B802-D67B2E053F2C}"/>
          </ac:spMkLst>
        </pc:spChg>
      </pc:sldChg>
      <pc:sldChg chg="modSp new mod">
        <pc:chgData name="kolawole oladotun" userId="ef802625cd3b7e04" providerId="LiveId" clId="{E410030F-EE55-49E3-827C-6B984981E867}" dt="2025-11-03T08:49:00.710" v="717" actId="1076"/>
        <pc:sldMkLst>
          <pc:docMk/>
          <pc:sldMk cId="224408085" sldId="756"/>
        </pc:sldMkLst>
        <pc:spChg chg="mod">
          <ac:chgData name="kolawole oladotun" userId="ef802625cd3b7e04" providerId="LiveId" clId="{E410030F-EE55-49E3-827C-6B984981E867}" dt="2025-11-03T08:46:17.307" v="631" actId="1076"/>
          <ac:spMkLst>
            <pc:docMk/>
            <pc:sldMk cId="224408085" sldId="756"/>
            <ac:spMk id="2" creationId="{B24D1932-CC4B-4F2E-8916-D3E08F11CA29}"/>
          </ac:spMkLst>
        </pc:spChg>
        <pc:spChg chg="mod">
          <ac:chgData name="kolawole oladotun" userId="ef802625cd3b7e04" providerId="LiveId" clId="{E410030F-EE55-49E3-827C-6B984981E867}" dt="2025-11-03T08:49:00.710" v="717" actId="1076"/>
          <ac:spMkLst>
            <pc:docMk/>
            <pc:sldMk cId="224408085" sldId="756"/>
            <ac:spMk id="3" creationId="{1766918A-7222-4A25-B5C1-076B8DE5F7BD}"/>
          </ac:spMkLst>
        </pc:spChg>
      </pc:sldChg>
      <pc:sldChg chg="addSp delSp modSp new mod">
        <pc:chgData name="kolawole oladotun" userId="ef802625cd3b7e04" providerId="LiveId" clId="{E410030F-EE55-49E3-827C-6B984981E867}" dt="2025-11-03T08:48:18.545" v="715" actId="20577"/>
        <pc:sldMkLst>
          <pc:docMk/>
          <pc:sldMk cId="3380973097" sldId="757"/>
        </pc:sldMkLst>
        <pc:spChg chg="del mod">
          <ac:chgData name="kolawole oladotun" userId="ef802625cd3b7e04" providerId="LiveId" clId="{E410030F-EE55-49E3-827C-6B984981E867}" dt="2025-11-03T08:46:34.690" v="632" actId="478"/>
          <ac:spMkLst>
            <pc:docMk/>
            <pc:sldMk cId="3380973097" sldId="757"/>
            <ac:spMk id="2" creationId="{C7747833-F7EC-4C79-982C-F7BD82079F1B}"/>
          </ac:spMkLst>
        </pc:spChg>
        <pc:spChg chg="mod">
          <ac:chgData name="kolawole oladotun" userId="ef802625cd3b7e04" providerId="LiveId" clId="{E410030F-EE55-49E3-827C-6B984981E867}" dt="2025-11-03T08:48:18.545" v="715" actId="20577"/>
          <ac:spMkLst>
            <pc:docMk/>
            <pc:sldMk cId="3380973097" sldId="757"/>
            <ac:spMk id="3" creationId="{C134CE3F-4BCA-4D89-82AF-60DEE8540EFE}"/>
          </ac:spMkLst>
        </pc:spChg>
        <pc:spChg chg="add del mod">
          <ac:chgData name="kolawole oladotun" userId="ef802625cd3b7e04" providerId="LiveId" clId="{E410030F-EE55-49E3-827C-6B984981E867}" dt="2025-11-03T08:46:42.567" v="633" actId="478"/>
          <ac:spMkLst>
            <pc:docMk/>
            <pc:sldMk cId="3380973097" sldId="757"/>
            <ac:spMk id="5" creationId="{1BF3F55A-6121-474E-A5AE-6A4B15E9A93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2F73B2-7CF1-4832-BF09-2E3D082F4856}" type="datetimeFigureOut">
              <a:rPr lang="en-US" smtClean="0"/>
              <a:pPr/>
              <a:t>11/3/2025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02B329-9B4F-43B9-920A-39268306AFA7}" type="slidenum">
              <a:rPr lang="en-US" smtClean="0"/>
              <a:pPr/>
              <a:t>‹#›</a:t>
            </a:fld>
            <a:endParaRPr lang="en-US"/>
          </a:p>
        </p:txBody>
      </p:sp>
    </p:spTree>
    <p:extLst>
      <p:ext uri="{BB962C8B-B14F-4D97-AF65-F5344CB8AC3E}">
        <p14:creationId xmlns:p14="http://schemas.microsoft.com/office/powerpoint/2010/main" val="2462989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DA5C1-9818-47C9-A79E-B4D4158DD3E3}" type="datetimeFigureOut">
              <a:rPr lang="en-GB" smtClean="0"/>
              <a:pPr/>
              <a:t>03/11/2025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498802-2017-4E9A-A8AF-781802F703C5}" type="slidenum">
              <a:rPr lang="en-GB" smtClean="0"/>
              <a:pPr/>
              <a:t>‹#›</a:t>
            </a:fld>
            <a:endParaRPr lang="en-GB"/>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9D498802-2017-4E9A-A8AF-781802F703C5}" type="slidenum">
              <a:rPr lang="en-GB" smtClean="0"/>
              <a:pPr/>
              <a:t>1</a:t>
            </a:fld>
            <a:endParaRPr lang="en-GB"/>
          </a:p>
        </p:txBody>
      </p:sp>
    </p:spTree>
    <p:extLst>
      <p:ext uri="{BB962C8B-B14F-4D97-AF65-F5344CB8AC3E}">
        <p14:creationId xmlns:p14="http://schemas.microsoft.com/office/powerpoint/2010/main" val="210242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7"/>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4" y="4406902"/>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4"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1"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2"/>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2"/>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0"/>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0"/>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264940" y="548680"/>
            <a:ext cx="1216557" cy="1296144"/>
          </a:xfrm>
          <a:prstGeom prst="rect">
            <a:avLst/>
          </a:prstGeom>
          <a:noFill/>
        </p:spPr>
      </p:pic>
      <p:sp>
        <p:nvSpPr>
          <p:cNvPr id="10" name="Title 1"/>
          <p:cNvSpPr>
            <a:spLocks noGrp="1"/>
          </p:cNvSpPr>
          <p:nvPr userDrawn="1">
            <p:ph type="ctrTitle"/>
          </p:nvPr>
        </p:nvSpPr>
        <p:spPr>
          <a:xfrm>
            <a:off x="914638" y="2204865"/>
            <a:ext cx="10365899" cy="2520280"/>
          </a:xfrm>
          <a:solidFill>
            <a:srgbClr val="CC3399">
              <a:alpha val="83137"/>
            </a:srgbClr>
          </a:solidFill>
        </p:spPr>
        <p:txBody>
          <a:bodyPr>
            <a:normAutofit/>
          </a:bodyPr>
          <a:lstStyle/>
          <a:p>
            <a:endParaRPr lang="en-GB" sz="6600" b="1" dirty="0">
              <a:solidFill>
                <a:schemeClr val="bg1"/>
              </a:solidFill>
              <a:latin typeface="Rockwell" pitchFamily="18" charset="0"/>
            </a:endParaRPr>
          </a:p>
        </p:txBody>
      </p:sp>
      <p:sp>
        <p:nvSpPr>
          <p:cNvPr id="11" name="Subtitle 2"/>
          <p:cNvSpPr>
            <a:spLocks noGrp="1"/>
          </p:cNvSpPr>
          <p:nvPr userDrawn="1">
            <p:ph type="subTitle" idx="1"/>
          </p:nvPr>
        </p:nvSpPr>
        <p:spPr>
          <a:xfrm>
            <a:off x="1705100"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345059" y="1268760"/>
            <a:ext cx="3979650" cy="400110"/>
          </a:xfrm>
          <a:prstGeom prst="rect">
            <a:avLst/>
          </a:prstGeom>
          <a:noFill/>
        </p:spPr>
        <p:txBody>
          <a:bodyPr wrap="none" rtlCol="0">
            <a:spAutoFit/>
          </a:bodyPr>
          <a:lstStyle/>
          <a:p>
            <a:r>
              <a:rPr lang="en-US" sz="2000" dirty="0">
                <a:solidFill>
                  <a:srgbClr val="662C5B"/>
                </a:solidFill>
              </a:rPr>
              <a:t>Raising a new Generation of Leaders</a:t>
            </a:r>
            <a:endParaRPr lang="en-GB" sz="2000" dirty="0">
              <a:solidFill>
                <a:srgbClr val="662C5B"/>
              </a:solidFill>
            </a:endParaRPr>
          </a:p>
        </p:txBody>
      </p:sp>
      <p:sp>
        <p:nvSpPr>
          <p:cNvPr id="14" name="TextBox 13"/>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1129035" y="692698"/>
            <a:ext cx="5065714" cy="817563"/>
          </a:xfrm>
          <a:prstGeom prst="rect">
            <a:avLst/>
          </a:prstGeom>
          <a:noFill/>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795" y="0"/>
            <a:ext cx="7936414"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4210"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2488" y="3428999"/>
            <a:ext cx="5519503"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996" y="2268787"/>
            <a:ext cx="5358995"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rIns="45720"/>
          <a:lstStyle/>
          <a:p>
            <a:fld id="{E9BBD965-F460-422A-A842-9BE9972FC43E}" type="slidenum">
              <a:rPr lang="en-GB" smtClean="0"/>
              <a:pPr/>
              <a:t>‹#›</a:t>
            </a:fld>
            <a:endParaRPr lang="en-GB"/>
          </a:p>
        </p:txBody>
      </p:sp>
      <p:sp>
        <p:nvSpPr>
          <p:cNvPr id="13" name="TextBox 12"/>
          <p:cNvSpPr txBox="1"/>
          <p:nvPr/>
        </p:nvSpPr>
        <p:spPr>
          <a:xfrm>
            <a:off x="2191853" y="3262853"/>
            <a:ext cx="415744"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835662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
        <p:nvSpPr>
          <p:cNvPr id="7" name="TextBox 6"/>
          <p:cNvSpPr txBox="1"/>
          <p:nvPr/>
        </p:nvSpPr>
        <p:spPr>
          <a:xfrm>
            <a:off x="2195515" y="641225"/>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241935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2414" y="2962586"/>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0553" y="3147254"/>
            <a:ext cx="7958632"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4691" y="2268786"/>
            <a:ext cx="7793960"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368746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10552" y="805818"/>
            <a:ext cx="7953055"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6052" y="2052116"/>
            <a:ext cx="3892974"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8372" y="2052115"/>
            <a:ext cx="3895236"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
        <p:nvSpPr>
          <p:cNvPr id="10" name="TextBox 9"/>
          <p:cNvSpPr txBox="1"/>
          <p:nvPr/>
        </p:nvSpPr>
        <p:spPr>
          <a:xfrm>
            <a:off x="2196744" y="641223"/>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148820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4221" y="636424"/>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0553" y="805818"/>
            <a:ext cx="7958632"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965" y="2052115"/>
            <a:ext cx="3897482"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965" y="2851331"/>
            <a:ext cx="3894637"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8370" y="2052115"/>
            <a:ext cx="3900814"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8371" y="2851331"/>
            <a:ext cx="3900814"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75190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
        <p:nvSpPr>
          <p:cNvPr id="8" name="TextBox 7"/>
          <p:cNvSpPr txBox="1"/>
          <p:nvPr/>
        </p:nvSpPr>
        <p:spPr>
          <a:xfrm>
            <a:off x="2196744" y="641226"/>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7271325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509851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559" y="1127550"/>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837" y="1282452"/>
            <a:ext cx="2665055"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1488" y="805818"/>
            <a:ext cx="5447696"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836" y="3186155"/>
            <a:ext cx="2665055"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057621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8819" y="3229"/>
            <a:ext cx="4630940"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5091" y="1127550"/>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754" y="1282453"/>
            <a:ext cx="3972020"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835" y="3182928"/>
            <a:ext cx="3972908"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731995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808" y="641225"/>
            <a:ext cx="415744"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2489" y="808057"/>
            <a:ext cx="7956162"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4106027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741" y="0"/>
            <a:ext cx="1037501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80291" y="0"/>
            <a:ext cx="2743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9887" y="416013"/>
            <a:ext cx="415636" cy="369428"/>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41787" y="805818"/>
            <a:ext cx="1326864"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9431" y="970410"/>
            <a:ext cx="6468587"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6629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5975"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2"/>
            <a:ext cx="10975975"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1" y="6356352"/>
            <a:ext cx="284638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A4263-B01D-4F49-B558-EEB448DAF4C2}" type="datetimeFigureOut">
              <a:rPr lang="en-GB" smtClean="0"/>
              <a:pPr/>
              <a:t>03/11/2025</a:t>
            </a:fld>
            <a:endParaRPr lang="en-GB"/>
          </a:p>
        </p:txBody>
      </p:sp>
      <p:sp>
        <p:nvSpPr>
          <p:cNvPr id="5" name="Footer Placeholder 4"/>
          <p:cNvSpPr>
            <a:spLocks noGrp="1"/>
          </p:cNvSpPr>
          <p:nvPr>
            <p:ph type="ftr" sz="quarter" idx="3"/>
          </p:nvPr>
        </p:nvSpPr>
        <p:spPr>
          <a:xfrm>
            <a:off x="4167188"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189" y="6356352"/>
            <a:ext cx="28463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BBD965-F460-422A-A842-9BE9972FC43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2532" y="2105202"/>
            <a:ext cx="9362643"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 y="0"/>
            <a:ext cx="12193041" cy="6858000"/>
          </a:xfrm>
          <a:prstGeom prst="rect">
            <a:avLst/>
          </a:prstGeom>
        </p:spPr>
      </p:pic>
      <p:sp>
        <p:nvSpPr>
          <p:cNvPr id="8" name="Rectangle 7"/>
          <p:cNvSpPr/>
          <p:nvPr/>
        </p:nvSpPr>
        <p:spPr>
          <a:xfrm>
            <a:off x="0" y="0"/>
            <a:ext cx="96442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2489" y="808057"/>
            <a:ext cx="7960403"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4321" y="2052116"/>
            <a:ext cx="779857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09929" y="5270580"/>
            <a:ext cx="2662729" cy="182928"/>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04FA4263-B01D-4F49-B558-EEB448DAF4C2}" type="datetimeFigureOut">
              <a:rPr lang="en-GB" smtClean="0"/>
              <a:pPr/>
              <a:t>03/11/2025</a:t>
            </a:fld>
            <a:endParaRPr lang="en-GB"/>
          </a:p>
        </p:txBody>
      </p:sp>
      <p:sp>
        <p:nvSpPr>
          <p:cNvPr id="5" name="Footer Placeholder 4"/>
          <p:cNvSpPr>
            <a:spLocks noGrp="1"/>
          </p:cNvSpPr>
          <p:nvPr>
            <p:ph type="ftr" sz="quarter" idx="3"/>
          </p:nvPr>
        </p:nvSpPr>
        <p:spPr>
          <a:xfrm rot="5400000">
            <a:off x="-2236946" y="3661121"/>
            <a:ext cx="5885352" cy="179223"/>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58449" y="164593"/>
            <a:ext cx="636893"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E9BBD965-F460-422A-A842-9BE9972FC43E}" type="slidenum">
              <a:rPr lang="en-GB" smtClean="0"/>
              <a:pPr/>
              <a:t>‹#›</a:t>
            </a:fld>
            <a:endParaRPr lang="en-GB"/>
          </a:p>
        </p:txBody>
      </p:sp>
      <p:sp>
        <p:nvSpPr>
          <p:cNvPr id="57" name="Rectangle 56"/>
          <p:cNvSpPr/>
          <p:nvPr/>
        </p:nvSpPr>
        <p:spPr>
          <a:xfrm>
            <a:off x="962293" y="0"/>
            <a:ext cx="45731"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6906892"/>
      </p:ext>
    </p:extLst>
  </p:cSld>
  <p:clrMap bg1="dk1" tx1="lt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hyperlink" Target="http://abimbolaoladotun.blogspot.com/" TargetMode="External"/><Relationship Id="rId2" Type="http://schemas.openxmlformats.org/officeDocument/2006/relationships/hyperlink" Target="http://www.abimbolaoladotun.com/" TargetMode="External"/><Relationship Id="rId1" Type="http://schemas.openxmlformats.org/officeDocument/2006/relationships/slideLayout" Target="../slideLayouts/slideLayout14.xml"/><Relationship Id="rId4" Type="http://schemas.openxmlformats.org/officeDocument/2006/relationships/hyperlink" Target="http://www.olusolaajiboyefoundation.org.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54664" y="1124744"/>
            <a:ext cx="7787539" cy="994410"/>
          </a:xfrm>
        </p:spPr>
        <p:txBody>
          <a:bodyPr>
            <a:noAutofit/>
          </a:bodyPr>
          <a:lstStyle/>
          <a:p>
            <a:br>
              <a:rPr lang="en-US" sz="2400" b="1" dirty="0">
                <a:effectLst/>
                <a:latin typeface="Arial" panose="020B0604020202020204" pitchFamily="34" charset="0"/>
                <a:ea typeface="Calibri" panose="020F050202020403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2400" dirty="0">
                <a:solidFill>
                  <a:schemeClr val="tx1"/>
                </a:solidFill>
                <a:latin typeface="Arial" panose="020B0604020202020204" pitchFamily="34" charset="0"/>
                <a:cs typeface="Arial" panose="020B0604020202020204" pitchFamily="34" charset="0"/>
              </a:rPr>
            </a:br>
            <a:br>
              <a:rPr lang="en-US" sz="2400" kern="100" dirty="0">
                <a:effectLst/>
                <a:latin typeface="Arial" panose="020B0604020202020204" pitchFamily="34" charset="0"/>
                <a:ea typeface="Aptos" panose="020B0004020202020204" pitchFamily="34" charset="0"/>
                <a:cs typeface="Arial" panose="020B0604020202020204" pitchFamily="34" charset="0"/>
              </a:rPr>
            </a:br>
            <a:endParaRPr lang="en-GB" sz="2400" dirty="0">
              <a:latin typeface="Arial" panose="020B0604020202020204" pitchFamily="34" charset="0"/>
              <a:cs typeface="Arial" panose="020B0604020202020204" pitchFamily="34" charset="0"/>
            </a:endParaRPr>
          </a:p>
        </p:txBody>
      </p:sp>
      <p:sp>
        <p:nvSpPr>
          <p:cNvPr id="7" name="Subtitle 6"/>
          <p:cNvSpPr>
            <a:spLocks noGrp="1"/>
          </p:cNvSpPr>
          <p:nvPr>
            <p:ph type="subTitle" idx="1"/>
          </p:nvPr>
        </p:nvSpPr>
        <p:spPr>
          <a:xfrm>
            <a:off x="696987" y="1621949"/>
            <a:ext cx="9649072" cy="4248472"/>
          </a:xfrm>
        </p:spPr>
        <p:txBody>
          <a:bodyPr>
            <a:noAutofit/>
          </a:bodyPr>
          <a:lstStyle/>
          <a:p>
            <a:pPr algn="ctr"/>
            <a:r>
              <a:rPr lang="en-US" sz="3600" b="1" dirty="0">
                <a:solidFill>
                  <a:schemeClr val="tx1"/>
                </a:solidFill>
                <a:latin typeface="Arial" panose="020B0604020202020204" pitchFamily="34" charset="0"/>
                <a:cs typeface="Arial" panose="020B0604020202020204" pitchFamily="34" charset="0"/>
              </a:rPr>
              <a:t>BUSINESS PLAN</a:t>
            </a:r>
            <a:endParaRPr lang="en-US" sz="36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36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36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r>
              <a:rPr lang="en-US" sz="3600" b="1" cap="all" dirty="0">
                <a:solidFill>
                  <a:schemeClr val="tx1">
                    <a:lumMod val="95000"/>
                  </a:schemeClr>
                </a:solidFill>
                <a:latin typeface="Arial" panose="020B0604020202020204" pitchFamily="34" charset="0"/>
                <a:ea typeface="Calibri" panose="020F0502020204030204" pitchFamily="34" charset="0"/>
                <a:cs typeface="Arial" panose="020B0604020202020204" pitchFamily="34" charset="0"/>
              </a:rPr>
              <a:t>DR. ABIMBOLA OLADOTUN</a:t>
            </a:r>
            <a:endParaRPr lang="en-US" sz="3600" dirty="0">
              <a:solidFill>
                <a:schemeClr val="tx1">
                  <a:lumMod val="95000"/>
                </a:schemeClr>
              </a:solidFill>
              <a:latin typeface="Arial" panose="020B0604020202020204" pitchFamily="34" charset="0"/>
              <a:cs typeface="Arial" panose="020B0604020202020204" pitchFamily="34" charset="0"/>
            </a:endParaRPr>
          </a:p>
          <a:p>
            <a:pPr algn="ctr"/>
            <a:endParaRPr lang="en-US" sz="3600" dirty="0">
              <a:solidFill>
                <a:schemeClr val="tx1"/>
              </a:solidFill>
              <a:latin typeface="Arial" panose="020B0604020202020204" pitchFamily="34" charset="0"/>
              <a:cs typeface="Arial" panose="020B0604020202020204" pitchFamily="34" charset="0"/>
            </a:endParaRPr>
          </a:p>
          <a:p>
            <a:pPr algn="ctr">
              <a:lnSpc>
                <a:spcPct val="107000"/>
              </a:lnSpc>
            </a:pPr>
            <a:r>
              <a:rPr lang="en-US" sz="3600" i="1" u="sng" dirty="0">
                <a:solidFill>
                  <a:schemeClr val="tx1"/>
                </a:solidFill>
                <a:latin typeface="Arial" panose="020B0604020202020204" pitchFamily="34" charset="0"/>
                <a:ea typeface="Calibri" panose="020F0502020204030204" pitchFamily="34" charset="0"/>
                <a:cs typeface="Arial" panose="020B0604020202020204" pitchFamily="34" charset="0"/>
              </a:rPr>
              <a:t>oladotun.abimbola@lmu.edu.ng</a:t>
            </a:r>
            <a:endParaRPr lang="en-US" sz="3600" dirty="0">
              <a:solidFill>
                <a:schemeClr val="tx1"/>
              </a:solidFill>
              <a:latin typeface="Arial" panose="020B0604020202020204" pitchFamily="34" charset="0"/>
              <a:ea typeface="Calibri" panose="020F050202020403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CC843BE-82D7-48FE-B996-CF7779F80660}"/>
              </a:ext>
            </a:extLst>
          </p:cNvPr>
          <p:cNvPicPr/>
          <p:nvPr/>
        </p:nvPicPr>
        <p:blipFill>
          <a:blip r:embed="rId3">
            <a:extLst>
              <a:ext uri="{28A0092B-C50C-407E-A947-70E740481C1C}">
                <a14:useLocalDpi xmlns:a14="http://schemas.microsoft.com/office/drawing/2010/main" val="0"/>
              </a:ext>
            </a:extLst>
          </a:blip>
          <a:srcRect l="12619" t="13414" r="12123" b="10818"/>
          <a:stretch>
            <a:fillRect/>
          </a:stretch>
        </p:blipFill>
        <p:spPr bwMode="auto">
          <a:xfrm>
            <a:off x="192931" y="-44606"/>
            <a:ext cx="2304256" cy="21054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B683-CD92-4026-85D3-1E5AAEFBC00A}"/>
              </a:ext>
            </a:extLst>
          </p:cNvPr>
          <p:cNvSpPr>
            <a:spLocks noGrp="1"/>
          </p:cNvSpPr>
          <p:nvPr>
            <p:ph type="title"/>
          </p:nvPr>
        </p:nvSpPr>
        <p:spPr>
          <a:xfrm>
            <a:off x="-167109" y="692696"/>
            <a:ext cx="7960403" cy="1077229"/>
          </a:xfrm>
        </p:spPr>
        <p:txBody>
          <a:bodyPr/>
          <a:lstStyle/>
          <a:p>
            <a:r>
              <a:rPr lang="en-US" dirty="0"/>
              <a:t>BUSINESS PLAN</a:t>
            </a:r>
            <a:endParaRPr lang="en-NG" dirty="0"/>
          </a:p>
        </p:txBody>
      </p:sp>
      <p:sp>
        <p:nvSpPr>
          <p:cNvPr id="3" name="Content Placeholder 2">
            <a:extLst>
              <a:ext uri="{FF2B5EF4-FFF2-40B4-BE49-F238E27FC236}">
                <a16:creationId xmlns:a16="http://schemas.microsoft.com/office/drawing/2014/main" id="{65A82FD8-3063-4A83-B802-D67B2E053F2C}"/>
              </a:ext>
            </a:extLst>
          </p:cNvPr>
          <p:cNvSpPr>
            <a:spLocks noGrp="1"/>
          </p:cNvSpPr>
          <p:nvPr>
            <p:ph idx="1"/>
          </p:nvPr>
        </p:nvSpPr>
        <p:spPr>
          <a:xfrm>
            <a:off x="1345059" y="1442833"/>
            <a:ext cx="9721080" cy="4496042"/>
          </a:xfrm>
        </p:spPr>
        <p:txBody>
          <a:bodyPr>
            <a:normAutofit fontScale="85000" lnSpcReduction="20000"/>
          </a:bodyPr>
          <a:lstStyle/>
          <a:p>
            <a:pPr marL="0" indent="0">
              <a:buNone/>
            </a:pPr>
            <a:endParaRPr lang="en-US" sz="2800" b="0" i="0" u="none" strike="noStrike" baseline="0" dirty="0">
              <a:latin typeface="Times New Roman" panose="02020603050405020304" pitchFamily="18" charset="0"/>
            </a:endParaRPr>
          </a:p>
          <a:p>
            <a:r>
              <a:rPr lang="en-US" sz="3500" b="0" i="0" u="none" strike="noStrike" baseline="0" dirty="0">
                <a:latin typeface="Times New Roman" panose="02020603050405020304" pitchFamily="18" charset="0"/>
              </a:rPr>
              <a:t>Scarborough (2014) defines a business plan as a written summary of an entrepreneur‘s proposed business venture, its operational and financial details, its marketing opportunities and strategy, and its managers‘ skills and abilities. There is no substitute for a well prepared business plan, and there are no shortcuts to creating one. The business plan becomes a road map that the entrepreneur will follow in building a successful business. </a:t>
            </a:r>
            <a:endParaRPr lang="en-NG" sz="3500" dirty="0"/>
          </a:p>
          <a:p>
            <a:endParaRPr lang="en-NG" dirty="0"/>
          </a:p>
        </p:txBody>
      </p:sp>
    </p:spTree>
    <p:extLst>
      <p:ext uri="{BB962C8B-B14F-4D97-AF65-F5344CB8AC3E}">
        <p14:creationId xmlns:p14="http://schemas.microsoft.com/office/powerpoint/2010/main" val="69151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8615-8B68-4985-8F2E-19C8210B2037}"/>
              </a:ext>
            </a:extLst>
          </p:cNvPr>
          <p:cNvSpPr>
            <a:spLocks noGrp="1"/>
          </p:cNvSpPr>
          <p:nvPr>
            <p:ph type="title"/>
          </p:nvPr>
        </p:nvSpPr>
        <p:spPr>
          <a:xfrm>
            <a:off x="1273051" y="199689"/>
            <a:ext cx="7776864" cy="1280890"/>
          </a:xfrm>
        </p:spPr>
        <p:txBody>
          <a:bodyPr>
            <a:normAutofit/>
          </a:bodyPr>
          <a:lstStyle/>
          <a:p>
            <a:r>
              <a:rPr lang="en-US" sz="4800" b="1" dirty="0"/>
              <a:t>BUSINESS PLAN</a:t>
            </a:r>
            <a:endParaRPr lang="en-NG" sz="4800" b="1" dirty="0"/>
          </a:p>
        </p:txBody>
      </p:sp>
      <p:sp>
        <p:nvSpPr>
          <p:cNvPr id="3" name="Content Placeholder 2">
            <a:extLst>
              <a:ext uri="{FF2B5EF4-FFF2-40B4-BE49-F238E27FC236}">
                <a16:creationId xmlns:a16="http://schemas.microsoft.com/office/drawing/2014/main" id="{BC110C5E-6E54-4E2E-A418-F695A665B6B5}"/>
              </a:ext>
            </a:extLst>
          </p:cNvPr>
          <p:cNvSpPr>
            <a:spLocks noGrp="1"/>
          </p:cNvSpPr>
          <p:nvPr>
            <p:ph idx="1"/>
          </p:nvPr>
        </p:nvSpPr>
        <p:spPr>
          <a:xfrm>
            <a:off x="1129035" y="1268760"/>
            <a:ext cx="10585176" cy="4749106"/>
          </a:xfrm>
        </p:spPr>
        <p:txBody>
          <a:bodyPr>
            <a:noAutofit/>
          </a:bodyPr>
          <a:lstStyle/>
          <a:p>
            <a:pPr algn="l"/>
            <a:endParaRPr lang="en-US" sz="1400" b="0" i="0" u="none" strike="noStrike" baseline="0" dirty="0">
              <a:latin typeface="ACaslonPro-Regular"/>
            </a:endParaRPr>
          </a:p>
          <a:p>
            <a:pPr algn="l"/>
            <a:r>
              <a:rPr lang="en-US" b="0" i="0" u="none" strike="noStrike" baseline="0" dirty="0">
                <a:latin typeface="ACaslonPro-Regular"/>
              </a:rPr>
              <a:t>1 </a:t>
            </a:r>
            <a:r>
              <a:rPr lang="en-US" sz="2400" b="0" i="0" u="none" strike="noStrike" baseline="0" dirty="0">
                <a:latin typeface="ACaslonPro-Regular"/>
              </a:rPr>
              <a:t>Executive Summary</a:t>
            </a:r>
          </a:p>
          <a:p>
            <a:pPr algn="l"/>
            <a:r>
              <a:rPr lang="en-US" sz="2400" b="0" i="0" u="none" strike="noStrike" baseline="0" dirty="0">
                <a:latin typeface="ACaslonPro-Regular"/>
              </a:rPr>
              <a:t>2 The Business Idea</a:t>
            </a:r>
          </a:p>
          <a:p>
            <a:pPr algn="l"/>
            <a:r>
              <a:rPr lang="en-US" sz="2400" b="0" i="0" u="none" strike="noStrike" baseline="0" dirty="0">
                <a:latin typeface="ACaslonPro-Regular"/>
              </a:rPr>
              <a:t>3 Background</a:t>
            </a:r>
          </a:p>
          <a:p>
            <a:pPr algn="l"/>
            <a:r>
              <a:rPr lang="en-US" sz="2400" b="0" i="0" u="none" strike="noStrike" baseline="0" dirty="0">
                <a:latin typeface="ACaslonPro-Regular"/>
              </a:rPr>
              <a:t>4 Ownership and Company Structure</a:t>
            </a:r>
          </a:p>
          <a:p>
            <a:pPr algn="l"/>
            <a:r>
              <a:rPr lang="en-US" sz="2400" b="0" i="0" u="none" strike="noStrike" baseline="0" dirty="0">
                <a:latin typeface="ACaslonPro-Regular"/>
              </a:rPr>
              <a:t>5 The Team: Leadership, Board of Directors, Accountants and Lawyers</a:t>
            </a:r>
          </a:p>
          <a:p>
            <a:pPr algn="l"/>
            <a:r>
              <a:rPr lang="en-US" sz="2400" b="0" i="0" u="none" strike="noStrike" baseline="0" dirty="0">
                <a:latin typeface="ACaslonPro-Regular"/>
              </a:rPr>
              <a:t>6 The Product</a:t>
            </a:r>
          </a:p>
          <a:p>
            <a:pPr algn="l"/>
            <a:r>
              <a:rPr lang="en-US" sz="2400" b="0" i="0" u="none" strike="noStrike" baseline="0" dirty="0">
                <a:latin typeface="ACaslonPro-Regular"/>
              </a:rPr>
              <a:t>7 The Patent Situation</a:t>
            </a:r>
          </a:p>
          <a:p>
            <a:pPr algn="l"/>
            <a:r>
              <a:rPr lang="en-US" sz="2400" b="0" i="0" u="none" strike="noStrike" baseline="0" dirty="0">
                <a:latin typeface="ACaslonPro-Regular"/>
              </a:rPr>
              <a:t>8 The Marketing Plan</a:t>
            </a:r>
          </a:p>
        </p:txBody>
      </p:sp>
    </p:spTree>
    <p:extLst>
      <p:ext uri="{BB962C8B-B14F-4D97-AF65-F5344CB8AC3E}">
        <p14:creationId xmlns:p14="http://schemas.microsoft.com/office/powerpoint/2010/main" val="135766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8615-8B68-4985-8F2E-19C8210B2037}"/>
              </a:ext>
            </a:extLst>
          </p:cNvPr>
          <p:cNvSpPr>
            <a:spLocks noGrp="1"/>
          </p:cNvSpPr>
          <p:nvPr>
            <p:ph type="title"/>
          </p:nvPr>
        </p:nvSpPr>
        <p:spPr>
          <a:xfrm>
            <a:off x="2209155" y="279324"/>
            <a:ext cx="7776864" cy="1280890"/>
          </a:xfrm>
        </p:spPr>
        <p:txBody>
          <a:bodyPr>
            <a:normAutofit fontScale="90000"/>
          </a:bodyPr>
          <a:lstStyle/>
          <a:p>
            <a:r>
              <a:rPr lang="en-US" sz="4800" b="1" dirty="0"/>
              <a:t>BUSINESS PLAN CONT….</a:t>
            </a:r>
            <a:endParaRPr lang="en-NG" sz="4800" b="1" dirty="0"/>
          </a:p>
        </p:txBody>
      </p:sp>
      <p:sp>
        <p:nvSpPr>
          <p:cNvPr id="3" name="Content Placeholder 2">
            <a:extLst>
              <a:ext uri="{FF2B5EF4-FFF2-40B4-BE49-F238E27FC236}">
                <a16:creationId xmlns:a16="http://schemas.microsoft.com/office/drawing/2014/main" id="{BC110C5E-6E54-4E2E-A418-F695A665B6B5}"/>
              </a:ext>
            </a:extLst>
          </p:cNvPr>
          <p:cNvSpPr>
            <a:spLocks noGrp="1"/>
          </p:cNvSpPr>
          <p:nvPr>
            <p:ph idx="1"/>
          </p:nvPr>
        </p:nvSpPr>
        <p:spPr>
          <a:xfrm>
            <a:off x="1057027" y="1189125"/>
            <a:ext cx="10585176" cy="4749106"/>
          </a:xfrm>
        </p:spPr>
        <p:txBody>
          <a:bodyPr>
            <a:noAutofit/>
          </a:bodyPr>
          <a:lstStyle/>
          <a:p>
            <a:pPr marL="0" indent="0" algn="l">
              <a:buNone/>
            </a:pPr>
            <a:endParaRPr lang="en-US" b="0" i="0" u="none" strike="noStrike" baseline="0" dirty="0">
              <a:latin typeface="ACaslonPro-Regular"/>
            </a:endParaRPr>
          </a:p>
          <a:p>
            <a:pPr algn="l"/>
            <a:r>
              <a:rPr lang="en-US" sz="2400" b="0" i="0" u="none" strike="noStrike" baseline="0" dirty="0">
                <a:latin typeface="ACaslonPro-Regular"/>
              </a:rPr>
              <a:t>9 Sales and Distribution</a:t>
            </a:r>
          </a:p>
          <a:p>
            <a:pPr algn="l"/>
            <a:r>
              <a:rPr lang="en-US" sz="2400" b="0" i="0" u="none" strike="noStrike" baseline="0" dirty="0">
                <a:latin typeface="ACaslonPro-Regular"/>
              </a:rPr>
              <a:t>10 Competitors</a:t>
            </a:r>
          </a:p>
          <a:p>
            <a:pPr algn="l"/>
            <a:r>
              <a:rPr lang="en-US" sz="2400" b="0" i="0" u="none" strike="noStrike" baseline="0" dirty="0">
                <a:latin typeface="ACaslonPro-Regular"/>
              </a:rPr>
              <a:t>11 Customers</a:t>
            </a:r>
          </a:p>
          <a:p>
            <a:pPr algn="l"/>
            <a:r>
              <a:rPr lang="en-US" sz="2400" b="0" i="0" u="none" strike="noStrike" baseline="0" dirty="0">
                <a:latin typeface="ACaslonPro-Regular"/>
              </a:rPr>
              <a:t>12 Agreements and/or Alliances</a:t>
            </a:r>
          </a:p>
          <a:p>
            <a:pPr algn="l"/>
            <a:r>
              <a:rPr lang="en-US" sz="2400" b="0" i="0" u="none" strike="noStrike" baseline="0" dirty="0">
                <a:latin typeface="ACaslonPro-Regular"/>
              </a:rPr>
              <a:t>13 The Budget</a:t>
            </a:r>
          </a:p>
          <a:p>
            <a:pPr algn="l"/>
            <a:r>
              <a:rPr lang="en-US" sz="2400" b="0" i="0" u="none" strike="noStrike" baseline="0" dirty="0">
                <a:latin typeface="ACaslonPro-Regular"/>
              </a:rPr>
              <a:t>14 Investment Needs</a:t>
            </a:r>
          </a:p>
          <a:p>
            <a:pPr algn="l"/>
            <a:r>
              <a:rPr lang="en-US" sz="2400" b="0" i="0" u="none" strike="noStrike" baseline="0" dirty="0">
                <a:latin typeface="ACaslonPro-Regular"/>
              </a:rPr>
              <a:t>15 Any Barriers</a:t>
            </a:r>
          </a:p>
          <a:p>
            <a:pPr algn="l"/>
            <a:r>
              <a:rPr lang="en-US" sz="2400" b="0" i="0" u="none" strike="noStrike" baseline="0" dirty="0">
                <a:latin typeface="ACaslonPro-Regular"/>
              </a:rPr>
              <a:t>16 Profit and Exit</a:t>
            </a: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7946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D1932-CC4B-4F2E-8916-D3E08F11CA29}"/>
              </a:ext>
            </a:extLst>
          </p:cNvPr>
          <p:cNvSpPr>
            <a:spLocks noGrp="1"/>
          </p:cNvSpPr>
          <p:nvPr>
            <p:ph type="title"/>
          </p:nvPr>
        </p:nvSpPr>
        <p:spPr>
          <a:xfrm>
            <a:off x="1561083" y="332656"/>
            <a:ext cx="7960403" cy="1077229"/>
          </a:xfrm>
        </p:spPr>
        <p:txBody>
          <a:bodyPr/>
          <a:lstStyle/>
          <a:p>
            <a:r>
              <a:rPr lang="en-US" dirty="0"/>
              <a:t>SUMMARY OF BUSINESS PLAN</a:t>
            </a:r>
            <a:endParaRPr lang="en-NG" dirty="0"/>
          </a:p>
        </p:txBody>
      </p:sp>
      <p:sp>
        <p:nvSpPr>
          <p:cNvPr id="3" name="Content Placeholder 2">
            <a:extLst>
              <a:ext uri="{FF2B5EF4-FFF2-40B4-BE49-F238E27FC236}">
                <a16:creationId xmlns:a16="http://schemas.microsoft.com/office/drawing/2014/main" id="{1766918A-7222-4A25-B5C1-076B8DE5F7BD}"/>
              </a:ext>
            </a:extLst>
          </p:cNvPr>
          <p:cNvSpPr>
            <a:spLocks noGrp="1"/>
          </p:cNvSpPr>
          <p:nvPr>
            <p:ph idx="1"/>
          </p:nvPr>
        </p:nvSpPr>
        <p:spPr>
          <a:xfrm>
            <a:off x="913011" y="1286467"/>
            <a:ext cx="10585176" cy="5544616"/>
          </a:xfrm>
        </p:spPr>
        <p:txBody>
          <a:bodyPr>
            <a:normAutofit fontScale="25000" lnSpcReduction="20000"/>
          </a:bodyPr>
          <a:lstStyle/>
          <a:p>
            <a:r>
              <a:rPr lang="en-US" sz="8000" b="0" i="0" u="none" strike="noStrike" baseline="0" dirty="0">
                <a:latin typeface="Times New Roman" panose="02020603050405020304" pitchFamily="18" charset="0"/>
              </a:rPr>
              <a:t>1</a:t>
            </a:r>
            <a:r>
              <a:rPr lang="en-US" sz="8000" b="1" i="0" u="none" strike="noStrike" baseline="0" dirty="0">
                <a:latin typeface="Times New Roman" panose="02020603050405020304" pitchFamily="18" charset="0"/>
              </a:rPr>
              <a:t>. </a:t>
            </a:r>
            <a:r>
              <a:rPr lang="en-US" sz="8000" b="1" i="1" u="none" strike="noStrike" baseline="0" dirty="0">
                <a:latin typeface="Times New Roman" panose="02020603050405020304" pitchFamily="18" charset="0"/>
              </a:rPr>
              <a:t>Executive Summary</a:t>
            </a:r>
            <a:r>
              <a:rPr lang="en-US" sz="8000" b="0" i="1" u="none" strike="noStrike" baseline="0" dirty="0">
                <a:latin typeface="Times New Roman" panose="02020603050405020304" pitchFamily="18" charset="0"/>
              </a:rPr>
              <a:t>: </a:t>
            </a:r>
            <a:r>
              <a:rPr lang="en-US" sz="8000" b="0" i="0" u="none" strike="noStrike" baseline="0" dirty="0">
                <a:latin typeface="Times New Roman" panose="02020603050405020304" pitchFamily="18" charset="0"/>
              </a:rPr>
              <a:t>This is the opening chapter of the plan. It usually contains one to three pages in length and highlights all the key points of the plan in a way that captivates the reader‘s interest. It is the unique value proposition and business model that really matters.</a:t>
            </a:r>
            <a:r>
              <a:rPr lang="en-US" sz="8000" b="0" i="0" u="none" strike="noStrike" baseline="0" dirty="0">
                <a:latin typeface="Calibri" panose="020F0502020204030204" pitchFamily="34" charset="0"/>
              </a:rPr>
              <a:t> </a:t>
            </a:r>
            <a:endParaRPr lang="en-NG" sz="8000" b="0" i="0" u="none" strike="noStrike" baseline="0" dirty="0">
              <a:latin typeface="Calibri" panose="020F0502020204030204" pitchFamily="34" charset="0"/>
            </a:endParaRPr>
          </a:p>
          <a:p>
            <a:r>
              <a:rPr lang="en-US" sz="8000" b="0" i="0" u="none" strike="noStrike" baseline="0" dirty="0">
                <a:latin typeface="Calibri" panose="020F0502020204030204" pitchFamily="34" charset="0"/>
              </a:rPr>
              <a:t>2</a:t>
            </a:r>
            <a:r>
              <a:rPr lang="en-US" sz="8000" b="1" i="0" u="none" strike="noStrike" baseline="0" dirty="0">
                <a:latin typeface="Calibri" panose="020F0502020204030204" pitchFamily="34" charset="0"/>
              </a:rPr>
              <a:t>. </a:t>
            </a:r>
            <a:r>
              <a:rPr lang="en-US" sz="8000" b="1" i="1" u="none" strike="noStrike" baseline="0" dirty="0">
                <a:latin typeface="Times New Roman" panose="02020603050405020304" pitchFamily="18" charset="0"/>
              </a:rPr>
              <a:t>Company description</a:t>
            </a:r>
            <a:r>
              <a:rPr lang="en-US" sz="8000" b="0" i="1" u="none" strike="noStrike" baseline="0" dirty="0">
                <a:latin typeface="Times New Roman" panose="02020603050405020304" pitchFamily="18" charset="0"/>
              </a:rPr>
              <a:t>: </a:t>
            </a:r>
            <a:r>
              <a:rPr lang="en-US" sz="8000" b="0" i="0" u="none" strike="noStrike" baseline="0" dirty="0">
                <a:latin typeface="Times New Roman" panose="02020603050405020304" pitchFamily="18" charset="0"/>
              </a:rPr>
              <a:t>This short section describes the company‘s business, location and site, strategy, structure and form of organization. It provides a summary of its goals and plans for the next five years as well as the company‘s capabilities. </a:t>
            </a:r>
          </a:p>
          <a:p>
            <a:r>
              <a:rPr lang="en-US" sz="8000" b="0" i="0" u="none" strike="noStrike" baseline="0" dirty="0">
                <a:latin typeface="Times New Roman" panose="02020603050405020304" pitchFamily="18" charset="0"/>
              </a:rPr>
              <a:t>3. </a:t>
            </a:r>
            <a:r>
              <a:rPr lang="en-US" sz="8000" b="1" i="1" u="none" strike="noStrike" baseline="0" dirty="0">
                <a:latin typeface="Times New Roman" panose="02020603050405020304" pitchFamily="18" charset="0"/>
              </a:rPr>
              <a:t>Products and services</a:t>
            </a:r>
            <a:r>
              <a:rPr lang="en-US" sz="8000" b="0" i="1" u="none" strike="noStrike" baseline="0" dirty="0">
                <a:latin typeface="Times New Roman" panose="02020603050405020304" pitchFamily="18" charset="0"/>
              </a:rPr>
              <a:t>: </a:t>
            </a:r>
            <a:r>
              <a:rPr lang="en-US" sz="8000" b="0" i="0" u="none" strike="noStrike" baseline="0" dirty="0">
                <a:latin typeface="Times New Roman" panose="02020603050405020304" pitchFamily="18" charset="0"/>
              </a:rPr>
              <a:t>This explains what products or services the company will sell; it also discusses why customers will want the products or services, what problems the product or service will solve and what benefits they will deliver, and how much customers are likely to pay for them. </a:t>
            </a:r>
          </a:p>
          <a:p>
            <a:r>
              <a:rPr lang="en-US" sz="8000" b="0" i="0" u="none" strike="noStrike" baseline="0" dirty="0">
                <a:latin typeface="Times New Roman" panose="02020603050405020304" pitchFamily="18" charset="0"/>
              </a:rPr>
              <a:t>4. </a:t>
            </a:r>
            <a:r>
              <a:rPr lang="en-US" sz="8000" b="1" i="1" u="none" strike="noStrike" baseline="0" dirty="0">
                <a:latin typeface="Times New Roman" panose="02020603050405020304" pitchFamily="18" charset="0"/>
              </a:rPr>
              <a:t>Market analysis</a:t>
            </a:r>
            <a:r>
              <a:rPr lang="en-US" sz="8000" b="0" i="1" u="none" strike="noStrike" baseline="0" dirty="0">
                <a:latin typeface="Times New Roman" panose="02020603050405020304" pitchFamily="18" charset="0"/>
              </a:rPr>
              <a:t>: </a:t>
            </a:r>
            <a:r>
              <a:rPr lang="en-US" sz="8000" b="0" i="0" u="none" strike="noStrike" baseline="0" dirty="0">
                <a:latin typeface="Times New Roman" panose="02020603050405020304" pitchFamily="18" charset="0"/>
              </a:rPr>
              <a:t>This section discusses the need or demand for the product, who the target customers will be, and why the customers will buy the product. This section also includes a discussion of the company‘s competitors or potential competitors, and why the product or service will have a competitive advantage over similar offerings from competitors. It also addresses the barriers to entry in this market that may prevent the entry of new competitors, such as high capital costs, difficulty in reaching customers or persuading them to switch loyalties, hard-to-get employee skills etc. </a:t>
            </a:r>
          </a:p>
          <a:p>
            <a:endParaRPr lang="en-NG" dirty="0"/>
          </a:p>
        </p:txBody>
      </p:sp>
    </p:spTree>
    <p:extLst>
      <p:ext uri="{BB962C8B-B14F-4D97-AF65-F5344CB8AC3E}">
        <p14:creationId xmlns:p14="http://schemas.microsoft.com/office/powerpoint/2010/main" val="224408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4CE3F-4BCA-4D89-82AF-60DEE8540EFE}"/>
              </a:ext>
            </a:extLst>
          </p:cNvPr>
          <p:cNvSpPr>
            <a:spLocks noGrp="1"/>
          </p:cNvSpPr>
          <p:nvPr>
            <p:ph idx="1"/>
          </p:nvPr>
        </p:nvSpPr>
        <p:spPr>
          <a:xfrm>
            <a:off x="1093031" y="188640"/>
            <a:ext cx="10261140" cy="6696731"/>
          </a:xfrm>
        </p:spPr>
        <p:txBody>
          <a:bodyPr>
            <a:normAutofit fontScale="92500" lnSpcReduction="20000"/>
          </a:bodyPr>
          <a:lstStyle/>
          <a:p>
            <a:r>
              <a:rPr lang="en-US" sz="2000" b="0" i="0" u="none" strike="noStrike" baseline="0" dirty="0">
                <a:latin typeface="Times New Roman" panose="02020603050405020304" pitchFamily="18" charset="0"/>
              </a:rPr>
              <a:t>5. </a:t>
            </a:r>
            <a:r>
              <a:rPr lang="en-US" sz="2000" b="1" i="1" u="none" strike="noStrike" baseline="0" dirty="0">
                <a:latin typeface="Times New Roman" panose="02020603050405020304" pitchFamily="18" charset="0"/>
              </a:rPr>
              <a:t>Proprietary position</a:t>
            </a:r>
            <a:r>
              <a:rPr lang="en-US" sz="2000" b="0" i="1" u="none" strike="noStrike" baseline="0" dirty="0">
                <a:latin typeface="Times New Roman" panose="02020603050405020304" pitchFamily="18" charset="0"/>
              </a:rPr>
              <a:t>: </a:t>
            </a:r>
            <a:r>
              <a:rPr lang="en-US" dirty="0">
                <a:latin typeface="Times New Roman" panose="02020603050405020304" pitchFamily="18" charset="0"/>
              </a:rPr>
              <a:t>It </a:t>
            </a:r>
            <a:r>
              <a:rPr lang="en-US" sz="2000" b="0" i="0" u="none" strike="noStrike" baseline="0" dirty="0">
                <a:latin typeface="Times New Roman" panose="02020603050405020304" pitchFamily="18" charset="0"/>
              </a:rPr>
              <a:t>discusses whether the business enterprise will rely on patents or licenses to patents, </a:t>
            </a:r>
            <a:r>
              <a:rPr lang="en-US" dirty="0">
                <a:latin typeface="Times New Roman" panose="02020603050405020304" pitchFamily="18" charset="0"/>
              </a:rPr>
              <a:t>it </a:t>
            </a:r>
            <a:r>
              <a:rPr lang="en-US" sz="2000" b="0" i="0" u="none" strike="noStrike" baseline="0" dirty="0">
                <a:latin typeface="Times New Roman" panose="02020603050405020304" pitchFamily="18" charset="0"/>
              </a:rPr>
              <a:t>tells us how these patents will contribute to the company‘s competitive position and assesses whether other patents (i.e. competitors or otherwise) might limit the company‘s ability to market its products. If similar products don‘t already exist, it discusses the alternative means by which customers are likely to meet the needs the product addresses. </a:t>
            </a:r>
          </a:p>
          <a:p>
            <a:r>
              <a:rPr lang="en-US" sz="2000" b="0" i="0" u="none" strike="noStrike" baseline="0" dirty="0">
                <a:latin typeface="Times New Roman" panose="02020603050405020304" pitchFamily="18" charset="0"/>
              </a:rPr>
              <a:t>6. </a:t>
            </a:r>
            <a:r>
              <a:rPr lang="en-US" sz="2000" b="1" i="1" u="none" strike="noStrike" baseline="0" dirty="0">
                <a:latin typeface="Times New Roman" panose="02020603050405020304" pitchFamily="18" charset="0"/>
              </a:rPr>
              <a:t>Marketing and sales plan</a:t>
            </a:r>
            <a:r>
              <a:rPr lang="en-US" sz="2000" b="0" i="1" u="none" strike="noStrike" baseline="0" dirty="0">
                <a:latin typeface="Times New Roman" panose="02020603050405020304" pitchFamily="18" charset="0"/>
              </a:rPr>
              <a:t>: </a:t>
            </a:r>
            <a:r>
              <a:rPr lang="en-US" dirty="0">
                <a:latin typeface="Times New Roman" panose="02020603050405020304" pitchFamily="18" charset="0"/>
              </a:rPr>
              <a:t>D</a:t>
            </a:r>
            <a:r>
              <a:rPr lang="en-US" sz="2000" b="0" i="0" u="none" strike="noStrike" baseline="0" dirty="0">
                <a:latin typeface="Times New Roman" panose="02020603050405020304" pitchFamily="18" charset="0"/>
              </a:rPr>
              <a:t>iscusses product, pricing, promotion and positioning strategy as well as how the company plans to attract, retain and maintain customers loyalty. </a:t>
            </a:r>
          </a:p>
          <a:p>
            <a:r>
              <a:rPr lang="en-US" sz="2000" b="0" i="0" u="none" strike="noStrike" baseline="0" dirty="0">
                <a:latin typeface="Times New Roman" panose="02020603050405020304" pitchFamily="18" charset="0"/>
              </a:rPr>
              <a:t>7. </a:t>
            </a:r>
            <a:r>
              <a:rPr lang="en-US" sz="2000" b="1" i="1" u="none" strike="noStrike" baseline="0" dirty="0">
                <a:latin typeface="Times New Roman" panose="02020603050405020304" pitchFamily="18" charset="0"/>
              </a:rPr>
              <a:t>Management team</a:t>
            </a:r>
            <a:r>
              <a:rPr lang="en-US" sz="2000" b="0" i="1" u="none" strike="noStrike" baseline="0" dirty="0">
                <a:latin typeface="Times New Roman" panose="02020603050405020304" pitchFamily="18" charset="0"/>
              </a:rPr>
              <a:t>: </a:t>
            </a:r>
            <a:r>
              <a:rPr lang="en-US" sz="2000" b="0" i="0" u="none" strike="noStrike" baseline="0" dirty="0">
                <a:latin typeface="Times New Roman" panose="02020603050405020304" pitchFamily="18" charset="0"/>
              </a:rPr>
              <a:t>Investors consider the management team as the most crucial asset that will determine the company‘s growth and help respond to the dynamic nature of the environment. It is on this premise that this section describes the members of the management team in terms of their names, qualifications, age, experience and position of members of the management team including the entrepreneur. The purpose of this is to highlight the competencies and skills available to the company to execute its </a:t>
            </a:r>
            <a:r>
              <a:rPr lang="en-US" sz="2000" b="0" i="0" u="none" strike="noStrike" baseline="0" dirty="0" err="1">
                <a:latin typeface="Times New Roman" panose="02020603050405020304" pitchFamily="18" charset="0"/>
              </a:rPr>
              <a:t>programmes</a:t>
            </a:r>
            <a:r>
              <a:rPr lang="en-US" sz="2000" b="0" i="0" u="none" strike="noStrike" baseline="0" dirty="0">
                <a:latin typeface="Times New Roman" panose="02020603050405020304" pitchFamily="18" charset="0"/>
              </a:rPr>
              <a:t>. </a:t>
            </a:r>
          </a:p>
          <a:p>
            <a:r>
              <a:rPr lang="en-US" sz="2000" b="0" i="0" u="none" strike="noStrike" baseline="0" dirty="0">
                <a:latin typeface="Times New Roman" panose="02020603050405020304" pitchFamily="18" charset="0"/>
              </a:rPr>
              <a:t>8. </a:t>
            </a:r>
            <a:r>
              <a:rPr lang="en-US" sz="2000" b="1" i="1" u="none" strike="noStrike" baseline="0" dirty="0">
                <a:latin typeface="Times New Roman" panose="02020603050405020304" pitchFamily="18" charset="0"/>
              </a:rPr>
              <a:t>Operations plan</a:t>
            </a:r>
            <a:r>
              <a:rPr lang="en-US" sz="2000" b="0" i="1" u="none" strike="noStrike" baseline="0" dirty="0">
                <a:latin typeface="Times New Roman" panose="02020603050405020304" pitchFamily="18" charset="0"/>
              </a:rPr>
              <a:t>: </a:t>
            </a:r>
            <a:r>
              <a:rPr lang="en-US" dirty="0">
                <a:latin typeface="Times New Roman" panose="02020603050405020304" pitchFamily="18" charset="0"/>
              </a:rPr>
              <a:t>D</a:t>
            </a:r>
            <a:r>
              <a:rPr lang="en-US" sz="2000" b="0" i="0" u="none" strike="noStrike" baseline="0" dirty="0">
                <a:latin typeface="Times New Roman" panose="02020603050405020304" pitchFamily="18" charset="0"/>
              </a:rPr>
              <a:t>escribes the day-to-day operation of the business, highlighting how the key assets (tools, processes and labor) will be utilize to produce and deliver the products and services. This section includes the location and site of the business. </a:t>
            </a:r>
          </a:p>
          <a:p>
            <a:r>
              <a:rPr lang="en-US" sz="2000" b="0" i="0" u="none" strike="noStrike" baseline="0" dirty="0">
                <a:latin typeface="Times New Roman" panose="02020603050405020304" pitchFamily="18" charset="0"/>
              </a:rPr>
              <a:t>9</a:t>
            </a:r>
            <a:r>
              <a:rPr lang="en-US" sz="2000" b="1" i="0" u="none" strike="noStrike" baseline="0" dirty="0">
                <a:latin typeface="Times New Roman" panose="02020603050405020304" pitchFamily="18" charset="0"/>
              </a:rPr>
              <a:t>. </a:t>
            </a:r>
            <a:r>
              <a:rPr lang="en-US" sz="2000" b="1" i="1" u="none" strike="noStrike" baseline="0" dirty="0">
                <a:latin typeface="Times New Roman" panose="02020603050405020304" pitchFamily="18" charset="0"/>
              </a:rPr>
              <a:t>Finance</a:t>
            </a:r>
            <a:r>
              <a:rPr lang="en-US" sz="2000" b="0" i="1" u="none" strike="noStrike" baseline="0" dirty="0">
                <a:latin typeface="Times New Roman" panose="02020603050405020304" pitchFamily="18" charset="0"/>
              </a:rPr>
              <a:t>: </a:t>
            </a:r>
            <a:r>
              <a:rPr lang="en-US" dirty="0">
                <a:latin typeface="Times New Roman" panose="02020603050405020304" pitchFamily="18" charset="0"/>
              </a:rPr>
              <a:t>I</a:t>
            </a:r>
            <a:r>
              <a:rPr lang="en-US" sz="2000" b="0" i="0" u="none" strike="noStrike" baseline="0" dirty="0">
                <a:latin typeface="Times New Roman" panose="02020603050405020304" pitchFamily="18" charset="0"/>
              </a:rPr>
              <a:t>dentifies the capital that will be required to build the business and how it will be used. It includes forecasting of revenues and expenditure that show investors how they will get their money back and what return they can expect on their investment. </a:t>
            </a:r>
          </a:p>
          <a:p>
            <a:endParaRPr lang="en-NG" dirty="0"/>
          </a:p>
        </p:txBody>
      </p:sp>
    </p:spTree>
    <p:extLst>
      <p:ext uri="{BB962C8B-B14F-4D97-AF65-F5344CB8AC3E}">
        <p14:creationId xmlns:p14="http://schemas.microsoft.com/office/powerpoint/2010/main" val="338097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203" y="548680"/>
            <a:ext cx="8269386" cy="940966"/>
          </a:xfrm>
        </p:spPr>
        <p:txBody>
          <a:bodyPr>
            <a:normAutofit/>
          </a:bodyPr>
          <a:lstStyle/>
          <a:p>
            <a:pPr algn="l"/>
            <a:r>
              <a:rPr lang="en-US" b="1" dirty="0">
                <a:latin typeface="Rockwell" panose="02060603020205020403" pitchFamily="18" charset="0"/>
              </a:rPr>
              <a:t>EXECUTIVE SUMMARY</a:t>
            </a:r>
          </a:p>
        </p:txBody>
      </p:sp>
      <p:sp>
        <p:nvSpPr>
          <p:cNvPr id="3" name="Content Placeholder 2"/>
          <p:cNvSpPr>
            <a:spLocks noGrp="1"/>
          </p:cNvSpPr>
          <p:nvPr>
            <p:ph idx="1"/>
          </p:nvPr>
        </p:nvSpPr>
        <p:spPr>
          <a:xfrm>
            <a:off x="1129035" y="1510741"/>
            <a:ext cx="9937104" cy="5256584"/>
          </a:xfrm>
        </p:spPr>
        <p:txBody>
          <a:bodyPr>
            <a:normAutofit fontScale="92500"/>
          </a:bodyPr>
          <a:lstStyle/>
          <a:p>
            <a:pPr algn="l"/>
            <a:r>
              <a:rPr lang="en-US" sz="2800" b="0" i="0" u="none" strike="noStrike" baseline="0" dirty="0">
                <a:latin typeface="ACaslonPro-Regular"/>
              </a:rPr>
              <a:t>1. Classically entrepreneurs are supposed to practice their </a:t>
            </a:r>
            <a:r>
              <a:rPr lang="en-US" sz="2800" b="1" i="0" u="none" strike="noStrike" baseline="0" dirty="0">
                <a:solidFill>
                  <a:srgbClr val="FFC000"/>
                </a:solidFill>
                <a:latin typeface="ACaslonPro-Regular"/>
              </a:rPr>
              <a:t>‘elevator speech’,</a:t>
            </a:r>
            <a:r>
              <a:rPr lang="en-US" sz="2800" b="0" i="0" u="none" strike="noStrike" baseline="0" dirty="0">
                <a:latin typeface="ACaslonPro-Regular"/>
              </a:rPr>
              <a:t> explaining their business proposition in the time an elevator takes to travel from the first to the tenth floor. The Executive Summary is the ‘elevator speech’ in writing. It contains the absolute essence of the business plan. This may take the form of:</a:t>
            </a:r>
          </a:p>
          <a:p>
            <a:pPr algn="l"/>
            <a:r>
              <a:rPr lang="en-US" sz="2800" b="0" i="0" u="none" strike="noStrike" baseline="0" dirty="0">
                <a:latin typeface="ACaslonPro-Regular"/>
              </a:rPr>
              <a:t>I have an idea. I can offer companies with up to 120 staff a system that will reduce their expenses between 3 per cent and 5 per cent. Analysis shows that profit margins will be between 45% and 55%. I can reach the target group because I worked in that field for five years and know it well.</a:t>
            </a:r>
            <a:endParaRPr lang="en-US" sz="2800" dirty="0">
              <a:latin typeface="Arial" panose="020B0604020202020204" pitchFamily="34" charset="0"/>
              <a:ea typeface="Calibri" panose="020F0502020204030204" pitchFamily="34" charset="0"/>
              <a:cs typeface="Arial" panose="020B0604020202020204" pitchFamily="34" charset="0"/>
            </a:endParaRPr>
          </a:p>
          <a:p>
            <a:pPr algn="just"/>
            <a:endParaRPr lang="en-US" sz="20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826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AE26-404E-4045-95AE-83B16821EDB0}"/>
              </a:ext>
            </a:extLst>
          </p:cNvPr>
          <p:cNvSpPr>
            <a:spLocks noGrp="1"/>
          </p:cNvSpPr>
          <p:nvPr>
            <p:ph type="title"/>
          </p:nvPr>
        </p:nvSpPr>
        <p:spPr>
          <a:xfrm>
            <a:off x="3477415" y="188640"/>
            <a:ext cx="4880303" cy="792088"/>
          </a:xfrm>
        </p:spPr>
        <p:txBody>
          <a:bodyPr/>
          <a:lstStyle/>
          <a:p>
            <a:r>
              <a:rPr lang="en-US" b="1" dirty="0"/>
              <a:t>ELEVATOR’S SPEECH</a:t>
            </a:r>
            <a:endParaRPr lang="en-NG" b="1" dirty="0"/>
          </a:p>
        </p:txBody>
      </p:sp>
      <p:sp>
        <p:nvSpPr>
          <p:cNvPr id="4" name="Rectangle 1">
            <a:extLst>
              <a:ext uri="{FF2B5EF4-FFF2-40B4-BE49-F238E27FC236}">
                <a16:creationId xmlns:a16="http://schemas.microsoft.com/office/drawing/2014/main" id="{EEB6EFEC-F890-4E0E-8612-0B6BD0D12E95}"/>
              </a:ext>
            </a:extLst>
          </p:cNvPr>
          <p:cNvSpPr>
            <a:spLocks noGrp="1" noChangeArrowheads="1"/>
          </p:cNvSpPr>
          <p:nvPr>
            <p:ph idx="1"/>
          </p:nvPr>
        </p:nvSpPr>
        <p:spPr bwMode="auto">
          <a:xfrm>
            <a:off x="264939" y="821268"/>
            <a:ext cx="11665296" cy="5909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Dr. Abimbola Oladotun is a lecturer, professionally trained author, author's trainer and marriage counsellor. She is the founder of </a:t>
            </a:r>
            <a:r>
              <a:rPr kumimoji="0" lang="en-NG" altLang="en-NG"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Multivoice</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Publications and Happily Ever After Counselling under her website </a:t>
            </a:r>
            <a:r>
              <a:rPr kumimoji="0" lang="en-NG" altLang="en-NG" sz="1800" b="0"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2"/>
              </a:rPr>
              <a:t>www.abimbolaoladotun.com</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She runs The Voice Devotional online for over 7 years, and a tract ministry. She had her BSc, </a:t>
            </a:r>
            <a:r>
              <a:rPr kumimoji="0" lang="en-NG" altLang="en-NG"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MSs</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and </a:t>
            </a:r>
            <a:r>
              <a:rPr kumimoji="0" lang="en-NG" altLang="en-NG"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Ph.D</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in Business Administration from Cyprus International University, University of Mediterranean </a:t>
            </a:r>
            <a:r>
              <a:rPr kumimoji="0" lang="en-NG" altLang="en-NG" sz="1800" b="0"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Kaparsia</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and Covenant University respectfully. She has trained over 70 authors, authored several academic articles and written over 75 motivational books, including </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"Our Marriage Dairy- 30 Nuggets that Helped our Marriage and can Help Yours", "Signals to Watch Out for a Perfect Fit", “</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Tips and Tactics of writing</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 </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Write that Book- How I wrote 25 Books in 4 Years”, </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"Fallen in </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L</a:t>
            </a:r>
            <a:r>
              <a:rPr kumimoji="0" lang="en-NG" altLang="en-NG" sz="1800" b="1"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ove</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 - </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M</a:t>
            </a:r>
            <a:r>
              <a:rPr kumimoji="0" lang="en-NG" altLang="en-NG" sz="1800" b="1" i="0" u="none" strike="noStrike" cap="none" normalizeH="0" baseline="0" dirty="0" err="1">
                <a:ln>
                  <a:noFill/>
                </a:ln>
                <a:solidFill>
                  <a:srgbClr val="222222"/>
                </a:solidFill>
                <a:effectLst/>
                <a:latin typeface="Arial" panose="020B0604020202020204" pitchFamily="34" charset="0"/>
                <a:cs typeface="Arial" panose="020B0604020202020204" pitchFamily="34" charset="0"/>
              </a:rPr>
              <a:t>astering</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 Love Intelligence", </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“The winning Teenager”, </a:t>
            </a:r>
            <a:r>
              <a:rPr kumimoji="0" lang="en-US"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Academic Excellence</a:t>
            </a:r>
            <a:r>
              <a:rPr kumimoji="0" lang="en-US"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and </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Positive Parenting</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Abimbola's much loved book </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"Victoria Secret</a:t>
            </a:r>
            <a:r>
              <a:rPr kumimoji="0" lang="en-US"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 How to unlock tenderness in your man, arouse his desire to cherish you and keep your love fresh</a:t>
            </a:r>
            <a:r>
              <a:rPr kumimoji="0" lang="en-NG" altLang="en-NG" sz="1800" b="1" i="0" u="none" strike="noStrike" cap="none" normalizeH="0" baseline="0" dirty="0">
                <a:ln>
                  <a:noFill/>
                </a:ln>
                <a:solidFill>
                  <a:srgbClr val="222222"/>
                </a:solidFill>
                <a:effectLst/>
                <a:latin typeface="Arial" panose="020B0604020202020204" pitchFamily="34" charset="0"/>
                <a:cs typeface="Arial" panose="020B0604020202020204" pitchFamily="34" charset="0"/>
              </a:rPr>
              <a:t>" </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is also available in audio version and hard copy. All her children's book are available in hard copy and her blog </a:t>
            </a:r>
            <a:r>
              <a:rPr kumimoji="0" lang="en-NG" altLang="en-NG" sz="1800" b="0"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3"/>
              </a:rPr>
              <a:t>abimbolaoladotun.blogspot.com</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is a one stop relationship and marriage support system that offers several ways to boost one's life. She has enjoyed marital bliss for 13 years with God-trained children. She is the head of intellectual brand for a publishing firm. She is a full member of Institute of Entrepreneurs and a trained personnel of Karyn Purvis Institute of Child Development. She is a certified children play practitioner. She is a woman with multiple skills, like graphics, illustration, animation, marketing video, website design, artificial intelligence, fashion designing, hair styli</a:t>
            </a:r>
            <a:r>
              <a:rPr kumimoji="0" lang="en-US"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ng</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beading, baking and more. She is specially trained by 40 experts in the area of child-parent relationship, marriage-family therapist, family life educator, child development and behaviour specialist, clinical neuropsychologist and spiritual psychology. Her several years </a:t>
            </a:r>
            <a:r>
              <a:rPr kumimoji="0" lang="en-US"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of </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international experience has helped in her professionalism. She is a passionate lover of God, humanity and community service. Her foundation </a:t>
            </a:r>
            <a:r>
              <a:rPr kumimoji="0" lang="en-NG" altLang="en-NG" sz="1800" b="0"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4"/>
              </a:rPr>
              <a:t>www.olusolaajiboyefoundation.org.ng</a:t>
            </a:r>
            <a:r>
              <a:rPr kumimoji="0" lang="en-NG" altLang="en-NG"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major on education, health and welfare.</a:t>
            </a:r>
            <a:endParaRPr kumimoji="0" lang="en-NG" altLang="en-N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4087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4009355" y="260648"/>
            <a:ext cx="7344816" cy="1280890"/>
          </a:xfrm>
        </p:spPr>
        <p:txBody>
          <a:bodyPr>
            <a:normAutofit/>
          </a:bodyPr>
          <a:lstStyle/>
          <a:p>
            <a:pPr algn="l"/>
            <a:r>
              <a:rPr lang="en-US" b="1" dirty="0">
                <a:latin typeface="Rockwell" panose="02060603020205020403" pitchFamily="18" charset="0"/>
              </a:rPr>
              <a:t>BUSINESS IDEA</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985019" y="692696"/>
            <a:ext cx="10666606" cy="5904656"/>
          </a:xfrm>
        </p:spPr>
        <p:txBody>
          <a:bodyPr>
            <a:noAutofit/>
          </a:bodyPr>
          <a:lstStyle/>
          <a:p>
            <a:pPr algn="l"/>
            <a:r>
              <a:rPr lang="en-US" b="1" dirty="0">
                <a:latin typeface="NewsGothicStd-Bold"/>
              </a:rPr>
              <a:t>2</a:t>
            </a:r>
            <a:r>
              <a:rPr lang="en-US" b="1" i="0" u="none" strike="noStrike" baseline="0" dirty="0">
                <a:latin typeface="NewsGothicStd-Bold"/>
              </a:rPr>
              <a:t>. The Business Idea</a:t>
            </a:r>
          </a:p>
          <a:p>
            <a:pPr marL="0" indent="0" algn="l">
              <a:buNone/>
            </a:pPr>
            <a:r>
              <a:rPr lang="en-US" b="0" i="0" u="none" strike="noStrike" baseline="0" dirty="0">
                <a:latin typeface="ACaslonPro-Regular"/>
              </a:rPr>
              <a:t>All change is a source of innovative opportunity and the Business Idea section must explain how processes operate normally, what the innovation is, and how the entrepreneur will take advantage of this</a:t>
            </a:r>
            <a:r>
              <a:rPr lang="en-US" dirty="0">
                <a:latin typeface="ACaslonPro-Regular"/>
              </a:rPr>
              <a:t> c</a:t>
            </a:r>
            <a:r>
              <a:rPr lang="en-US" b="0" i="0" u="none" strike="noStrike" baseline="0" dirty="0">
                <a:latin typeface="ACaslonPro-Regular"/>
              </a:rPr>
              <a:t>hanges include e.g.:</a:t>
            </a:r>
          </a:p>
          <a:p>
            <a:pPr algn="l"/>
            <a:r>
              <a:rPr lang="en-US" b="0" i="0" u="none" strike="noStrike" baseline="0" dirty="0">
                <a:latin typeface="Symbol" panose="05050102010706020507" pitchFamily="18" charset="2"/>
              </a:rPr>
              <a:t>• </a:t>
            </a:r>
            <a:r>
              <a:rPr lang="en-US" b="0" i="0" u="none" strike="noStrike" baseline="0" dirty="0">
                <a:latin typeface="ACaslonPro-Regular"/>
              </a:rPr>
              <a:t>the unexpected;</a:t>
            </a:r>
          </a:p>
          <a:p>
            <a:pPr algn="l"/>
            <a:r>
              <a:rPr lang="en-US" b="0" i="0" u="none" strike="noStrike" baseline="0" dirty="0">
                <a:latin typeface="Symbol" panose="05050102010706020507" pitchFamily="18" charset="2"/>
              </a:rPr>
              <a:t>• </a:t>
            </a:r>
            <a:r>
              <a:rPr lang="en-US" b="0" i="0" u="none" strike="noStrike" baseline="0" dirty="0">
                <a:latin typeface="ACaslonPro-Regular"/>
              </a:rPr>
              <a:t>incongruity;</a:t>
            </a:r>
          </a:p>
          <a:p>
            <a:pPr algn="l"/>
            <a:r>
              <a:rPr lang="en-US" b="0" i="0" u="none" strike="noStrike" baseline="0" dirty="0">
                <a:latin typeface="Symbol" panose="05050102010706020507" pitchFamily="18" charset="2"/>
              </a:rPr>
              <a:t>• </a:t>
            </a:r>
            <a:r>
              <a:rPr lang="en-US" b="0" i="0" u="none" strike="noStrike" baseline="0" dirty="0">
                <a:latin typeface="ACaslonPro-Regular"/>
              </a:rPr>
              <a:t>process need;</a:t>
            </a:r>
          </a:p>
          <a:p>
            <a:pPr algn="l"/>
            <a:r>
              <a:rPr lang="en-US" b="0" i="0" u="none" strike="noStrike" baseline="0" dirty="0">
                <a:latin typeface="Symbol" panose="05050102010706020507" pitchFamily="18" charset="2"/>
              </a:rPr>
              <a:t>• </a:t>
            </a:r>
            <a:r>
              <a:rPr lang="en-US" b="0" i="0" u="none" strike="noStrike" baseline="0" dirty="0">
                <a:latin typeface="ACaslonPro-Regular"/>
              </a:rPr>
              <a:t>changes in industry or market structure;</a:t>
            </a:r>
          </a:p>
          <a:p>
            <a:pPr algn="l"/>
            <a:r>
              <a:rPr lang="en-US" b="0" i="0" u="none" strike="noStrike" baseline="0" dirty="0">
                <a:latin typeface="Symbol" panose="05050102010706020507" pitchFamily="18" charset="2"/>
              </a:rPr>
              <a:t>• </a:t>
            </a:r>
            <a:r>
              <a:rPr lang="en-US" b="0" i="0" u="none" strike="noStrike" baseline="0" dirty="0">
                <a:latin typeface="ACaslonPro-Regular"/>
              </a:rPr>
              <a:t>demographics;</a:t>
            </a:r>
          </a:p>
          <a:p>
            <a:pPr algn="l"/>
            <a:r>
              <a:rPr lang="en-US" b="0" i="0" u="none" strike="noStrike" baseline="0" dirty="0">
                <a:latin typeface="Symbol" panose="05050102010706020507" pitchFamily="18" charset="2"/>
              </a:rPr>
              <a:t>• </a:t>
            </a:r>
            <a:r>
              <a:rPr lang="en-US" b="0" i="0" u="none" strike="noStrike" baseline="0" dirty="0">
                <a:latin typeface="ACaslonPro-Regular"/>
              </a:rPr>
              <a:t>changes in perception, mood, meaning;</a:t>
            </a:r>
          </a:p>
          <a:p>
            <a:pPr algn="l"/>
            <a:r>
              <a:rPr lang="en-US" b="0" i="0" u="none" strike="noStrike" baseline="0" dirty="0">
                <a:latin typeface="Symbol" panose="05050102010706020507" pitchFamily="18" charset="2"/>
              </a:rPr>
              <a:t>• </a:t>
            </a:r>
            <a:r>
              <a:rPr lang="en-US" b="0" i="0" u="none" strike="noStrike" baseline="0" dirty="0">
                <a:latin typeface="ACaslonPro-Regular"/>
              </a:rPr>
              <a:t>new knowledge.</a:t>
            </a:r>
            <a:endParaRPr lang="en-US" dirty="0"/>
          </a:p>
        </p:txBody>
      </p:sp>
    </p:spTree>
    <p:extLst>
      <p:ext uri="{BB962C8B-B14F-4D97-AF65-F5344CB8AC3E}">
        <p14:creationId xmlns:p14="http://schemas.microsoft.com/office/powerpoint/2010/main" val="1214057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937347" y="260648"/>
            <a:ext cx="5760640" cy="1280890"/>
          </a:xfrm>
        </p:spPr>
        <p:txBody>
          <a:bodyPr>
            <a:normAutofit/>
          </a:bodyPr>
          <a:lstStyle/>
          <a:p>
            <a:pPr algn="l"/>
            <a:r>
              <a:rPr lang="en-US" sz="4400" b="1" i="0" u="none" strike="noStrike" baseline="0" dirty="0">
                <a:latin typeface="MyriadPro-Bold"/>
              </a:rPr>
              <a:t>BACKGROUND</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273051" y="771896"/>
            <a:ext cx="9649072" cy="5825456"/>
          </a:xfrm>
        </p:spPr>
        <p:txBody>
          <a:bodyPr>
            <a:noAutofit/>
          </a:bodyPr>
          <a:lstStyle/>
          <a:p>
            <a:pPr algn="l"/>
            <a:r>
              <a:rPr lang="en-US" sz="3600" b="1" i="0" u="none" strike="noStrike" baseline="0" dirty="0">
                <a:latin typeface="NewsGothicStd-Bold"/>
              </a:rPr>
              <a:t>3 Background</a:t>
            </a:r>
          </a:p>
          <a:p>
            <a:pPr algn="l"/>
            <a:r>
              <a:rPr lang="en-US" sz="3600" b="0" i="0" u="none" strike="noStrike" baseline="0" dirty="0">
                <a:latin typeface="ACaslonPro-Regular"/>
              </a:rPr>
              <a:t>If applicable and if it adds to the prestige, then some background information can be added. For example, if the invention was made in the research labs of a prestigious university and has won three major international prizes, then this can be documented here.</a:t>
            </a:r>
            <a:endParaRPr lang="en-US" sz="36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62199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1849115" y="620688"/>
            <a:ext cx="8280920" cy="1280890"/>
          </a:xfrm>
        </p:spPr>
        <p:txBody>
          <a:bodyPr>
            <a:normAutofit/>
          </a:bodyPr>
          <a:lstStyle/>
          <a:p>
            <a:pPr algn="l"/>
            <a:r>
              <a:rPr lang="en-US" sz="3600" b="1" i="0" u="none" strike="noStrike" baseline="0" dirty="0">
                <a:latin typeface="MyriadPro-Bold"/>
              </a:rPr>
              <a:t>4. OWNERSHIP &amp; COMPANY STRUCTURE</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021023" y="1032544"/>
            <a:ext cx="9937104" cy="5825456"/>
          </a:xfrm>
        </p:spPr>
        <p:txBody>
          <a:bodyPr>
            <a:noAutofit/>
          </a:bodyPr>
          <a:lstStyle/>
          <a:p>
            <a:pPr algn="l"/>
            <a:r>
              <a:rPr lang="en-US" sz="2400" b="0" i="0" u="none" strike="noStrike" baseline="0" dirty="0">
                <a:latin typeface="ACaslonPro-Regular"/>
              </a:rPr>
              <a:t>This records the name and number of the company, the number of stock issued and their ownership, together with any other relevant information (e.g. accreditation, membership of professional organizations, etc.). There should be a paragraph detailing how many others are employed, together with a projection about the company size in the future. Employee options and warrants may be detailed here, and this is highly relevant because it affects future ownership issues. It may also be relevant to add a paragraph about the organization or mention any other special organizational aspects. This may be, e.g., if distribution is important, that the company is located adjacent to major transport arteries; if it is a maritime company, that it is on the harbor</a:t>
            </a:r>
            <a:r>
              <a:rPr lang="en-US" sz="2400" dirty="0">
                <a:latin typeface="ACaslonPro-Regular"/>
              </a:rPr>
              <a:t> </a:t>
            </a:r>
            <a:r>
              <a:rPr lang="en-US" sz="2400" b="0" i="0" u="none" strike="noStrike" baseline="0" dirty="0">
                <a:latin typeface="ACaslonPro-Regular"/>
              </a:rPr>
              <a:t>front. </a:t>
            </a: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769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137147" y="476672"/>
            <a:ext cx="9537570" cy="1280890"/>
          </a:xfrm>
        </p:spPr>
        <p:txBody>
          <a:bodyPr>
            <a:normAutofit/>
          </a:bodyPr>
          <a:lstStyle/>
          <a:p>
            <a:pPr algn="ctr"/>
            <a:r>
              <a:rPr lang="en-US" b="1" dirty="0">
                <a:latin typeface="Rockwell" panose="02060603020205020403" pitchFamily="18" charset="0"/>
              </a:rPr>
              <a:t>5. THE TEAM: LEADERSHIP, BOARD OF DIRECTORS, ACCOUNTANT, LAWYER</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129035" y="1340768"/>
            <a:ext cx="10153127" cy="5040560"/>
          </a:xfrm>
        </p:spPr>
        <p:txBody>
          <a:bodyPr>
            <a:normAutofit fontScale="92500" lnSpcReduction="10000"/>
          </a:bodyPr>
          <a:lstStyle/>
          <a:p>
            <a:pPr marL="0" indent="0" algn="l">
              <a:buNone/>
            </a:pPr>
            <a:endParaRPr lang="en-US" sz="1800" b="1" i="0" u="none" strike="noStrike" baseline="0" dirty="0">
              <a:solidFill>
                <a:srgbClr val="3DFF17"/>
              </a:solidFill>
              <a:latin typeface="MyriadPro-BoldCond"/>
            </a:endParaRPr>
          </a:p>
          <a:p>
            <a:pPr algn="l"/>
            <a:r>
              <a:rPr lang="en-US" b="0" i="0" u="none" strike="noStrike" baseline="0" dirty="0">
                <a:latin typeface="ACaslonPro-Regular"/>
              </a:rPr>
              <a:t>The leadership will probably consist of the original inventors and entrepreneurs, together with any professional help, which has been bought or borrowed. This section should list their names, what their functions are, their affiliations and a brief CV of each one. It may be useful to make a matrix of their competence profiles in order to uncover any ‘holes’. This shows the investor that the company is interested in being effective, as well as providing grounds for putting staff posts in the budget. It may be useful to give an indication that the entrepreneur is aware that, at least in the start, s/he will be working long hours for little money. The Board of Directors is extremely important. Typically they are ‘bought in’ experts from various fields and have excellent networks. They may work for as little as two hours per quarter (i.e. attend quarterly board meetings) bringing in their advice, network and business contacts. A good board with 3–5 well-known and reputable directors will convince the investor that you have presented convincing arguments to competent and experienced people who, in turn, are able to steer the company and sell the product. They should be listed by name, together with their affiliation and perhaps a short description of their special field and competencies.</a:t>
            </a:r>
            <a:endParaRPr lang="en-US" b="0" i="0" u="none" strike="noStrike" baseline="0" dirty="0">
              <a:solidFill>
                <a:srgbClr val="000000"/>
              </a:solidFill>
              <a:latin typeface="WarnockPro-Regular"/>
            </a:endParaRPr>
          </a:p>
        </p:txBody>
      </p:sp>
    </p:spTree>
    <p:extLst>
      <p:ext uri="{BB962C8B-B14F-4D97-AF65-F5344CB8AC3E}">
        <p14:creationId xmlns:p14="http://schemas.microsoft.com/office/powerpoint/2010/main" val="355682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289275" y="484299"/>
            <a:ext cx="6336704" cy="1280890"/>
          </a:xfrm>
        </p:spPr>
        <p:txBody>
          <a:bodyPr>
            <a:normAutofit/>
          </a:bodyPr>
          <a:lstStyle/>
          <a:p>
            <a:pPr algn="l"/>
            <a:r>
              <a:rPr lang="en-US" sz="4400" b="1" i="0" u="none" strike="noStrike" baseline="0" dirty="0">
                <a:latin typeface="MyriadPro-Bold"/>
              </a:rPr>
              <a:t>6. THE PRODUCT</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201043" y="1124744"/>
            <a:ext cx="9937104" cy="5616624"/>
          </a:xfrm>
        </p:spPr>
        <p:txBody>
          <a:bodyPr>
            <a:noAutofit/>
          </a:bodyPr>
          <a:lstStyle/>
          <a:p>
            <a:pPr marL="0" indent="0" algn="l">
              <a:buNone/>
            </a:pPr>
            <a:r>
              <a:rPr lang="en-US" sz="2400" b="0" i="0" u="none" strike="noStrike" baseline="0" dirty="0">
                <a:latin typeface="ACaslonPro-Regular"/>
              </a:rPr>
              <a:t>A brief description of what the product is, what it can do and how it differs from other products. If the product is not complete, then milestones should accompany the development plan. Here product lifetime and expected frequency of buying may be relevant. It may also be the best place for pricing strategy. Note that price strategy can be different for different customer groups. If pricing is discussed then it is also relevant to discuss discounts, guarantee, follow-up and service strategy, help desk, etc. if these have not been included in the marketing plan. Drawings, blueprints, etc. of the product can be attached as an appendix and should not be part of the business plan.</a:t>
            </a: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89407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785219" y="548680"/>
            <a:ext cx="7200800" cy="1280890"/>
          </a:xfrm>
        </p:spPr>
        <p:txBody>
          <a:bodyPr>
            <a:normAutofit/>
          </a:bodyPr>
          <a:lstStyle/>
          <a:p>
            <a:pPr algn="l"/>
            <a:r>
              <a:rPr lang="en-US" sz="4400" b="1" i="0" u="none" strike="noStrike" baseline="0" dirty="0">
                <a:latin typeface="MyriadPro-Bold"/>
              </a:rPr>
              <a:t>7. THE PATENT SITUATION</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633091" y="1189125"/>
            <a:ext cx="9289032" cy="5040560"/>
          </a:xfrm>
        </p:spPr>
        <p:txBody>
          <a:bodyPr>
            <a:normAutofit/>
          </a:bodyPr>
          <a:lstStyle/>
          <a:p>
            <a:pPr algn="l"/>
            <a:r>
              <a:rPr lang="en-US" sz="3200" b="0" i="0" u="none" strike="noStrike" baseline="0" dirty="0">
                <a:latin typeface="ACaslonPro-Regular"/>
              </a:rPr>
              <a:t>Here includes a description of competing patents. It is an excellent idea to include the results of searches performed by patent agents. These (copies of original letters), as well as any completed patents or patent proposals should be attached as an appendix and should not be part of the business plan.</a:t>
            </a:r>
            <a:endParaRPr lang="en-US" sz="3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98752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596351" y="548680"/>
            <a:ext cx="6885612" cy="1280890"/>
          </a:xfrm>
        </p:spPr>
        <p:txBody>
          <a:bodyPr>
            <a:normAutofit/>
          </a:bodyPr>
          <a:lstStyle/>
          <a:p>
            <a:pPr algn="l"/>
            <a:r>
              <a:rPr lang="en-US" sz="4400" b="1" i="0" u="none" strike="noStrike" baseline="0" dirty="0">
                <a:latin typeface="MyriadPro-Bold"/>
              </a:rPr>
              <a:t>8. THE MARKETING PLAN</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453071" y="908720"/>
            <a:ext cx="9289032" cy="5040560"/>
          </a:xfrm>
        </p:spPr>
        <p:txBody>
          <a:bodyPr>
            <a:normAutofit/>
          </a:bodyPr>
          <a:lstStyle/>
          <a:p>
            <a:pPr algn="l"/>
            <a:r>
              <a:rPr lang="en-US" sz="3200" b="0" i="0" u="none" strike="noStrike" baseline="0" dirty="0">
                <a:latin typeface="ACaslonPro-Regular"/>
              </a:rPr>
              <a:t>At this point, possible product differentiation can be described, for example, if the same product, perhaps in different packaging, can be sold to different customer segments. The marketing plan should also begin here to mention milestones.</a:t>
            </a:r>
            <a:endParaRPr lang="en-US" sz="3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28533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577504" y="548680"/>
            <a:ext cx="7768555" cy="1280890"/>
          </a:xfrm>
        </p:spPr>
        <p:txBody>
          <a:bodyPr>
            <a:normAutofit/>
          </a:bodyPr>
          <a:lstStyle/>
          <a:p>
            <a:pPr algn="l"/>
            <a:r>
              <a:rPr lang="en-US" sz="4400" b="1" i="0" u="none" strike="noStrike" baseline="0" dirty="0">
                <a:latin typeface="MyriadPro-Bold"/>
              </a:rPr>
              <a:t>9. SALES AND DISTRIBUTION</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669095" y="1052736"/>
            <a:ext cx="8856984" cy="5040560"/>
          </a:xfrm>
        </p:spPr>
        <p:txBody>
          <a:bodyPr>
            <a:normAutofit/>
          </a:bodyPr>
          <a:lstStyle/>
          <a:p>
            <a:pPr algn="l"/>
            <a:r>
              <a:rPr lang="en-US" sz="3200" b="0" i="0" u="none" strike="noStrike" baseline="0" dirty="0">
                <a:latin typeface="ACaslonPro-Regular"/>
              </a:rPr>
              <a:t>This section may include any details missing from the previous section. These may include any special advantages the company has, as well as special activities (Roll-Out, etc.). Price policy can be discussed here, if not already a part of the product description.</a:t>
            </a:r>
            <a:endParaRPr lang="en-US" sz="3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22293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001243" y="476672"/>
            <a:ext cx="6768752" cy="1280890"/>
          </a:xfrm>
        </p:spPr>
        <p:txBody>
          <a:bodyPr>
            <a:normAutofit/>
          </a:bodyPr>
          <a:lstStyle/>
          <a:p>
            <a:pPr algn="l"/>
            <a:r>
              <a:rPr lang="en-US" sz="4400" b="1" i="0" u="none" strike="noStrike" baseline="0" dirty="0">
                <a:latin typeface="MyriadPro-Bold"/>
              </a:rPr>
              <a:t>10. COMPETITORS</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417067" y="1484784"/>
            <a:ext cx="9577064" cy="5040560"/>
          </a:xfrm>
        </p:spPr>
        <p:txBody>
          <a:bodyPr>
            <a:normAutofit/>
          </a:bodyPr>
          <a:lstStyle/>
          <a:p>
            <a:pPr algn="l"/>
            <a:r>
              <a:rPr lang="en-US" sz="1800" b="0" i="0" u="none" strike="noStrike" baseline="0" dirty="0">
                <a:latin typeface="ACaslonPro-Regular"/>
              </a:rPr>
              <a:t> </a:t>
            </a:r>
            <a:r>
              <a:rPr lang="en-US" sz="2800" b="0" i="0" u="none" strike="noStrike" baseline="0" dirty="0">
                <a:latin typeface="ACaslonPro-Regular"/>
              </a:rPr>
              <a:t>There are always competitors (if not immediate, then at least potential) and baldly stating that competitors do not exist will, unless it is an extremely special circumstance, make the business plan appear unrealistic. Indeed, if there are no competitors, then there is probably no market! Competitors should be listed together with a mini-SWOT for each one, which realistically appraises the risks that each one poses. This will lead to a suggested positioning strategy as to how to avoid them.</a:t>
            </a:r>
            <a:endParaRPr lang="en-US" sz="28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88631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929235" y="328102"/>
            <a:ext cx="7416824" cy="1280890"/>
          </a:xfrm>
        </p:spPr>
        <p:txBody>
          <a:bodyPr>
            <a:normAutofit/>
          </a:bodyPr>
          <a:lstStyle/>
          <a:p>
            <a:pPr algn="l"/>
            <a:r>
              <a:rPr lang="en-US" sz="4400" b="1" i="0" u="none" strike="noStrike" baseline="0" dirty="0">
                <a:latin typeface="MyriadPro-Bold"/>
              </a:rPr>
              <a:t>11. THE CUSTOMER</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345059" y="1484784"/>
            <a:ext cx="9793088" cy="5040560"/>
          </a:xfrm>
        </p:spPr>
        <p:txBody>
          <a:bodyPr>
            <a:normAutofit/>
          </a:bodyPr>
          <a:lstStyle/>
          <a:p>
            <a:pPr algn="l"/>
            <a:r>
              <a:rPr lang="en-US" sz="1800" b="0" i="0" u="none" strike="noStrike" baseline="0" dirty="0">
                <a:latin typeface="ACaslonPro-Regular"/>
              </a:rPr>
              <a:t>No two customers are the same. For example, some will always go after the newest technology (‘early movers’), while others are conservative and will not use a superior technology simply because it is new. Thus customers are broken down into segments according to different factors.</a:t>
            </a:r>
          </a:p>
          <a:p>
            <a:pPr algn="l"/>
            <a:r>
              <a:rPr lang="en-US" sz="1800" b="1" i="0" u="none" strike="noStrike" baseline="0" dirty="0">
                <a:latin typeface="Symbol" panose="05050102010706020507" pitchFamily="18" charset="2"/>
              </a:rPr>
              <a:t>• </a:t>
            </a:r>
            <a:r>
              <a:rPr lang="en-US" sz="1800" b="1" i="0" u="none" strike="noStrike" baseline="0" dirty="0">
                <a:latin typeface="ACaslonPro-Regular"/>
              </a:rPr>
              <a:t>geographical factors, e.g. country or population density (town or country-dwellers);</a:t>
            </a:r>
          </a:p>
          <a:p>
            <a:pPr algn="l"/>
            <a:r>
              <a:rPr lang="en-US" sz="1800" b="1" i="0" u="none" strike="noStrike" baseline="0" dirty="0">
                <a:latin typeface="Symbol" panose="05050102010706020507" pitchFamily="18" charset="2"/>
              </a:rPr>
              <a:t>• </a:t>
            </a:r>
            <a:r>
              <a:rPr lang="en-US" sz="1800" b="1" i="0" u="none" strike="noStrike" baseline="0" dirty="0">
                <a:latin typeface="ACaslonPro-Regular"/>
              </a:rPr>
              <a:t>demographic factors, e.g. age, gender, income group, profession, </a:t>
            </a:r>
            <a:r>
              <a:rPr lang="en-US" sz="1800" b="1" i="0" u="none" strike="noStrike" baseline="0" dirty="0" err="1">
                <a:latin typeface="ACaslonPro-Regular"/>
              </a:rPr>
              <a:t>etc</a:t>
            </a:r>
            <a:r>
              <a:rPr lang="en-US" sz="1800" b="1" i="0" u="none" strike="noStrike" baseline="0" dirty="0">
                <a:latin typeface="ACaslonPro-Regular"/>
              </a:rPr>
              <a:t>;</a:t>
            </a:r>
          </a:p>
          <a:p>
            <a:pPr algn="l"/>
            <a:r>
              <a:rPr lang="en-US" sz="1800" b="1" i="0" u="none" strike="noStrike" baseline="0" dirty="0">
                <a:latin typeface="Symbol" panose="05050102010706020507" pitchFamily="18" charset="2"/>
              </a:rPr>
              <a:t>• </a:t>
            </a:r>
            <a:r>
              <a:rPr lang="en-US" sz="1800" b="1" i="0" u="none" strike="noStrike" baseline="0" dirty="0">
                <a:latin typeface="ACaslonPro-Regular"/>
              </a:rPr>
              <a:t>life style, e.g. environmentalists or techno-freaks;</a:t>
            </a:r>
          </a:p>
          <a:p>
            <a:pPr algn="l"/>
            <a:r>
              <a:rPr lang="en-US" sz="1800" b="1" i="0" u="none" strike="noStrike" baseline="0" dirty="0">
                <a:latin typeface="Symbol" panose="05050102010706020507" pitchFamily="18" charset="2"/>
              </a:rPr>
              <a:t>• </a:t>
            </a:r>
            <a:r>
              <a:rPr lang="en-US" sz="1800" b="1" i="0" u="none" strike="noStrike" baseline="0" dirty="0">
                <a:latin typeface="ACaslonPro-Regular"/>
              </a:rPr>
              <a:t>behavior, e.g. way of using the product or frequency of use;</a:t>
            </a:r>
          </a:p>
          <a:p>
            <a:pPr algn="l"/>
            <a:r>
              <a:rPr lang="en-US" sz="1800" b="1" i="0" u="none" strike="noStrike" baseline="0" dirty="0">
                <a:latin typeface="Symbol" panose="05050102010706020507" pitchFamily="18" charset="2"/>
              </a:rPr>
              <a:t>• </a:t>
            </a:r>
            <a:r>
              <a:rPr lang="en-US" sz="1800" b="1" i="0" u="none" strike="noStrike" baseline="0" dirty="0">
                <a:latin typeface="ACaslonPro-Regular"/>
              </a:rPr>
              <a:t>buying patterns, e.g. price-related or preference for certain trademarks.</a:t>
            </a:r>
          </a:p>
          <a:p>
            <a:pPr algn="l"/>
            <a:r>
              <a:rPr lang="en-US" sz="1800" b="0" i="0" u="none" strike="noStrike" baseline="0" dirty="0">
                <a:latin typeface="ACaslonPro-Regular"/>
              </a:rPr>
              <a:t>This section should specify which customer segment is/are the primary target group(s) and which are the secondary, tertiary, etc., if possible with a time scale (if not already mentioned in the marketing plan).</a:t>
            </a:r>
            <a:endParaRPr lang="en-US" sz="28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63062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857227" y="116632"/>
            <a:ext cx="6696744" cy="1280890"/>
          </a:xfrm>
        </p:spPr>
        <p:txBody>
          <a:bodyPr>
            <a:normAutofit/>
          </a:bodyPr>
          <a:lstStyle/>
          <a:p>
            <a:pPr algn="l"/>
            <a:br>
              <a:rPr lang="en-US" b="1" i="0" u="none" strike="noStrike" baseline="0" dirty="0">
                <a:latin typeface="NewsGothicStd-Bold"/>
              </a:rPr>
            </a:br>
            <a:r>
              <a:rPr lang="en-US" b="1" i="0" u="none" strike="noStrike" baseline="0" dirty="0">
                <a:latin typeface="NewsGothicStd-Bold"/>
              </a:rPr>
              <a:t>12. AGREEMENTS / ALLIANCES</a:t>
            </a:r>
            <a:endParaRPr lang="en-US" b="1" i="0" u="none" strike="noStrike" baseline="0" dirty="0">
              <a:latin typeface="MyriadPro-Bold"/>
            </a:endParaRP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273051" y="1988840"/>
            <a:ext cx="9505056" cy="3672408"/>
          </a:xfrm>
        </p:spPr>
        <p:txBody>
          <a:bodyPr>
            <a:noAutofit/>
          </a:bodyPr>
          <a:lstStyle/>
          <a:p>
            <a:pPr algn="l"/>
            <a:r>
              <a:rPr lang="en-US" sz="3200" b="0" i="0" u="none" strike="noStrike" baseline="0" dirty="0">
                <a:latin typeface="ACaslonPro-Regular"/>
              </a:rPr>
              <a:t>This section specifies any agreements (further product development, media, marketing, etc.) that have been made with other companies, and any formal alliances (distribution, co-branding, etc.), which have been signed, or are in the process of being negotiated. This may include suppliers, agents, franchising, resellers and retailers, etc.</a:t>
            </a:r>
            <a:endParaRPr lang="en-US" sz="3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37675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505299" y="412291"/>
            <a:ext cx="6120680" cy="1280890"/>
          </a:xfrm>
        </p:spPr>
        <p:txBody>
          <a:bodyPr>
            <a:normAutofit/>
          </a:bodyPr>
          <a:lstStyle/>
          <a:p>
            <a:pPr algn="l"/>
            <a:r>
              <a:rPr lang="en-US" sz="4400" b="1" i="0" u="none" strike="noStrike" baseline="0" dirty="0">
                <a:latin typeface="MyriadPro-Bold"/>
              </a:rPr>
              <a:t>13. THE </a:t>
            </a:r>
            <a:r>
              <a:rPr lang="en-US" sz="4400" b="1" dirty="0">
                <a:latin typeface="MyriadPro-Bold"/>
              </a:rPr>
              <a:t>BUDGET</a:t>
            </a:r>
            <a:endParaRPr lang="en-US" sz="4400" b="1" i="0" u="none" strike="noStrike" baseline="0" dirty="0">
              <a:latin typeface="MyriadPro-Bold"/>
            </a:endParaRP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705099" y="1052736"/>
            <a:ext cx="9289032" cy="5472608"/>
          </a:xfrm>
        </p:spPr>
        <p:txBody>
          <a:bodyPr>
            <a:normAutofit/>
          </a:bodyPr>
          <a:lstStyle/>
          <a:p>
            <a:pPr algn="l"/>
            <a:r>
              <a:rPr lang="en-US" sz="2400" b="0" i="0" u="none" strike="noStrike" baseline="0" dirty="0">
                <a:latin typeface="ACaslonPro-Regular"/>
              </a:rPr>
              <a:t>If the company has been running for some time, then the previous year’s budget and accounts can be used. In principle, this consists of:</a:t>
            </a:r>
          </a:p>
          <a:p>
            <a:pPr marL="0" indent="0" algn="l">
              <a:buNone/>
            </a:pPr>
            <a:endParaRPr lang="en-US" sz="2400" b="0" i="0" u="none" strike="noStrike" baseline="0" dirty="0">
              <a:latin typeface="ACaslonPro-Regular"/>
            </a:endParaRPr>
          </a:p>
          <a:p>
            <a:pPr algn="l"/>
            <a:r>
              <a:rPr lang="en-US" sz="2400" b="0" i="0" u="none" strike="noStrike" baseline="0" dirty="0">
                <a:latin typeface="Symbol" panose="05050102010706020507" pitchFamily="18" charset="2"/>
              </a:rPr>
              <a:t>• </a:t>
            </a:r>
            <a:r>
              <a:rPr lang="en-US" sz="2400" b="0" i="0" u="none" strike="noStrike" baseline="0" dirty="0">
                <a:latin typeface="ACaslonPro-Regular"/>
              </a:rPr>
              <a:t>net turnover 	</a:t>
            </a:r>
            <a:r>
              <a:rPr lang="en-US" sz="2400" b="0" i="0" u="none" strike="noStrike" baseline="0" dirty="0">
                <a:latin typeface="Symbol" panose="05050102010706020507" pitchFamily="18" charset="2"/>
              </a:rPr>
              <a:t>• </a:t>
            </a:r>
            <a:r>
              <a:rPr lang="en-US" sz="2400" b="0" i="0" u="none" strike="noStrike" baseline="0" dirty="0">
                <a:latin typeface="ACaslonPro-Regular"/>
              </a:rPr>
              <a:t>change in inventory	 </a:t>
            </a:r>
            <a:r>
              <a:rPr lang="en-US" sz="2400" b="0" i="0" u="none" strike="noStrike" baseline="0" dirty="0">
                <a:latin typeface="Symbol" panose="05050102010706020507" pitchFamily="18" charset="2"/>
              </a:rPr>
              <a:t>• </a:t>
            </a:r>
            <a:r>
              <a:rPr lang="en-US" sz="2400" b="0" i="0" u="none" strike="noStrike" baseline="0" dirty="0">
                <a:latin typeface="ACaslonPro-Regular"/>
              </a:rPr>
              <a:t>other sources of income</a:t>
            </a:r>
          </a:p>
          <a:p>
            <a:pPr algn="l"/>
            <a:r>
              <a:rPr lang="en-US" sz="2400" b="0" i="0" u="none" strike="noStrike" baseline="0" dirty="0">
                <a:latin typeface="Symbol" panose="05050102010706020507" pitchFamily="18" charset="2"/>
              </a:rPr>
              <a:t>• </a:t>
            </a:r>
            <a:r>
              <a:rPr lang="en-US" sz="2400" b="0" i="0" u="none" strike="noStrike" baseline="0" dirty="0">
                <a:latin typeface="ACaslonPro-Regular"/>
              </a:rPr>
              <a:t>raw and other supplies	</a:t>
            </a:r>
            <a:r>
              <a:rPr lang="en-US" sz="2400" b="0" i="0" u="none" strike="noStrike" baseline="0" dirty="0">
                <a:latin typeface="Symbol" panose="05050102010706020507" pitchFamily="18" charset="2"/>
              </a:rPr>
              <a:t>• </a:t>
            </a:r>
            <a:r>
              <a:rPr lang="en-US" sz="2400" b="0" i="0" u="none" strike="noStrike" baseline="0" dirty="0">
                <a:latin typeface="ACaslonPro-Regular"/>
              </a:rPr>
              <a:t>other external costs (insurance, etc.)</a:t>
            </a:r>
          </a:p>
          <a:p>
            <a:pPr algn="l"/>
            <a:r>
              <a:rPr lang="en-US" sz="2400" b="0" i="0" u="none" strike="noStrike" baseline="0" dirty="0">
                <a:latin typeface="Symbol" panose="05050102010706020507" pitchFamily="18" charset="2"/>
              </a:rPr>
              <a:t>• </a:t>
            </a:r>
            <a:r>
              <a:rPr lang="en-US" sz="2400" b="0" i="0" u="none" strike="noStrike" baseline="0" dirty="0">
                <a:latin typeface="ACaslonPro-Regular"/>
              </a:rPr>
              <a:t>personnel costs	</a:t>
            </a:r>
            <a:r>
              <a:rPr lang="en-US" sz="2400" b="0" i="0" u="none" strike="noStrike" baseline="0" dirty="0">
                <a:latin typeface="Symbol" panose="05050102010706020507" pitchFamily="18" charset="2"/>
              </a:rPr>
              <a:t>• </a:t>
            </a:r>
            <a:r>
              <a:rPr lang="en-US" sz="2400" b="0" i="0" u="none" strike="noStrike" baseline="0" dirty="0">
                <a:latin typeface="ACaslonPro-Regular"/>
              </a:rPr>
              <a:t>depreciation		</a:t>
            </a:r>
            <a:r>
              <a:rPr lang="en-US" sz="2400" b="0" i="0" u="none" strike="noStrike" baseline="0" dirty="0">
                <a:latin typeface="Symbol" panose="05050102010706020507" pitchFamily="18" charset="2"/>
              </a:rPr>
              <a:t>• </a:t>
            </a:r>
            <a:r>
              <a:rPr lang="en-US" sz="2400" b="0" i="0" u="none" strike="noStrike" baseline="0" dirty="0">
                <a:latin typeface="ACaslonPro-Regular"/>
              </a:rPr>
              <a:t>other costs</a:t>
            </a:r>
          </a:p>
          <a:p>
            <a:pPr algn="l"/>
            <a:r>
              <a:rPr lang="en-US" sz="2400" b="0" i="0" u="none" strike="noStrike" baseline="0" dirty="0">
                <a:latin typeface="Symbol" panose="05050102010706020507" pitchFamily="18" charset="2"/>
              </a:rPr>
              <a:t>• </a:t>
            </a:r>
            <a:r>
              <a:rPr lang="en-US" sz="2400" b="0" i="0" u="none" strike="noStrike" baseline="0" dirty="0">
                <a:latin typeface="ACaslonPro-Regular"/>
              </a:rPr>
              <a:t>earnings versus costs	</a:t>
            </a:r>
            <a:r>
              <a:rPr lang="en-US" sz="2400" b="0" i="0" u="none" strike="noStrike" baseline="0" dirty="0">
                <a:latin typeface="Symbol" panose="05050102010706020507" pitchFamily="18" charset="2"/>
              </a:rPr>
              <a:t>• </a:t>
            </a:r>
            <a:r>
              <a:rPr lang="en-US" sz="2400" b="0" i="0" u="none" strike="noStrike" baseline="0" dirty="0">
                <a:latin typeface="ACaslonPro-Regular"/>
              </a:rPr>
              <a:t>disposition		</a:t>
            </a:r>
            <a:r>
              <a:rPr lang="en-US" sz="2400" b="0" i="0" u="none" strike="noStrike" baseline="0" dirty="0">
                <a:latin typeface="Symbol" panose="05050102010706020507" pitchFamily="18" charset="2"/>
              </a:rPr>
              <a:t>• </a:t>
            </a:r>
            <a:r>
              <a:rPr lang="en-US" sz="2400" b="0" i="0" u="none" strike="noStrike" baseline="0" dirty="0">
                <a:latin typeface="ACaslonPro-Regular"/>
              </a:rPr>
              <a:t>tax.</a:t>
            </a:r>
          </a:p>
          <a:p>
            <a:pPr marL="0" indent="0" algn="l">
              <a:buNone/>
            </a:pPr>
            <a:endParaRPr lang="en-US" sz="28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9945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145259" y="548680"/>
            <a:ext cx="6624736" cy="1280890"/>
          </a:xfrm>
        </p:spPr>
        <p:txBody>
          <a:bodyPr>
            <a:normAutofit/>
          </a:bodyPr>
          <a:lstStyle/>
          <a:p>
            <a:pPr algn="l"/>
            <a:r>
              <a:rPr lang="en-US" sz="4400" b="1" i="0" u="none" strike="noStrike" baseline="0" dirty="0">
                <a:latin typeface="MyriadPro-Bold"/>
              </a:rPr>
              <a:t>14. INVESTMENT NEED</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129035" y="1665567"/>
            <a:ext cx="10081120" cy="5040560"/>
          </a:xfrm>
        </p:spPr>
        <p:txBody>
          <a:bodyPr>
            <a:noAutofit/>
          </a:bodyPr>
          <a:lstStyle/>
          <a:p>
            <a:pPr algn="l"/>
            <a:r>
              <a:rPr lang="en-US" sz="2400" b="0" i="0" u="none" strike="noStrike" baseline="0" dirty="0">
                <a:latin typeface="ACaslonPro-Regular"/>
              </a:rPr>
              <a:t>Investment needs follow logically from the budget. Figures come from two sources:</a:t>
            </a:r>
          </a:p>
          <a:p>
            <a:pPr algn="l"/>
            <a:r>
              <a:rPr lang="en-US" sz="2400" b="0" i="0" u="none" strike="noStrike" baseline="0" dirty="0">
                <a:latin typeface="ACaslonPro-Regular"/>
              </a:rPr>
              <a:t>1 </a:t>
            </a:r>
            <a:r>
              <a:rPr lang="en-US" sz="2400" b="0" i="1" u="none" strike="noStrike" baseline="0" dirty="0">
                <a:latin typeface="ACaslonPro-Italic"/>
              </a:rPr>
              <a:t>Outlay</a:t>
            </a:r>
            <a:r>
              <a:rPr lang="en-US" sz="2400" b="0" i="0" u="none" strike="noStrike" baseline="0" dirty="0">
                <a:latin typeface="ACaslonPro-Regular"/>
              </a:rPr>
              <a:t>: Fixed costs (salary, rent, etc.) plus capital (e.g. buying a PC) and investments (web site, etc.). These may well come out of your marketing plan. For large and/or high tech projects, development costs are a major outlay.</a:t>
            </a:r>
          </a:p>
          <a:p>
            <a:pPr algn="l"/>
            <a:r>
              <a:rPr lang="en-US" sz="2400" b="0" i="0" u="none" strike="noStrike" baseline="0" dirty="0">
                <a:latin typeface="ACaslonPro-Regular"/>
              </a:rPr>
              <a:t>2 </a:t>
            </a:r>
            <a:r>
              <a:rPr lang="en-US" sz="2400" b="0" i="1" u="none" strike="noStrike" baseline="0" dirty="0">
                <a:latin typeface="ACaslonPro-Italic"/>
              </a:rPr>
              <a:t>Income</a:t>
            </a:r>
            <a:r>
              <a:rPr lang="en-US" sz="2400" b="0" i="0" u="none" strike="noStrike" baseline="0" dirty="0">
                <a:latin typeface="ACaslonPro-Regular"/>
              </a:rPr>
              <a:t>: This is the projected income, i.e. represents your best supposition, based on the marketing plan, but is approximate by its very nature. In short, the final budget </a:t>
            </a:r>
            <a:r>
              <a:rPr lang="en-US" sz="2400" b="0" i="0" u="none" strike="noStrike" baseline="0" dirty="0">
                <a:latin typeface="Symbol" panose="05050102010706020507" pitchFamily="18" charset="2"/>
              </a:rPr>
              <a:t>= </a:t>
            </a:r>
            <a:r>
              <a:rPr lang="en-US" sz="2400" b="0" i="0" u="none" strike="noStrike" baseline="0" dirty="0">
                <a:latin typeface="ACaslonPro-Regular"/>
              </a:rPr>
              <a:t>marketing budget plus start-up budget plus running costs. Figures of total cost per quarter can be calculated against estimated revenues per quarter, which should give a ‘hockey stick’ curve</a:t>
            </a: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86629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289275" y="339119"/>
            <a:ext cx="6480720" cy="1280890"/>
          </a:xfrm>
        </p:spPr>
        <p:txBody>
          <a:bodyPr>
            <a:normAutofit/>
          </a:bodyPr>
          <a:lstStyle/>
          <a:p>
            <a:pPr algn="l"/>
            <a:r>
              <a:rPr lang="en-US" sz="4400" b="1" i="0" u="none" strike="noStrike" baseline="0" dirty="0">
                <a:latin typeface="MyriadPro-Bold"/>
              </a:rPr>
              <a:t>15. ANY BARRIER</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201043" y="1052736"/>
            <a:ext cx="10081120" cy="5472608"/>
          </a:xfrm>
        </p:spPr>
        <p:txBody>
          <a:bodyPr>
            <a:normAutofit/>
          </a:bodyPr>
          <a:lstStyle/>
          <a:p>
            <a:pPr algn="l"/>
            <a:r>
              <a:rPr lang="en-US" sz="1800" b="0" i="0" u="none" strike="noStrike" baseline="0" dirty="0">
                <a:latin typeface="ACaslonPro-Regular"/>
              </a:rPr>
              <a:t>Barriers (if any) must be openly and honestly discussed, together with rescue scenarios. Often investors are willing to find extra cash for situations that have been foreseen, but had been hoped to be avoided. On the other hand, what investors really do not like are unpleasant surprises. Unpleasant surprises may cause investors to suddenly and catastrophically withdraw their support, even where the extra amount may appear to be minimal. Another way of seeing this is that the original plan can almost never be followed in every detail, so potential problems must be located early on and adjustments or alternatives proposed.</a:t>
            </a:r>
          </a:p>
          <a:p>
            <a:pPr algn="l"/>
            <a:r>
              <a:rPr lang="en-US" sz="1800" b="0" i="0" u="none" strike="noStrike" baseline="0" dirty="0">
                <a:latin typeface="ACaslonPro-Regular"/>
              </a:rPr>
              <a:t>Barriers can be divided into two kinds: external and internal. External could, for example, be changes in national law. Other external factors could already have been discussed under risks in the SWOT analysis; these could include the factory burning down, competitors start marketing a cheaper product, the patent application fails, the major customer goes bankrupt, etc. </a:t>
            </a:r>
          </a:p>
          <a:p>
            <a:pPr algn="l"/>
            <a:r>
              <a:rPr lang="en-US" sz="1800" b="0" i="0" u="none" strike="noStrike" baseline="0" dirty="0">
                <a:latin typeface="ACaslonPro-Regular"/>
              </a:rPr>
              <a:t>Internal factors may be that a key worker decides to leave, or the company cannot attract sufficient personnel of the right quality.</a:t>
            </a:r>
            <a:endParaRPr lang="en-US" sz="28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63701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577307" y="476672"/>
            <a:ext cx="6336704" cy="1280890"/>
          </a:xfrm>
        </p:spPr>
        <p:txBody>
          <a:bodyPr>
            <a:normAutofit/>
          </a:bodyPr>
          <a:lstStyle/>
          <a:p>
            <a:pPr algn="l"/>
            <a:r>
              <a:rPr lang="en-US" sz="4400" b="1" i="0" u="none" strike="noStrike" baseline="0" dirty="0">
                <a:latin typeface="MyriadPro-Bold"/>
              </a:rPr>
              <a:t>16. PROFIT &amp; EXIT</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129035" y="1268760"/>
            <a:ext cx="10153128" cy="5040560"/>
          </a:xfrm>
        </p:spPr>
        <p:txBody>
          <a:bodyPr>
            <a:normAutofit/>
          </a:bodyPr>
          <a:lstStyle/>
          <a:p>
            <a:pPr algn="l"/>
            <a:r>
              <a:rPr lang="en-US" sz="2200" b="0" i="0" u="none" strike="noStrike" baseline="0" dirty="0">
                <a:latin typeface="ACaslonPro-Regular"/>
              </a:rPr>
              <a:t>An investment should be a ‘win-win situation’ for investor and company alike. Thus there must be a clear exit strategy from the start, a strategy that everybody knows about and explicitly approves of. While a company may have provided income, it is the exit which provides the profit. Investors are interested in selling their share in subsequent rounds of financing, so the original inventors may end up owning only 10% of their ‘baby’ and must realize that they will be forced to play a subordinate role (e.g. technical director) working for someone else – or even be squeezed out all together. This underlines the need for a solid valuation of the company; there are three different approaches to </a:t>
            </a:r>
            <a:r>
              <a:rPr lang="en-US" sz="2200" b="1" i="0" u="none" strike="noStrike" baseline="0" dirty="0">
                <a:latin typeface="ACaslonPro-Regular"/>
              </a:rPr>
              <a:t>valuation (Market approach, Income approach and Asset approach) </a:t>
            </a:r>
            <a:r>
              <a:rPr lang="en-US" sz="2200" b="0" i="0" u="none" strike="noStrike" baseline="0" dirty="0">
                <a:latin typeface="ACaslonPro-Regular"/>
              </a:rPr>
              <a:t>and entrepreneurs need to get reliable expert advice on the pros and cons of these three approaches</a:t>
            </a: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14283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FEE60-BE0F-4310-B400-7EEF81818463}"/>
              </a:ext>
            </a:extLst>
          </p:cNvPr>
          <p:cNvSpPr>
            <a:spLocks noGrp="1"/>
          </p:cNvSpPr>
          <p:nvPr>
            <p:ph type="title"/>
          </p:nvPr>
        </p:nvSpPr>
        <p:spPr>
          <a:xfrm>
            <a:off x="1016312" y="2564904"/>
            <a:ext cx="10162550" cy="1280890"/>
          </a:xfrm>
        </p:spPr>
        <p:txBody>
          <a:bodyPr>
            <a:normAutofit/>
          </a:bodyPr>
          <a:lstStyle/>
          <a:p>
            <a:r>
              <a:rPr lang="en-US" b="1" dirty="0"/>
              <a:t>THANK YOU FOR YOUR TIME AND ATTENTION</a:t>
            </a:r>
            <a:endParaRPr lang="en-NG" b="1" dirty="0"/>
          </a:p>
        </p:txBody>
      </p:sp>
    </p:spTree>
    <p:extLst>
      <p:ext uri="{BB962C8B-B14F-4D97-AF65-F5344CB8AC3E}">
        <p14:creationId xmlns:p14="http://schemas.microsoft.com/office/powerpoint/2010/main" val="65334023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50593</TotalTime>
  <Words>3092</Words>
  <Application>Microsoft Office PowerPoint</Application>
  <PresentationFormat>Custom</PresentationFormat>
  <Paragraphs>102</Paragraphs>
  <Slides>24</Slides>
  <Notes>1</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24</vt:i4>
      </vt:variant>
    </vt:vector>
  </HeadingPairs>
  <TitlesOfParts>
    <vt:vector size="40" baseType="lpstr">
      <vt:lpstr>ACaslonPro-Italic</vt:lpstr>
      <vt:lpstr>ACaslonPro-Regular</vt:lpstr>
      <vt:lpstr>Arial</vt:lpstr>
      <vt:lpstr>Calibri</vt:lpstr>
      <vt:lpstr>MS Shell Dlg 2</vt:lpstr>
      <vt:lpstr>MyriadPro-Bold</vt:lpstr>
      <vt:lpstr>MyriadPro-BoldCond</vt:lpstr>
      <vt:lpstr>NewsGothicStd-Bold</vt:lpstr>
      <vt:lpstr>Rockwell</vt:lpstr>
      <vt:lpstr>Symbol</vt:lpstr>
      <vt:lpstr>Times New Roman</vt:lpstr>
      <vt:lpstr>WarnockPro-Regular</vt:lpstr>
      <vt:lpstr>Wingdings</vt:lpstr>
      <vt:lpstr>Wingdings 3</vt:lpstr>
      <vt:lpstr>Custom Design</vt:lpstr>
      <vt:lpstr>Madison</vt:lpstr>
      <vt:lpstr>        </vt:lpstr>
      <vt:lpstr>BUSINESS PLAN</vt:lpstr>
      <vt:lpstr>BUSINESS PLAN</vt:lpstr>
      <vt:lpstr>BUSINESS PLAN CONT….</vt:lpstr>
      <vt:lpstr>SUMMARY OF BUSINESS PLAN</vt:lpstr>
      <vt:lpstr>PowerPoint Presentation</vt:lpstr>
      <vt:lpstr>EXECUTIVE SUMMARY</vt:lpstr>
      <vt:lpstr>ELEVATOR’S SPEECH</vt:lpstr>
      <vt:lpstr>BUSINESS IDEA</vt:lpstr>
      <vt:lpstr>BACKGROUND</vt:lpstr>
      <vt:lpstr>4. OWNERSHIP &amp; COMPANY STRUCTURE</vt:lpstr>
      <vt:lpstr>5. THE TEAM: LEADERSHIP, BOARD OF DIRECTORS, ACCOUNTANT, LAWYER</vt:lpstr>
      <vt:lpstr>6. THE PRODUCT</vt:lpstr>
      <vt:lpstr>7. THE PATENT SITUATION</vt:lpstr>
      <vt:lpstr>8. THE MARKETING PLAN</vt:lpstr>
      <vt:lpstr>9. SALES AND DISTRIBUTION</vt:lpstr>
      <vt:lpstr>10. COMPETITORS</vt:lpstr>
      <vt:lpstr>11. THE CUSTOMER</vt:lpstr>
      <vt:lpstr> 12. AGREEMENTS / ALLIANCES</vt:lpstr>
      <vt:lpstr>13. THE BUDGET</vt:lpstr>
      <vt:lpstr>14. INVESTMENT NEED</vt:lpstr>
      <vt:lpstr>15. ANY BARRIER</vt:lpstr>
      <vt:lpstr>16. PROFIT &amp; EXIT</vt:lpstr>
      <vt:lpstr>THANK YOU FOR YOUR TIME AND ATTENTION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kolawole oladotun</cp:lastModifiedBy>
  <cp:revision>653</cp:revision>
  <dcterms:created xsi:type="dcterms:W3CDTF">2014-01-31T21:42:27Z</dcterms:created>
  <dcterms:modified xsi:type="dcterms:W3CDTF">2025-11-03T08:56:13Z</dcterms:modified>
</cp:coreProperties>
</file>