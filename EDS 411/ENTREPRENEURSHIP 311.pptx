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847" r:id="rId2"/>
  </p:sldMasterIdLst>
  <p:notesMasterIdLst>
    <p:notesMasterId r:id="rId14"/>
  </p:notesMasterIdLst>
  <p:handoutMasterIdLst>
    <p:handoutMasterId r:id="rId15"/>
  </p:handoutMasterIdLst>
  <p:sldIdLst>
    <p:sldId id="281" r:id="rId3"/>
    <p:sldId id="733" r:id="rId4"/>
    <p:sldId id="739" r:id="rId5"/>
    <p:sldId id="597" r:id="rId6"/>
    <p:sldId id="741" r:id="rId7"/>
    <p:sldId id="730" r:id="rId8"/>
    <p:sldId id="737" r:id="rId9"/>
    <p:sldId id="742" r:id="rId10"/>
    <p:sldId id="738" r:id="rId11"/>
    <p:sldId id="743" r:id="rId12"/>
    <p:sldId id="731" r:id="rId13"/>
  </p:sldIdLst>
  <p:sldSz cx="1219517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DDDDD"/>
    <a:srgbClr val="7A0000"/>
    <a:srgbClr val="662C5B"/>
    <a:srgbClr val="000000"/>
    <a:srgbClr val="660033"/>
    <a:srgbClr val="CC0066"/>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83" autoAdjust="0"/>
    <p:restoredTop sz="88613" autoAdjust="0"/>
  </p:normalViewPr>
  <p:slideViewPr>
    <p:cSldViewPr>
      <p:cViewPr varScale="1">
        <p:scale>
          <a:sx n="58" d="100"/>
          <a:sy n="58" d="100"/>
        </p:scale>
        <p:origin x="956" y="48"/>
      </p:cViewPr>
      <p:guideLst>
        <p:guide orient="horz" pos="2160"/>
        <p:guide pos="3841"/>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lawole oladotun" userId="ef802625cd3b7e04" providerId="LiveId" clId="{FF1046CE-A340-4052-8FA3-3BB439FAE681}"/>
    <pc:docChg chg="undo custSel addSld delSld modSld sldOrd">
      <pc:chgData name="kolawole oladotun" userId="ef802625cd3b7e04" providerId="LiveId" clId="{FF1046CE-A340-4052-8FA3-3BB439FAE681}" dt="2025-10-05T01:13:24.760" v="5933" actId="1076"/>
      <pc:docMkLst>
        <pc:docMk/>
      </pc:docMkLst>
      <pc:sldChg chg="modSp mod">
        <pc:chgData name="kolawole oladotun" userId="ef802625cd3b7e04" providerId="LiveId" clId="{FF1046CE-A340-4052-8FA3-3BB439FAE681}" dt="2025-10-05T01:08:27.628" v="5882" actId="1076"/>
        <pc:sldMkLst>
          <pc:docMk/>
          <pc:sldMk cId="0" sldId="281"/>
        </pc:sldMkLst>
        <pc:spChg chg="mod">
          <ac:chgData name="kolawole oladotun" userId="ef802625cd3b7e04" providerId="LiveId" clId="{FF1046CE-A340-4052-8FA3-3BB439FAE681}" dt="2025-10-05T01:08:27.628" v="5882" actId="1076"/>
          <ac:spMkLst>
            <pc:docMk/>
            <pc:sldMk cId="0" sldId="281"/>
            <ac:spMk id="6" creationId="{00000000-0000-0000-0000-000000000000}"/>
          </ac:spMkLst>
        </pc:spChg>
      </pc:sldChg>
      <pc:sldChg chg="modSp mod ord">
        <pc:chgData name="kolawole oladotun" userId="ef802625cd3b7e04" providerId="LiveId" clId="{FF1046CE-A340-4052-8FA3-3BB439FAE681}" dt="2025-10-05T01:08:55.313" v="5886" actId="1076"/>
        <pc:sldMkLst>
          <pc:docMk/>
          <pc:sldMk cId="800552053" sldId="596"/>
        </pc:sldMkLst>
        <pc:spChg chg="mod">
          <ac:chgData name="kolawole oladotun" userId="ef802625cd3b7e04" providerId="LiveId" clId="{FF1046CE-A340-4052-8FA3-3BB439FAE681}" dt="2025-10-05T01:08:55.313" v="5886" actId="1076"/>
          <ac:spMkLst>
            <pc:docMk/>
            <pc:sldMk cId="800552053" sldId="596"/>
            <ac:spMk id="2" creationId="{00000000-0000-0000-0000-000000000000}"/>
          </ac:spMkLst>
        </pc:spChg>
        <pc:spChg chg="mod">
          <ac:chgData name="kolawole oladotun" userId="ef802625cd3b7e04" providerId="LiveId" clId="{FF1046CE-A340-4052-8FA3-3BB439FAE681}" dt="2025-10-05T01:08:48.666" v="5885" actId="255"/>
          <ac:spMkLst>
            <pc:docMk/>
            <pc:sldMk cId="800552053" sldId="596"/>
            <ac:spMk id="7" creationId="{0A911AD3-342D-FCE1-CD52-945E709DA4E5}"/>
          </ac:spMkLst>
        </pc:spChg>
      </pc:sldChg>
      <pc:sldChg chg="modSp mod">
        <pc:chgData name="kolawole oladotun" userId="ef802625cd3b7e04" providerId="LiveId" clId="{FF1046CE-A340-4052-8FA3-3BB439FAE681}" dt="2025-10-05T01:09:56.911" v="5899" actId="113"/>
        <pc:sldMkLst>
          <pc:docMk/>
          <pc:sldMk cId="518266293" sldId="597"/>
        </pc:sldMkLst>
        <pc:spChg chg="mod">
          <ac:chgData name="kolawole oladotun" userId="ef802625cd3b7e04" providerId="LiveId" clId="{FF1046CE-A340-4052-8FA3-3BB439FAE681}" dt="2025-10-05T01:09:40.638" v="5895" actId="1076"/>
          <ac:spMkLst>
            <pc:docMk/>
            <pc:sldMk cId="518266293" sldId="597"/>
            <ac:spMk id="2" creationId="{00000000-0000-0000-0000-000000000000}"/>
          </ac:spMkLst>
        </pc:spChg>
        <pc:spChg chg="mod">
          <ac:chgData name="kolawole oladotun" userId="ef802625cd3b7e04" providerId="LiveId" clId="{FF1046CE-A340-4052-8FA3-3BB439FAE681}" dt="2025-10-05T01:09:56.911" v="5899" actId="113"/>
          <ac:spMkLst>
            <pc:docMk/>
            <pc:sldMk cId="518266293" sldId="597"/>
            <ac:spMk id="3" creationId="{00000000-0000-0000-0000-000000000000}"/>
          </ac:spMkLst>
        </pc:spChg>
      </pc:sldChg>
      <pc:sldChg chg="del">
        <pc:chgData name="kolawole oladotun" userId="ef802625cd3b7e04" providerId="LiveId" clId="{FF1046CE-A340-4052-8FA3-3BB439FAE681}" dt="2025-10-04T13:16:44.860" v="5457" actId="2696"/>
        <pc:sldMkLst>
          <pc:docMk/>
          <pc:sldMk cId="2940982656" sldId="717"/>
        </pc:sldMkLst>
      </pc:sldChg>
      <pc:sldChg chg="modSp mod">
        <pc:chgData name="kolawole oladotun" userId="ef802625cd3b7e04" providerId="LiveId" clId="{FF1046CE-A340-4052-8FA3-3BB439FAE681}" dt="2025-10-05T01:11:22.573" v="5914" actId="1076"/>
        <pc:sldMkLst>
          <pc:docMk/>
          <pc:sldMk cId="1214057136" sldId="730"/>
        </pc:sldMkLst>
        <pc:spChg chg="mod">
          <ac:chgData name="kolawole oladotun" userId="ef802625cd3b7e04" providerId="LiveId" clId="{FF1046CE-A340-4052-8FA3-3BB439FAE681}" dt="2025-10-05T01:11:22.573" v="5914" actId="1076"/>
          <ac:spMkLst>
            <pc:docMk/>
            <pc:sldMk cId="1214057136" sldId="730"/>
            <ac:spMk id="2" creationId="{893A79EF-85DF-44BA-B9B2-30369B4DC09F}"/>
          </ac:spMkLst>
        </pc:spChg>
        <pc:spChg chg="mod">
          <ac:chgData name="kolawole oladotun" userId="ef802625cd3b7e04" providerId="LiveId" clId="{FF1046CE-A340-4052-8FA3-3BB439FAE681}" dt="2025-10-05T01:11:10.321" v="5913" actId="14100"/>
          <ac:spMkLst>
            <pc:docMk/>
            <pc:sldMk cId="1214057136" sldId="730"/>
            <ac:spMk id="3" creationId="{786A0D55-1F9C-4DEC-8B8B-E7A7E83C4DFF}"/>
          </ac:spMkLst>
        </pc:spChg>
      </pc:sldChg>
      <pc:sldChg chg="modSp mod">
        <pc:chgData name="kolawole oladotun" userId="ef802625cd3b7e04" providerId="LiveId" clId="{FF1046CE-A340-4052-8FA3-3BB439FAE681}" dt="2025-10-05T01:07:40.923" v="5869" actId="27636"/>
        <pc:sldMkLst>
          <pc:docMk/>
          <pc:sldMk cId="653340237" sldId="731"/>
        </pc:sldMkLst>
        <pc:spChg chg="mod">
          <ac:chgData name="kolawole oladotun" userId="ef802625cd3b7e04" providerId="LiveId" clId="{FF1046CE-A340-4052-8FA3-3BB439FAE681}" dt="2025-10-05T01:07:40.923" v="5869" actId="27636"/>
          <ac:spMkLst>
            <pc:docMk/>
            <pc:sldMk cId="653340237" sldId="731"/>
            <ac:spMk id="2" creationId="{BF8FEE60-BE0F-4310-B400-7EEF81818463}"/>
          </ac:spMkLst>
        </pc:spChg>
      </pc:sldChg>
      <pc:sldChg chg="modSp mod">
        <pc:chgData name="kolawole oladotun" userId="ef802625cd3b7e04" providerId="LiveId" clId="{FF1046CE-A340-4052-8FA3-3BB439FAE681}" dt="2025-10-05T01:09:15.830" v="5890" actId="313"/>
        <pc:sldMkLst>
          <pc:docMk/>
          <pc:sldMk cId="1357665240" sldId="733"/>
        </pc:sldMkLst>
        <pc:spChg chg="mod">
          <ac:chgData name="kolawole oladotun" userId="ef802625cd3b7e04" providerId="LiveId" clId="{FF1046CE-A340-4052-8FA3-3BB439FAE681}" dt="2025-10-05T01:09:03.979" v="5887" actId="1076"/>
          <ac:spMkLst>
            <pc:docMk/>
            <pc:sldMk cId="1357665240" sldId="733"/>
            <ac:spMk id="2" creationId="{D06A8615-8B68-4985-8F2E-19C8210B2037}"/>
          </ac:spMkLst>
        </pc:spChg>
        <pc:spChg chg="mod">
          <ac:chgData name="kolawole oladotun" userId="ef802625cd3b7e04" providerId="LiveId" clId="{FF1046CE-A340-4052-8FA3-3BB439FAE681}" dt="2025-10-05T01:09:15.830" v="5890" actId="313"/>
          <ac:spMkLst>
            <pc:docMk/>
            <pc:sldMk cId="1357665240" sldId="733"/>
            <ac:spMk id="3" creationId="{BC110C5E-6E54-4E2E-A418-F695A665B6B5}"/>
          </ac:spMkLst>
        </pc:spChg>
      </pc:sldChg>
      <pc:sldChg chg="del ord">
        <pc:chgData name="kolawole oladotun" userId="ef802625cd3b7e04" providerId="LiveId" clId="{FF1046CE-A340-4052-8FA3-3BB439FAE681}" dt="2025-10-04T12:40:19.119" v="3470" actId="2696"/>
        <pc:sldMkLst>
          <pc:docMk/>
          <pc:sldMk cId="1442524727" sldId="736"/>
        </pc:sldMkLst>
      </pc:sldChg>
      <pc:sldChg chg="modSp mod">
        <pc:chgData name="kolawole oladotun" userId="ef802625cd3b7e04" providerId="LiveId" clId="{FF1046CE-A340-4052-8FA3-3BB439FAE681}" dt="2025-10-05T01:11:30.990" v="5916" actId="27636"/>
        <pc:sldMkLst>
          <pc:docMk/>
          <pc:sldMk cId="4262199660" sldId="737"/>
        </pc:sldMkLst>
        <pc:spChg chg="mod">
          <ac:chgData name="kolawole oladotun" userId="ef802625cd3b7e04" providerId="LiveId" clId="{FF1046CE-A340-4052-8FA3-3BB439FAE681}" dt="2025-10-04T12:45:19.496" v="3887" actId="20577"/>
          <ac:spMkLst>
            <pc:docMk/>
            <pc:sldMk cId="4262199660" sldId="737"/>
            <ac:spMk id="2" creationId="{893A79EF-85DF-44BA-B9B2-30369B4DC09F}"/>
          </ac:spMkLst>
        </pc:spChg>
        <pc:spChg chg="mod">
          <ac:chgData name="kolawole oladotun" userId="ef802625cd3b7e04" providerId="LiveId" clId="{FF1046CE-A340-4052-8FA3-3BB439FAE681}" dt="2025-10-05T01:11:30.990" v="5916" actId="27636"/>
          <ac:spMkLst>
            <pc:docMk/>
            <pc:sldMk cId="4262199660" sldId="737"/>
            <ac:spMk id="3" creationId="{786A0D55-1F9C-4DEC-8B8B-E7A7E83C4DFF}"/>
          </ac:spMkLst>
        </pc:spChg>
      </pc:sldChg>
      <pc:sldChg chg="modSp mod">
        <pc:chgData name="kolawole oladotun" userId="ef802625cd3b7e04" providerId="LiveId" clId="{FF1046CE-A340-4052-8FA3-3BB439FAE681}" dt="2025-10-05T01:13:02.748" v="5930" actId="1076"/>
        <pc:sldMkLst>
          <pc:docMk/>
          <pc:sldMk cId="2089407026" sldId="738"/>
        </pc:sldMkLst>
        <pc:spChg chg="mod">
          <ac:chgData name="kolawole oladotun" userId="ef802625cd3b7e04" providerId="LiveId" clId="{FF1046CE-A340-4052-8FA3-3BB439FAE681}" dt="2025-10-05T01:13:02.748" v="5930" actId="1076"/>
          <ac:spMkLst>
            <pc:docMk/>
            <pc:sldMk cId="2089407026" sldId="738"/>
            <ac:spMk id="2" creationId="{893A79EF-85DF-44BA-B9B2-30369B4DC09F}"/>
          </ac:spMkLst>
        </pc:spChg>
        <pc:spChg chg="mod">
          <ac:chgData name="kolawole oladotun" userId="ef802625cd3b7e04" providerId="LiveId" clId="{FF1046CE-A340-4052-8FA3-3BB439FAE681}" dt="2025-10-05T01:12:42.872" v="5927" actId="14100"/>
          <ac:spMkLst>
            <pc:docMk/>
            <pc:sldMk cId="2089407026" sldId="738"/>
            <ac:spMk id="3" creationId="{786A0D55-1F9C-4DEC-8B8B-E7A7E83C4DFF}"/>
          </ac:spMkLst>
        </pc:spChg>
      </pc:sldChg>
      <pc:sldChg chg="modSp add mod">
        <pc:chgData name="kolawole oladotun" userId="ef802625cd3b7e04" providerId="LiveId" clId="{FF1046CE-A340-4052-8FA3-3BB439FAE681}" dt="2025-10-05T01:09:31.598" v="5894" actId="1076"/>
        <pc:sldMkLst>
          <pc:docMk/>
          <pc:sldMk cId="3749455565" sldId="739"/>
        </pc:sldMkLst>
        <pc:spChg chg="mod">
          <ac:chgData name="kolawole oladotun" userId="ef802625cd3b7e04" providerId="LiveId" clId="{FF1046CE-A340-4052-8FA3-3BB439FAE681}" dt="2025-10-05T01:09:31.598" v="5894" actId="1076"/>
          <ac:spMkLst>
            <pc:docMk/>
            <pc:sldMk cId="3749455565" sldId="739"/>
            <ac:spMk id="2" creationId="{D06A8615-8B68-4985-8F2E-19C8210B2037}"/>
          </ac:spMkLst>
        </pc:spChg>
        <pc:spChg chg="mod">
          <ac:chgData name="kolawole oladotun" userId="ef802625cd3b7e04" providerId="LiveId" clId="{FF1046CE-A340-4052-8FA3-3BB439FAE681}" dt="2025-10-05T01:09:24.304" v="5893" actId="5793"/>
          <ac:spMkLst>
            <pc:docMk/>
            <pc:sldMk cId="3749455565" sldId="739"/>
            <ac:spMk id="3" creationId="{BC110C5E-6E54-4E2E-A418-F695A665B6B5}"/>
          </ac:spMkLst>
        </pc:spChg>
      </pc:sldChg>
      <pc:sldChg chg="modSp new del mod">
        <pc:chgData name="kolawole oladotun" userId="ef802625cd3b7e04" providerId="LiveId" clId="{FF1046CE-A340-4052-8FA3-3BB439FAE681}" dt="2025-10-04T12:21:03.739" v="2114" actId="2696"/>
        <pc:sldMkLst>
          <pc:docMk/>
          <pc:sldMk cId="643914471" sldId="740"/>
        </pc:sldMkLst>
        <pc:spChg chg="mod">
          <ac:chgData name="kolawole oladotun" userId="ef802625cd3b7e04" providerId="LiveId" clId="{FF1046CE-A340-4052-8FA3-3BB439FAE681}" dt="2025-10-04T12:20:11.433" v="2098" actId="20577"/>
          <ac:spMkLst>
            <pc:docMk/>
            <pc:sldMk cId="643914471" sldId="740"/>
            <ac:spMk id="2" creationId="{5CFD5F7C-9195-4C3C-A5EB-5C0DE2F45716}"/>
          </ac:spMkLst>
        </pc:spChg>
        <pc:spChg chg="mod">
          <ac:chgData name="kolawole oladotun" userId="ef802625cd3b7e04" providerId="LiveId" clId="{FF1046CE-A340-4052-8FA3-3BB439FAE681}" dt="2025-10-04T12:20:53.389" v="2112" actId="20577"/>
          <ac:spMkLst>
            <pc:docMk/>
            <pc:sldMk cId="643914471" sldId="740"/>
            <ac:spMk id="3" creationId="{2C1D3B19-8628-4992-B186-872AF95E9CC6}"/>
          </ac:spMkLst>
        </pc:spChg>
      </pc:sldChg>
      <pc:sldChg chg="modSp add mod">
        <pc:chgData name="kolawole oladotun" userId="ef802625cd3b7e04" providerId="LiveId" clId="{FF1046CE-A340-4052-8FA3-3BB439FAE681}" dt="2025-10-05T01:10:59.248" v="5912" actId="255"/>
        <pc:sldMkLst>
          <pc:docMk/>
          <pc:sldMk cId="2513326604" sldId="741"/>
        </pc:sldMkLst>
        <pc:spChg chg="mod">
          <ac:chgData name="kolawole oladotun" userId="ef802625cd3b7e04" providerId="LiveId" clId="{FF1046CE-A340-4052-8FA3-3BB439FAE681}" dt="2025-10-05T01:10:15.310" v="5901" actId="1076"/>
          <ac:spMkLst>
            <pc:docMk/>
            <pc:sldMk cId="2513326604" sldId="741"/>
            <ac:spMk id="2" creationId="{00000000-0000-0000-0000-000000000000}"/>
          </ac:spMkLst>
        </pc:spChg>
        <pc:spChg chg="mod">
          <ac:chgData name="kolawole oladotun" userId="ef802625cd3b7e04" providerId="LiveId" clId="{FF1046CE-A340-4052-8FA3-3BB439FAE681}" dt="2025-10-05T01:10:59.248" v="5912" actId="255"/>
          <ac:spMkLst>
            <pc:docMk/>
            <pc:sldMk cId="2513326604" sldId="741"/>
            <ac:spMk id="3" creationId="{00000000-0000-0000-0000-000000000000}"/>
          </ac:spMkLst>
        </pc:spChg>
      </pc:sldChg>
      <pc:sldChg chg="modSp add mod">
        <pc:chgData name="kolawole oladotun" userId="ef802625cd3b7e04" providerId="LiveId" clId="{FF1046CE-A340-4052-8FA3-3BB439FAE681}" dt="2025-10-05T01:12:34.192" v="5926" actId="1076"/>
        <pc:sldMkLst>
          <pc:docMk/>
          <pc:sldMk cId="3722355933" sldId="742"/>
        </pc:sldMkLst>
        <pc:spChg chg="mod">
          <ac:chgData name="kolawole oladotun" userId="ef802625cd3b7e04" providerId="LiveId" clId="{FF1046CE-A340-4052-8FA3-3BB439FAE681}" dt="2025-10-05T01:12:34.192" v="5926" actId="1076"/>
          <ac:spMkLst>
            <pc:docMk/>
            <pc:sldMk cId="3722355933" sldId="742"/>
            <ac:spMk id="2" creationId="{893A79EF-85DF-44BA-B9B2-30369B4DC09F}"/>
          </ac:spMkLst>
        </pc:spChg>
        <pc:spChg chg="mod">
          <ac:chgData name="kolawole oladotun" userId="ef802625cd3b7e04" providerId="LiveId" clId="{FF1046CE-A340-4052-8FA3-3BB439FAE681}" dt="2025-10-05T01:12:28.176" v="5925" actId="1076"/>
          <ac:spMkLst>
            <pc:docMk/>
            <pc:sldMk cId="3722355933" sldId="742"/>
            <ac:spMk id="3" creationId="{786A0D55-1F9C-4DEC-8B8B-E7A7E83C4DFF}"/>
          </ac:spMkLst>
        </pc:spChg>
      </pc:sldChg>
      <pc:sldChg chg="modSp add mod">
        <pc:chgData name="kolawole oladotun" userId="ef802625cd3b7e04" providerId="LiveId" clId="{FF1046CE-A340-4052-8FA3-3BB439FAE681}" dt="2025-10-05T01:13:24.760" v="5933" actId="1076"/>
        <pc:sldMkLst>
          <pc:docMk/>
          <pc:sldMk cId="4049088325" sldId="743"/>
        </pc:sldMkLst>
        <pc:spChg chg="mod">
          <ac:chgData name="kolawole oladotun" userId="ef802625cd3b7e04" providerId="LiveId" clId="{FF1046CE-A340-4052-8FA3-3BB439FAE681}" dt="2025-10-05T01:13:20.014" v="5932" actId="1076"/>
          <ac:spMkLst>
            <pc:docMk/>
            <pc:sldMk cId="4049088325" sldId="743"/>
            <ac:spMk id="2" creationId="{893A79EF-85DF-44BA-B9B2-30369B4DC09F}"/>
          </ac:spMkLst>
        </pc:spChg>
        <pc:spChg chg="mod">
          <ac:chgData name="kolawole oladotun" userId="ef802625cd3b7e04" providerId="LiveId" clId="{FF1046CE-A340-4052-8FA3-3BB439FAE681}" dt="2025-10-05T01:13:24.760" v="5933" actId="1076"/>
          <ac:spMkLst>
            <pc:docMk/>
            <pc:sldMk cId="4049088325" sldId="743"/>
            <ac:spMk id="3" creationId="{786A0D55-1F9C-4DEC-8B8B-E7A7E83C4DFF}"/>
          </ac:spMkLst>
        </pc:spChg>
      </pc:sldChg>
    </pc:docChg>
  </pc:docChgLst>
  <pc:docChgLst>
    <pc:chgData name="kolawole oladotun" userId="ef802625cd3b7e04" providerId="LiveId" clId="{0A6F81FF-55CF-4A92-B12B-77B1D6DD6427}"/>
    <pc:docChg chg="undo custSel delSld modSld sldOrd">
      <pc:chgData name="kolawole oladotun" userId="ef802625cd3b7e04" providerId="LiveId" clId="{0A6F81FF-55CF-4A92-B12B-77B1D6DD6427}" dt="2025-10-15T12:02:30.991" v="5" actId="20577"/>
      <pc:docMkLst>
        <pc:docMk/>
      </pc:docMkLst>
      <pc:sldChg chg="modSp mod">
        <pc:chgData name="kolawole oladotun" userId="ef802625cd3b7e04" providerId="LiveId" clId="{0A6F81FF-55CF-4A92-B12B-77B1D6DD6427}" dt="2025-10-15T12:02:30.991" v="5" actId="20577"/>
        <pc:sldMkLst>
          <pc:docMk/>
          <pc:sldMk cId="0" sldId="281"/>
        </pc:sldMkLst>
        <pc:spChg chg="mod">
          <ac:chgData name="kolawole oladotun" userId="ef802625cd3b7e04" providerId="LiveId" clId="{0A6F81FF-55CF-4A92-B12B-77B1D6DD6427}" dt="2025-10-15T12:02:30.991" v="5" actId="20577"/>
          <ac:spMkLst>
            <pc:docMk/>
            <pc:sldMk cId="0" sldId="281"/>
            <ac:spMk id="6" creationId="{00000000-0000-0000-0000-000000000000}"/>
          </ac:spMkLst>
        </pc:spChg>
      </pc:sldChg>
      <pc:sldChg chg="del ord">
        <pc:chgData name="kolawole oladotun" userId="ef802625cd3b7e04" providerId="LiveId" clId="{0A6F81FF-55CF-4A92-B12B-77B1D6DD6427}" dt="2025-10-13T02:53:44.081" v="3" actId="2696"/>
        <pc:sldMkLst>
          <pc:docMk/>
          <pc:sldMk cId="800552053" sldId="59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22F73B2-7CF1-4832-BF09-2E3D082F4856}" type="datetimeFigureOut">
              <a:rPr lang="en-US" smtClean="0"/>
              <a:pPr/>
              <a:t>10/15/2025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02B329-9B4F-43B9-920A-39268306AFA7}" type="slidenum">
              <a:rPr lang="en-US" smtClean="0"/>
              <a:pPr/>
              <a:t>‹#›</a:t>
            </a:fld>
            <a:endParaRPr lang="en-US"/>
          </a:p>
        </p:txBody>
      </p:sp>
    </p:spTree>
    <p:extLst>
      <p:ext uri="{BB962C8B-B14F-4D97-AF65-F5344CB8AC3E}">
        <p14:creationId xmlns:p14="http://schemas.microsoft.com/office/powerpoint/2010/main" val="24629890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EDA5C1-9818-47C9-A79E-B4D4158DD3E3}" type="datetimeFigureOut">
              <a:rPr lang="en-GB" smtClean="0"/>
              <a:pPr/>
              <a:t>15/10/2025</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D498802-2017-4E9A-A8AF-781802F703C5}" type="slidenum">
              <a:rPr lang="en-GB" smtClean="0"/>
              <a:pPr/>
              <a:t>‹#›</a:t>
            </a:fld>
            <a:endParaRPr lang="en-GB"/>
          </a:p>
        </p:txBody>
      </p:sp>
    </p:spTree>
    <p:extLst>
      <p:ext uri="{BB962C8B-B14F-4D97-AF65-F5344CB8AC3E}">
        <p14:creationId xmlns:p14="http://schemas.microsoft.com/office/powerpoint/2010/main" val="3063224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9D498802-2017-4E9A-A8AF-781802F703C5}" type="slidenum">
              <a:rPr lang="en-GB" smtClean="0"/>
              <a:pPr/>
              <a:t>1</a:t>
            </a:fld>
            <a:endParaRPr lang="en-GB"/>
          </a:p>
        </p:txBody>
      </p:sp>
    </p:spTree>
    <p:extLst>
      <p:ext uri="{BB962C8B-B14F-4D97-AF65-F5344CB8AC3E}">
        <p14:creationId xmlns:p14="http://schemas.microsoft.com/office/powerpoint/2010/main" val="2102429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1" y="2130427"/>
            <a:ext cx="10366375"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7575"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614" y="4406902"/>
            <a:ext cx="10366375"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614" y="2906713"/>
            <a:ext cx="10366375"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600202"/>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3788" y="1600202"/>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1" y="1535113"/>
            <a:ext cx="53879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1" y="2174875"/>
            <a:ext cx="53879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4425" y="1535113"/>
            <a:ext cx="5391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4425" y="2174875"/>
            <a:ext cx="5391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612"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7263" y="273052"/>
            <a:ext cx="68183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2" y="1435102"/>
            <a:ext cx="401161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776" y="4800600"/>
            <a:ext cx="7316788"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90776" y="612775"/>
            <a:ext cx="7316788"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390776" y="5367338"/>
            <a:ext cx="731678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2375" y="274640"/>
            <a:ext cx="27432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602" y="274640"/>
            <a:ext cx="8080374"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 name="Picture 2" descr="C:\Users\Ours\Desktop\flash\c.u..jpg"/>
          <p:cNvPicPr>
            <a:picLocks noChangeAspect="1" noChangeArrowheads="1"/>
          </p:cNvPicPr>
          <p:nvPr userDrawn="1"/>
        </p:nvPicPr>
        <p:blipFill>
          <a:blip r:embed="rId2" cstate="print">
            <a:duotone>
              <a:prstClr val="black"/>
              <a:srgbClr val="800080">
                <a:alpha val="78824"/>
                <a:tint val="45000"/>
                <a:satMod val="400000"/>
              </a:srgbClr>
            </a:duotone>
          </a:blip>
          <a:srcRect t="-169" b="15477"/>
          <a:stretch>
            <a:fillRect/>
          </a:stretch>
        </p:blipFill>
        <p:spPr bwMode="auto">
          <a:xfrm>
            <a:off x="1" y="-54768"/>
            <a:ext cx="12281948" cy="6912768"/>
          </a:xfrm>
          <a:prstGeom prst="rect">
            <a:avLst/>
          </a:prstGeom>
          <a:noFill/>
        </p:spPr>
      </p:pic>
      <p:pic>
        <p:nvPicPr>
          <p:cNvPr id="8" name="Picture 2" descr="C:\Users\Ours\Desktop\my stuffs\1 NTFS_000\LostFiles2\INSPIRATION\PROJECTS\MIND PROJECTS\cu_logo.png"/>
          <p:cNvPicPr>
            <a:picLocks noChangeAspect="1" noChangeArrowheads="1"/>
          </p:cNvPicPr>
          <p:nvPr userDrawn="1"/>
        </p:nvPicPr>
        <p:blipFill>
          <a:blip r:embed="rId3" cstate="print"/>
          <a:srcRect/>
          <a:stretch>
            <a:fillRect/>
          </a:stretch>
        </p:blipFill>
        <p:spPr bwMode="auto">
          <a:xfrm>
            <a:off x="264940" y="548680"/>
            <a:ext cx="1216557" cy="1296144"/>
          </a:xfrm>
          <a:prstGeom prst="rect">
            <a:avLst/>
          </a:prstGeom>
          <a:noFill/>
        </p:spPr>
      </p:pic>
      <p:sp>
        <p:nvSpPr>
          <p:cNvPr id="10" name="Title 1"/>
          <p:cNvSpPr>
            <a:spLocks noGrp="1"/>
          </p:cNvSpPr>
          <p:nvPr userDrawn="1">
            <p:ph type="ctrTitle"/>
          </p:nvPr>
        </p:nvSpPr>
        <p:spPr>
          <a:xfrm>
            <a:off x="914638" y="2204865"/>
            <a:ext cx="10365899" cy="2520280"/>
          </a:xfrm>
          <a:solidFill>
            <a:srgbClr val="CC3399">
              <a:alpha val="83137"/>
            </a:srgbClr>
          </a:solidFill>
        </p:spPr>
        <p:txBody>
          <a:bodyPr>
            <a:normAutofit/>
          </a:bodyPr>
          <a:lstStyle/>
          <a:p>
            <a:endParaRPr lang="en-GB" sz="6600" b="1" dirty="0">
              <a:solidFill>
                <a:schemeClr val="bg1"/>
              </a:solidFill>
              <a:latin typeface="Rockwell" pitchFamily="18" charset="0"/>
            </a:endParaRPr>
          </a:p>
        </p:txBody>
      </p:sp>
      <p:sp>
        <p:nvSpPr>
          <p:cNvPr id="11" name="Subtitle 2"/>
          <p:cNvSpPr>
            <a:spLocks noGrp="1"/>
          </p:cNvSpPr>
          <p:nvPr userDrawn="1">
            <p:ph type="subTitle" idx="1"/>
          </p:nvPr>
        </p:nvSpPr>
        <p:spPr>
          <a:xfrm>
            <a:off x="1705100" y="4869160"/>
            <a:ext cx="8536623" cy="1752600"/>
          </a:xfrm>
          <a:solidFill>
            <a:srgbClr val="FFFFFF">
              <a:alpha val="63137"/>
            </a:srgbClr>
          </a:solidFill>
        </p:spPr>
        <p:txBody>
          <a:bodyPr>
            <a:normAutofit/>
          </a:bodyPr>
          <a:lstStyle>
            <a:lvl1pPr algn="ctr">
              <a:buNone/>
              <a:defRPr sz="4000">
                <a:ln>
                  <a:noFill/>
                </a:ln>
                <a:solidFill>
                  <a:srgbClr val="002060"/>
                </a:solidFill>
              </a:defRPr>
            </a:lvl1pPr>
          </a:lstStyle>
          <a:p>
            <a:endParaRPr lang="en-GB" dirty="0">
              <a:solidFill>
                <a:schemeClr val="bg1"/>
              </a:solidFill>
              <a:latin typeface="Rockwell" pitchFamily="18" charset="0"/>
            </a:endParaRPr>
          </a:p>
        </p:txBody>
      </p:sp>
      <p:sp>
        <p:nvSpPr>
          <p:cNvPr id="13" name="TextBox 12"/>
          <p:cNvSpPr txBox="1"/>
          <p:nvPr userDrawn="1"/>
        </p:nvSpPr>
        <p:spPr>
          <a:xfrm>
            <a:off x="1345059" y="1268760"/>
            <a:ext cx="3979650" cy="400110"/>
          </a:xfrm>
          <a:prstGeom prst="rect">
            <a:avLst/>
          </a:prstGeom>
          <a:noFill/>
        </p:spPr>
        <p:txBody>
          <a:bodyPr wrap="none" rtlCol="0">
            <a:spAutoFit/>
          </a:bodyPr>
          <a:lstStyle/>
          <a:p>
            <a:r>
              <a:rPr lang="en-US" sz="2000" dirty="0">
                <a:solidFill>
                  <a:srgbClr val="662C5B"/>
                </a:solidFill>
              </a:rPr>
              <a:t>Raising a new Generation of Leaders</a:t>
            </a:r>
            <a:endParaRPr lang="en-GB" sz="2000" dirty="0">
              <a:solidFill>
                <a:srgbClr val="662C5B"/>
              </a:solidFill>
            </a:endParaRPr>
          </a:p>
        </p:txBody>
      </p:sp>
      <p:sp>
        <p:nvSpPr>
          <p:cNvPr id="14" name="TextBox 13"/>
          <p:cNvSpPr txBox="1"/>
          <p:nvPr userDrawn="1"/>
        </p:nvSpPr>
        <p:spPr>
          <a:xfrm>
            <a:off x="9003276" y="0"/>
            <a:ext cx="3230910" cy="369332"/>
          </a:xfrm>
          <a:prstGeom prst="rect">
            <a:avLst/>
          </a:prstGeom>
          <a:noFill/>
        </p:spPr>
        <p:txBody>
          <a:bodyPr wrap="none" rtlCol="0">
            <a:spAutoFit/>
          </a:bodyPr>
          <a:lstStyle/>
          <a:p>
            <a:r>
              <a:rPr lang="en-US" sz="1800" dirty="0"/>
              <a:t>www.covenantuniversity.edu.ng</a:t>
            </a:r>
            <a:endParaRPr lang="en-GB" sz="1800" dirty="0"/>
          </a:p>
        </p:txBody>
      </p:sp>
      <p:pic>
        <p:nvPicPr>
          <p:cNvPr id="3074" name="Picture 2" descr="C:\Users\Ours\Desktop\Picture3.png"/>
          <p:cNvPicPr>
            <a:picLocks noChangeAspect="1" noChangeArrowheads="1"/>
          </p:cNvPicPr>
          <p:nvPr userDrawn="1"/>
        </p:nvPicPr>
        <p:blipFill>
          <a:blip r:embed="rId4" cstate="print"/>
          <a:srcRect/>
          <a:stretch>
            <a:fillRect/>
          </a:stretch>
        </p:blipFill>
        <p:spPr bwMode="auto">
          <a:xfrm>
            <a:off x="1129035" y="692698"/>
            <a:ext cx="5065714" cy="817563"/>
          </a:xfrm>
          <a:prstGeom prst="rect">
            <a:avLst/>
          </a:prstGeom>
          <a:noFill/>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242" y="-4763"/>
            <a:ext cx="5016218"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9164" y="1380069"/>
            <a:ext cx="8576855"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6553" y="3996267"/>
            <a:ext cx="698946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5" name="Footer Placeholder 4"/>
          <p:cNvSpPr>
            <a:spLocks noGrp="1"/>
          </p:cNvSpPr>
          <p:nvPr>
            <p:ph type="ftr" sz="quarter" idx="11"/>
          </p:nvPr>
        </p:nvSpPr>
        <p:spPr>
          <a:xfrm>
            <a:off x="5333801" y="5883276"/>
            <a:ext cx="4325170" cy="365125"/>
          </a:xfrm>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34727428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10954708" y="5867132"/>
            <a:ext cx="551311" cy="365125"/>
          </a:xfrm>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41435771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949" y="2666999"/>
            <a:ext cx="8933073"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948" y="4777381"/>
            <a:ext cx="8933074"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5717087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698" y="685801"/>
            <a:ext cx="10021322"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699" y="2667000"/>
            <a:ext cx="489633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9688" y="2667000"/>
            <a:ext cx="4896331"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37969512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640" y="2658533"/>
            <a:ext cx="46083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697" y="3335337"/>
            <a:ext cx="4896331"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2279" y="2667000"/>
            <a:ext cx="462374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9688" y="3335337"/>
            <a:ext cx="4896331"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10339054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38995405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40812296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699" y="1600200"/>
            <a:ext cx="355004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3403" y="685800"/>
            <a:ext cx="6242615"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699" y="2971800"/>
            <a:ext cx="3550045"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38459074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3110" y="1752599"/>
            <a:ext cx="5427571"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6660" y="914400"/>
            <a:ext cx="3281828"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3110" y="3124199"/>
            <a:ext cx="5427571"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15760513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698" y="4732865"/>
            <a:ext cx="10021320"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633" y="932112"/>
            <a:ext cx="8228086"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698" y="5299603"/>
            <a:ext cx="10021320"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7766358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699" y="685800"/>
            <a:ext cx="10021320"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699" y="4343400"/>
            <a:ext cx="1002132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41664231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9028" y="863023"/>
            <a:ext cx="60975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6262" y="2819399"/>
            <a:ext cx="60975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787" y="685801"/>
            <a:ext cx="8992353"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7446" y="3428999"/>
            <a:ext cx="8535037"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698" y="4343400"/>
            <a:ext cx="10021320"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11773211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700" y="3308581"/>
            <a:ext cx="10021318"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699" y="4777381"/>
            <a:ext cx="10021319"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5262750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9028" y="863023"/>
            <a:ext cx="60975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6262" y="2819399"/>
            <a:ext cx="60975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787" y="685801"/>
            <a:ext cx="8992353"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700" y="3886200"/>
            <a:ext cx="10021319"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699" y="4775200"/>
            <a:ext cx="10021319"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38513971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700" y="685801"/>
            <a:ext cx="1002132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699" y="3505200"/>
            <a:ext cx="1002132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698" y="4343400"/>
            <a:ext cx="1002132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4465986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1507230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5190" y="685800"/>
            <a:ext cx="1770830"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699" y="685800"/>
            <a:ext cx="8021830"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FA4263-B01D-4F49-B558-EEB448DAF4C2}" type="datetimeFigureOut">
              <a:rPr lang="en-GB" smtClean="0"/>
              <a:pPr/>
              <a:t>15/10/2025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a:p>
        </p:txBody>
      </p:sp>
    </p:spTree>
    <p:extLst>
      <p:ext uri="{BB962C8B-B14F-4D97-AF65-F5344CB8AC3E}">
        <p14:creationId xmlns:p14="http://schemas.microsoft.com/office/powerpoint/2010/main" val="816516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5975"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1600202"/>
            <a:ext cx="10975975"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09601" y="6356352"/>
            <a:ext cx="284638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FA4263-B01D-4F49-B558-EEB448DAF4C2}" type="datetimeFigureOut">
              <a:rPr lang="en-GB" smtClean="0"/>
              <a:pPr/>
              <a:t>15/10/2025</a:t>
            </a:fld>
            <a:endParaRPr lang="en-GB"/>
          </a:p>
        </p:txBody>
      </p:sp>
      <p:sp>
        <p:nvSpPr>
          <p:cNvPr id="5" name="Footer Placeholder 4"/>
          <p:cNvSpPr>
            <a:spLocks noGrp="1"/>
          </p:cNvSpPr>
          <p:nvPr>
            <p:ph type="ftr" sz="quarter" idx="3"/>
          </p:nvPr>
        </p:nvSpPr>
        <p:spPr>
          <a:xfrm>
            <a:off x="4167188" y="6356352"/>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739189" y="6356352"/>
            <a:ext cx="284638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BBD965-F460-422A-A842-9BE9972FC43E}"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4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52" y="1"/>
            <a:ext cx="2437448"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698" y="685801"/>
            <a:ext cx="10021322"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697" y="2667000"/>
            <a:ext cx="10021322"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5190" y="5883276"/>
            <a:ext cx="1143298"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4FA4263-B01D-4F49-B558-EEB448DAF4C2}" type="datetimeFigureOut">
              <a:rPr lang="en-GB" smtClean="0"/>
              <a:pPr/>
              <a:t>15/10/2025</a:t>
            </a:fld>
            <a:endParaRPr lang="en-GB"/>
          </a:p>
        </p:txBody>
      </p:sp>
      <p:sp>
        <p:nvSpPr>
          <p:cNvPr id="5" name="Footer Placeholder 4"/>
          <p:cNvSpPr>
            <a:spLocks noGrp="1"/>
          </p:cNvSpPr>
          <p:nvPr>
            <p:ph type="ftr" sz="quarter" idx="3"/>
          </p:nvPr>
        </p:nvSpPr>
        <p:spPr>
          <a:xfrm>
            <a:off x="2572949" y="5883276"/>
            <a:ext cx="7086022"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GB"/>
          </a:p>
        </p:txBody>
      </p:sp>
      <p:sp>
        <p:nvSpPr>
          <p:cNvPr id="6" name="Slide Number Placeholder 5"/>
          <p:cNvSpPr>
            <a:spLocks noGrp="1"/>
          </p:cNvSpPr>
          <p:nvPr>
            <p:ph type="sldNum" sz="quarter" idx="4"/>
          </p:nvPr>
        </p:nvSpPr>
        <p:spPr>
          <a:xfrm>
            <a:off x="10954708" y="5883276"/>
            <a:ext cx="551311"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9BBD965-F460-422A-A842-9BE9972FC43E}" type="slidenum">
              <a:rPr lang="en-GB" smtClean="0"/>
              <a:pPr/>
              <a:t>‹#›</a:t>
            </a:fld>
            <a:endParaRPr lang="en-GB"/>
          </a:p>
        </p:txBody>
      </p:sp>
    </p:spTree>
    <p:extLst>
      <p:ext uri="{BB962C8B-B14F-4D97-AF65-F5344CB8AC3E}">
        <p14:creationId xmlns:p14="http://schemas.microsoft.com/office/powerpoint/2010/main" val="2283107206"/>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 id="2147483853" r:id="rId6"/>
    <p:sldLayoutId id="2147483854" r:id="rId7"/>
    <p:sldLayoutId id="2147483855" r:id="rId8"/>
    <p:sldLayoutId id="2147483856" r:id="rId9"/>
    <p:sldLayoutId id="2147483857" r:id="rId10"/>
    <p:sldLayoutId id="2147483858" r:id="rId11"/>
    <p:sldLayoutId id="2147483859" r:id="rId12"/>
    <p:sldLayoutId id="2147483860" r:id="rId13"/>
    <p:sldLayoutId id="2147483861" r:id="rId14"/>
    <p:sldLayoutId id="2147483862" r:id="rId15"/>
    <p:sldLayoutId id="2147483863" r:id="rId16"/>
    <p:sldLayoutId id="2147483864"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95101" y="1340768"/>
            <a:ext cx="9802687" cy="994410"/>
          </a:xfrm>
        </p:spPr>
        <p:txBody>
          <a:bodyPr>
            <a:noAutofit/>
          </a:bodyPr>
          <a:lstStyle/>
          <a:p>
            <a:br>
              <a:rPr lang="en-US" sz="2400" b="1" dirty="0">
                <a:effectLst/>
                <a:latin typeface="Arial" panose="020B0604020202020204" pitchFamily="34" charset="0"/>
                <a:ea typeface="Calibri" panose="020F0502020204030204" pitchFamily="34" charset="0"/>
                <a:cs typeface="Arial" panose="020B0604020202020204" pitchFamily="34" charset="0"/>
              </a:rPr>
            </a:br>
            <a:br>
              <a:rPr lang="en-US" sz="3600" b="1" dirty="0">
                <a:latin typeface="Arial" panose="020B0604020202020204" pitchFamily="34" charset="0"/>
                <a:cs typeface="Arial" panose="020B0604020202020204" pitchFamily="34" charset="0"/>
              </a:rPr>
            </a:br>
            <a:br>
              <a:rPr lang="en-US" sz="3200" b="1" dirty="0">
                <a:solidFill>
                  <a:schemeClr val="tx1"/>
                </a:solidFill>
                <a:latin typeface="Arial" panose="020B0604020202020204" pitchFamily="34" charset="0"/>
                <a:cs typeface="Arial" panose="020B0604020202020204" pitchFamily="34" charset="0"/>
              </a:rPr>
            </a:br>
            <a:br>
              <a:rPr lang="en-US" sz="3200" b="1" dirty="0">
                <a:solidFill>
                  <a:schemeClr val="tx1"/>
                </a:solidFill>
                <a:latin typeface="Arial" panose="020B0604020202020204" pitchFamily="34" charset="0"/>
                <a:cs typeface="Arial" panose="020B0604020202020204" pitchFamily="34" charset="0"/>
              </a:rPr>
            </a:br>
            <a:br>
              <a:rPr lang="en-US" sz="3200" b="1" dirty="0">
                <a:solidFill>
                  <a:schemeClr val="tx1"/>
                </a:solidFill>
                <a:latin typeface="Arial" panose="020B0604020202020204" pitchFamily="34" charset="0"/>
                <a:cs typeface="Arial" panose="020B0604020202020204" pitchFamily="34" charset="0"/>
              </a:rPr>
            </a:br>
            <a:br>
              <a:rPr lang="en-US" sz="3200" b="1" dirty="0">
                <a:solidFill>
                  <a:schemeClr val="tx1"/>
                </a:solidFill>
                <a:latin typeface="Arial" panose="020B0604020202020204" pitchFamily="34" charset="0"/>
                <a:cs typeface="Arial" panose="020B0604020202020204" pitchFamily="34" charset="0"/>
              </a:rPr>
            </a:br>
            <a:r>
              <a:rPr lang="en-US" sz="3200" b="1" dirty="0">
                <a:solidFill>
                  <a:schemeClr val="tx1"/>
                </a:solidFill>
                <a:latin typeface="Arial" panose="020B0604020202020204" pitchFamily="34" charset="0"/>
                <a:cs typeface="Arial" panose="020B0604020202020204" pitchFamily="34" charset="0"/>
              </a:rPr>
              <a:t>ENTREPRENEURSHIP (</a:t>
            </a:r>
            <a:r>
              <a:rPr lang="en-US" sz="3200" b="1">
                <a:solidFill>
                  <a:schemeClr val="tx1"/>
                </a:solidFill>
                <a:latin typeface="Arial" panose="020B0604020202020204" pitchFamily="34" charset="0"/>
                <a:cs typeface="Arial" panose="020B0604020202020204" pitchFamily="34" charset="0"/>
              </a:rPr>
              <a:t>ENT 411</a:t>
            </a:r>
            <a:r>
              <a:rPr lang="en-US" sz="3200" b="1" dirty="0">
                <a:solidFill>
                  <a:schemeClr val="tx1"/>
                </a:solidFill>
                <a:latin typeface="Arial" panose="020B0604020202020204" pitchFamily="34" charset="0"/>
                <a:cs typeface="Arial" panose="020B0604020202020204" pitchFamily="34" charset="0"/>
              </a:rPr>
              <a:t>)</a:t>
            </a:r>
            <a:br>
              <a:rPr lang="en-US" sz="2400" dirty="0">
                <a:solidFill>
                  <a:schemeClr val="tx1"/>
                </a:solidFill>
                <a:latin typeface="Arial" panose="020B0604020202020204" pitchFamily="34" charset="0"/>
                <a:cs typeface="Arial" panose="020B0604020202020204" pitchFamily="34" charset="0"/>
              </a:rPr>
            </a:br>
            <a:br>
              <a:rPr lang="en-US" sz="2400" kern="100" dirty="0">
                <a:effectLst/>
                <a:latin typeface="Arial" panose="020B0604020202020204" pitchFamily="34" charset="0"/>
                <a:ea typeface="Aptos" panose="020B0004020202020204" pitchFamily="34" charset="0"/>
                <a:cs typeface="Arial" panose="020B0604020202020204" pitchFamily="34" charset="0"/>
              </a:rPr>
            </a:br>
            <a:endParaRPr lang="en-GB" sz="2400" dirty="0">
              <a:latin typeface="Arial" panose="020B0604020202020204" pitchFamily="34" charset="0"/>
              <a:cs typeface="Arial" panose="020B0604020202020204" pitchFamily="34" charset="0"/>
            </a:endParaRPr>
          </a:p>
        </p:txBody>
      </p:sp>
      <p:sp>
        <p:nvSpPr>
          <p:cNvPr id="7" name="Subtitle 6"/>
          <p:cNvSpPr>
            <a:spLocks noGrp="1"/>
          </p:cNvSpPr>
          <p:nvPr>
            <p:ph type="subTitle" idx="1"/>
          </p:nvPr>
        </p:nvSpPr>
        <p:spPr>
          <a:xfrm>
            <a:off x="1561083" y="1556792"/>
            <a:ext cx="9649072" cy="4248472"/>
          </a:xfrm>
        </p:spPr>
        <p:txBody>
          <a:bodyPr>
            <a:noAutofit/>
          </a:bodyPr>
          <a:lstStyle/>
          <a:p>
            <a:pPr algn="ctr"/>
            <a:endParaRPr lang="en-US" sz="2400" b="1" cap="all" dirty="0">
              <a:solidFill>
                <a:prstClr val="black"/>
              </a:solidFill>
              <a:latin typeface="Arial" panose="020B0604020202020204" pitchFamily="34" charset="0"/>
              <a:ea typeface="Calibri" panose="020F0502020204030204" pitchFamily="34" charset="0"/>
              <a:cs typeface="Arial" panose="020B0604020202020204" pitchFamily="34" charset="0"/>
            </a:endParaRPr>
          </a:p>
          <a:p>
            <a:pPr algn="ctr"/>
            <a:endParaRPr lang="en-US" sz="2400" b="1" cap="all" dirty="0">
              <a:solidFill>
                <a:prstClr val="black"/>
              </a:solidFill>
              <a:latin typeface="Arial" panose="020B0604020202020204" pitchFamily="34" charset="0"/>
              <a:ea typeface="Calibri" panose="020F0502020204030204" pitchFamily="34" charset="0"/>
              <a:cs typeface="Arial" panose="020B0604020202020204" pitchFamily="34" charset="0"/>
            </a:endParaRPr>
          </a:p>
          <a:p>
            <a:pPr algn="ctr"/>
            <a:endParaRPr lang="en-US" sz="2400" b="1" cap="all" dirty="0">
              <a:solidFill>
                <a:prstClr val="black"/>
              </a:solidFill>
              <a:latin typeface="Arial" panose="020B0604020202020204" pitchFamily="34" charset="0"/>
              <a:ea typeface="Calibri" panose="020F0502020204030204" pitchFamily="34" charset="0"/>
              <a:cs typeface="Arial" panose="020B0604020202020204" pitchFamily="34" charset="0"/>
            </a:endParaRPr>
          </a:p>
          <a:p>
            <a:pPr algn="ctr"/>
            <a:r>
              <a:rPr lang="en-US" sz="2400" b="1" cap="all" dirty="0">
                <a:solidFill>
                  <a:prstClr val="black"/>
                </a:solidFill>
                <a:latin typeface="Arial" panose="020B0604020202020204" pitchFamily="34" charset="0"/>
                <a:ea typeface="Calibri" panose="020F0502020204030204" pitchFamily="34" charset="0"/>
                <a:cs typeface="Arial" panose="020B0604020202020204" pitchFamily="34" charset="0"/>
              </a:rPr>
              <a:t>DR. ABIMBOLA OLADOTUN</a:t>
            </a:r>
            <a:endParaRPr lang="en-US" sz="2400" dirty="0">
              <a:solidFill>
                <a:schemeClr val="tx1"/>
              </a:solidFill>
              <a:latin typeface="Arial" panose="020B0604020202020204" pitchFamily="34" charset="0"/>
              <a:cs typeface="Arial" panose="020B0604020202020204" pitchFamily="34" charset="0"/>
            </a:endParaRPr>
          </a:p>
          <a:p>
            <a:pPr algn="ctr"/>
            <a:endParaRPr lang="en-US" sz="2400" dirty="0">
              <a:solidFill>
                <a:schemeClr val="tx1"/>
              </a:solidFill>
              <a:latin typeface="Arial" panose="020B0604020202020204" pitchFamily="34" charset="0"/>
              <a:cs typeface="Arial" panose="020B0604020202020204" pitchFamily="34" charset="0"/>
            </a:endParaRPr>
          </a:p>
          <a:p>
            <a:pPr algn="ctr">
              <a:lnSpc>
                <a:spcPct val="107000"/>
              </a:lnSpc>
            </a:pPr>
            <a:r>
              <a:rPr lang="en-US" sz="2400" i="1" u="sng" dirty="0">
                <a:solidFill>
                  <a:schemeClr val="tx1"/>
                </a:solidFill>
                <a:latin typeface="Arial" panose="020B0604020202020204" pitchFamily="34" charset="0"/>
                <a:ea typeface="Calibri" panose="020F0502020204030204" pitchFamily="34" charset="0"/>
                <a:cs typeface="Arial" panose="020B0604020202020204" pitchFamily="34" charset="0"/>
              </a:rPr>
              <a:t>oladotun.abimbola@lmu.edu.ng</a:t>
            </a:r>
            <a:endParaRPr lang="en-US" sz="2400" dirty="0">
              <a:solidFill>
                <a:schemeClr val="tx1"/>
              </a:solidFill>
              <a:latin typeface="Arial" panose="020B0604020202020204" pitchFamily="34" charset="0"/>
              <a:ea typeface="Calibri" panose="020F050202020403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FCC843BE-82D7-48FE-B996-CF7779F80660}"/>
              </a:ext>
            </a:extLst>
          </p:cNvPr>
          <p:cNvPicPr/>
          <p:nvPr/>
        </p:nvPicPr>
        <p:blipFill>
          <a:blip r:embed="rId3">
            <a:extLst>
              <a:ext uri="{28A0092B-C50C-407E-A947-70E740481C1C}">
                <a14:useLocalDpi xmlns:a14="http://schemas.microsoft.com/office/drawing/2010/main" val="0"/>
              </a:ext>
            </a:extLst>
          </a:blip>
          <a:srcRect l="12619" t="13414" r="12123" b="10818"/>
          <a:stretch>
            <a:fillRect/>
          </a:stretch>
        </p:blipFill>
        <p:spPr bwMode="auto">
          <a:xfrm>
            <a:off x="192931" y="-44606"/>
            <a:ext cx="2304256" cy="210545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A8615-8B68-4985-8F2E-19C8210B2037}"/>
              </a:ext>
            </a:extLst>
          </p:cNvPr>
          <p:cNvSpPr>
            <a:spLocks noGrp="1"/>
          </p:cNvSpPr>
          <p:nvPr>
            <p:ph type="title"/>
          </p:nvPr>
        </p:nvSpPr>
        <p:spPr>
          <a:xfrm>
            <a:off x="1273051" y="-52784"/>
            <a:ext cx="10021322" cy="1752599"/>
          </a:xfrm>
        </p:spPr>
        <p:txBody>
          <a:bodyPr/>
          <a:lstStyle/>
          <a:p>
            <a:r>
              <a:rPr lang="en-US" b="1" dirty="0"/>
              <a:t>What is an entrepreneur</a:t>
            </a:r>
            <a:endParaRPr lang="en-NG" b="1" dirty="0"/>
          </a:p>
        </p:txBody>
      </p:sp>
      <p:sp>
        <p:nvSpPr>
          <p:cNvPr id="3" name="Content Placeholder 2">
            <a:extLst>
              <a:ext uri="{FF2B5EF4-FFF2-40B4-BE49-F238E27FC236}">
                <a16:creationId xmlns:a16="http://schemas.microsoft.com/office/drawing/2014/main" id="{BC110C5E-6E54-4E2E-A418-F695A665B6B5}"/>
              </a:ext>
            </a:extLst>
          </p:cNvPr>
          <p:cNvSpPr>
            <a:spLocks noGrp="1"/>
          </p:cNvSpPr>
          <p:nvPr>
            <p:ph idx="1"/>
          </p:nvPr>
        </p:nvSpPr>
        <p:spPr>
          <a:xfrm>
            <a:off x="1201043" y="1484784"/>
            <a:ext cx="10585176" cy="4749106"/>
          </a:xfrm>
        </p:spPr>
        <p:txBody>
          <a:bodyPr/>
          <a:lstStyle/>
          <a:p>
            <a:pPr marL="285750" lvl="0" indent="-285750" eaLnBrk="0" fontAlgn="base" hangingPunct="0">
              <a:spcBef>
                <a:spcPct val="0"/>
              </a:spcBef>
              <a:spcAft>
                <a:spcPct val="0"/>
              </a:spcAft>
              <a:buFont typeface="Arial" panose="020B0604020202020204" pitchFamily="34" charset="0"/>
              <a:buChar char="•"/>
            </a:pPr>
            <a:r>
              <a:rPr lang="en-US" sz="2800" dirty="0">
                <a:latin typeface="Arial" panose="020B0604020202020204" pitchFamily="34" charset="0"/>
                <a:ea typeface="Calibri" panose="020F0502020204030204" pitchFamily="34" charset="0"/>
                <a:cs typeface="Arial" panose="020B0604020202020204" pitchFamily="34" charset="0"/>
              </a:rPr>
              <a:t>The word is derived from the French verb </a:t>
            </a:r>
            <a:r>
              <a:rPr lang="en-US" sz="2800" dirty="0" err="1">
                <a:latin typeface="Arial" panose="020B0604020202020204" pitchFamily="34" charset="0"/>
                <a:ea typeface="Calibri" panose="020F0502020204030204" pitchFamily="34" charset="0"/>
                <a:cs typeface="Arial" panose="020B0604020202020204" pitchFamily="34" charset="0"/>
              </a:rPr>
              <a:t>entreprendre</a:t>
            </a:r>
            <a:r>
              <a:rPr lang="en-US" sz="2800" dirty="0">
                <a:latin typeface="Arial" panose="020B0604020202020204" pitchFamily="34" charset="0"/>
                <a:ea typeface="Calibri" panose="020F0502020204030204" pitchFamily="34" charset="0"/>
                <a:cs typeface="Arial" panose="020B0604020202020204" pitchFamily="34" charset="0"/>
              </a:rPr>
              <a:t>, which means to undertake organization, management and to assume business risk. The word was first used by Richard Cantillon, who defined it as individuals who bear risk of buying at certain prices and selling at uncertain prices. (</a:t>
            </a:r>
            <a:r>
              <a:rPr lang="en-US" sz="2800" dirty="0" err="1">
                <a:latin typeface="Arial" panose="020B0604020202020204" pitchFamily="34" charset="0"/>
                <a:ea typeface="Calibri" panose="020F0502020204030204" pitchFamily="34" charset="0"/>
                <a:cs typeface="Arial" panose="020B0604020202020204" pitchFamily="34" charset="0"/>
              </a:rPr>
              <a:t>Messeghem</a:t>
            </a:r>
            <a:r>
              <a:rPr lang="en-US" sz="2800" dirty="0">
                <a:latin typeface="Arial" panose="020B0604020202020204" pitchFamily="34" charset="0"/>
                <a:ea typeface="Calibri" panose="020F0502020204030204" pitchFamily="34" charset="0"/>
                <a:cs typeface="Arial" panose="020B0604020202020204" pitchFamily="34" charset="0"/>
              </a:rPr>
              <a:t> &amp; Torres, 2015). </a:t>
            </a:r>
          </a:p>
          <a:p>
            <a:pPr marL="0" lvl="0" indent="0" eaLnBrk="0" fontAlgn="base" hangingPunct="0">
              <a:spcBef>
                <a:spcPct val="0"/>
              </a:spcBef>
              <a:spcAft>
                <a:spcPct val="0"/>
              </a:spcAft>
              <a:buNone/>
            </a:pPr>
            <a:endParaRPr lang="en-US" sz="2800" dirty="0">
              <a:latin typeface="Arial" panose="020B0604020202020204" pitchFamily="34" charset="0"/>
              <a:ea typeface="Calibri" panose="020F0502020204030204" pitchFamily="34" charset="0"/>
              <a:cs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sz="2800" dirty="0">
                <a:latin typeface="Arial" panose="020B0604020202020204" pitchFamily="34" charset="0"/>
                <a:ea typeface="Calibri" panose="020F0502020204030204" pitchFamily="34" charset="0"/>
                <a:cs typeface="Arial" panose="020B0604020202020204" pitchFamily="34" charset="0"/>
              </a:rPr>
              <a:t>Schumpeter define entrepreneurship as the process by which the economy moves forward through the act of creative disruption or innovation.</a:t>
            </a:r>
            <a:endParaRPr lang="en-US" sz="20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357665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A8615-8B68-4985-8F2E-19C8210B2037}"/>
              </a:ext>
            </a:extLst>
          </p:cNvPr>
          <p:cNvSpPr>
            <a:spLocks noGrp="1"/>
          </p:cNvSpPr>
          <p:nvPr>
            <p:ph type="title"/>
          </p:nvPr>
        </p:nvSpPr>
        <p:spPr>
          <a:xfrm>
            <a:off x="1345059" y="-252190"/>
            <a:ext cx="10021322" cy="1752599"/>
          </a:xfrm>
        </p:spPr>
        <p:txBody>
          <a:bodyPr/>
          <a:lstStyle/>
          <a:p>
            <a:r>
              <a:rPr lang="en-US" b="1" dirty="0"/>
              <a:t>What is Entrepreneurship</a:t>
            </a:r>
            <a:endParaRPr lang="en-NG" b="1" dirty="0"/>
          </a:p>
        </p:txBody>
      </p:sp>
      <p:sp>
        <p:nvSpPr>
          <p:cNvPr id="3" name="Content Placeholder 2">
            <a:extLst>
              <a:ext uri="{FF2B5EF4-FFF2-40B4-BE49-F238E27FC236}">
                <a16:creationId xmlns:a16="http://schemas.microsoft.com/office/drawing/2014/main" id="{BC110C5E-6E54-4E2E-A418-F695A665B6B5}"/>
              </a:ext>
            </a:extLst>
          </p:cNvPr>
          <p:cNvSpPr>
            <a:spLocks noGrp="1"/>
          </p:cNvSpPr>
          <p:nvPr>
            <p:ph idx="1"/>
          </p:nvPr>
        </p:nvSpPr>
        <p:spPr>
          <a:xfrm>
            <a:off x="1484697" y="1484784"/>
            <a:ext cx="10301521" cy="4749106"/>
          </a:xfrm>
        </p:spPr>
        <p:txBody>
          <a:bodyPr/>
          <a:lstStyle/>
          <a:p>
            <a:pPr marL="285750" lvl="0" indent="-285750" eaLnBrk="0" fontAlgn="base" hangingPunct="0">
              <a:spcBef>
                <a:spcPct val="0"/>
              </a:spcBef>
              <a:spcAft>
                <a:spcPct val="0"/>
              </a:spcAft>
              <a:buFont typeface="Arial" panose="020B0604020202020204" pitchFamily="34" charset="0"/>
              <a:buChar char="•"/>
            </a:pPr>
            <a:r>
              <a:rPr lang="en-US" sz="2800" dirty="0">
                <a:latin typeface="Arial" panose="020B0604020202020204" pitchFamily="34" charset="0"/>
                <a:ea typeface="Calibri" panose="020F0502020204030204" pitchFamily="34" charset="0"/>
                <a:cs typeface="Arial" panose="020B0604020202020204" pitchFamily="34" charset="0"/>
              </a:rPr>
              <a:t>Entrepreneurs are persons (business owners) who seek to generate value through creation or expansion of economic activity by identifying and exploiting new products, process or markets.</a:t>
            </a:r>
          </a:p>
          <a:p>
            <a:pPr marL="0" lvl="0" indent="0" eaLnBrk="0" fontAlgn="base" hangingPunct="0">
              <a:spcBef>
                <a:spcPct val="0"/>
              </a:spcBef>
              <a:spcAft>
                <a:spcPct val="0"/>
              </a:spcAft>
              <a:buNone/>
            </a:pPr>
            <a:endParaRPr lang="en-US" sz="2800" dirty="0">
              <a:latin typeface="Arial" panose="020B0604020202020204" pitchFamily="34" charset="0"/>
              <a:ea typeface="Calibri" panose="020F0502020204030204" pitchFamily="34" charset="0"/>
              <a:cs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sz="2800" dirty="0">
                <a:latin typeface="Arial" panose="020B0604020202020204" pitchFamily="34" charset="0"/>
                <a:ea typeface="Calibri" panose="020F0502020204030204" pitchFamily="34" charset="0"/>
                <a:cs typeface="Arial" panose="020B0604020202020204" pitchFamily="34" charset="0"/>
              </a:rPr>
              <a:t>Entrepreneurship is an activity that involves the discovery, evaluation and exploitation of opportunities to introduce new goods and services, ways of organizing, markets, processes and raw material through organizing efforts that previously had not existed. (Venkataraman, 2000)</a:t>
            </a:r>
          </a:p>
        </p:txBody>
      </p:sp>
    </p:spTree>
    <p:extLst>
      <p:ext uri="{BB962C8B-B14F-4D97-AF65-F5344CB8AC3E}">
        <p14:creationId xmlns:p14="http://schemas.microsoft.com/office/powerpoint/2010/main" val="3749455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3211" y="116632"/>
            <a:ext cx="9944794" cy="940966"/>
          </a:xfrm>
        </p:spPr>
        <p:txBody>
          <a:bodyPr>
            <a:normAutofit/>
          </a:bodyPr>
          <a:lstStyle/>
          <a:p>
            <a:pPr algn="l"/>
            <a:r>
              <a:rPr lang="en-US" sz="2800" b="1" dirty="0">
                <a:latin typeface="Rockwell" panose="02060603020205020403" pitchFamily="18" charset="0"/>
              </a:rPr>
              <a:t>DEFINING INNOVATION</a:t>
            </a:r>
          </a:p>
        </p:txBody>
      </p:sp>
      <p:sp>
        <p:nvSpPr>
          <p:cNvPr id="3" name="Content Placeholder 2"/>
          <p:cNvSpPr>
            <a:spLocks noGrp="1"/>
          </p:cNvSpPr>
          <p:nvPr>
            <p:ph idx="1"/>
          </p:nvPr>
        </p:nvSpPr>
        <p:spPr>
          <a:xfrm>
            <a:off x="1273051" y="1484784"/>
            <a:ext cx="10536237" cy="5256584"/>
          </a:xfrm>
        </p:spPr>
        <p:txBody>
          <a:bodyPr>
            <a:normAutofit lnSpcReduction="10000"/>
          </a:bodyPr>
          <a:lstStyle/>
          <a:p>
            <a:pPr algn="just"/>
            <a:r>
              <a:rPr lang="en-US" sz="2300" dirty="0">
                <a:latin typeface="Arial" panose="020B0604020202020204" pitchFamily="34" charset="0"/>
                <a:ea typeface="Calibri" panose="020F0502020204030204" pitchFamily="34" charset="0"/>
                <a:cs typeface="Arial" panose="020B0604020202020204" pitchFamily="34" charset="0"/>
              </a:rPr>
              <a:t>It is a creative destruction</a:t>
            </a:r>
          </a:p>
          <a:p>
            <a:pPr algn="just"/>
            <a:r>
              <a:rPr lang="en-US" sz="2300" b="1" dirty="0">
                <a:latin typeface="Arial" panose="020B0604020202020204" pitchFamily="34" charset="0"/>
                <a:ea typeface="Calibri" panose="020F0502020204030204" pitchFamily="34" charset="0"/>
                <a:cs typeface="Arial" panose="020B0604020202020204" pitchFamily="34" charset="0"/>
              </a:rPr>
              <a:t>PRODUCT INNOVATION – </a:t>
            </a:r>
            <a:r>
              <a:rPr lang="en-US" sz="2300" dirty="0">
                <a:latin typeface="Arial" panose="020B0604020202020204" pitchFamily="34" charset="0"/>
                <a:ea typeface="Calibri" panose="020F0502020204030204" pitchFamily="34" charset="0"/>
                <a:cs typeface="Arial" panose="020B0604020202020204" pitchFamily="34" charset="0"/>
              </a:rPr>
              <a:t>introduction of a goods or service that is new or significantly improved with respect to its characteristic or intended use. Significant improvement in technical specification, components, material, incorporate software, user friendly or other function characteristics</a:t>
            </a:r>
          </a:p>
          <a:p>
            <a:pPr algn="just"/>
            <a:r>
              <a:rPr lang="en-US" sz="2300" b="1" dirty="0">
                <a:latin typeface="Arial" panose="020B0604020202020204" pitchFamily="34" charset="0"/>
                <a:ea typeface="Calibri" panose="020F0502020204030204" pitchFamily="34" charset="0"/>
                <a:cs typeface="Arial" panose="020B0604020202020204" pitchFamily="34" charset="0"/>
              </a:rPr>
              <a:t>PROCESS INNOVATION – </a:t>
            </a:r>
            <a:r>
              <a:rPr lang="en-US" sz="2300" dirty="0">
                <a:latin typeface="Arial" panose="020B0604020202020204" pitchFamily="34" charset="0"/>
                <a:ea typeface="Calibri" panose="020F0502020204030204" pitchFamily="34" charset="0"/>
                <a:cs typeface="Arial" panose="020B0604020202020204" pitchFamily="34" charset="0"/>
              </a:rPr>
              <a:t>is the implementation of a new or significantly improved product on delivery method. Change in technique, equipment or software</a:t>
            </a:r>
          </a:p>
          <a:p>
            <a:pPr algn="just"/>
            <a:r>
              <a:rPr lang="en-US" sz="2300" b="1" dirty="0">
                <a:latin typeface="Arial" panose="020B0604020202020204" pitchFamily="34" charset="0"/>
                <a:ea typeface="Calibri" panose="020F0502020204030204" pitchFamily="34" charset="0"/>
                <a:cs typeface="Arial" panose="020B0604020202020204" pitchFamily="34" charset="0"/>
              </a:rPr>
              <a:t>MARKETING INNOVATION- </a:t>
            </a:r>
            <a:r>
              <a:rPr lang="en-US" sz="2300" dirty="0">
                <a:latin typeface="Arial" panose="020B0604020202020204" pitchFamily="34" charset="0"/>
                <a:ea typeface="Calibri" panose="020F0502020204030204" pitchFamily="34" charset="0"/>
                <a:cs typeface="Arial" panose="020B0604020202020204" pitchFamily="34" charset="0"/>
              </a:rPr>
              <a:t>implementation of a new marketing method involving significant changes in product design or packaging, product placement, product promotion or pricing.</a:t>
            </a:r>
            <a:endParaRPr lang="en-US" sz="2300" b="1" dirty="0">
              <a:latin typeface="Arial" panose="020B0604020202020204" pitchFamily="34" charset="0"/>
              <a:ea typeface="Calibri" panose="020F0502020204030204" pitchFamily="34" charset="0"/>
              <a:cs typeface="Arial" panose="020B0604020202020204" pitchFamily="34" charset="0"/>
            </a:endParaRPr>
          </a:p>
          <a:p>
            <a:pPr algn="just"/>
            <a:r>
              <a:rPr lang="en-US" sz="2300" b="1" dirty="0">
                <a:latin typeface="Arial" panose="020B0604020202020204" pitchFamily="34" charset="0"/>
                <a:ea typeface="Calibri" panose="020F0502020204030204" pitchFamily="34" charset="0"/>
                <a:cs typeface="Arial" panose="020B0604020202020204" pitchFamily="34" charset="0"/>
              </a:rPr>
              <a:t>ORGANISATION INNOVATION- </a:t>
            </a:r>
            <a:r>
              <a:rPr lang="en-US" sz="2300" dirty="0">
                <a:latin typeface="Arial" panose="020B0604020202020204" pitchFamily="34" charset="0"/>
                <a:ea typeface="Calibri" panose="020F0502020204030204" pitchFamily="34" charset="0"/>
                <a:cs typeface="Arial" panose="020B0604020202020204" pitchFamily="34" charset="0"/>
              </a:rPr>
              <a:t>implementation of new organizational method in a firm business practice, workplace organization or external relations.</a:t>
            </a:r>
          </a:p>
          <a:p>
            <a:pPr algn="just"/>
            <a:endParaRPr lang="en-US" sz="2300" dirty="0">
              <a:latin typeface="Arial" panose="020B0604020202020204" pitchFamily="34" charset="0"/>
              <a:ea typeface="Calibri" panose="020F0502020204030204" pitchFamily="34" charset="0"/>
              <a:cs typeface="Arial" panose="020B0604020202020204" pitchFamily="34" charset="0"/>
            </a:endParaRPr>
          </a:p>
          <a:p>
            <a:pPr algn="just"/>
            <a:endParaRPr lang="en-US" sz="20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18266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8105" y="0"/>
            <a:ext cx="9944794" cy="940966"/>
          </a:xfrm>
        </p:spPr>
        <p:txBody>
          <a:bodyPr>
            <a:normAutofit/>
          </a:bodyPr>
          <a:lstStyle/>
          <a:p>
            <a:pPr algn="l"/>
            <a:r>
              <a:rPr lang="en-US" sz="2800" b="1" dirty="0">
                <a:latin typeface="Rockwell" panose="02060603020205020403" pitchFamily="18" charset="0"/>
              </a:rPr>
              <a:t>COMMON CHARACTERISTIC ENTREPRENEUR</a:t>
            </a:r>
          </a:p>
        </p:txBody>
      </p:sp>
      <p:sp>
        <p:nvSpPr>
          <p:cNvPr id="3" name="Content Placeholder 2"/>
          <p:cNvSpPr>
            <a:spLocks noGrp="1"/>
          </p:cNvSpPr>
          <p:nvPr>
            <p:ph idx="1"/>
          </p:nvPr>
        </p:nvSpPr>
        <p:spPr>
          <a:xfrm>
            <a:off x="1864494" y="1124744"/>
            <a:ext cx="9944794" cy="5616624"/>
          </a:xfrm>
        </p:spPr>
        <p:txBody>
          <a:bodyPr>
            <a:normAutofit fontScale="62500" lnSpcReduction="20000"/>
          </a:bodyPr>
          <a:lstStyle/>
          <a:p>
            <a:pPr algn="just"/>
            <a:r>
              <a:rPr lang="en-US" sz="3200" dirty="0">
                <a:latin typeface="Arial" panose="020B0604020202020204" pitchFamily="34" charset="0"/>
                <a:ea typeface="Calibri" panose="020F0502020204030204" pitchFamily="34" charset="0"/>
                <a:cs typeface="Arial" panose="020B0604020202020204" pitchFamily="34" charset="0"/>
              </a:rPr>
              <a:t>An agent of change</a:t>
            </a:r>
          </a:p>
          <a:p>
            <a:pPr algn="just"/>
            <a:r>
              <a:rPr lang="en-US" sz="3200" dirty="0">
                <a:latin typeface="Arial" panose="020B0604020202020204" pitchFamily="34" charset="0"/>
                <a:ea typeface="Calibri" panose="020F0502020204030204" pitchFamily="34" charset="0"/>
                <a:cs typeface="Arial" panose="020B0604020202020204" pitchFamily="34" charset="0"/>
              </a:rPr>
              <a:t>Motivation/high energy level</a:t>
            </a:r>
          </a:p>
          <a:p>
            <a:pPr algn="just"/>
            <a:r>
              <a:rPr lang="en-US" sz="3200" dirty="0">
                <a:latin typeface="Arial" panose="020B0604020202020204" pitchFamily="34" charset="0"/>
                <a:ea typeface="Calibri" panose="020F0502020204030204" pitchFamily="34" charset="0"/>
                <a:cs typeface="Arial" panose="020B0604020202020204" pitchFamily="34" charset="0"/>
              </a:rPr>
              <a:t>Converting Opportunity</a:t>
            </a:r>
          </a:p>
          <a:p>
            <a:pPr algn="just"/>
            <a:r>
              <a:rPr lang="en-US" sz="3200" dirty="0">
                <a:latin typeface="Arial" panose="020B0604020202020204" pitchFamily="34" charset="0"/>
                <a:ea typeface="Calibri" panose="020F0502020204030204" pitchFamily="34" charset="0"/>
                <a:cs typeface="Arial" panose="020B0604020202020204" pitchFamily="34" charset="0"/>
              </a:rPr>
              <a:t>Tolerance of ambiguity/failure</a:t>
            </a:r>
          </a:p>
          <a:p>
            <a:pPr algn="just"/>
            <a:r>
              <a:rPr lang="en-US" sz="3200" dirty="0">
                <a:latin typeface="Arial" panose="020B0604020202020204" pitchFamily="34" charset="0"/>
                <a:ea typeface="Calibri" panose="020F0502020204030204" pitchFamily="34" charset="0"/>
                <a:cs typeface="Arial" panose="020B0604020202020204" pitchFamily="34" charset="0"/>
              </a:rPr>
              <a:t>Commitment, Determination, perseverance</a:t>
            </a:r>
          </a:p>
          <a:p>
            <a:pPr algn="just"/>
            <a:r>
              <a:rPr lang="en-US" sz="3200" dirty="0">
                <a:latin typeface="Arial" panose="020B0604020202020204" pitchFamily="34" charset="0"/>
                <a:ea typeface="Calibri" panose="020F0502020204030204" pitchFamily="34" charset="0"/>
                <a:cs typeface="Arial" panose="020B0604020202020204" pitchFamily="34" charset="0"/>
              </a:rPr>
              <a:t>Drive to achieve</a:t>
            </a:r>
          </a:p>
          <a:p>
            <a:pPr algn="just"/>
            <a:r>
              <a:rPr lang="en-US" sz="3200" dirty="0">
                <a:latin typeface="Arial" panose="020B0604020202020204" pitchFamily="34" charset="0"/>
                <a:ea typeface="Calibri" panose="020F0502020204030204" pitchFamily="34" charset="0"/>
                <a:cs typeface="Arial" panose="020B0604020202020204" pitchFamily="34" charset="0"/>
              </a:rPr>
              <a:t>Opportunity orientation</a:t>
            </a:r>
          </a:p>
          <a:p>
            <a:pPr algn="just"/>
            <a:r>
              <a:rPr lang="en-US" sz="3200" dirty="0">
                <a:latin typeface="Arial" panose="020B0604020202020204" pitchFamily="34" charset="0"/>
                <a:ea typeface="Calibri" panose="020F0502020204030204" pitchFamily="34" charset="0"/>
                <a:cs typeface="Arial" panose="020B0604020202020204" pitchFamily="34" charset="0"/>
              </a:rPr>
              <a:t>Persistent problem solving</a:t>
            </a:r>
          </a:p>
          <a:p>
            <a:pPr algn="just"/>
            <a:r>
              <a:rPr lang="en-US" sz="3200" dirty="0">
                <a:latin typeface="Arial" panose="020B0604020202020204" pitchFamily="34" charset="0"/>
                <a:ea typeface="Calibri" panose="020F0502020204030204" pitchFamily="34" charset="0"/>
                <a:cs typeface="Arial" panose="020B0604020202020204" pitchFamily="34" charset="0"/>
              </a:rPr>
              <a:t>Internal locus of control</a:t>
            </a:r>
          </a:p>
          <a:p>
            <a:pPr algn="just"/>
            <a:r>
              <a:rPr lang="en-US" sz="3200" dirty="0">
                <a:latin typeface="Arial" panose="020B0604020202020204" pitchFamily="34" charset="0"/>
                <a:ea typeface="Calibri" panose="020F0502020204030204" pitchFamily="34" charset="0"/>
                <a:cs typeface="Arial" panose="020B0604020202020204" pitchFamily="34" charset="0"/>
              </a:rPr>
              <a:t>Calculated risk taking</a:t>
            </a:r>
          </a:p>
          <a:p>
            <a:pPr algn="just"/>
            <a:r>
              <a:rPr lang="en-US" sz="3200" dirty="0">
                <a:latin typeface="Arial" panose="020B0604020202020204" pitchFamily="34" charset="0"/>
                <a:ea typeface="Calibri" panose="020F0502020204030204" pitchFamily="34" charset="0"/>
                <a:cs typeface="Arial" panose="020B0604020202020204" pitchFamily="34" charset="0"/>
              </a:rPr>
              <a:t>Creativity and innovation</a:t>
            </a:r>
          </a:p>
          <a:p>
            <a:pPr algn="just"/>
            <a:r>
              <a:rPr lang="en-US" sz="3200" dirty="0">
                <a:latin typeface="Arial" panose="020B0604020202020204" pitchFamily="34" charset="0"/>
                <a:ea typeface="Calibri" panose="020F0502020204030204" pitchFamily="34" charset="0"/>
                <a:cs typeface="Arial" panose="020B0604020202020204" pitchFamily="34" charset="0"/>
              </a:rPr>
              <a:t>Initiative and responsibility</a:t>
            </a:r>
          </a:p>
          <a:p>
            <a:pPr algn="just"/>
            <a:r>
              <a:rPr lang="en-US" sz="3200" dirty="0">
                <a:latin typeface="Arial" panose="020B0604020202020204" pitchFamily="34" charset="0"/>
                <a:ea typeface="Calibri" panose="020F0502020204030204" pitchFamily="34" charset="0"/>
                <a:cs typeface="Arial" panose="020B0604020202020204" pitchFamily="34" charset="0"/>
              </a:rPr>
              <a:t>Team building/seeking feedback</a:t>
            </a:r>
          </a:p>
          <a:p>
            <a:pPr algn="just"/>
            <a:r>
              <a:rPr lang="en-US" sz="3200" dirty="0">
                <a:latin typeface="Arial" panose="020B0604020202020204" pitchFamily="34" charset="0"/>
                <a:ea typeface="Calibri" panose="020F0502020204030204" pitchFamily="34" charset="0"/>
                <a:cs typeface="Arial" panose="020B0604020202020204" pitchFamily="34" charset="0"/>
              </a:rPr>
              <a:t>Self confidence/optimism</a:t>
            </a:r>
          </a:p>
          <a:p>
            <a:pPr algn="just"/>
            <a:endParaRPr lang="en-US" sz="2300" dirty="0">
              <a:latin typeface="Arial" panose="020B0604020202020204" pitchFamily="34" charset="0"/>
              <a:ea typeface="Calibri" panose="020F0502020204030204" pitchFamily="34" charset="0"/>
              <a:cs typeface="Arial" panose="020B0604020202020204" pitchFamily="34" charset="0"/>
            </a:endParaRPr>
          </a:p>
          <a:p>
            <a:pPr algn="just"/>
            <a:endParaRPr lang="en-US" sz="20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13326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1777107" y="-99392"/>
            <a:ext cx="9802510" cy="1280890"/>
          </a:xfrm>
        </p:spPr>
        <p:txBody>
          <a:bodyPr>
            <a:normAutofit/>
          </a:bodyPr>
          <a:lstStyle/>
          <a:p>
            <a:pPr algn="l"/>
            <a:r>
              <a:rPr lang="en-US" b="1" dirty="0">
                <a:latin typeface="Rockwell" panose="02060603020205020403" pitchFamily="18" charset="0"/>
              </a:rPr>
              <a:t>THE ENTREPRENEURSHIP DOMAIN</a:t>
            </a:r>
            <a:endParaRPr lang="en-US" b="1" dirty="0"/>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849115" y="1556792"/>
            <a:ext cx="9802510" cy="5040560"/>
          </a:xfrm>
        </p:spPr>
        <p:txBody>
          <a:bodyPr>
            <a:normAutofit fontScale="77500" lnSpcReduction="20000"/>
          </a:bodyPr>
          <a:lstStyle/>
          <a:p>
            <a:r>
              <a:rPr lang="en-US" sz="3000" b="1" dirty="0">
                <a:latin typeface="Arial" panose="020B0604020202020204" pitchFamily="34" charset="0"/>
                <a:ea typeface="Calibri" panose="020F0502020204030204" pitchFamily="34" charset="0"/>
                <a:cs typeface="Arial" panose="020B0604020202020204" pitchFamily="34" charset="0"/>
              </a:rPr>
              <a:t>CONTEXT</a:t>
            </a:r>
          </a:p>
          <a:p>
            <a:r>
              <a:rPr lang="en-US" sz="3000" dirty="0">
                <a:latin typeface="Arial" panose="020B0604020202020204" pitchFamily="34" charset="0"/>
                <a:ea typeface="Calibri" panose="020F0502020204030204" pitchFamily="34" charset="0"/>
                <a:cs typeface="Arial" panose="020B0604020202020204" pitchFamily="34" charset="0"/>
              </a:rPr>
              <a:t>Opportunity recognition process</a:t>
            </a:r>
          </a:p>
          <a:p>
            <a:r>
              <a:rPr lang="en-US" sz="3000" dirty="0">
                <a:latin typeface="Arial" panose="020B0604020202020204" pitchFamily="34" charset="0"/>
                <a:ea typeface="Calibri" panose="020F0502020204030204" pitchFamily="34" charset="0"/>
                <a:cs typeface="Arial" panose="020B0604020202020204" pitchFamily="34" charset="0"/>
              </a:rPr>
              <a:t>Opportunity exploration process </a:t>
            </a:r>
          </a:p>
          <a:p>
            <a:r>
              <a:rPr lang="en-US" sz="3000" dirty="0">
                <a:latin typeface="Arial" panose="020B0604020202020204" pitchFamily="34" charset="0"/>
                <a:ea typeface="Calibri" panose="020F0502020204030204" pitchFamily="34" charset="0"/>
                <a:cs typeface="Arial" panose="020B0604020202020204" pitchFamily="34" charset="0"/>
              </a:rPr>
              <a:t>Opportunity exploitation process</a:t>
            </a:r>
          </a:p>
          <a:p>
            <a:pPr marL="0" indent="0">
              <a:buNone/>
            </a:pPr>
            <a:endParaRPr lang="en-US" sz="3000" dirty="0">
              <a:latin typeface="Arial" panose="020B0604020202020204" pitchFamily="34" charset="0"/>
              <a:ea typeface="Calibri" panose="020F0502020204030204" pitchFamily="34" charset="0"/>
              <a:cs typeface="Arial" panose="020B0604020202020204" pitchFamily="34" charset="0"/>
            </a:endParaRPr>
          </a:p>
          <a:p>
            <a:r>
              <a:rPr lang="en-US" sz="3000" b="1" dirty="0">
                <a:latin typeface="Arial" panose="020B0604020202020204" pitchFamily="34" charset="0"/>
                <a:ea typeface="Calibri" panose="020F0502020204030204" pitchFamily="34" charset="0"/>
                <a:cs typeface="Arial" panose="020B0604020202020204" pitchFamily="34" charset="0"/>
              </a:rPr>
              <a:t>ACTIVITIES</a:t>
            </a:r>
          </a:p>
          <a:p>
            <a:pPr marL="0" indent="0">
              <a:buNone/>
            </a:pPr>
            <a:endParaRPr lang="en-US" sz="3000" b="1" dirty="0">
              <a:latin typeface="Arial" panose="020B0604020202020204" pitchFamily="34" charset="0"/>
              <a:ea typeface="Calibri" panose="020F0502020204030204" pitchFamily="34" charset="0"/>
              <a:cs typeface="Arial" panose="020B0604020202020204" pitchFamily="34" charset="0"/>
            </a:endParaRPr>
          </a:p>
          <a:p>
            <a:r>
              <a:rPr lang="en-US" sz="3000" dirty="0">
                <a:latin typeface="Arial" panose="020B0604020202020204" pitchFamily="34" charset="0"/>
                <a:ea typeface="Calibri" panose="020F0502020204030204" pitchFamily="34" charset="0"/>
                <a:cs typeface="Arial" panose="020B0604020202020204" pitchFamily="34" charset="0"/>
              </a:rPr>
              <a:t>Creation of new venture</a:t>
            </a:r>
          </a:p>
          <a:p>
            <a:r>
              <a:rPr lang="en-US" sz="3000" dirty="0">
                <a:latin typeface="Arial" panose="020B0604020202020204" pitchFamily="34" charset="0"/>
                <a:ea typeface="Calibri" panose="020F0502020204030204" pitchFamily="34" charset="0"/>
                <a:cs typeface="Arial" panose="020B0604020202020204" pitchFamily="34" charset="0"/>
              </a:rPr>
              <a:t>Creation of new product</a:t>
            </a:r>
          </a:p>
          <a:p>
            <a:r>
              <a:rPr lang="en-US" sz="3000" dirty="0">
                <a:latin typeface="Arial" panose="020B0604020202020204" pitchFamily="34" charset="0"/>
                <a:ea typeface="Calibri" panose="020F0502020204030204" pitchFamily="34" charset="0"/>
                <a:cs typeface="Arial" panose="020B0604020202020204" pitchFamily="34" charset="0"/>
              </a:rPr>
              <a:t>Creation of new market</a:t>
            </a:r>
          </a:p>
          <a:p>
            <a:r>
              <a:rPr lang="en-US" sz="3000" dirty="0">
                <a:latin typeface="Arial" panose="020B0604020202020204" pitchFamily="34" charset="0"/>
                <a:ea typeface="Calibri" panose="020F0502020204030204" pitchFamily="34" charset="0"/>
                <a:cs typeface="Arial" panose="020B0604020202020204" pitchFamily="34" charset="0"/>
              </a:rPr>
              <a:t>Creation of wealth</a:t>
            </a:r>
          </a:p>
          <a:p>
            <a:endParaRPr lang="en-US" sz="3000" dirty="0">
              <a:latin typeface="Arial" panose="020B0604020202020204" pitchFamily="34" charset="0"/>
              <a:ea typeface="Calibri" panose="020F0502020204030204" pitchFamily="34" charset="0"/>
              <a:cs typeface="Arial" panose="020B0604020202020204" pitchFamily="34" charset="0"/>
            </a:endParaRPr>
          </a:p>
          <a:p>
            <a:pPr marL="0" indent="0">
              <a:buNone/>
            </a:pPr>
            <a:endParaRPr lang="en-US" sz="1800" dirty="0">
              <a:latin typeface="Arial" panose="020B0604020202020204" pitchFamily="34" charset="0"/>
              <a:ea typeface="Calibri" panose="020F050202020403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1214057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1849115" y="552858"/>
            <a:ext cx="9802510" cy="1280890"/>
          </a:xfrm>
        </p:spPr>
        <p:txBody>
          <a:bodyPr>
            <a:normAutofit/>
          </a:bodyPr>
          <a:lstStyle/>
          <a:p>
            <a:pPr algn="l"/>
            <a:r>
              <a:rPr lang="en-US" b="1" dirty="0">
                <a:latin typeface="Rockwell" panose="02060603020205020403" pitchFamily="18" charset="0"/>
              </a:rPr>
              <a:t>ENTREPRENEURIAL PROCESS</a:t>
            </a:r>
            <a:endParaRPr lang="en-US" b="1" dirty="0"/>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561082" y="1268760"/>
            <a:ext cx="9869807" cy="5328592"/>
          </a:xfrm>
        </p:spPr>
        <p:txBody>
          <a:bodyPr>
            <a:normAutofit fontScale="70000" lnSpcReduction="20000"/>
          </a:bodyPr>
          <a:lstStyle/>
          <a:p>
            <a:pPr marL="0" indent="0">
              <a:buNone/>
            </a:pPr>
            <a:r>
              <a:rPr lang="en-US" sz="3000" b="1" dirty="0">
                <a:latin typeface="Arial" panose="020B0604020202020204" pitchFamily="34" charset="0"/>
                <a:ea typeface="Calibri" panose="020F0502020204030204" pitchFamily="34" charset="0"/>
                <a:cs typeface="Arial" panose="020B0604020202020204" pitchFamily="34" charset="0"/>
              </a:rPr>
              <a:t>(ETIMMONS, 1977) </a:t>
            </a:r>
          </a:p>
          <a:p>
            <a:r>
              <a:rPr lang="en-US" sz="3000" b="1" dirty="0">
                <a:latin typeface="Arial" panose="020B0604020202020204" pitchFamily="34" charset="0"/>
                <a:ea typeface="Calibri" panose="020F0502020204030204" pitchFamily="34" charset="0"/>
                <a:cs typeface="Arial" panose="020B0604020202020204" pitchFamily="34" charset="0"/>
              </a:rPr>
              <a:t>1)Opportunity Recognition</a:t>
            </a:r>
          </a:p>
          <a:p>
            <a:pPr marL="0" indent="0">
              <a:buNone/>
            </a:pPr>
            <a:endParaRPr lang="en-US" sz="3000" b="1" dirty="0">
              <a:latin typeface="Arial" panose="020B0604020202020204" pitchFamily="34" charset="0"/>
              <a:ea typeface="Calibri" panose="020F0502020204030204" pitchFamily="34" charset="0"/>
              <a:cs typeface="Arial" panose="020B0604020202020204" pitchFamily="34" charset="0"/>
            </a:endParaRPr>
          </a:p>
          <a:p>
            <a:r>
              <a:rPr lang="en-US" sz="3000" b="1" dirty="0">
                <a:latin typeface="Arial" panose="020B0604020202020204" pitchFamily="34" charset="0"/>
                <a:ea typeface="Calibri" panose="020F0502020204030204" pitchFamily="34" charset="0"/>
                <a:cs typeface="Arial" panose="020B0604020202020204" pitchFamily="34" charset="0"/>
              </a:rPr>
              <a:t>2)Opportunity Screening </a:t>
            </a:r>
          </a:p>
          <a:p>
            <a:pPr marL="0" indent="0">
              <a:buNone/>
            </a:pPr>
            <a:endParaRPr lang="en-US" sz="3000" b="1" dirty="0">
              <a:latin typeface="Arial" panose="020B0604020202020204" pitchFamily="34" charset="0"/>
              <a:ea typeface="Calibri" panose="020F0502020204030204" pitchFamily="34" charset="0"/>
              <a:cs typeface="Arial" panose="020B0604020202020204" pitchFamily="34" charset="0"/>
            </a:endParaRPr>
          </a:p>
          <a:p>
            <a:r>
              <a:rPr lang="en-US" sz="3000" b="1" dirty="0">
                <a:latin typeface="Arial" panose="020B0604020202020204" pitchFamily="34" charset="0"/>
                <a:ea typeface="Calibri" panose="020F0502020204030204" pitchFamily="34" charset="0"/>
                <a:cs typeface="Arial" panose="020B0604020202020204" pitchFamily="34" charset="0"/>
              </a:rPr>
              <a:t>3M Analysis</a:t>
            </a:r>
          </a:p>
          <a:p>
            <a:r>
              <a:rPr lang="en-US" sz="3000" b="1" dirty="0">
                <a:latin typeface="Arial" panose="020B0604020202020204" pitchFamily="34" charset="0"/>
                <a:ea typeface="Calibri" panose="020F0502020204030204" pitchFamily="34" charset="0"/>
                <a:cs typeface="Arial" panose="020B0604020202020204" pitchFamily="34" charset="0"/>
              </a:rPr>
              <a:t>Market</a:t>
            </a:r>
            <a:r>
              <a:rPr lang="en-US" sz="3000" dirty="0">
                <a:latin typeface="Arial" panose="020B0604020202020204" pitchFamily="34" charset="0"/>
                <a:ea typeface="Calibri" panose="020F0502020204030204" pitchFamily="34" charset="0"/>
                <a:cs typeface="Arial" panose="020B0604020202020204" pitchFamily="34" charset="0"/>
              </a:rPr>
              <a:t> (what is the customer need(basic, spoken, unspoken need), what is the product/service, what is the size, structure, growth rate, demand capacity of the market, market share attainable, barrier to market entry)</a:t>
            </a:r>
          </a:p>
          <a:p>
            <a:r>
              <a:rPr lang="en-US" sz="3000" b="1" dirty="0">
                <a:latin typeface="Arial" panose="020B0604020202020204" pitchFamily="34" charset="0"/>
                <a:ea typeface="Calibri" panose="020F0502020204030204" pitchFamily="34" charset="0"/>
                <a:cs typeface="Arial" panose="020B0604020202020204" pitchFamily="34" charset="0"/>
              </a:rPr>
              <a:t>Money</a:t>
            </a:r>
            <a:r>
              <a:rPr lang="en-US" sz="3000" dirty="0">
                <a:latin typeface="Arial" panose="020B0604020202020204" pitchFamily="34" charset="0"/>
                <a:ea typeface="Calibri" panose="020F0502020204030204" pitchFamily="34" charset="0"/>
                <a:cs typeface="Arial" panose="020B0604020202020204" pitchFamily="34" charset="0"/>
              </a:rPr>
              <a:t> (investment/capital requirement, fixed and variable cost, gross profit margin, time to breakeven, cash flow dynamics)</a:t>
            </a:r>
          </a:p>
          <a:p>
            <a:r>
              <a:rPr lang="en-US" sz="3000" b="1" dirty="0">
                <a:latin typeface="Arial" panose="020B0604020202020204" pitchFamily="34" charset="0"/>
                <a:ea typeface="Calibri" panose="020F0502020204030204" pitchFamily="34" charset="0"/>
                <a:cs typeface="Arial" panose="020B0604020202020204" pitchFamily="34" charset="0"/>
              </a:rPr>
              <a:t>Management Requirement </a:t>
            </a:r>
            <a:r>
              <a:rPr lang="en-US" sz="3000" dirty="0">
                <a:latin typeface="Arial" panose="020B0604020202020204" pitchFamily="34" charset="0"/>
                <a:ea typeface="Calibri" panose="020F0502020204030204" pitchFamily="34" charset="0"/>
                <a:cs typeface="Arial" panose="020B0604020202020204" pitchFamily="34" charset="0"/>
              </a:rPr>
              <a:t>(room for error, who will comprise the team, timing, potential for value adding, suitable fit, exit strategy, control over resources.)</a:t>
            </a:r>
          </a:p>
        </p:txBody>
      </p:sp>
    </p:spTree>
    <p:extLst>
      <p:ext uri="{BB962C8B-B14F-4D97-AF65-F5344CB8AC3E}">
        <p14:creationId xmlns:p14="http://schemas.microsoft.com/office/powerpoint/2010/main" val="4262199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2065139" y="536550"/>
            <a:ext cx="9802510" cy="1280890"/>
          </a:xfrm>
        </p:spPr>
        <p:txBody>
          <a:bodyPr>
            <a:normAutofit fontScale="90000"/>
          </a:bodyPr>
          <a:lstStyle/>
          <a:p>
            <a:pPr algn="l"/>
            <a:r>
              <a:rPr lang="en-US" b="1" dirty="0">
                <a:latin typeface="Rockwell" panose="02060603020205020403" pitchFamily="18" charset="0"/>
              </a:rPr>
              <a:t>ENTREPRENEURIAL PROCESS CONT..</a:t>
            </a:r>
            <a:endParaRPr lang="en-US" b="1" dirty="0"/>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849115" y="640445"/>
            <a:ext cx="9586486" cy="5040560"/>
          </a:xfrm>
        </p:spPr>
        <p:txBody>
          <a:bodyPr>
            <a:normAutofit/>
          </a:bodyPr>
          <a:lstStyle/>
          <a:p>
            <a:r>
              <a:rPr lang="en-US" sz="3000" b="1" dirty="0">
                <a:latin typeface="Arial" panose="020B0604020202020204" pitchFamily="34" charset="0"/>
                <a:ea typeface="Calibri" panose="020F0502020204030204" pitchFamily="34" charset="0"/>
                <a:cs typeface="Arial" panose="020B0604020202020204" pitchFamily="34" charset="0"/>
              </a:rPr>
              <a:t>Marshalling of resources </a:t>
            </a:r>
          </a:p>
          <a:p>
            <a:r>
              <a:rPr lang="en-US" sz="3000" b="1" dirty="0">
                <a:latin typeface="Arial" panose="020B0604020202020204" pitchFamily="34" charset="0"/>
                <a:ea typeface="Calibri" panose="020F0502020204030204" pitchFamily="34" charset="0"/>
                <a:cs typeface="Arial" panose="020B0604020202020204" pitchFamily="34" charset="0"/>
              </a:rPr>
              <a:t>Developing capability of the team</a:t>
            </a:r>
            <a:endParaRPr lang="en-US" sz="30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722355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2209155" y="404664"/>
            <a:ext cx="9802510" cy="283854"/>
          </a:xfrm>
        </p:spPr>
        <p:txBody>
          <a:bodyPr>
            <a:normAutofit fontScale="90000"/>
          </a:bodyPr>
          <a:lstStyle/>
          <a:p>
            <a:pPr algn="l"/>
            <a:r>
              <a:rPr lang="en-US" b="1" dirty="0">
                <a:latin typeface="Rockwell" panose="02060603020205020403" pitchFamily="18" charset="0"/>
              </a:rPr>
              <a:t>THE THEORY OF EFFECTUATION</a:t>
            </a:r>
            <a:endParaRPr lang="en-US" b="1" dirty="0"/>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489075" y="1196752"/>
            <a:ext cx="10162550" cy="5400600"/>
          </a:xfrm>
        </p:spPr>
        <p:txBody>
          <a:bodyPr>
            <a:normAutofit fontScale="85000" lnSpcReduction="10000"/>
          </a:bodyPr>
          <a:lstStyle/>
          <a:p>
            <a:r>
              <a:rPr lang="en-US" sz="3000" dirty="0" err="1">
                <a:latin typeface="Arial" panose="020B0604020202020204" pitchFamily="34" charset="0"/>
                <a:ea typeface="Calibri" panose="020F0502020204030204" pitchFamily="34" charset="0"/>
                <a:cs typeface="Arial" panose="020B0604020202020204" pitchFamily="34" charset="0"/>
              </a:rPr>
              <a:t>Sarasvathy</a:t>
            </a:r>
            <a:r>
              <a:rPr lang="en-US" sz="3000" dirty="0">
                <a:latin typeface="Arial" panose="020B0604020202020204" pitchFamily="34" charset="0"/>
                <a:ea typeface="Calibri" panose="020F0502020204030204" pitchFamily="34" charset="0"/>
                <a:cs typeface="Arial" panose="020B0604020202020204" pitchFamily="34" charset="0"/>
              </a:rPr>
              <a:t> (2001)</a:t>
            </a:r>
          </a:p>
          <a:p>
            <a:r>
              <a:rPr lang="en-US" sz="3000" b="1" dirty="0">
                <a:latin typeface="Arial" panose="020B0604020202020204" pitchFamily="34" charset="0"/>
                <a:ea typeface="Calibri" panose="020F0502020204030204" pitchFamily="34" charset="0"/>
                <a:cs typeface="Arial" panose="020B0604020202020204" pitchFamily="34" charset="0"/>
              </a:rPr>
              <a:t>CAUSATION PROCESS</a:t>
            </a:r>
          </a:p>
          <a:p>
            <a:r>
              <a:rPr lang="en-US" sz="3000" dirty="0">
                <a:latin typeface="Arial" panose="020B0604020202020204" pitchFamily="34" charset="0"/>
                <a:ea typeface="Calibri" panose="020F0502020204030204" pitchFamily="34" charset="0"/>
                <a:cs typeface="Arial" panose="020B0604020202020204" pitchFamily="34" charset="0"/>
              </a:rPr>
              <a:t>There is a clear sense of variables that need to be controlled in order to achieve a given outcome or end result. It implies cause and effect logic in which investment of time and resources in a project will lead to relatively predictable outcomes.</a:t>
            </a:r>
          </a:p>
          <a:p>
            <a:r>
              <a:rPr lang="en-US" sz="3000" b="1" dirty="0">
                <a:latin typeface="Arial" panose="020B0604020202020204" pitchFamily="34" charset="0"/>
                <a:ea typeface="Calibri" panose="020F0502020204030204" pitchFamily="34" charset="0"/>
                <a:cs typeface="Arial" panose="020B0604020202020204" pitchFamily="34" charset="0"/>
              </a:rPr>
              <a:t>EFFECTUATION PROCESS</a:t>
            </a:r>
          </a:p>
          <a:p>
            <a:r>
              <a:rPr lang="en-US" sz="3000" dirty="0">
                <a:latin typeface="Arial" panose="020B0604020202020204" pitchFamily="34" charset="0"/>
                <a:ea typeface="Calibri" panose="020F0502020204030204" pitchFamily="34" charset="0"/>
                <a:cs typeface="Arial" panose="020B0604020202020204" pitchFamily="34" charset="0"/>
              </a:rPr>
              <a:t>This is more suitable where the variables and even the end state are unknown or unpredictable. The focus is on the control of things that might assist in articulating through the process into an uncertain future. It assumes that environment is dynamic, nonlinear and ecological in nature. Useful in creation of new markets, product in strategic alliance and collaborative strategies.</a:t>
            </a:r>
          </a:p>
        </p:txBody>
      </p:sp>
    </p:spTree>
    <p:extLst>
      <p:ext uri="{BB962C8B-B14F-4D97-AF65-F5344CB8AC3E}">
        <p14:creationId xmlns:p14="http://schemas.microsoft.com/office/powerpoint/2010/main" val="2089407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A79EF-85DF-44BA-B9B2-30369B4DC09F}"/>
              </a:ext>
            </a:extLst>
          </p:cNvPr>
          <p:cNvSpPr>
            <a:spLocks noGrp="1"/>
          </p:cNvSpPr>
          <p:nvPr>
            <p:ph type="title"/>
          </p:nvPr>
        </p:nvSpPr>
        <p:spPr>
          <a:xfrm>
            <a:off x="1849115" y="0"/>
            <a:ext cx="9802510" cy="1280890"/>
          </a:xfrm>
        </p:spPr>
        <p:txBody>
          <a:bodyPr>
            <a:normAutofit/>
          </a:bodyPr>
          <a:lstStyle/>
          <a:p>
            <a:pPr algn="l"/>
            <a:r>
              <a:rPr lang="en-US" b="1" dirty="0">
                <a:latin typeface="Rockwell" panose="02060603020205020403" pitchFamily="18" charset="0"/>
              </a:rPr>
              <a:t>PRINCIPLES OF EFFECTUATION</a:t>
            </a:r>
            <a:endParaRPr lang="en-US" b="1" dirty="0"/>
          </a:p>
        </p:txBody>
      </p:sp>
      <p:sp>
        <p:nvSpPr>
          <p:cNvPr id="3" name="Content Placeholder 2">
            <a:extLst>
              <a:ext uri="{FF2B5EF4-FFF2-40B4-BE49-F238E27FC236}">
                <a16:creationId xmlns:a16="http://schemas.microsoft.com/office/drawing/2014/main" id="{786A0D55-1F9C-4DEC-8B8B-E7A7E83C4DFF}"/>
              </a:ext>
            </a:extLst>
          </p:cNvPr>
          <p:cNvSpPr>
            <a:spLocks noGrp="1"/>
          </p:cNvSpPr>
          <p:nvPr>
            <p:ph idx="1"/>
          </p:nvPr>
        </p:nvSpPr>
        <p:spPr>
          <a:xfrm>
            <a:off x="1705099" y="1280890"/>
            <a:ext cx="9946526" cy="5040560"/>
          </a:xfrm>
        </p:spPr>
        <p:txBody>
          <a:bodyPr>
            <a:normAutofit/>
          </a:bodyPr>
          <a:lstStyle/>
          <a:p>
            <a:pPr marL="0" indent="0">
              <a:buNone/>
            </a:pPr>
            <a:r>
              <a:rPr lang="en-US" sz="3000" dirty="0" err="1">
                <a:latin typeface="Arial" panose="020B0604020202020204" pitchFamily="34" charset="0"/>
                <a:ea typeface="Calibri" panose="020F0502020204030204" pitchFamily="34" charset="0"/>
                <a:cs typeface="Arial" panose="020B0604020202020204" pitchFamily="34" charset="0"/>
              </a:rPr>
              <a:t>Sarasvathy</a:t>
            </a:r>
            <a:r>
              <a:rPr lang="en-US" sz="3000" dirty="0">
                <a:latin typeface="Arial" panose="020B0604020202020204" pitchFamily="34" charset="0"/>
                <a:ea typeface="Calibri" panose="020F0502020204030204" pitchFamily="34" charset="0"/>
                <a:cs typeface="Arial" panose="020B0604020202020204" pitchFamily="34" charset="0"/>
              </a:rPr>
              <a:t> (2001)</a:t>
            </a:r>
          </a:p>
          <a:p>
            <a:pPr marL="0" indent="0">
              <a:buNone/>
            </a:pPr>
            <a:endParaRPr lang="en-US" sz="3000" b="1" dirty="0">
              <a:latin typeface="Arial" panose="020B0604020202020204" pitchFamily="34" charset="0"/>
              <a:ea typeface="Calibri" panose="020F0502020204030204" pitchFamily="34" charset="0"/>
              <a:cs typeface="Arial" panose="020B0604020202020204" pitchFamily="34" charset="0"/>
            </a:endParaRPr>
          </a:p>
          <a:p>
            <a:r>
              <a:rPr lang="en-US" sz="3000" b="1" dirty="0">
                <a:latin typeface="Arial" panose="020B0604020202020204" pitchFamily="34" charset="0"/>
                <a:ea typeface="Calibri" panose="020F0502020204030204" pitchFamily="34" charset="0"/>
                <a:cs typeface="Arial" panose="020B0604020202020204" pitchFamily="34" charset="0"/>
              </a:rPr>
              <a:t>1)Affordable loss</a:t>
            </a:r>
            <a:endParaRPr lang="en-US" sz="3000" dirty="0">
              <a:latin typeface="Arial" panose="020B0604020202020204" pitchFamily="34" charset="0"/>
              <a:ea typeface="Calibri" panose="020F0502020204030204" pitchFamily="34" charset="0"/>
              <a:cs typeface="Arial" panose="020B0604020202020204" pitchFamily="34" charset="0"/>
            </a:endParaRPr>
          </a:p>
          <a:p>
            <a:r>
              <a:rPr lang="en-US" sz="3000" b="1" dirty="0">
                <a:latin typeface="Arial" panose="020B0604020202020204" pitchFamily="34" charset="0"/>
                <a:ea typeface="Calibri" panose="020F0502020204030204" pitchFamily="34" charset="0"/>
                <a:cs typeface="Arial" panose="020B0604020202020204" pitchFamily="34" charset="0"/>
              </a:rPr>
              <a:t>2)Strategic alliances</a:t>
            </a:r>
            <a:endParaRPr lang="en-US" sz="3000" dirty="0">
              <a:latin typeface="Arial" panose="020B0604020202020204" pitchFamily="34" charset="0"/>
              <a:ea typeface="Calibri" panose="020F0502020204030204" pitchFamily="34" charset="0"/>
              <a:cs typeface="Arial" panose="020B0604020202020204" pitchFamily="34" charset="0"/>
            </a:endParaRPr>
          </a:p>
          <a:p>
            <a:r>
              <a:rPr lang="en-US" sz="3000" b="1" dirty="0">
                <a:latin typeface="Arial" panose="020B0604020202020204" pitchFamily="34" charset="0"/>
                <a:ea typeface="Calibri" panose="020F0502020204030204" pitchFamily="34" charset="0"/>
                <a:cs typeface="Arial" panose="020B0604020202020204" pitchFamily="34" charset="0"/>
              </a:rPr>
              <a:t>3)Exploitation of contingencies</a:t>
            </a:r>
            <a:endParaRPr lang="en-US" sz="3000" dirty="0">
              <a:latin typeface="Arial" panose="020B0604020202020204" pitchFamily="34" charset="0"/>
              <a:ea typeface="Calibri" panose="020F0502020204030204" pitchFamily="34" charset="0"/>
              <a:cs typeface="Arial" panose="020B0604020202020204" pitchFamily="34" charset="0"/>
            </a:endParaRPr>
          </a:p>
          <a:p>
            <a:r>
              <a:rPr lang="en-US" sz="3000" b="1" dirty="0">
                <a:latin typeface="Arial" panose="020B0604020202020204" pitchFamily="34" charset="0"/>
                <a:ea typeface="Calibri" panose="020F0502020204030204" pitchFamily="34" charset="0"/>
                <a:cs typeface="Arial" panose="020B0604020202020204" pitchFamily="34" charset="0"/>
              </a:rPr>
              <a:t>4)Control of an unpredictable future</a:t>
            </a:r>
            <a:endParaRPr lang="en-US" sz="30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049088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FEE60-BE0F-4310-B400-7EEF81818463}"/>
              </a:ext>
            </a:extLst>
          </p:cNvPr>
          <p:cNvSpPr>
            <a:spLocks noGrp="1"/>
          </p:cNvSpPr>
          <p:nvPr>
            <p:ph type="title"/>
          </p:nvPr>
        </p:nvSpPr>
        <p:spPr>
          <a:xfrm>
            <a:off x="1345059" y="2564904"/>
            <a:ext cx="10162550" cy="1280890"/>
          </a:xfrm>
        </p:spPr>
        <p:txBody>
          <a:bodyPr>
            <a:normAutofit fontScale="90000"/>
          </a:bodyPr>
          <a:lstStyle/>
          <a:p>
            <a:r>
              <a:rPr lang="en-US" b="1" dirty="0"/>
              <a:t>THANK YOU FOR YOUR TIME AND ATTENTION</a:t>
            </a:r>
            <a:endParaRPr lang="en-NG" b="1" dirty="0"/>
          </a:p>
        </p:txBody>
      </p:sp>
    </p:spTree>
    <p:extLst>
      <p:ext uri="{BB962C8B-B14F-4D97-AF65-F5344CB8AC3E}">
        <p14:creationId xmlns:p14="http://schemas.microsoft.com/office/powerpoint/2010/main" val="653340237"/>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50327</TotalTime>
  <Words>677</Words>
  <Application>Microsoft Office PowerPoint</Application>
  <PresentationFormat>Custom</PresentationFormat>
  <Paragraphs>77</Paragraphs>
  <Slides>11</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Arial</vt:lpstr>
      <vt:lpstr>Calibri</vt:lpstr>
      <vt:lpstr>Corbel</vt:lpstr>
      <vt:lpstr>Rockwell</vt:lpstr>
      <vt:lpstr>Custom Design</vt:lpstr>
      <vt:lpstr>Parallax</vt:lpstr>
      <vt:lpstr>      ENTREPRENEURSHIP (ENT 411)  </vt:lpstr>
      <vt:lpstr>What is an entrepreneur</vt:lpstr>
      <vt:lpstr>What is Entrepreneurship</vt:lpstr>
      <vt:lpstr>DEFINING INNOVATION</vt:lpstr>
      <vt:lpstr>COMMON CHARACTERISTIC ENTREPRENEUR</vt:lpstr>
      <vt:lpstr>THE ENTREPRENEURSHIP DOMAIN</vt:lpstr>
      <vt:lpstr>ENTREPRENEURIAL PROCESS</vt:lpstr>
      <vt:lpstr>ENTREPRENEURIAL PROCESS CONT..</vt:lpstr>
      <vt:lpstr>THE THEORY OF EFFECTUATION</vt:lpstr>
      <vt:lpstr>PRINCIPLES OF EFFECTUATION</vt:lpstr>
      <vt:lpstr>THANK YOU FOR YOUR TIME AND ATTENTION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Driving Administrative Quality For Vision 10: 2022</dc:title>
  <dc:creator>HP</dc:creator>
  <cp:lastModifiedBy>kolawole oladotun</cp:lastModifiedBy>
  <cp:revision>637</cp:revision>
  <dcterms:created xsi:type="dcterms:W3CDTF">2014-01-31T21:42:27Z</dcterms:created>
  <dcterms:modified xsi:type="dcterms:W3CDTF">2025-10-15T12:02:32Z</dcterms:modified>
</cp:coreProperties>
</file>