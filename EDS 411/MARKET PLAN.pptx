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55" r:id="rId2"/>
  </p:sldMasterIdLst>
  <p:notesMasterIdLst>
    <p:notesMasterId r:id="rId12"/>
  </p:notesMasterIdLst>
  <p:handoutMasterIdLst>
    <p:handoutMasterId r:id="rId13"/>
  </p:handoutMasterIdLst>
  <p:sldIdLst>
    <p:sldId id="281" r:id="rId3"/>
    <p:sldId id="733" r:id="rId4"/>
    <p:sldId id="597" r:id="rId5"/>
    <p:sldId id="730" r:id="rId6"/>
    <p:sldId id="737" r:id="rId7"/>
    <p:sldId id="739" r:id="rId8"/>
    <p:sldId id="738" r:id="rId9"/>
    <p:sldId id="741" r:id="rId10"/>
    <p:sldId id="731" r:id="rId11"/>
  </p:sldIdLst>
  <p:sldSz cx="1219517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DDDDD"/>
    <a:srgbClr val="7A0000"/>
    <a:srgbClr val="662C5B"/>
    <a:srgbClr val="000000"/>
    <a:srgbClr val="660033"/>
    <a:srgbClr val="CC0066"/>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3" autoAdjust="0"/>
    <p:restoredTop sz="88613" autoAdjust="0"/>
  </p:normalViewPr>
  <p:slideViewPr>
    <p:cSldViewPr>
      <p:cViewPr varScale="1">
        <p:scale>
          <a:sx n="58" d="100"/>
          <a:sy n="58" d="100"/>
        </p:scale>
        <p:origin x="956" y="48"/>
      </p:cViewPr>
      <p:guideLst>
        <p:guide orient="horz" pos="2160"/>
        <p:guide pos="384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lawole oladotun" userId="ef802625cd3b7e04" providerId="LiveId" clId="{CF4DCB6F-C11D-4325-9A40-0FCEEAAD65F8}"/>
    <pc:docChg chg="undo custSel modSld">
      <pc:chgData name="kolawole oladotun" userId="ef802625cd3b7e04" providerId="LiveId" clId="{CF4DCB6F-C11D-4325-9A40-0FCEEAAD65F8}" dt="2025-11-08T08:06:28.572" v="218" actId="20577"/>
      <pc:docMkLst>
        <pc:docMk/>
      </pc:docMkLst>
      <pc:sldChg chg="modSp mod">
        <pc:chgData name="kolawole oladotun" userId="ef802625cd3b7e04" providerId="LiveId" clId="{CF4DCB6F-C11D-4325-9A40-0FCEEAAD65F8}" dt="2025-11-08T07:58:59.721" v="94" actId="255"/>
        <pc:sldMkLst>
          <pc:docMk/>
          <pc:sldMk cId="0" sldId="281"/>
        </pc:sldMkLst>
        <pc:spChg chg="mod">
          <ac:chgData name="kolawole oladotun" userId="ef802625cd3b7e04" providerId="LiveId" clId="{CF4DCB6F-C11D-4325-9A40-0FCEEAAD65F8}" dt="2025-10-13T14:01:53.128" v="34" actId="1076"/>
          <ac:spMkLst>
            <pc:docMk/>
            <pc:sldMk cId="0" sldId="281"/>
            <ac:spMk id="6" creationId="{00000000-0000-0000-0000-000000000000}"/>
          </ac:spMkLst>
        </pc:spChg>
        <pc:spChg chg="mod">
          <ac:chgData name="kolawole oladotun" userId="ef802625cd3b7e04" providerId="LiveId" clId="{CF4DCB6F-C11D-4325-9A40-0FCEEAAD65F8}" dt="2025-11-08T07:58:59.721" v="94" actId="255"/>
          <ac:spMkLst>
            <pc:docMk/>
            <pc:sldMk cId="0" sldId="281"/>
            <ac:spMk id="7" creationId="{00000000-0000-0000-0000-000000000000}"/>
          </ac:spMkLst>
        </pc:spChg>
      </pc:sldChg>
      <pc:sldChg chg="modSp mod">
        <pc:chgData name="kolawole oladotun" userId="ef802625cd3b7e04" providerId="LiveId" clId="{CF4DCB6F-C11D-4325-9A40-0FCEEAAD65F8}" dt="2025-11-08T08:03:18.791" v="172" actId="255"/>
        <pc:sldMkLst>
          <pc:docMk/>
          <pc:sldMk cId="518266293" sldId="597"/>
        </pc:sldMkLst>
        <pc:spChg chg="mod">
          <ac:chgData name="kolawole oladotun" userId="ef802625cd3b7e04" providerId="LiveId" clId="{CF4DCB6F-C11D-4325-9A40-0FCEEAAD65F8}" dt="2025-11-08T08:03:18.791" v="172" actId="255"/>
          <ac:spMkLst>
            <pc:docMk/>
            <pc:sldMk cId="518266293" sldId="597"/>
            <ac:spMk id="3" creationId="{00000000-0000-0000-0000-000000000000}"/>
          </ac:spMkLst>
        </pc:spChg>
      </pc:sldChg>
      <pc:sldChg chg="modSp mod">
        <pc:chgData name="kolawole oladotun" userId="ef802625cd3b7e04" providerId="LiveId" clId="{CF4DCB6F-C11D-4325-9A40-0FCEEAAD65F8}" dt="2025-11-08T08:03:59.420" v="176" actId="20577"/>
        <pc:sldMkLst>
          <pc:docMk/>
          <pc:sldMk cId="1214057136" sldId="730"/>
        </pc:sldMkLst>
        <pc:spChg chg="mod">
          <ac:chgData name="kolawole oladotun" userId="ef802625cd3b7e04" providerId="LiveId" clId="{CF4DCB6F-C11D-4325-9A40-0FCEEAAD65F8}" dt="2025-10-13T14:34:18.988" v="93" actId="1076"/>
          <ac:spMkLst>
            <pc:docMk/>
            <pc:sldMk cId="1214057136" sldId="730"/>
            <ac:spMk id="2" creationId="{893A79EF-85DF-44BA-B9B2-30369B4DC09F}"/>
          </ac:spMkLst>
        </pc:spChg>
        <pc:spChg chg="mod">
          <ac:chgData name="kolawole oladotun" userId="ef802625cd3b7e04" providerId="LiveId" clId="{CF4DCB6F-C11D-4325-9A40-0FCEEAAD65F8}" dt="2025-11-08T08:03:59.420" v="176" actId="20577"/>
          <ac:spMkLst>
            <pc:docMk/>
            <pc:sldMk cId="1214057136" sldId="730"/>
            <ac:spMk id="3" creationId="{786A0D55-1F9C-4DEC-8B8B-E7A7E83C4DFF}"/>
          </ac:spMkLst>
        </pc:spChg>
      </pc:sldChg>
      <pc:sldChg chg="modSp mod">
        <pc:chgData name="kolawole oladotun" userId="ef802625cd3b7e04" providerId="LiveId" clId="{CF4DCB6F-C11D-4325-9A40-0FCEEAAD65F8}" dt="2025-11-08T08:02:06.314" v="157" actId="20577"/>
        <pc:sldMkLst>
          <pc:docMk/>
          <pc:sldMk cId="1357665240" sldId="733"/>
        </pc:sldMkLst>
        <pc:spChg chg="mod">
          <ac:chgData name="kolawole oladotun" userId="ef802625cd3b7e04" providerId="LiveId" clId="{CF4DCB6F-C11D-4325-9A40-0FCEEAAD65F8}" dt="2025-10-13T14:30:11.203" v="61" actId="1076"/>
          <ac:spMkLst>
            <pc:docMk/>
            <pc:sldMk cId="1357665240" sldId="733"/>
            <ac:spMk id="2" creationId="{D06A8615-8B68-4985-8F2E-19C8210B2037}"/>
          </ac:spMkLst>
        </pc:spChg>
        <pc:spChg chg="mod">
          <ac:chgData name="kolawole oladotun" userId="ef802625cd3b7e04" providerId="LiveId" clId="{CF4DCB6F-C11D-4325-9A40-0FCEEAAD65F8}" dt="2025-11-08T08:02:06.314" v="157" actId="20577"/>
          <ac:spMkLst>
            <pc:docMk/>
            <pc:sldMk cId="1357665240" sldId="733"/>
            <ac:spMk id="3" creationId="{BC110C5E-6E54-4E2E-A418-F695A665B6B5}"/>
          </ac:spMkLst>
        </pc:spChg>
      </pc:sldChg>
      <pc:sldChg chg="modSp mod">
        <pc:chgData name="kolawole oladotun" userId="ef802625cd3b7e04" providerId="LiveId" clId="{CF4DCB6F-C11D-4325-9A40-0FCEEAAD65F8}" dt="2025-11-08T08:05:26.105" v="209" actId="14100"/>
        <pc:sldMkLst>
          <pc:docMk/>
          <pc:sldMk cId="4262199660" sldId="737"/>
        </pc:sldMkLst>
        <pc:spChg chg="mod">
          <ac:chgData name="kolawole oladotun" userId="ef802625cd3b7e04" providerId="LiveId" clId="{CF4DCB6F-C11D-4325-9A40-0FCEEAAD65F8}" dt="2025-11-08T08:04:48.115" v="178" actId="255"/>
          <ac:spMkLst>
            <pc:docMk/>
            <pc:sldMk cId="4262199660" sldId="737"/>
            <ac:spMk id="2" creationId="{893A79EF-85DF-44BA-B9B2-30369B4DC09F}"/>
          </ac:spMkLst>
        </pc:spChg>
        <pc:spChg chg="mod">
          <ac:chgData name="kolawole oladotun" userId="ef802625cd3b7e04" providerId="LiveId" clId="{CF4DCB6F-C11D-4325-9A40-0FCEEAAD65F8}" dt="2025-11-08T08:05:26.105" v="209" actId="14100"/>
          <ac:spMkLst>
            <pc:docMk/>
            <pc:sldMk cId="4262199660" sldId="737"/>
            <ac:spMk id="3" creationId="{786A0D55-1F9C-4DEC-8B8B-E7A7E83C4DFF}"/>
          </ac:spMkLst>
        </pc:spChg>
      </pc:sldChg>
      <pc:sldChg chg="modSp mod">
        <pc:chgData name="kolawole oladotun" userId="ef802625cd3b7e04" providerId="LiveId" clId="{CF4DCB6F-C11D-4325-9A40-0FCEEAAD65F8}" dt="2025-11-08T08:06:28.572" v="218" actId="20577"/>
        <pc:sldMkLst>
          <pc:docMk/>
          <pc:sldMk cId="2089407026" sldId="738"/>
        </pc:sldMkLst>
        <pc:spChg chg="mod">
          <ac:chgData name="kolawole oladotun" userId="ef802625cd3b7e04" providerId="LiveId" clId="{CF4DCB6F-C11D-4325-9A40-0FCEEAAD65F8}" dt="2025-11-08T08:06:17.586" v="214" actId="14100"/>
          <ac:spMkLst>
            <pc:docMk/>
            <pc:sldMk cId="2089407026" sldId="738"/>
            <ac:spMk id="2" creationId="{893A79EF-85DF-44BA-B9B2-30369B4DC09F}"/>
          </ac:spMkLst>
        </pc:spChg>
        <pc:spChg chg="mod">
          <ac:chgData name="kolawole oladotun" userId="ef802625cd3b7e04" providerId="LiveId" clId="{CF4DCB6F-C11D-4325-9A40-0FCEEAAD65F8}" dt="2025-11-08T08:06:28.572" v="218" actId="20577"/>
          <ac:spMkLst>
            <pc:docMk/>
            <pc:sldMk cId="2089407026" sldId="738"/>
            <ac:spMk id="3" creationId="{786A0D55-1F9C-4DEC-8B8B-E7A7E83C4DFF}"/>
          </ac:spMkLst>
        </pc:spChg>
      </pc:sldChg>
      <pc:sldChg chg="modSp mod">
        <pc:chgData name="kolawole oladotun" userId="ef802625cd3b7e04" providerId="LiveId" clId="{CF4DCB6F-C11D-4325-9A40-0FCEEAAD65F8}" dt="2025-11-08T08:05:48.142" v="210" actId="14100"/>
        <pc:sldMkLst>
          <pc:docMk/>
          <pc:sldMk cId="355682206" sldId="739"/>
        </pc:sldMkLst>
        <pc:spChg chg="mod">
          <ac:chgData name="kolawole oladotun" userId="ef802625cd3b7e04" providerId="LiveId" clId="{CF4DCB6F-C11D-4325-9A40-0FCEEAAD65F8}" dt="2025-11-08T08:05:48.142" v="210" actId="14100"/>
          <ac:spMkLst>
            <pc:docMk/>
            <pc:sldMk cId="355682206" sldId="739"/>
            <ac:spMk id="3" creationId="{786A0D55-1F9C-4DEC-8B8B-E7A7E83C4DF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22F73B2-7CF1-4832-BF09-2E3D082F4856}" type="datetimeFigureOut">
              <a:rPr lang="en-US" smtClean="0"/>
              <a:pPr/>
              <a:t>11/8/2025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02B329-9B4F-43B9-920A-39268306AFA7}" type="slidenum">
              <a:rPr lang="en-US" smtClean="0"/>
              <a:pPr/>
              <a:t>‹#›</a:t>
            </a:fld>
            <a:endParaRPr lang="en-US"/>
          </a:p>
        </p:txBody>
      </p:sp>
    </p:spTree>
    <p:extLst>
      <p:ext uri="{BB962C8B-B14F-4D97-AF65-F5344CB8AC3E}">
        <p14:creationId xmlns:p14="http://schemas.microsoft.com/office/powerpoint/2010/main" val="2462989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EDA5C1-9818-47C9-A79E-B4D4158DD3E3}" type="datetimeFigureOut">
              <a:rPr lang="en-GB" smtClean="0"/>
              <a:pPr/>
              <a:t>08/11/2025</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D498802-2017-4E9A-A8AF-781802F703C5}" type="slidenum">
              <a:rPr lang="en-GB" smtClean="0"/>
              <a:pPr/>
              <a:t>‹#›</a:t>
            </a:fld>
            <a:endParaRPr lang="en-GB"/>
          </a:p>
        </p:txBody>
      </p:sp>
    </p:spTree>
    <p:extLst>
      <p:ext uri="{BB962C8B-B14F-4D97-AF65-F5344CB8AC3E}">
        <p14:creationId xmlns:p14="http://schemas.microsoft.com/office/powerpoint/2010/main" val="3063224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9D498802-2017-4E9A-A8AF-781802F703C5}" type="slidenum">
              <a:rPr lang="en-GB" smtClean="0"/>
              <a:pPr/>
              <a:t>1</a:t>
            </a:fld>
            <a:endParaRPr lang="en-GB"/>
          </a:p>
        </p:txBody>
      </p:sp>
    </p:spTree>
    <p:extLst>
      <p:ext uri="{BB962C8B-B14F-4D97-AF65-F5344CB8AC3E}">
        <p14:creationId xmlns:p14="http://schemas.microsoft.com/office/powerpoint/2010/main" val="2102429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9D498802-2017-4E9A-A8AF-781802F703C5}" type="slidenum">
              <a:rPr lang="en-GB" smtClean="0"/>
              <a:pPr/>
              <a:t>2</a:t>
            </a:fld>
            <a:endParaRPr lang="en-GB"/>
          </a:p>
        </p:txBody>
      </p:sp>
    </p:spTree>
    <p:extLst>
      <p:ext uri="{BB962C8B-B14F-4D97-AF65-F5344CB8AC3E}">
        <p14:creationId xmlns:p14="http://schemas.microsoft.com/office/powerpoint/2010/main" val="3228253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2130427"/>
            <a:ext cx="10366375"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7575"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4" y="4406902"/>
            <a:ext cx="10366375"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614" y="2906713"/>
            <a:ext cx="1036637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2"/>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3788" y="1600202"/>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1"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1"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4425"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4425"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612"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7263" y="273052"/>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2" y="1435102"/>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776" y="4800600"/>
            <a:ext cx="7316788"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90776" y="612775"/>
            <a:ext cx="731678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390776" y="5367338"/>
            <a:ext cx="731678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2375" y="274640"/>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2" y="274640"/>
            <a:ext cx="8080374"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1" y="-54768"/>
            <a:ext cx="12281948" cy="6912768"/>
          </a:xfrm>
          <a:prstGeom prst="rect">
            <a:avLst/>
          </a:prstGeom>
          <a:noFill/>
        </p:spPr>
      </p:pic>
      <p:pic>
        <p:nvPicPr>
          <p:cNvPr id="8"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264940" y="548680"/>
            <a:ext cx="1216557" cy="1296144"/>
          </a:xfrm>
          <a:prstGeom prst="rect">
            <a:avLst/>
          </a:prstGeom>
          <a:noFill/>
        </p:spPr>
      </p:pic>
      <p:sp>
        <p:nvSpPr>
          <p:cNvPr id="10" name="Title 1"/>
          <p:cNvSpPr>
            <a:spLocks noGrp="1"/>
          </p:cNvSpPr>
          <p:nvPr userDrawn="1">
            <p:ph type="ctrTitle"/>
          </p:nvPr>
        </p:nvSpPr>
        <p:spPr>
          <a:xfrm>
            <a:off x="914638" y="2204865"/>
            <a:ext cx="10365899" cy="2520280"/>
          </a:xfrm>
          <a:solidFill>
            <a:srgbClr val="CC3399">
              <a:alpha val="83137"/>
            </a:srgbClr>
          </a:solidFill>
        </p:spPr>
        <p:txBody>
          <a:bodyPr>
            <a:normAutofit/>
          </a:bodyPr>
          <a:lstStyle/>
          <a:p>
            <a:endParaRPr lang="en-GB" sz="6600" b="1" dirty="0">
              <a:solidFill>
                <a:schemeClr val="bg1"/>
              </a:solidFill>
              <a:latin typeface="Rockwell" pitchFamily="18" charset="0"/>
            </a:endParaRPr>
          </a:p>
        </p:txBody>
      </p:sp>
      <p:sp>
        <p:nvSpPr>
          <p:cNvPr id="11" name="Subtitle 2"/>
          <p:cNvSpPr>
            <a:spLocks noGrp="1"/>
          </p:cNvSpPr>
          <p:nvPr userDrawn="1">
            <p:ph type="subTitle" idx="1"/>
          </p:nvPr>
        </p:nvSpPr>
        <p:spPr>
          <a:xfrm>
            <a:off x="1705100" y="4869160"/>
            <a:ext cx="8536623" cy="1752600"/>
          </a:xfrm>
          <a:solidFill>
            <a:srgbClr val="FFFFFF">
              <a:alpha val="63137"/>
            </a:srgbClr>
          </a:solidFill>
        </p:spPr>
        <p:txBody>
          <a:bodyPr>
            <a:normAutofit/>
          </a:bodyPr>
          <a:lstStyle>
            <a:lvl1pPr algn="ctr">
              <a:buNone/>
              <a:defRPr sz="4000">
                <a:ln>
                  <a:noFill/>
                </a:ln>
                <a:solidFill>
                  <a:srgbClr val="002060"/>
                </a:solidFill>
              </a:defRPr>
            </a:lvl1pPr>
          </a:lstStyle>
          <a:p>
            <a:endParaRPr lang="en-GB" dirty="0">
              <a:solidFill>
                <a:schemeClr val="bg1"/>
              </a:solidFill>
              <a:latin typeface="Rockwell" pitchFamily="18" charset="0"/>
            </a:endParaRPr>
          </a:p>
        </p:txBody>
      </p:sp>
      <p:sp>
        <p:nvSpPr>
          <p:cNvPr id="13" name="TextBox 12"/>
          <p:cNvSpPr txBox="1"/>
          <p:nvPr userDrawn="1"/>
        </p:nvSpPr>
        <p:spPr>
          <a:xfrm>
            <a:off x="1345059" y="1268760"/>
            <a:ext cx="3979650" cy="400110"/>
          </a:xfrm>
          <a:prstGeom prst="rect">
            <a:avLst/>
          </a:prstGeom>
          <a:noFill/>
        </p:spPr>
        <p:txBody>
          <a:bodyPr wrap="none" rtlCol="0">
            <a:spAutoFit/>
          </a:bodyPr>
          <a:lstStyle/>
          <a:p>
            <a:r>
              <a:rPr lang="en-US" sz="2000" dirty="0">
                <a:solidFill>
                  <a:srgbClr val="662C5B"/>
                </a:solidFill>
              </a:rPr>
              <a:t>Raising a new Generation of Leaders</a:t>
            </a:r>
            <a:endParaRPr lang="en-GB" sz="2000" dirty="0">
              <a:solidFill>
                <a:srgbClr val="662C5B"/>
              </a:solidFill>
            </a:endParaRPr>
          </a:p>
        </p:txBody>
      </p:sp>
      <p:sp>
        <p:nvSpPr>
          <p:cNvPr id="14" name="TextBox 13"/>
          <p:cNvSpPr txBox="1"/>
          <p:nvPr userDrawn="1"/>
        </p:nvSpPr>
        <p:spPr>
          <a:xfrm>
            <a:off x="9003276" y="0"/>
            <a:ext cx="3230910" cy="369332"/>
          </a:xfrm>
          <a:prstGeom prst="rect">
            <a:avLst/>
          </a:prstGeom>
          <a:noFill/>
        </p:spPr>
        <p:txBody>
          <a:bodyPr wrap="none" rtlCol="0">
            <a:spAutoFit/>
          </a:bodyPr>
          <a:lstStyle/>
          <a:p>
            <a:r>
              <a:rPr lang="en-US" sz="1800" dirty="0"/>
              <a:t>www.covenantuniversity.edu.ng</a:t>
            </a:r>
            <a:endParaRPr lang="en-GB" sz="1800" dirty="0"/>
          </a:p>
        </p:txBody>
      </p:sp>
      <p:pic>
        <p:nvPicPr>
          <p:cNvPr id="3074" name="Picture 2" descr="C:\Users\Ours\Desktop\Picture3.png"/>
          <p:cNvPicPr>
            <a:picLocks noChangeAspect="1" noChangeArrowheads="1"/>
          </p:cNvPicPr>
          <p:nvPr userDrawn="1"/>
        </p:nvPicPr>
        <p:blipFill>
          <a:blip r:embed="rId4" cstate="print"/>
          <a:srcRect/>
          <a:stretch>
            <a:fillRect/>
          </a:stretch>
        </p:blipFill>
        <p:spPr bwMode="auto">
          <a:xfrm>
            <a:off x="1129035" y="692698"/>
            <a:ext cx="5065714" cy="817563"/>
          </a:xfrm>
          <a:prstGeom prst="rect">
            <a:avLst/>
          </a:prstGeom>
          <a:noFill/>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888" y="2514601"/>
            <a:ext cx="891772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888" y="4777380"/>
            <a:ext cx="891772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1"/>
            <a:ext cx="1745106"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951" y="4529541"/>
            <a:ext cx="779970" cy="365125"/>
          </a:xfrm>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28251502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3601" y="624110"/>
            <a:ext cx="8914008"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886" y="2133600"/>
            <a:ext cx="8917722"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90" y="71437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895667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887" y="2058750"/>
            <a:ext cx="8917721"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887" y="3530129"/>
            <a:ext cx="8917721"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90" y="317817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951" y="3244140"/>
            <a:ext cx="779970" cy="365125"/>
          </a:xfrm>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25950902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886" y="2133600"/>
            <a:ext cx="4314987"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2620" y="2126222"/>
            <a:ext cx="4314987"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90" y="71437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951" y="787783"/>
            <a:ext cx="779970" cy="365125"/>
          </a:xfrm>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24404393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40138" y="1972703"/>
            <a:ext cx="39937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887" y="2548966"/>
            <a:ext cx="434402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8585" y="1969475"/>
            <a:ext cx="400004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8823" y="2545738"/>
            <a:ext cx="433980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90" y="71437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951" y="787783"/>
            <a:ext cx="779970" cy="365125"/>
          </a:xfrm>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724509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90" y="71437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8267421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90" y="71437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726567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7" y="446088"/>
            <a:ext cx="3506112"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4659" y="446089"/>
            <a:ext cx="5182949"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887" y="1598613"/>
            <a:ext cx="3506112"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90" y="71437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458454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7" y="4800600"/>
            <a:ext cx="891772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886" y="634965"/>
            <a:ext cx="8917722"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887" y="5367338"/>
            <a:ext cx="8917722"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90" y="491172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951" y="4983088"/>
            <a:ext cx="779970" cy="365125"/>
          </a:xfrm>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593536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7" y="609600"/>
            <a:ext cx="8917721"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887" y="4354046"/>
            <a:ext cx="8917721"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90" y="317817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951" y="3244140"/>
            <a:ext cx="779970" cy="365125"/>
          </a:xfrm>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7170972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50691" y="609600"/>
            <a:ext cx="8396112"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865" y="3505200"/>
            <a:ext cx="7538517"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887" y="4354046"/>
            <a:ext cx="8917721"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90" y="317817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951" y="3244140"/>
            <a:ext cx="779970" cy="365125"/>
          </a:xfrm>
        </p:spPr>
        <p:txBody>
          <a:bodyPr/>
          <a:lstStyle/>
          <a:p>
            <a:fld id="{E9BBD965-F460-422A-A842-9BE9972FC43E}" type="slidenum">
              <a:rPr lang="en-GB" smtClean="0"/>
              <a:pPr/>
              <a:t>‹#›</a:t>
            </a:fld>
            <a:endParaRPr lang="en-GB"/>
          </a:p>
        </p:txBody>
      </p:sp>
      <p:sp>
        <p:nvSpPr>
          <p:cNvPr id="14" name="TextBox 13"/>
          <p:cNvSpPr txBox="1"/>
          <p:nvPr/>
        </p:nvSpPr>
        <p:spPr>
          <a:xfrm>
            <a:off x="2468294" y="648005"/>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7746" y="2905306"/>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283174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887" y="2438401"/>
            <a:ext cx="8917722"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887" y="5181600"/>
            <a:ext cx="891772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90" y="491172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951" y="4983088"/>
            <a:ext cx="779970" cy="365125"/>
          </a:xfrm>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8843753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50691" y="609600"/>
            <a:ext cx="8396112"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886" y="4343400"/>
            <a:ext cx="891772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7" y="5181600"/>
            <a:ext cx="891772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90" y="491172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951" y="4983088"/>
            <a:ext cx="779970" cy="365125"/>
          </a:xfrm>
        </p:spPr>
        <p:txBody>
          <a:bodyPr/>
          <a:lstStyle/>
          <a:p>
            <a:fld id="{E9BBD965-F460-422A-A842-9BE9972FC43E}" type="slidenum">
              <a:rPr lang="en-GB" smtClean="0"/>
              <a:pPr/>
              <a:t>‹#›</a:t>
            </a:fld>
            <a:endParaRPr lang="en-GB"/>
          </a:p>
        </p:txBody>
      </p:sp>
      <p:sp>
        <p:nvSpPr>
          <p:cNvPr id="17" name="TextBox 16"/>
          <p:cNvSpPr txBox="1"/>
          <p:nvPr/>
        </p:nvSpPr>
        <p:spPr>
          <a:xfrm>
            <a:off x="2468294" y="648005"/>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7746" y="2905306"/>
            <a:ext cx="60975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158274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887" y="627407"/>
            <a:ext cx="8917721"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886" y="4343400"/>
            <a:ext cx="891772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7" y="5181600"/>
            <a:ext cx="891772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90" y="491172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951" y="4983088"/>
            <a:ext cx="779970" cy="365125"/>
          </a:xfrm>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2526741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90" y="71437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957775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7233" y="627406"/>
            <a:ext cx="2208176"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886" y="627406"/>
            <a:ext cx="6478687"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08/11/2025</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90" y="714376"/>
            <a:ext cx="1588941"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1196333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5975"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2"/>
            <a:ext cx="10975975"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1" y="6356352"/>
            <a:ext cx="284638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FA4263-B01D-4F49-B558-EEB448DAF4C2}" type="datetimeFigureOut">
              <a:rPr lang="en-GB" smtClean="0"/>
              <a:pPr/>
              <a:t>08/11/2025</a:t>
            </a:fld>
            <a:endParaRPr lang="en-GB"/>
          </a:p>
        </p:txBody>
      </p:sp>
      <p:sp>
        <p:nvSpPr>
          <p:cNvPr id="5" name="Footer Placeholder 4"/>
          <p:cNvSpPr>
            <a:spLocks noGrp="1"/>
          </p:cNvSpPr>
          <p:nvPr>
            <p:ph type="ftr" sz="quarter" idx="3"/>
          </p:nvPr>
        </p:nvSpPr>
        <p:spPr>
          <a:xfrm>
            <a:off x="4167188" y="6356352"/>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9189" y="6356352"/>
            <a:ext cx="28463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BBD965-F460-422A-A842-9BE9972FC43E}"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2259"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8" y="-786"/>
            <a:ext cx="2357288"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928"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3600" y="624110"/>
            <a:ext cx="8914008"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886" y="2133600"/>
            <a:ext cx="8917722"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4311" y="6130437"/>
            <a:ext cx="1146582"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4FA4263-B01D-4F49-B558-EEB448DAF4C2}" type="datetimeFigureOut">
              <a:rPr lang="en-GB" smtClean="0"/>
              <a:pPr/>
              <a:t>08/11/2025</a:t>
            </a:fld>
            <a:endParaRPr lang="en-GB"/>
          </a:p>
        </p:txBody>
      </p:sp>
      <p:sp>
        <p:nvSpPr>
          <p:cNvPr id="5" name="Footer Placeholder 4"/>
          <p:cNvSpPr>
            <a:spLocks noGrp="1"/>
          </p:cNvSpPr>
          <p:nvPr>
            <p:ph type="ftr" sz="quarter" idx="3"/>
          </p:nvPr>
        </p:nvSpPr>
        <p:spPr>
          <a:xfrm>
            <a:off x="2589887" y="6135809"/>
            <a:ext cx="762198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bwMode="gray">
          <a:xfrm>
            <a:off x="531951" y="787783"/>
            <a:ext cx="779970" cy="365125"/>
          </a:xfrm>
          <a:prstGeom prst="rect">
            <a:avLst/>
          </a:prstGeom>
        </p:spPr>
        <p:txBody>
          <a:bodyPr vert="horz" lIns="91440" tIns="45720" rIns="91440" bIns="45720" rtlCol="0" anchor="ctr"/>
          <a:lstStyle>
            <a:lvl1pPr algn="r">
              <a:defRPr sz="2000">
                <a:solidFill>
                  <a:srgbClr val="FEFFFF"/>
                </a:solidFill>
              </a:defRPr>
            </a:lvl1pPr>
          </a:lstStyle>
          <a:p>
            <a:fld id="{E9BBD965-F460-422A-A842-9BE9972FC43E}" type="slidenum">
              <a:rPr lang="en-GB" smtClean="0"/>
              <a:pPr/>
              <a:t>‹#›</a:t>
            </a:fld>
            <a:endParaRPr lang="en-GB"/>
          </a:p>
        </p:txBody>
      </p:sp>
    </p:spTree>
    <p:extLst>
      <p:ext uri="{BB962C8B-B14F-4D97-AF65-F5344CB8AC3E}">
        <p14:creationId xmlns:p14="http://schemas.microsoft.com/office/powerpoint/2010/main" val="2398663271"/>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361283" y="1563642"/>
            <a:ext cx="7704856" cy="994410"/>
          </a:xfrm>
        </p:spPr>
        <p:txBody>
          <a:bodyPr>
            <a:noAutofit/>
          </a:bodyPr>
          <a:lstStyle/>
          <a:p>
            <a:br>
              <a:rPr lang="en-US" sz="2400" b="1" dirty="0">
                <a:effectLst/>
                <a:latin typeface="Arial" panose="020B0604020202020204" pitchFamily="34" charset="0"/>
                <a:ea typeface="Calibri" panose="020F0502020204030204" pitchFamily="34" charset="0"/>
                <a:cs typeface="Arial" panose="020B0604020202020204" pitchFamily="34" charset="0"/>
              </a:rPr>
            </a:br>
            <a:br>
              <a:rPr lang="en-US" sz="3600" b="1" dirty="0">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r>
              <a:rPr lang="en-US" sz="4000" b="1" dirty="0">
                <a:solidFill>
                  <a:schemeClr val="tx1"/>
                </a:solidFill>
                <a:latin typeface="Arial" panose="020B0604020202020204" pitchFamily="34" charset="0"/>
                <a:cs typeface="Arial" panose="020B0604020202020204" pitchFamily="34" charset="0"/>
              </a:rPr>
              <a:t>THE MARKETING PLAN</a:t>
            </a:r>
            <a:br>
              <a:rPr lang="en-US" sz="2400" dirty="0">
                <a:solidFill>
                  <a:schemeClr val="tx1"/>
                </a:solidFill>
                <a:latin typeface="Arial" panose="020B0604020202020204" pitchFamily="34" charset="0"/>
                <a:cs typeface="Arial" panose="020B0604020202020204" pitchFamily="34" charset="0"/>
              </a:rPr>
            </a:br>
            <a:br>
              <a:rPr lang="en-US" sz="2400" kern="100" dirty="0">
                <a:effectLst/>
                <a:latin typeface="Arial" panose="020B0604020202020204" pitchFamily="34" charset="0"/>
                <a:ea typeface="Aptos" panose="020B0004020202020204" pitchFamily="34" charset="0"/>
                <a:cs typeface="Arial" panose="020B0604020202020204" pitchFamily="34" charset="0"/>
              </a:rPr>
            </a:br>
            <a:endParaRPr lang="en-GB" sz="2400" dirty="0">
              <a:latin typeface="Arial" panose="020B0604020202020204" pitchFamily="34" charset="0"/>
              <a:cs typeface="Arial" panose="020B0604020202020204" pitchFamily="34" charset="0"/>
            </a:endParaRPr>
          </a:p>
        </p:txBody>
      </p:sp>
      <p:sp>
        <p:nvSpPr>
          <p:cNvPr id="7" name="Subtitle 6"/>
          <p:cNvSpPr>
            <a:spLocks noGrp="1"/>
          </p:cNvSpPr>
          <p:nvPr>
            <p:ph type="subTitle" idx="1"/>
          </p:nvPr>
        </p:nvSpPr>
        <p:spPr>
          <a:xfrm>
            <a:off x="1561083" y="1556792"/>
            <a:ext cx="9649072" cy="4248472"/>
          </a:xfrm>
        </p:spPr>
        <p:txBody>
          <a:bodyPr>
            <a:noAutofit/>
          </a:bodyPr>
          <a:lstStyle/>
          <a:p>
            <a:pPr algn="ctr"/>
            <a:endParaRPr lang="en-US" sz="2400" b="1" cap="all"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algn="ctr"/>
            <a:endParaRPr lang="en-US" sz="2400" b="1" cap="all"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algn="ctr"/>
            <a:endParaRPr lang="en-US" sz="2400" b="1" cap="all"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algn="ctr"/>
            <a:r>
              <a:rPr lang="en-US" sz="3200" b="1" cap="all" dirty="0">
                <a:solidFill>
                  <a:prstClr val="black"/>
                </a:solidFill>
                <a:latin typeface="Arial" panose="020B0604020202020204" pitchFamily="34" charset="0"/>
                <a:ea typeface="Calibri" panose="020F0502020204030204" pitchFamily="34" charset="0"/>
                <a:cs typeface="Arial" panose="020B0604020202020204" pitchFamily="34" charset="0"/>
              </a:rPr>
              <a:t>DR. ABIMBOLA OLADOTUN</a:t>
            </a:r>
            <a:endParaRPr lang="en-US" sz="3200" dirty="0">
              <a:solidFill>
                <a:schemeClr val="tx1"/>
              </a:solidFill>
              <a:latin typeface="Arial" panose="020B0604020202020204" pitchFamily="34" charset="0"/>
              <a:cs typeface="Arial" panose="020B0604020202020204" pitchFamily="34" charset="0"/>
            </a:endParaRPr>
          </a:p>
          <a:p>
            <a:pPr algn="ctr"/>
            <a:endParaRPr lang="en-US" sz="3200" dirty="0">
              <a:solidFill>
                <a:schemeClr val="tx1"/>
              </a:solidFill>
              <a:latin typeface="Arial" panose="020B0604020202020204" pitchFamily="34" charset="0"/>
              <a:cs typeface="Arial" panose="020B0604020202020204" pitchFamily="34" charset="0"/>
            </a:endParaRPr>
          </a:p>
          <a:p>
            <a:pPr algn="ctr">
              <a:lnSpc>
                <a:spcPct val="107000"/>
              </a:lnSpc>
            </a:pPr>
            <a:r>
              <a:rPr lang="en-US" sz="3200" i="1" u="sng" dirty="0">
                <a:solidFill>
                  <a:schemeClr val="tx1"/>
                </a:solidFill>
                <a:latin typeface="Arial" panose="020B0604020202020204" pitchFamily="34" charset="0"/>
                <a:ea typeface="Calibri" panose="020F0502020204030204" pitchFamily="34" charset="0"/>
                <a:cs typeface="Arial" panose="020B0604020202020204" pitchFamily="34" charset="0"/>
              </a:rPr>
              <a:t>oladotun.abimbola@lmu.edu.ng</a:t>
            </a:r>
            <a:endParaRPr lang="en-US" sz="3200" dirty="0">
              <a:solidFill>
                <a:schemeClr val="tx1"/>
              </a:solidFill>
              <a:latin typeface="Arial" panose="020B0604020202020204" pitchFamily="34" charset="0"/>
              <a:ea typeface="Calibri" panose="020F050202020403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FCC843BE-82D7-48FE-B996-CF7779F80660}"/>
              </a:ext>
            </a:extLst>
          </p:cNvPr>
          <p:cNvPicPr/>
          <p:nvPr/>
        </p:nvPicPr>
        <p:blipFill>
          <a:blip r:embed="rId3">
            <a:extLst>
              <a:ext uri="{28A0092B-C50C-407E-A947-70E740481C1C}">
                <a14:useLocalDpi xmlns:a14="http://schemas.microsoft.com/office/drawing/2010/main" val="0"/>
              </a:ext>
            </a:extLst>
          </a:blip>
          <a:srcRect l="12619" t="13414" r="12123" b="10818"/>
          <a:stretch>
            <a:fillRect/>
          </a:stretch>
        </p:blipFill>
        <p:spPr bwMode="auto">
          <a:xfrm>
            <a:off x="192931" y="-44606"/>
            <a:ext cx="2304256" cy="210545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A8615-8B68-4985-8F2E-19C8210B2037}"/>
              </a:ext>
            </a:extLst>
          </p:cNvPr>
          <p:cNvSpPr>
            <a:spLocks noGrp="1"/>
          </p:cNvSpPr>
          <p:nvPr>
            <p:ph type="title"/>
          </p:nvPr>
        </p:nvSpPr>
        <p:spPr>
          <a:xfrm>
            <a:off x="2137147" y="233093"/>
            <a:ext cx="9145016" cy="1280890"/>
          </a:xfrm>
        </p:spPr>
        <p:txBody>
          <a:bodyPr>
            <a:normAutofit/>
          </a:bodyPr>
          <a:lstStyle/>
          <a:p>
            <a:r>
              <a:rPr lang="en-US" sz="4800" b="1" dirty="0"/>
              <a:t>CUSTOMER SEGMENTATION</a:t>
            </a:r>
            <a:endParaRPr lang="en-NG" sz="4800" b="1" dirty="0"/>
          </a:p>
        </p:txBody>
      </p:sp>
      <p:sp>
        <p:nvSpPr>
          <p:cNvPr id="3" name="Content Placeholder 2">
            <a:extLst>
              <a:ext uri="{FF2B5EF4-FFF2-40B4-BE49-F238E27FC236}">
                <a16:creationId xmlns:a16="http://schemas.microsoft.com/office/drawing/2014/main" id="{BC110C5E-6E54-4E2E-A418-F695A665B6B5}"/>
              </a:ext>
            </a:extLst>
          </p:cNvPr>
          <p:cNvSpPr>
            <a:spLocks noGrp="1"/>
          </p:cNvSpPr>
          <p:nvPr>
            <p:ph idx="1"/>
          </p:nvPr>
        </p:nvSpPr>
        <p:spPr>
          <a:xfrm>
            <a:off x="985019" y="1340768"/>
            <a:ext cx="10585176" cy="4749106"/>
          </a:xfrm>
        </p:spPr>
        <p:txBody>
          <a:bodyPr>
            <a:noAutofit/>
          </a:bodyPr>
          <a:lstStyle/>
          <a:p>
            <a:pPr algn="l"/>
            <a:r>
              <a:rPr lang="en-US" sz="2400" b="1" dirty="0">
                <a:latin typeface="ACaslonPro-Regular"/>
              </a:rPr>
              <a:t>M</a:t>
            </a:r>
            <a:r>
              <a:rPr lang="en-US" sz="2400" b="1" i="0" u="none" strike="noStrike" baseline="0" dirty="0">
                <a:latin typeface="ACaslonPro-Regular"/>
              </a:rPr>
              <a:t>arketing can be defined as the identification and profitable satisfaction of a customer’s need.</a:t>
            </a:r>
            <a:endParaRPr lang="en-US" sz="2400" b="1" dirty="0">
              <a:latin typeface="ACaslonPro-Regular"/>
            </a:endParaRPr>
          </a:p>
          <a:p>
            <a:pPr algn="l"/>
            <a:r>
              <a:rPr lang="en-US" sz="2400" dirty="0">
                <a:latin typeface="ACaslonPro-Regular"/>
              </a:rPr>
              <a:t>M</a:t>
            </a:r>
            <a:r>
              <a:rPr lang="en-US" sz="2400" b="0" i="0" u="none" strike="noStrike" baseline="0" dirty="0">
                <a:latin typeface="ACaslonPro-Regular"/>
              </a:rPr>
              <a:t>arketing plan will help to define primary target customer groups, secondary, tertiary, etc. and account for how the product or service, after penetrating one group, will be poised to conquer subsequent groups. For products or services which are close to market.</a:t>
            </a:r>
          </a:p>
          <a:p>
            <a:pPr algn="l"/>
            <a:r>
              <a:rPr lang="en-US" sz="2400" b="0" i="0" u="none" strike="noStrike" baseline="0" dirty="0">
                <a:latin typeface="ACaslonPro-Regular"/>
              </a:rPr>
              <a:t>Time To Market – Then the marketing plan should be very detailed, e.g. how many of what size of what adverts are to be placed in which newspapers. However, as a rough guide, the targets should include a three-year strategic plan and a more detailed one-year operational plan (i.e. addressing tactical objectives) in one consolidated marketing plan. </a:t>
            </a:r>
          </a:p>
          <a:p>
            <a:pPr algn="l"/>
            <a:r>
              <a:rPr lang="en-US" sz="2400" dirty="0">
                <a:latin typeface="ACaslonPro-Regular"/>
              </a:rPr>
              <a:t>T</a:t>
            </a:r>
            <a:r>
              <a:rPr lang="en-US" sz="2400" b="0" i="0" u="none" strike="noStrike" baseline="0" dirty="0">
                <a:latin typeface="ACaslonPro-Regular"/>
              </a:rPr>
              <a:t>he aim of the marketing plan is to link the resources of the company to the requirements of the customer. </a:t>
            </a:r>
            <a:endParaRPr lang="en-US" sz="28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57665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9195" y="404664"/>
            <a:ext cx="8269386" cy="940966"/>
          </a:xfrm>
        </p:spPr>
        <p:txBody>
          <a:bodyPr>
            <a:normAutofit/>
          </a:bodyPr>
          <a:lstStyle/>
          <a:p>
            <a:pPr algn="l"/>
            <a:r>
              <a:rPr lang="en-US" b="1" dirty="0">
                <a:latin typeface="Rockwell" panose="02060603020205020403" pitchFamily="18" charset="0"/>
              </a:rPr>
              <a:t>FORM OF MARKETING PLAN</a:t>
            </a:r>
          </a:p>
        </p:txBody>
      </p:sp>
      <p:sp>
        <p:nvSpPr>
          <p:cNvPr id="3" name="Content Placeholder 2"/>
          <p:cNvSpPr>
            <a:spLocks noGrp="1"/>
          </p:cNvSpPr>
          <p:nvPr>
            <p:ph idx="1"/>
          </p:nvPr>
        </p:nvSpPr>
        <p:spPr>
          <a:xfrm>
            <a:off x="1921122" y="1345630"/>
            <a:ext cx="9433049" cy="5395738"/>
          </a:xfrm>
        </p:spPr>
        <p:txBody>
          <a:bodyPr>
            <a:normAutofit fontScale="92500" lnSpcReduction="20000"/>
          </a:bodyPr>
          <a:lstStyle/>
          <a:p>
            <a:pPr algn="l"/>
            <a:r>
              <a:rPr lang="en-US" sz="2600" b="0" i="0" u="none" strike="noStrike" baseline="0" dirty="0">
                <a:latin typeface="ACaslonPro-Regular"/>
              </a:rPr>
              <a:t>The marketing plan, like most plans, can be broken down into:</a:t>
            </a:r>
          </a:p>
          <a:p>
            <a:pPr algn="l"/>
            <a:r>
              <a:rPr lang="en-US" sz="2600" b="0" i="0" u="none" strike="noStrike" baseline="0" dirty="0">
                <a:latin typeface="Symbol" panose="05050102010706020507" pitchFamily="18" charset="2"/>
              </a:rPr>
              <a:t>• </a:t>
            </a:r>
            <a:r>
              <a:rPr lang="en-US" sz="2600" b="0" i="0" u="none" strike="noStrike" baseline="0" dirty="0">
                <a:latin typeface="ACaslonPro-Regular"/>
              </a:rPr>
              <a:t>objectives</a:t>
            </a:r>
          </a:p>
          <a:p>
            <a:pPr algn="l"/>
            <a:r>
              <a:rPr lang="en-US" sz="2600" b="0" i="0" u="none" strike="noStrike" baseline="0" dirty="0">
                <a:latin typeface="Symbol" panose="05050102010706020507" pitchFamily="18" charset="2"/>
              </a:rPr>
              <a:t>• </a:t>
            </a:r>
            <a:r>
              <a:rPr lang="en-US" sz="2600" b="0" i="0" u="none" strike="noStrike" baseline="0" dirty="0">
                <a:latin typeface="ACaslonPro-Regular"/>
              </a:rPr>
              <a:t>analysis</a:t>
            </a:r>
          </a:p>
          <a:p>
            <a:pPr algn="l"/>
            <a:r>
              <a:rPr lang="en-US" sz="2600" b="0" i="0" u="none" strike="noStrike" baseline="0" dirty="0">
                <a:latin typeface="Symbol" panose="05050102010706020507" pitchFamily="18" charset="2"/>
              </a:rPr>
              <a:t>• </a:t>
            </a:r>
            <a:r>
              <a:rPr lang="en-US" sz="2600" b="0" i="0" u="none" strike="noStrike" baseline="0" dirty="0">
                <a:latin typeface="ACaslonPro-Regular"/>
              </a:rPr>
              <a:t>strategy</a:t>
            </a:r>
          </a:p>
          <a:p>
            <a:pPr algn="l"/>
            <a:r>
              <a:rPr lang="en-US" sz="2600" b="0" i="0" u="none" strike="noStrike" baseline="0" dirty="0">
                <a:latin typeface="Symbol" panose="05050102010706020507" pitchFamily="18" charset="2"/>
              </a:rPr>
              <a:t>• </a:t>
            </a:r>
            <a:r>
              <a:rPr lang="en-US" sz="2600" b="0" i="0" u="none" strike="noStrike" baseline="0" dirty="0">
                <a:latin typeface="ACaslonPro-Regular"/>
              </a:rPr>
              <a:t>tactics.</a:t>
            </a:r>
          </a:p>
          <a:p>
            <a:pPr marL="0" indent="0" algn="l">
              <a:buNone/>
            </a:pPr>
            <a:endParaRPr lang="en-US" sz="2600" b="0" i="0" u="none" strike="noStrike" baseline="0" dirty="0">
              <a:latin typeface="ACaslonPro-Regular"/>
            </a:endParaRPr>
          </a:p>
          <a:p>
            <a:pPr algn="l"/>
            <a:r>
              <a:rPr lang="en-US" sz="2600" b="1" i="0" u="none" strike="noStrike" baseline="0" dirty="0">
                <a:latin typeface="ACaslonPro-Regular"/>
              </a:rPr>
              <a:t>At any point in the marketing plan the value proposition (i.e. explain how higher profits can be made) can be emphasized by </a:t>
            </a:r>
            <a:r>
              <a:rPr lang="en-US" sz="2600" b="1" i="0" u="none" strike="noStrike" baseline="0" dirty="0" err="1">
                <a:latin typeface="ACaslonPro-Regular"/>
              </a:rPr>
              <a:t>e.g</a:t>
            </a:r>
            <a:endParaRPr lang="en-US" sz="2600" b="1" i="0" u="none" strike="noStrike" baseline="0" dirty="0">
              <a:latin typeface="ACaslonPro-Regular"/>
            </a:endParaRPr>
          </a:p>
          <a:p>
            <a:pPr marL="0" indent="0" algn="l">
              <a:buNone/>
            </a:pPr>
            <a:endParaRPr lang="en-US" sz="2600" b="0" i="0" u="none" strike="noStrike" baseline="0" dirty="0">
              <a:latin typeface="ACaslonPro-Regular"/>
            </a:endParaRPr>
          </a:p>
          <a:p>
            <a:pPr algn="l"/>
            <a:r>
              <a:rPr lang="en-US" sz="2600" b="0" i="0" u="none" strike="noStrike" baseline="0" dirty="0">
                <a:latin typeface="ACaslonPro-Regular"/>
              </a:rPr>
              <a:t>1 Raising the price by adding value.</a:t>
            </a:r>
          </a:p>
          <a:p>
            <a:pPr algn="l"/>
            <a:r>
              <a:rPr lang="en-US" sz="2600" b="0" i="0" u="none" strike="noStrike" baseline="0" dirty="0">
                <a:latin typeface="ACaslonPro-Regular"/>
              </a:rPr>
              <a:t>2 Re-targeting the market.</a:t>
            </a:r>
          </a:p>
          <a:p>
            <a:pPr algn="l"/>
            <a:r>
              <a:rPr lang="en-US" sz="2600" b="0" i="0" u="none" strike="noStrike" baseline="0" dirty="0">
                <a:latin typeface="ACaslonPro-Regular"/>
              </a:rPr>
              <a:t>3 Cutting costs.</a:t>
            </a:r>
          </a:p>
          <a:p>
            <a:pPr algn="l"/>
            <a:r>
              <a:rPr lang="en-US" sz="2600" b="0" i="0" u="none" strike="noStrike" baseline="0" dirty="0">
                <a:latin typeface="ACaslonPro-Regular"/>
              </a:rPr>
              <a:t>The objectives will normally</a:t>
            </a:r>
            <a:endParaRPr lang="en-US" sz="2600" dirty="0">
              <a:latin typeface="Arial" panose="020B0604020202020204" pitchFamily="34" charset="0"/>
              <a:ea typeface="Calibri" panose="020F0502020204030204" pitchFamily="34" charset="0"/>
              <a:cs typeface="Arial" panose="020B0604020202020204" pitchFamily="34" charset="0"/>
            </a:endParaRPr>
          </a:p>
          <a:p>
            <a:pPr algn="just"/>
            <a:endParaRPr lang="en-US" sz="2300" dirty="0">
              <a:latin typeface="Arial" panose="020B0604020202020204" pitchFamily="34" charset="0"/>
              <a:ea typeface="Calibri" panose="020F0502020204030204" pitchFamily="34" charset="0"/>
              <a:cs typeface="Arial" panose="020B0604020202020204" pitchFamily="34" charset="0"/>
            </a:endParaRPr>
          </a:p>
          <a:p>
            <a:pPr algn="just"/>
            <a:endParaRPr lang="en-US" sz="20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1826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2290585" y="289145"/>
            <a:ext cx="9361040" cy="1280890"/>
          </a:xfrm>
        </p:spPr>
        <p:txBody>
          <a:bodyPr>
            <a:normAutofit/>
          </a:bodyPr>
          <a:lstStyle/>
          <a:p>
            <a:pPr algn="l"/>
            <a:r>
              <a:rPr lang="en-US" b="1" dirty="0">
                <a:latin typeface="Rockwell" panose="02060603020205020403" pitchFamily="18" charset="0"/>
              </a:rPr>
              <a:t>HOW TO DO A MARKET RESEARCH</a:t>
            </a:r>
            <a:endParaRPr lang="en-US" b="1" dirty="0"/>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417067" y="1196752"/>
            <a:ext cx="10234558" cy="5400600"/>
          </a:xfrm>
        </p:spPr>
        <p:txBody>
          <a:bodyPr>
            <a:noAutofit/>
          </a:bodyPr>
          <a:lstStyle/>
          <a:p>
            <a:pPr algn="l"/>
            <a:r>
              <a:rPr lang="en-US" sz="2000" b="0" i="0" u="none" strike="noStrike" baseline="0" dirty="0">
                <a:latin typeface="ACaslonPro-Regular"/>
              </a:rPr>
              <a:t>The types of analyses are often broken down into primary data collection and analysis, and secondary data collection and analysis. </a:t>
            </a:r>
          </a:p>
          <a:p>
            <a:pPr marL="0" indent="0" algn="l">
              <a:buNone/>
            </a:pPr>
            <a:r>
              <a:rPr lang="en-US" sz="2000" b="1" i="0" u="none" strike="noStrike" baseline="0" dirty="0">
                <a:latin typeface="ACaslonPro-Regular"/>
              </a:rPr>
              <a:t>Primary data can consist of:</a:t>
            </a:r>
          </a:p>
          <a:p>
            <a:pPr algn="l"/>
            <a:r>
              <a:rPr lang="en-US" sz="2000" b="0" i="0" u="none" strike="noStrike" baseline="0" dirty="0">
                <a:latin typeface="Symbol" panose="05050102010706020507" pitchFamily="18" charset="2"/>
              </a:rPr>
              <a:t>• </a:t>
            </a:r>
            <a:r>
              <a:rPr lang="en-US" sz="2000" b="0" i="0" u="none" strike="noStrike" baseline="0" dirty="0">
                <a:latin typeface="ACaslonPro-Regular"/>
              </a:rPr>
              <a:t>a pilot study (small sample size);</a:t>
            </a:r>
          </a:p>
          <a:p>
            <a:pPr algn="l"/>
            <a:r>
              <a:rPr lang="en-US" sz="2000" b="0" i="0" u="none" strike="noStrike" baseline="0" dirty="0">
                <a:latin typeface="Symbol" panose="05050102010706020507" pitchFamily="18" charset="2"/>
              </a:rPr>
              <a:t>• </a:t>
            </a:r>
            <a:r>
              <a:rPr lang="en-US" sz="2000" b="0" i="0" u="none" strike="noStrike" baseline="0" dirty="0">
                <a:latin typeface="ACaslonPro-Regular"/>
              </a:rPr>
              <a:t>survey/observation/experimental research (large sample size – questionnaire, telephone,</a:t>
            </a:r>
          </a:p>
          <a:p>
            <a:pPr algn="l"/>
            <a:r>
              <a:rPr lang="en-US" sz="2000" b="0" i="0" u="none" strike="noStrike" baseline="0" dirty="0">
                <a:latin typeface="ACaslonPro-Regular"/>
              </a:rPr>
              <a:t>stop and speak, e.g. shopping mall interviews);</a:t>
            </a:r>
          </a:p>
          <a:p>
            <a:pPr algn="l"/>
            <a:r>
              <a:rPr lang="en-US" sz="2000" b="0" i="0" u="none" strike="noStrike" baseline="0" dirty="0">
                <a:latin typeface="Symbol" panose="05050102010706020507" pitchFamily="18" charset="2"/>
              </a:rPr>
              <a:t>• </a:t>
            </a:r>
            <a:r>
              <a:rPr lang="en-US" sz="2000" b="0" i="0" u="none" strike="noStrike" baseline="0" dirty="0">
                <a:latin typeface="ACaslonPro-Regular"/>
              </a:rPr>
              <a:t>recruiting focus groups and performing depth interviews (in-depth analysis, small sample</a:t>
            </a:r>
          </a:p>
          <a:p>
            <a:pPr algn="l"/>
            <a:r>
              <a:rPr lang="en-US" sz="2000" b="0" i="0" u="none" strike="noStrike" baseline="0" dirty="0">
                <a:latin typeface="ACaslonPro-Regular"/>
              </a:rPr>
              <a:t>size).</a:t>
            </a:r>
          </a:p>
          <a:p>
            <a:pPr marL="0" indent="0" algn="l">
              <a:buNone/>
            </a:pPr>
            <a:r>
              <a:rPr lang="en-US" sz="2000" b="1" i="0" u="none" strike="noStrike" baseline="0" dirty="0">
                <a:latin typeface="ACaslonPro-Regular"/>
              </a:rPr>
              <a:t> Secondary data consists of:</a:t>
            </a:r>
          </a:p>
          <a:p>
            <a:pPr algn="l"/>
            <a:r>
              <a:rPr lang="en-US" sz="2000" b="0" i="0" u="none" strike="noStrike" baseline="0" dirty="0">
                <a:latin typeface="Symbol" panose="05050102010706020507" pitchFamily="18" charset="2"/>
              </a:rPr>
              <a:t>• </a:t>
            </a:r>
            <a:r>
              <a:rPr lang="en-US" sz="2000" b="0" i="0" u="none" strike="noStrike" baseline="0" dirty="0">
                <a:latin typeface="ACaslonPro-Regular"/>
              </a:rPr>
              <a:t>the Internet;</a:t>
            </a:r>
          </a:p>
          <a:p>
            <a:pPr algn="l"/>
            <a:r>
              <a:rPr lang="en-US" sz="2000" b="0" i="0" u="none" strike="noStrike" baseline="0" dirty="0">
                <a:latin typeface="Symbol" panose="05050102010706020507" pitchFamily="18" charset="2"/>
              </a:rPr>
              <a:t>• </a:t>
            </a:r>
            <a:r>
              <a:rPr lang="en-US" sz="2000" b="0" i="0" u="none" strike="noStrike" baseline="0" dirty="0">
                <a:latin typeface="ACaslonPro-Regular"/>
              </a:rPr>
              <a:t>data mining (own and other people’s databases);</a:t>
            </a:r>
          </a:p>
          <a:p>
            <a:pPr algn="l"/>
            <a:r>
              <a:rPr lang="en-US" sz="2000" b="0" i="0" u="none" strike="noStrike" baseline="0" dirty="0">
                <a:latin typeface="Symbol" panose="05050102010706020507" pitchFamily="18" charset="2"/>
              </a:rPr>
              <a:t>• </a:t>
            </a:r>
            <a:r>
              <a:rPr lang="en-US" sz="2000" b="0" i="0" u="none" strike="noStrike" baseline="0" dirty="0">
                <a:latin typeface="ACaslonPro-Regular"/>
              </a:rPr>
              <a:t>experience surveys (i.e. interview known experts).</a:t>
            </a:r>
            <a:endParaRPr lang="en-US" sz="2000" dirty="0"/>
          </a:p>
        </p:txBody>
      </p:sp>
    </p:spTree>
    <p:extLst>
      <p:ext uri="{BB962C8B-B14F-4D97-AF65-F5344CB8AC3E}">
        <p14:creationId xmlns:p14="http://schemas.microsoft.com/office/powerpoint/2010/main" val="1214057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3726034" y="404664"/>
            <a:ext cx="5760640" cy="1280890"/>
          </a:xfrm>
        </p:spPr>
        <p:txBody>
          <a:bodyPr>
            <a:normAutofit/>
          </a:bodyPr>
          <a:lstStyle/>
          <a:p>
            <a:pPr algn="l"/>
            <a:r>
              <a:rPr lang="en-US" sz="4800" b="1" i="0" u="none" strike="noStrike" baseline="0" dirty="0">
                <a:latin typeface="MyriadPro-Bold"/>
              </a:rPr>
              <a:t>4PS AND 4CS</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705099" y="1556792"/>
            <a:ext cx="10234558" cy="5825456"/>
          </a:xfrm>
        </p:spPr>
        <p:txBody>
          <a:bodyPr>
            <a:noAutofit/>
          </a:bodyPr>
          <a:lstStyle/>
          <a:p>
            <a:pPr algn="l"/>
            <a:r>
              <a:rPr lang="en-US" sz="2400" b="0" i="0" u="none" strike="noStrike" baseline="0" dirty="0">
                <a:latin typeface="NewsGothicStd"/>
              </a:rPr>
              <a:t>Comparison of Kotler’s 4Ps and </a:t>
            </a:r>
            <a:r>
              <a:rPr lang="en-US" sz="2400" b="0" i="0" u="none" strike="noStrike" baseline="0" dirty="0" err="1">
                <a:latin typeface="NewsGothicStd"/>
              </a:rPr>
              <a:t>Gummesson’s</a:t>
            </a:r>
            <a:r>
              <a:rPr lang="en-US" sz="2400" b="0" i="0" u="none" strike="noStrike" baseline="0" dirty="0">
                <a:latin typeface="NewsGothicStd"/>
              </a:rPr>
              <a:t> 4Cs models</a:t>
            </a:r>
          </a:p>
          <a:p>
            <a:pPr algn="l"/>
            <a:endParaRPr lang="en-US" sz="2400" b="1" i="0" u="none" strike="noStrike" baseline="0" dirty="0">
              <a:latin typeface="NewsGothicStd"/>
            </a:endParaRPr>
          </a:p>
          <a:p>
            <a:pPr algn="l"/>
            <a:r>
              <a:rPr lang="en-US" sz="2400" b="1" i="0" u="none" strike="noStrike" baseline="0" dirty="0">
                <a:latin typeface="NewsGothicStd"/>
              </a:rPr>
              <a:t>Transactional marketing (the ‘4Ps’) 			Relationship marketing (the ‘4Cs’)</a:t>
            </a:r>
          </a:p>
          <a:p>
            <a:pPr algn="l"/>
            <a:r>
              <a:rPr lang="en-US" sz="2400" b="0" i="0" u="none" strike="noStrike" baseline="0" dirty="0">
                <a:latin typeface="NewsGothicStd"/>
              </a:rPr>
              <a:t>Product 										Consumer wants and needs</a:t>
            </a:r>
          </a:p>
          <a:p>
            <a:pPr algn="l"/>
            <a:r>
              <a:rPr lang="en-US" sz="2400" b="0" i="0" u="none" strike="noStrike" baseline="0" dirty="0">
                <a:latin typeface="NewsGothicStd"/>
              </a:rPr>
              <a:t>Place (includes logistics and distribution) 		Convenience (access, availability</a:t>
            </a:r>
          </a:p>
          <a:p>
            <a:pPr algn="l"/>
            <a:r>
              <a:rPr lang="en-US" sz="2400" b="0" i="0" u="none" strike="noStrike" baseline="0" dirty="0">
                <a:latin typeface="NewsGothicStd"/>
              </a:rPr>
              <a:t>Price 									 		Cost</a:t>
            </a:r>
          </a:p>
          <a:p>
            <a:pPr algn="l"/>
            <a:r>
              <a:rPr lang="en-US" sz="2400" b="0" i="0" u="none" strike="noStrike" baseline="0" dirty="0">
                <a:latin typeface="NewsGothicStd"/>
              </a:rPr>
              <a:t>Promotion 										Communication</a:t>
            </a:r>
          </a:p>
        </p:txBody>
      </p:sp>
    </p:spTree>
    <p:extLst>
      <p:ext uri="{BB962C8B-B14F-4D97-AF65-F5344CB8AC3E}">
        <p14:creationId xmlns:p14="http://schemas.microsoft.com/office/powerpoint/2010/main" val="4262199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2785219" y="476672"/>
            <a:ext cx="8280920" cy="1280890"/>
          </a:xfrm>
        </p:spPr>
        <p:txBody>
          <a:bodyPr>
            <a:normAutofit/>
          </a:bodyPr>
          <a:lstStyle/>
          <a:p>
            <a:pPr algn="l"/>
            <a:r>
              <a:rPr lang="en-US" b="1" dirty="0">
                <a:latin typeface="Rockwell" panose="02060603020205020403" pitchFamily="18" charset="0"/>
              </a:rPr>
              <a:t>HOW TO PRICE GOODS</a:t>
            </a:r>
            <a:endParaRPr lang="en-US" b="1" dirty="0"/>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921123" y="1556792"/>
            <a:ext cx="9145016" cy="5040560"/>
          </a:xfrm>
        </p:spPr>
        <p:txBody>
          <a:bodyPr>
            <a:normAutofit/>
          </a:bodyPr>
          <a:lstStyle/>
          <a:p>
            <a:pPr marL="0" indent="0" algn="l">
              <a:buNone/>
            </a:pPr>
            <a:r>
              <a:rPr lang="en-US" sz="2400" b="0" i="0" u="none" strike="noStrike" baseline="0" dirty="0">
                <a:latin typeface="ACaslonPro-Regular"/>
              </a:rPr>
              <a:t>Various guiding strategies can also be used to price new products. These include:</a:t>
            </a:r>
          </a:p>
          <a:p>
            <a:pPr marL="0" indent="0" algn="l">
              <a:buNone/>
            </a:pPr>
            <a:endParaRPr lang="en-US" sz="2400" b="0" i="0" u="none" strike="noStrike" baseline="0" dirty="0">
              <a:latin typeface="ACaslonPro-Regular"/>
            </a:endParaRPr>
          </a:p>
          <a:p>
            <a:pPr algn="l"/>
            <a:r>
              <a:rPr lang="en-US" sz="2400" b="0" i="0" u="none" strike="noStrike" baseline="0" dirty="0">
                <a:latin typeface="ACaslonPro-Regular"/>
              </a:rPr>
              <a:t>1 </a:t>
            </a:r>
            <a:r>
              <a:rPr lang="en-US" sz="2400" b="1" i="1" u="none" strike="noStrike" baseline="0" dirty="0">
                <a:latin typeface="ACaslonPro-Italic"/>
              </a:rPr>
              <a:t>Penetration</a:t>
            </a:r>
            <a:r>
              <a:rPr lang="en-US" sz="2400" b="0" i="0" u="none" strike="noStrike" baseline="0" dirty="0">
                <a:latin typeface="ACaslonPro-Regular"/>
              </a:rPr>
              <a:t>: Set price just above total unit cost (usually production costs plus profit margin, although production costs may vary according to quantity produced) to quickly win a large market share.</a:t>
            </a:r>
          </a:p>
          <a:p>
            <a:pPr algn="l"/>
            <a:r>
              <a:rPr lang="en-US" sz="2400" b="0" i="0" u="none" strike="noStrike" baseline="0" dirty="0">
                <a:latin typeface="ACaslonPro-Regular"/>
              </a:rPr>
              <a:t>2 </a:t>
            </a:r>
            <a:r>
              <a:rPr lang="en-US" sz="2400" b="1" i="1" u="none" strike="noStrike" baseline="0" dirty="0">
                <a:latin typeface="ACaslonPro-Italic"/>
              </a:rPr>
              <a:t>Skimming</a:t>
            </a:r>
            <a:r>
              <a:rPr lang="en-US" sz="2400" b="0" i="0" u="none" strike="noStrike" baseline="0" dirty="0">
                <a:latin typeface="ACaslonPro-Regular"/>
              </a:rPr>
              <a:t>: Set a higher-than-normal price to quickly recover initial outlay.</a:t>
            </a:r>
          </a:p>
          <a:p>
            <a:pPr algn="l"/>
            <a:r>
              <a:rPr lang="en-US" sz="2400" b="0" i="0" u="none" strike="noStrike" baseline="0" dirty="0">
                <a:latin typeface="ACaslonPro-Regular"/>
              </a:rPr>
              <a:t>3 </a:t>
            </a:r>
            <a:r>
              <a:rPr lang="en-US" sz="2400" b="1" i="1" u="none" strike="noStrike" baseline="0" dirty="0">
                <a:latin typeface="ACaslonPro-Italic"/>
              </a:rPr>
              <a:t>Demand curve</a:t>
            </a:r>
            <a:r>
              <a:rPr lang="en-US" sz="2400" b="0" i="0" u="none" strike="noStrike" baseline="0" dirty="0">
                <a:latin typeface="ACaslonPro-Regular"/>
              </a:rPr>
              <a:t>: Set prices high initially and be prepared to lower prices quickly.</a:t>
            </a:r>
          </a:p>
        </p:txBody>
      </p:sp>
    </p:spTree>
    <p:extLst>
      <p:ext uri="{BB962C8B-B14F-4D97-AF65-F5344CB8AC3E}">
        <p14:creationId xmlns:p14="http://schemas.microsoft.com/office/powerpoint/2010/main" val="355682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2929235" y="357636"/>
            <a:ext cx="7992888" cy="1280890"/>
          </a:xfrm>
        </p:spPr>
        <p:txBody>
          <a:bodyPr>
            <a:normAutofit/>
          </a:bodyPr>
          <a:lstStyle/>
          <a:p>
            <a:pPr algn="l"/>
            <a:r>
              <a:rPr lang="en-US" sz="4400" b="1" i="0" u="none" strike="noStrike" baseline="0" dirty="0">
                <a:latin typeface="MyriadPro-Bold"/>
              </a:rPr>
              <a:t>STRATEGIES TO PRICING</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849115" y="1484784"/>
            <a:ext cx="9802510" cy="5040560"/>
          </a:xfrm>
        </p:spPr>
        <p:txBody>
          <a:bodyPr>
            <a:normAutofit/>
          </a:bodyPr>
          <a:lstStyle/>
          <a:p>
            <a:pPr algn="l"/>
            <a:r>
              <a:rPr lang="en-US" sz="2200" b="0" i="0" u="none" strike="noStrike" baseline="0" dirty="0">
                <a:latin typeface="ACaslonPro-Regular"/>
              </a:rPr>
              <a:t>For established goods, a whole set of strategies can be used:</a:t>
            </a:r>
          </a:p>
          <a:p>
            <a:pPr marL="0" indent="0" algn="l">
              <a:buNone/>
            </a:pPr>
            <a:endParaRPr lang="en-US" sz="2200" b="0" i="0" u="none" strike="noStrike" baseline="0" dirty="0">
              <a:latin typeface="ACaslonPro-Regular"/>
            </a:endParaRPr>
          </a:p>
          <a:p>
            <a:pPr algn="l"/>
            <a:r>
              <a:rPr lang="en-US" sz="2200" b="0" i="0" u="none" strike="noStrike" baseline="0" dirty="0">
                <a:latin typeface="ACaslonPro-Regular"/>
              </a:rPr>
              <a:t>1 </a:t>
            </a:r>
            <a:r>
              <a:rPr lang="en-US" sz="2200" b="1" i="1" u="none" strike="noStrike" baseline="0" dirty="0">
                <a:latin typeface="ACaslonPro-Italic"/>
              </a:rPr>
              <a:t>Odd pricing</a:t>
            </a:r>
            <a:r>
              <a:rPr lang="en-US" sz="2200" b="0" i="0" u="none" strike="noStrike" baseline="0" dirty="0">
                <a:latin typeface="ACaslonPro-Regular"/>
              </a:rPr>
              <a:t>: Merchandise with an odd-numbered price is assumed to be cheaper than one with an even price.</a:t>
            </a:r>
          </a:p>
          <a:p>
            <a:pPr algn="l"/>
            <a:r>
              <a:rPr lang="en-US" sz="2200" b="0" i="0" u="none" strike="noStrike" baseline="0" dirty="0">
                <a:latin typeface="ACaslonPro-Regular"/>
              </a:rPr>
              <a:t>2 </a:t>
            </a:r>
            <a:r>
              <a:rPr lang="en-US" sz="2200" b="1" i="1" u="none" strike="noStrike" baseline="0" dirty="0">
                <a:latin typeface="ACaslonPro-Italic"/>
              </a:rPr>
              <a:t>Price lining</a:t>
            </a:r>
            <a:r>
              <a:rPr lang="en-US" sz="2200" b="0" i="0" u="none" strike="noStrike" baseline="0" dirty="0">
                <a:latin typeface="ACaslonPro-Regular"/>
              </a:rPr>
              <a:t>: Categorizes merchandise which is similar in quality, performance, etc.</a:t>
            </a:r>
          </a:p>
          <a:p>
            <a:pPr algn="l"/>
            <a:r>
              <a:rPr lang="en-US" sz="2200" b="0" i="0" u="none" strike="noStrike" baseline="0" dirty="0">
                <a:latin typeface="ACaslonPro-Regular"/>
              </a:rPr>
              <a:t>3 </a:t>
            </a:r>
            <a:r>
              <a:rPr lang="en-US" sz="2200" b="1" i="1" u="none" strike="noStrike" baseline="0" dirty="0">
                <a:latin typeface="ACaslonPro-Italic"/>
              </a:rPr>
              <a:t>Leader pricing</a:t>
            </a:r>
            <a:r>
              <a:rPr lang="en-US" sz="2200" b="0" i="0" u="none" strike="noStrike" baseline="0" dirty="0">
                <a:latin typeface="ACaslonPro-Regular"/>
              </a:rPr>
              <a:t>: Temporary mark-down to attract customers.</a:t>
            </a:r>
          </a:p>
          <a:p>
            <a:pPr algn="l"/>
            <a:r>
              <a:rPr lang="en-US" sz="2200" b="0" i="0" u="none" strike="noStrike" baseline="0" dirty="0">
                <a:latin typeface="ACaslonPro-Regular"/>
              </a:rPr>
              <a:t>4 </a:t>
            </a:r>
            <a:r>
              <a:rPr lang="en-US" sz="2200" b="1" i="1" u="none" strike="noStrike" baseline="0" dirty="0">
                <a:latin typeface="ACaslonPro-Italic"/>
              </a:rPr>
              <a:t>Geographical pricing</a:t>
            </a:r>
            <a:r>
              <a:rPr lang="en-US" sz="2200" b="0" i="0" u="none" strike="noStrike" baseline="0" dirty="0">
                <a:latin typeface="ACaslonPro-Regular"/>
              </a:rPr>
              <a:t>: Selling at different prices to customers in different places.</a:t>
            </a:r>
          </a:p>
          <a:p>
            <a:pPr algn="l"/>
            <a:r>
              <a:rPr lang="en-US" sz="2200" b="0" i="0" u="none" strike="noStrike" baseline="0" dirty="0">
                <a:latin typeface="ACaslonPro-Regular"/>
              </a:rPr>
              <a:t>5 </a:t>
            </a:r>
            <a:r>
              <a:rPr lang="en-US" sz="2200" b="1" i="1" u="none" strike="noStrike" baseline="0" dirty="0">
                <a:latin typeface="ACaslonPro-Italic"/>
              </a:rPr>
              <a:t>Opportunistic pricing</a:t>
            </a:r>
            <a:r>
              <a:rPr lang="en-US" sz="2200" b="0" i="0" u="none" strike="noStrike" baseline="0" dirty="0">
                <a:latin typeface="ACaslonPro-Regular"/>
              </a:rPr>
              <a:t>: Raising price on articles in short supply.</a:t>
            </a:r>
          </a:p>
          <a:p>
            <a:pPr algn="l"/>
            <a:r>
              <a:rPr lang="en-US" sz="2200" b="0" i="0" u="none" strike="noStrike" baseline="0" dirty="0">
                <a:latin typeface="ACaslonPro-Regular"/>
              </a:rPr>
              <a:t>6 </a:t>
            </a:r>
            <a:r>
              <a:rPr lang="en-US" sz="2200" b="1" i="1" u="none" strike="noStrike" baseline="0" dirty="0">
                <a:latin typeface="ACaslonPro-Italic"/>
              </a:rPr>
              <a:t>Discounts</a:t>
            </a:r>
            <a:r>
              <a:rPr lang="en-US" sz="2200" b="1" i="0" u="none" strike="noStrike" baseline="0" dirty="0">
                <a:latin typeface="ACaslonPro-Regular"/>
              </a:rPr>
              <a:t>: </a:t>
            </a:r>
            <a:r>
              <a:rPr lang="en-US" sz="2200" b="0" i="0" u="none" strike="noStrike" baseline="0" dirty="0">
                <a:latin typeface="ACaslonPro-Regular"/>
              </a:rPr>
              <a:t>Reductions in stale, outdated, etc. goods.</a:t>
            </a:r>
          </a:p>
          <a:p>
            <a:pPr algn="l"/>
            <a:r>
              <a:rPr lang="en-US" sz="2200" b="0" i="0" u="none" strike="noStrike" baseline="0" dirty="0">
                <a:latin typeface="ACaslonPro-Regular"/>
              </a:rPr>
              <a:t>7 </a:t>
            </a:r>
            <a:r>
              <a:rPr lang="en-US" sz="2200" b="1" i="1" u="none" strike="noStrike" baseline="0" dirty="0">
                <a:latin typeface="ACaslonPro-Italic"/>
              </a:rPr>
              <a:t>Multiple discounts</a:t>
            </a:r>
            <a:r>
              <a:rPr lang="en-US" sz="2200" b="0" i="0" u="none" strike="noStrike" baseline="0" dirty="0">
                <a:latin typeface="ACaslonPro-Regular"/>
              </a:rPr>
              <a:t>: Reduction for high quantity</a:t>
            </a:r>
            <a:endParaRPr lang="en-US" sz="2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89407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4153371" y="279722"/>
            <a:ext cx="6264696" cy="1280890"/>
          </a:xfrm>
        </p:spPr>
        <p:txBody>
          <a:bodyPr>
            <a:normAutofit/>
          </a:bodyPr>
          <a:lstStyle/>
          <a:p>
            <a:pPr algn="l"/>
            <a:r>
              <a:rPr lang="en-US" sz="4400" b="1" i="0" u="none" strike="noStrike" baseline="0" dirty="0">
                <a:latin typeface="MyriadPro-Bold"/>
              </a:rPr>
              <a:t>PROMOTION</a:t>
            </a:r>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201043" y="1484784"/>
            <a:ext cx="10585176" cy="5040560"/>
          </a:xfrm>
        </p:spPr>
        <p:txBody>
          <a:bodyPr>
            <a:noAutofit/>
          </a:bodyPr>
          <a:lstStyle/>
          <a:p>
            <a:pPr algn="l"/>
            <a:r>
              <a:rPr lang="en-US" sz="2200" b="1" i="0" u="none" strike="noStrike" baseline="0" dirty="0">
                <a:latin typeface="NewsGothicStd-Bold"/>
              </a:rPr>
              <a:t>How to place your offerings</a:t>
            </a:r>
          </a:p>
          <a:p>
            <a:pPr algn="l"/>
            <a:r>
              <a:rPr lang="en-US" sz="2200" b="0" i="0" u="none" strike="noStrike" baseline="0" dirty="0">
                <a:latin typeface="ACaslonPro-Regular"/>
              </a:rPr>
              <a:t>Place decisions address where to sell the product, i.e. concerns about where the customers are and how to get to them, because 66 per cent of all buying decisions are made at point-of-sale.</a:t>
            </a:r>
          </a:p>
          <a:p>
            <a:pPr algn="l"/>
            <a:r>
              <a:rPr lang="en-US" sz="2200" b="0" i="0" u="none" strike="noStrike" baseline="0" dirty="0">
                <a:latin typeface="ACaslonPro-Regular"/>
              </a:rPr>
              <a:t>Place decisions can include tricky logistics, because place includes the ‘distribution channels’, meaning all the different middlemen used to get the product out to the customer (including home delivery).</a:t>
            </a:r>
          </a:p>
          <a:p>
            <a:pPr algn="l"/>
            <a:r>
              <a:rPr lang="en-US" sz="2200" b="1" i="0" u="none" strike="noStrike" baseline="0" dirty="0">
                <a:latin typeface="NewsGothicStd-Bold"/>
              </a:rPr>
              <a:t>Promotion – effective advertising</a:t>
            </a:r>
          </a:p>
          <a:p>
            <a:pPr algn="l"/>
            <a:r>
              <a:rPr lang="en-US" sz="2200" b="0" i="0" u="none" strike="noStrike" baseline="0" dirty="0">
                <a:latin typeface="ACaslonPro-Regular"/>
              </a:rPr>
              <a:t>Promotion includes any publicity, any free commercial news by the media (especially celebrities), contests, coupons, free samples, sponsoring, sending out own (or co-operative, e.g. branch) newsletter, personal selling or advertising. The objectives are to get the product accepted by potential customers, as well as to maintain or increase market share, also in the face of growing competition.</a:t>
            </a:r>
            <a:endParaRPr lang="en-US" sz="2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94410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FEE60-BE0F-4310-B400-7EEF81818463}"/>
              </a:ext>
            </a:extLst>
          </p:cNvPr>
          <p:cNvSpPr>
            <a:spLocks noGrp="1"/>
          </p:cNvSpPr>
          <p:nvPr>
            <p:ph type="title"/>
          </p:nvPr>
        </p:nvSpPr>
        <p:spPr>
          <a:xfrm>
            <a:off x="1345059" y="2564904"/>
            <a:ext cx="10162550" cy="1280890"/>
          </a:xfrm>
        </p:spPr>
        <p:txBody>
          <a:bodyPr/>
          <a:lstStyle/>
          <a:p>
            <a:r>
              <a:rPr lang="en-US" b="1" dirty="0"/>
              <a:t>THANK YOU FOR YOUR TIME AND ATTENTION</a:t>
            </a:r>
            <a:endParaRPr lang="en-NG" b="1" dirty="0"/>
          </a:p>
        </p:txBody>
      </p:sp>
    </p:spTree>
    <p:extLst>
      <p:ext uri="{BB962C8B-B14F-4D97-AF65-F5344CB8AC3E}">
        <p14:creationId xmlns:p14="http://schemas.microsoft.com/office/powerpoint/2010/main" val="65334023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50329</TotalTime>
  <Words>822</Words>
  <Application>Microsoft Office PowerPoint</Application>
  <PresentationFormat>Custom</PresentationFormat>
  <Paragraphs>70</Paragraphs>
  <Slides>9</Slides>
  <Notes>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9</vt:i4>
      </vt:variant>
    </vt:vector>
  </HeadingPairs>
  <TitlesOfParts>
    <vt:vector size="22" baseType="lpstr">
      <vt:lpstr>ACaslonPro-Italic</vt:lpstr>
      <vt:lpstr>ACaslonPro-Regular</vt:lpstr>
      <vt:lpstr>Arial</vt:lpstr>
      <vt:lpstr>Calibri</vt:lpstr>
      <vt:lpstr>Century Gothic</vt:lpstr>
      <vt:lpstr>MyriadPro-Bold</vt:lpstr>
      <vt:lpstr>NewsGothicStd</vt:lpstr>
      <vt:lpstr>NewsGothicStd-Bold</vt:lpstr>
      <vt:lpstr>Rockwell</vt:lpstr>
      <vt:lpstr>Symbol</vt:lpstr>
      <vt:lpstr>Wingdings 3</vt:lpstr>
      <vt:lpstr>Custom Design</vt:lpstr>
      <vt:lpstr>Wisp</vt:lpstr>
      <vt:lpstr>      THE MARKETING PLAN  </vt:lpstr>
      <vt:lpstr>CUSTOMER SEGMENTATION</vt:lpstr>
      <vt:lpstr>FORM OF MARKETING PLAN</vt:lpstr>
      <vt:lpstr>HOW TO DO A MARKET RESEARCH</vt:lpstr>
      <vt:lpstr>4PS AND 4CS</vt:lpstr>
      <vt:lpstr>HOW TO PRICE GOODS</vt:lpstr>
      <vt:lpstr>STRATEGIES TO PRICING</vt:lpstr>
      <vt:lpstr>PROMOTION</vt:lpstr>
      <vt:lpstr>THANK YOU FOR YOUR TIME AND ATTENTION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Driving Administrative Quality For Vision 10: 2022</dc:title>
  <dc:creator>HP</dc:creator>
  <cp:lastModifiedBy>kolawole oladotun</cp:lastModifiedBy>
  <cp:revision>657</cp:revision>
  <dcterms:created xsi:type="dcterms:W3CDTF">2014-01-31T21:42:27Z</dcterms:created>
  <dcterms:modified xsi:type="dcterms:W3CDTF">2025-11-08T08:07:15Z</dcterms:modified>
</cp:coreProperties>
</file>