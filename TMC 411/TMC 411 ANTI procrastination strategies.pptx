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58" r:id="rId4"/>
    <p:sldId id="259" r:id="rId5"/>
    <p:sldId id="262" r:id="rId6"/>
    <p:sldId id="261" r:id="rId7"/>
    <p:sldId id="263" r:id="rId8"/>
    <p:sldId id="264" r:id="rId9"/>
    <p:sldId id="265" r:id="rId10"/>
    <p:sldId id="266" r:id="rId11"/>
    <p:sldId id="267" r:id="rId12"/>
    <p:sldId id="268" r:id="rId13"/>
    <p:sldId id="269" r:id="rId14"/>
    <p:sldId id="270" r:id="rId15"/>
    <p:sldId id="271" r:id="rId16"/>
    <p:sldId id="25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10/15/2025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10/15/2025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CF65-3981-4BAC-AA9C-E705E29391F6}"/>
              </a:ext>
            </a:extLst>
          </p:cNvPr>
          <p:cNvSpPr>
            <a:spLocks noGrp="1"/>
          </p:cNvSpPr>
          <p:nvPr>
            <p:ph type="ctrTitle"/>
          </p:nvPr>
        </p:nvSpPr>
        <p:spPr>
          <a:xfrm>
            <a:off x="430306" y="779930"/>
            <a:ext cx="11120717" cy="2563800"/>
          </a:xfrm>
        </p:spPr>
        <p:txBody>
          <a:bodyPr>
            <a:normAutofit/>
          </a:bodyPr>
          <a:lstStyle/>
          <a:p>
            <a:pPr algn="ctr"/>
            <a:r>
              <a:rPr lang="en-US" dirty="0"/>
              <a:t>ANTI procrastination strategies</a:t>
            </a:r>
            <a:endParaRPr lang="en-NG" dirty="0"/>
          </a:p>
        </p:txBody>
      </p:sp>
      <p:sp>
        <p:nvSpPr>
          <p:cNvPr id="3" name="Subtitle 2">
            <a:extLst>
              <a:ext uri="{FF2B5EF4-FFF2-40B4-BE49-F238E27FC236}">
                <a16:creationId xmlns:a16="http://schemas.microsoft.com/office/drawing/2014/main" id="{07238281-6BFF-4ED8-B16F-643D1431087D}"/>
              </a:ext>
            </a:extLst>
          </p:cNvPr>
          <p:cNvSpPr>
            <a:spLocks noGrp="1"/>
          </p:cNvSpPr>
          <p:nvPr>
            <p:ph type="subTitle" idx="1"/>
          </p:nvPr>
        </p:nvSpPr>
        <p:spPr>
          <a:xfrm>
            <a:off x="1600200" y="3523130"/>
            <a:ext cx="9454652" cy="985696"/>
          </a:xfrm>
        </p:spPr>
        <p:txBody>
          <a:bodyPr>
            <a:noAutofit/>
          </a:bodyPr>
          <a:lstStyle/>
          <a:p>
            <a:pPr algn="ctr"/>
            <a:r>
              <a:rPr lang="en-US" sz="4000" dirty="0"/>
              <a:t>by</a:t>
            </a:r>
          </a:p>
          <a:p>
            <a:pPr algn="ctr"/>
            <a:r>
              <a:rPr lang="en-US" sz="4000" dirty="0"/>
              <a:t>Prof. </a:t>
            </a:r>
            <a:r>
              <a:rPr lang="en-US" sz="4000" dirty="0" err="1"/>
              <a:t>adejumoke</a:t>
            </a:r>
            <a:r>
              <a:rPr lang="en-US" sz="4000" dirty="0"/>
              <a:t> </a:t>
            </a:r>
            <a:r>
              <a:rPr lang="en-US" sz="4000" dirty="0" err="1"/>
              <a:t>inyinbor</a:t>
            </a:r>
            <a:r>
              <a:rPr lang="en-US" sz="4000" dirty="0"/>
              <a:t> (</a:t>
            </a:r>
            <a:r>
              <a:rPr lang="en-US" sz="4000" dirty="0" err="1"/>
              <a:t>duwc</a:t>
            </a:r>
            <a:r>
              <a:rPr lang="en-US" sz="4000" dirty="0"/>
              <a:t>)</a:t>
            </a:r>
            <a:endParaRPr lang="en-NG" sz="4000" dirty="0"/>
          </a:p>
        </p:txBody>
      </p:sp>
    </p:spTree>
    <p:extLst>
      <p:ext uri="{BB962C8B-B14F-4D97-AF65-F5344CB8AC3E}">
        <p14:creationId xmlns:p14="http://schemas.microsoft.com/office/powerpoint/2010/main" val="3411037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BBB5D9-3386-4764-8D87-11F82B3B7BEF}"/>
              </a:ext>
            </a:extLst>
          </p:cNvPr>
          <p:cNvPicPr>
            <a:picLocks noChangeAspect="1"/>
          </p:cNvPicPr>
          <p:nvPr/>
        </p:nvPicPr>
        <p:blipFill>
          <a:blip r:embed="rId2"/>
          <a:stretch>
            <a:fillRect/>
          </a:stretch>
        </p:blipFill>
        <p:spPr>
          <a:xfrm>
            <a:off x="5956182" y="779929"/>
            <a:ext cx="5751724" cy="5143500"/>
          </a:xfrm>
          <a:prstGeom prst="rect">
            <a:avLst/>
          </a:prstGeom>
        </p:spPr>
      </p:pic>
      <p:sp>
        <p:nvSpPr>
          <p:cNvPr id="2" name="Title 1">
            <a:extLst>
              <a:ext uri="{FF2B5EF4-FFF2-40B4-BE49-F238E27FC236}">
                <a16:creationId xmlns:a16="http://schemas.microsoft.com/office/drawing/2014/main" id="{BCB6A64E-5182-4CA9-9BA9-E342F5726068}"/>
              </a:ext>
            </a:extLst>
          </p:cNvPr>
          <p:cNvSpPr>
            <a:spLocks noGrp="1"/>
          </p:cNvSpPr>
          <p:nvPr>
            <p:ph type="title"/>
          </p:nvPr>
        </p:nvSpPr>
        <p:spPr>
          <a:xfrm>
            <a:off x="1088917" y="-1306017"/>
            <a:ext cx="10014165" cy="2085946"/>
          </a:xfrm>
        </p:spPr>
        <p:txBody>
          <a:bodyPr>
            <a:noAutofit/>
          </a:bodyPr>
          <a:lstStyle/>
          <a:p>
            <a:pPr algn="ctr"/>
            <a:r>
              <a:rPr lang="en-US" sz="4400" b="1" dirty="0"/>
              <a:t>What is procrastination?</a:t>
            </a:r>
            <a:endParaRPr lang="en-NG" sz="4400" b="1" dirty="0"/>
          </a:p>
        </p:txBody>
      </p:sp>
      <p:sp>
        <p:nvSpPr>
          <p:cNvPr id="3" name="TextBox 2">
            <a:extLst>
              <a:ext uri="{FF2B5EF4-FFF2-40B4-BE49-F238E27FC236}">
                <a16:creationId xmlns:a16="http://schemas.microsoft.com/office/drawing/2014/main" id="{573B06D2-D72D-42F5-8B66-8F1AAAA5CD02}"/>
              </a:ext>
            </a:extLst>
          </p:cNvPr>
          <p:cNvSpPr txBox="1"/>
          <p:nvPr/>
        </p:nvSpPr>
        <p:spPr>
          <a:xfrm>
            <a:off x="484094" y="1210236"/>
            <a:ext cx="5217459" cy="3170099"/>
          </a:xfrm>
          <a:prstGeom prst="rect">
            <a:avLst/>
          </a:prstGeom>
          <a:noFill/>
        </p:spPr>
        <p:txBody>
          <a:bodyPr wrap="square" rtlCol="0">
            <a:spAutoFit/>
          </a:bodyPr>
          <a:lstStyle/>
          <a:p>
            <a:pPr algn="ctr"/>
            <a:r>
              <a:rPr lang="en-US" sz="4000" b="1" dirty="0"/>
              <a:t>Procrastination is the act of delaying important tasks despite knowing the consequences.</a:t>
            </a:r>
            <a:endParaRPr lang="en-NG" sz="4000" b="1" dirty="0"/>
          </a:p>
        </p:txBody>
      </p:sp>
    </p:spTree>
    <p:extLst>
      <p:ext uri="{BB962C8B-B14F-4D97-AF65-F5344CB8AC3E}">
        <p14:creationId xmlns:p14="http://schemas.microsoft.com/office/powerpoint/2010/main" val="379831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02027BE-03A8-4493-B4D3-05765E70A9EF}"/>
              </a:ext>
            </a:extLst>
          </p:cNvPr>
          <p:cNvGrpSpPr/>
          <p:nvPr/>
        </p:nvGrpSpPr>
        <p:grpSpPr>
          <a:xfrm>
            <a:off x="208404" y="174812"/>
            <a:ext cx="11705689" cy="5833246"/>
            <a:chOff x="208404" y="174812"/>
            <a:chExt cx="11705689" cy="5833246"/>
          </a:xfrm>
        </p:grpSpPr>
        <p:pic>
          <p:nvPicPr>
            <p:cNvPr id="3" name="Picture 2">
              <a:extLst>
                <a:ext uri="{FF2B5EF4-FFF2-40B4-BE49-F238E27FC236}">
                  <a16:creationId xmlns:a16="http://schemas.microsoft.com/office/drawing/2014/main" id="{B7CFA2AC-079F-405C-8977-98B68E5DE9DD}"/>
                </a:ext>
              </a:extLst>
            </p:cNvPr>
            <p:cNvPicPr>
              <a:picLocks noChangeAspect="1"/>
            </p:cNvPicPr>
            <p:nvPr/>
          </p:nvPicPr>
          <p:blipFill>
            <a:blip r:embed="rId2"/>
            <a:stretch>
              <a:fillRect/>
            </a:stretch>
          </p:blipFill>
          <p:spPr>
            <a:xfrm>
              <a:off x="208404" y="2483136"/>
              <a:ext cx="6958878" cy="3524922"/>
            </a:xfrm>
            <a:prstGeom prst="rect">
              <a:avLst/>
            </a:prstGeom>
          </p:spPr>
        </p:pic>
        <p:sp>
          <p:nvSpPr>
            <p:cNvPr id="4" name="TextBox 3">
              <a:extLst>
                <a:ext uri="{FF2B5EF4-FFF2-40B4-BE49-F238E27FC236}">
                  <a16:creationId xmlns:a16="http://schemas.microsoft.com/office/drawing/2014/main" id="{0F8A9A52-A57B-4B3F-9CBB-1BE98029DC95}"/>
                </a:ext>
              </a:extLst>
            </p:cNvPr>
            <p:cNvSpPr txBox="1"/>
            <p:nvPr/>
          </p:nvSpPr>
          <p:spPr>
            <a:xfrm>
              <a:off x="537883" y="174812"/>
              <a:ext cx="10408024" cy="2308324"/>
            </a:xfrm>
            <a:prstGeom prst="rect">
              <a:avLst/>
            </a:prstGeom>
            <a:noFill/>
          </p:spPr>
          <p:txBody>
            <a:bodyPr wrap="square" rtlCol="0">
              <a:spAutoFit/>
            </a:bodyPr>
            <a:lstStyle/>
            <a:p>
              <a:pPr algn="ctr"/>
              <a:r>
                <a:rPr lang="en-US" sz="4800" dirty="0"/>
                <a:t>"Procrastination is the grave in which opportunity is buried." ~ Author Unknown</a:t>
              </a:r>
              <a:endParaRPr lang="en-NG" sz="4800" dirty="0"/>
            </a:p>
          </p:txBody>
        </p:sp>
        <p:sp>
          <p:nvSpPr>
            <p:cNvPr id="5" name="TextBox 4">
              <a:extLst>
                <a:ext uri="{FF2B5EF4-FFF2-40B4-BE49-F238E27FC236}">
                  <a16:creationId xmlns:a16="http://schemas.microsoft.com/office/drawing/2014/main" id="{D0320CC0-3A78-4BBA-94A6-50F8246AC0E3}"/>
                </a:ext>
              </a:extLst>
            </p:cNvPr>
            <p:cNvSpPr txBox="1"/>
            <p:nvPr/>
          </p:nvSpPr>
          <p:spPr>
            <a:xfrm>
              <a:off x="7167282" y="2290571"/>
              <a:ext cx="4746811" cy="3416320"/>
            </a:xfrm>
            <a:prstGeom prst="rect">
              <a:avLst/>
            </a:prstGeom>
            <a:noFill/>
          </p:spPr>
          <p:txBody>
            <a:bodyPr wrap="square" rtlCol="0">
              <a:spAutoFit/>
            </a:bodyPr>
            <a:lstStyle/>
            <a:p>
              <a:pPr algn="ctr"/>
              <a:r>
                <a:rPr lang="en-US" sz="3600" dirty="0"/>
                <a:t>Procrastination is the thief of time. </a:t>
              </a:r>
            </a:p>
            <a:p>
              <a:pPr algn="ctr"/>
              <a:r>
                <a:rPr lang="en-US" sz="3600" i="1" dirty="0"/>
                <a:t>Putting things off robs us of the opportunity to accomplish</a:t>
              </a:r>
              <a:r>
                <a:rPr lang="en-US" sz="3600" dirty="0"/>
                <a:t> something.</a:t>
              </a:r>
            </a:p>
            <a:p>
              <a:pPr algn="ctr"/>
              <a:r>
                <a:rPr lang="en-US" sz="3600" dirty="0"/>
                <a:t>dictionary.com</a:t>
              </a:r>
              <a:endParaRPr lang="en-NG" sz="3600" dirty="0"/>
            </a:p>
          </p:txBody>
        </p:sp>
      </p:grpSp>
    </p:spTree>
    <p:extLst>
      <p:ext uri="{BB962C8B-B14F-4D97-AF65-F5344CB8AC3E}">
        <p14:creationId xmlns:p14="http://schemas.microsoft.com/office/powerpoint/2010/main" val="2353079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FE7F9B-BC96-48E4-8269-EA3AFCB532B7}"/>
              </a:ext>
            </a:extLst>
          </p:cNvPr>
          <p:cNvSpPr>
            <a:spLocks noGrp="1"/>
          </p:cNvSpPr>
          <p:nvPr>
            <p:ph idx="1"/>
          </p:nvPr>
        </p:nvSpPr>
        <p:spPr>
          <a:xfrm>
            <a:off x="954741" y="484093"/>
            <a:ext cx="10797988" cy="3516522"/>
          </a:xfrm>
        </p:spPr>
        <p:txBody>
          <a:bodyPr>
            <a:noAutofit/>
          </a:bodyPr>
          <a:lstStyle/>
          <a:p>
            <a:pPr marL="0" indent="0" algn="ctr">
              <a:buNone/>
            </a:pPr>
            <a:r>
              <a:rPr lang="en-US" sz="3600" dirty="0"/>
              <a:t>Procrastination is the practice of carrying out less urgent tasks in preference to more urgent ones, or doing more pleasurable things in place of less pleasurable ones, and thus putting off impending tasks to a later time, sometimes to the “last minute” before a deadline.</a:t>
            </a:r>
            <a:endParaRPr lang="en-NG" sz="3600" dirty="0"/>
          </a:p>
        </p:txBody>
      </p:sp>
    </p:spTree>
    <p:extLst>
      <p:ext uri="{BB962C8B-B14F-4D97-AF65-F5344CB8AC3E}">
        <p14:creationId xmlns:p14="http://schemas.microsoft.com/office/powerpoint/2010/main" val="707402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D620-7CFC-4C97-A87C-B81961909EE0}"/>
              </a:ext>
            </a:extLst>
          </p:cNvPr>
          <p:cNvSpPr>
            <a:spLocks noGrp="1"/>
          </p:cNvSpPr>
          <p:nvPr>
            <p:ph type="title"/>
          </p:nvPr>
        </p:nvSpPr>
        <p:spPr>
          <a:xfrm>
            <a:off x="1451579" y="793377"/>
            <a:ext cx="9603275" cy="1060378"/>
          </a:xfrm>
        </p:spPr>
        <p:txBody>
          <a:bodyPr/>
          <a:lstStyle/>
          <a:p>
            <a:pPr algn="ctr"/>
            <a:r>
              <a:rPr lang="en-US" dirty="0"/>
              <a:t>reasons why people procrastinate</a:t>
            </a:r>
            <a:endParaRPr lang="en-NG" dirty="0"/>
          </a:p>
        </p:txBody>
      </p:sp>
      <p:sp>
        <p:nvSpPr>
          <p:cNvPr id="3" name="Content Placeholder 2">
            <a:extLst>
              <a:ext uri="{FF2B5EF4-FFF2-40B4-BE49-F238E27FC236}">
                <a16:creationId xmlns:a16="http://schemas.microsoft.com/office/drawing/2014/main" id="{7F36B718-7F93-4A11-806B-1E401BF5F58C}"/>
              </a:ext>
            </a:extLst>
          </p:cNvPr>
          <p:cNvSpPr>
            <a:spLocks noGrp="1"/>
          </p:cNvSpPr>
          <p:nvPr>
            <p:ph idx="1"/>
          </p:nvPr>
        </p:nvSpPr>
        <p:spPr>
          <a:xfrm>
            <a:off x="1451579" y="2043953"/>
            <a:ext cx="9603275" cy="3422392"/>
          </a:xfrm>
        </p:spPr>
        <p:txBody>
          <a:bodyPr>
            <a:normAutofit/>
          </a:bodyPr>
          <a:lstStyle/>
          <a:p>
            <a:pPr>
              <a:buFont typeface="Wingdings" panose="05000000000000000000" pitchFamily="2" charset="2"/>
              <a:buChar char="Ø"/>
            </a:pPr>
            <a:r>
              <a:rPr lang="en-US" sz="2400" dirty="0"/>
              <a:t>Poor time management or unwise time management</a:t>
            </a:r>
          </a:p>
          <a:p>
            <a:pPr marL="0" indent="0" algn="ctr">
              <a:buNone/>
            </a:pPr>
            <a:r>
              <a:rPr lang="en-US" sz="2400" dirty="0"/>
              <a:t>	</a:t>
            </a:r>
            <a:r>
              <a:rPr lang="en-US" sz="2400" b="1" dirty="0"/>
              <a:t>I must work the works of him that sent me, while it is day: the night cometh, when no man can work.  John 9:4</a:t>
            </a:r>
            <a:br>
              <a:rPr lang="en-US" sz="2400" dirty="0"/>
            </a:br>
            <a:endParaRPr lang="en-US" sz="2400" dirty="0"/>
          </a:p>
          <a:p>
            <a:pPr>
              <a:buFont typeface="Wingdings" panose="05000000000000000000" pitchFamily="2" charset="2"/>
              <a:buChar char="Ø"/>
            </a:pPr>
            <a:r>
              <a:rPr lang="en-US" sz="2400" dirty="0"/>
              <a:t>Inability to prioritize</a:t>
            </a:r>
          </a:p>
          <a:p>
            <a:endParaRPr lang="en-NG" sz="2400" dirty="0"/>
          </a:p>
        </p:txBody>
      </p:sp>
    </p:spTree>
    <p:extLst>
      <p:ext uri="{BB962C8B-B14F-4D97-AF65-F5344CB8AC3E}">
        <p14:creationId xmlns:p14="http://schemas.microsoft.com/office/powerpoint/2010/main" val="332455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0533D2-A23F-4FEA-8A19-79F63E64EFB7}"/>
              </a:ext>
            </a:extLst>
          </p:cNvPr>
          <p:cNvPicPr>
            <a:picLocks noChangeAspect="1"/>
          </p:cNvPicPr>
          <p:nvPr/>
        </p:nvPicPr>
        <p:blipFill>
          <a:blip r:embed="rId2"/>
          <a:stretch>
            <a:fillRect/>
          </a:stretch>
        </p:blipFill>
        <p:spPr>
          <a:xfrm>
            <a:off x="860612" y="0"/>
            <a:ext cx="10797988" cy="6046874"/>
          </a:xfrm>
          <a:prstGeom prst="rect">
            <a:avLst/>
          </a:prstGeom>
        </p:spPr>
      </p:pic>
    </p:spTree>
    <p:extLst>
      <p:ext uri="{BB962C8B-B14F-4D97-AF65-F5344CB8AC3E}">
        <p14:creationId xmlns:p14="http://schemas.microsoft.com/office/powerpoint/2010/main" val="3347934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499F1D-E476-40CB-8394-830BB254BDE5}"/>
              </a:ext>
            </a:extLst>
          </p:cNvPr>
          <p:cNvPicPr>
            <a:picLocks noChangeAspect="1"/>
          </p:cNvPicPr>
          <p:nvPr/>
        </p:nvPicPr>
        <p:blipFill rotWithShape="1">
          <a:blip r:embed="rId2"/>
          <a:srcRect l="2825" t="4770" r="46343" b="4339"/>
          <a:stretch/>
        </p:blipFill>
        <p:spPr>
          <a:xfrm>
            <a:off x="3644153" y="812471"/>
            <a:ext cx="5204013" cy="5238705"/>
          </a:xfrm>
          <a:prstGeom prst="rect">
            <a:avLst/>
          </a:prstGeom>
        </p:spPr>
      </p:pic>
      <p:sp>
        <p:nvSpPr>
          <p:cNvPr id="4" name="TextBox 3">
            <a:extLst>
              <a:ext uri="{FF2B5EF4-FFF2-40B4-BE49-F238E27FC236}">
                <a16:creationId xmlns:a16="http://schemas.microsoft.com/office/drawing/2014/main" id="{AF407F1A-9381-4829-B4B1-52B4B3DCACED}"/>
              </a:ext>
            </a:extLst>
          </p:cNvPr>
          <p:cNvSpPr txBox="1"/>
          <p:nvPr/>
        </p:nvSpPr>
        <p:spPr>
          <a:xfrm>
            <a:off x="1116106" y="0"/>
            <a:ext cx="10381129" cy="1323439"/>
          </a:xfrm>
          <a:prstGeom prst="rect">
            <a:avLst/>
          </a:prstGeom>
          <a:noFill/>
        </p:spPr>
        <p:txBody>
          <a:bodyPr wrap="square" rtlCol="0">
            <a:spAutoFit/>
          </a:bodyPr>
          <a:lstStyle/>
          <a:p>
            <a:pPr algn="ctr"/>
            <a:r>
              <a:rPr lang="en-US" sz="4000" b="1" dirty="0"/>
              <a:t>The 4 boxes of Eisenhower Matrix</a:t>
            </a:r>
          </a:p>
          <a:p>
            <a:pPr algn="ctr"/>
            <a:endParaRPr lang="en-NG" sz="4000" dirty="0"/>
          </a:p>
        </p:txBody>
      </p:sp>
    </p:spTree>
    <p:extLst>
      <p:ext uri="{BB962C8B-B14F-4D97-AF65-F5344CB8AC3E}">
        <p14:creationId xmlns:p14="http://schemas.microsoft.com/office/powerpoint/2010/main" val="326279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9DE2C-6E15-4D21-A521-71BF7D529CAF}"/>
              </a:ext>
            </a:extLst>
          </p:cNvPr>
          <p:cNvSpPr>
            <a:spLocks noGrp="1"/>
          </p:cNvSpPr>
          <p:nvPr>
            <p:ph type="title"/>
          </p:nvPr>
        </p:nvSpPr>
        <p:spPr>
          <a:xfrm>
            <a:off x="968188" y="1756130"/>
            <a:ext cx="9843247" cy="1887950"/>
          </a:xfrm>
        </p:spPr>
        <p:txBody>
          <a:bodyPr>
            <a:noAutofit/>
          </a:bodyPr>
          <a:lstStyle/>
          <a:p>
            <a:pPr algn="ctr"/>
            <a:r>
              <a:rPr lang="en-US" sz="2800" dirty="0"/>
              <a:t>But Martha was distracted with much serving, and she approached Him and said, “Lord, do You not care that my sister has left me to serve alone? Therefore tell her to help me.” And Jesus answered and said to her, “Martha, Martha, you are worried and troubled about many things. But one thing is needed, and Mary has chosen that good part, which will not be taken away from her.” </a:t>
            </a:r>
            <a:endParaRPr lang="en-NG" sz="2800" dirty="0"/>
          </a:p>
        </p:txBody>
      </p:sp>
      <p:sp>
        <p:nvSpPr>
          <p:cNvPr id="3" name="Text Placeholder 2">
            <a:extLst>
              <a:ext uri="{FF2B5EF4-FFF2-40B4-BE49-F238E27FC236}">
                <a16:creationId xmlns:a16="http://schemas.microsoft.com/office/drawing/2014/main" id="{81C439D0-3483-4576-ABD6-3F0AC7CEAD6D}"/>
              </a:ext>
            </a:extLst>
          </p:cNvPr>
          <p:cNvSpPr>
            <a:spLocks noGrp="1"/>
          </p:cNvSpPr>
          <p:nvPr>
            <p:ph type="body" idx="1"/>
          </p:nvPr>
        </p:nvSpPr>
        <p:spPr>
          <a:xfrm>
            <a:off x="1454239" y="3832413"/>
            <a:ext cx="8630446" cy="986712"/>
          </a:xfrm>
        </p:spPr>
        <p:txBody>
          <a:bodyPr>
            <a:normAutofit/>
          </a:bodyPr>
          <a:lstStyle/>
          <a:p>
            <a:pPr algn="ctr"/>
            <a:r>
              <a:rPr lang="en-US" sz="4000" dirty="0"/>
              <a:t>LUKE 10:40-42</a:t>
            </a:r>
            <a:endParaRPr lang="en-NG" sz="4000" dirty="0"/>
          </a:p>
        </p:txBody>
      </p:sp>
    </p:spTree>
    <p:extLst>
      <p:ext uri="{BB962C8B-B14F-4D97-AF65-F5344CB8AC3E}">
        <p14:creationId xmlns:p14="http://schemas.microsoft.com/office/powerpoint/2010/main" val="1887825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BC42B-0D50-4A62-8A10-F63FE9EFC706}"/>
              </a:ext>
            </a:extLst>
          </p:cNvPr>
          <p:cNvSpPr>
            <a:spLocks noGrp="1"/>
          </p:cNvSpPr>
          <p:nvPr>
            <p:ph idx="1"/>
          </p:nvPr>
        </p:nvSpPr>
        <p:spPr/>
        <p:txBody>
          <a:bodyPr/>
          <a:lstStyle/>
          <a:p>
            <a:pPr>
              <a:buFont typeface="Wingdings" panose="05000000000000000000" pitchFamily="2" charset="2"/>
              <a:buChar char="Ø"/>
            </a:pPr>
            <a:r>
              <a:rPr lang="en-US" dirty="0"/>
              <a:t>Too many task at the same time</a:t>
            </a:r>
          </a:p>
          <a:p>
            <a:pPr>
              <a:buFont typeface="Wingdings" panose="05000000000000000000" pitchFamily="2" charset="2"/>
              <a:buChar char="Ø"/>
            </a:pPr>
            <a:r>
              <a:rPr lang="en-US" dirty="0"/>
              <a:t>Anxiety or fear about the task - time is spent worrying rather than doing</a:t>
            </a:r>
          </a:p>
          <a:p>
            <a:pPr>
              <a:buFont typeface="Wingdings" panose="05000000000000000000" pitchFamily="2" charset="2"/>
              <a:buChar char="Ø"/>
            </a:pPr>
            <a:r>
              <a:rPr lang="en-US" dirty="0"/>
              <a:t>Difficulty concentrating, perhaps because of other problems</a:t>
            </a:r>
          </a:p>
          <a:p>
            <a:pPr>
              <a:buFont typeface="Wingdings" panose="05000000000000000000" pitchFamily="2" charset="2"/>
              <a:buChar char="Ø"/>
            </a:pPr>
            <a:r>
              <a:rPr lang="en-US" dirty="0"/>
              <a:t>Not knowing what is required of you in order to do the task</a:t>
            </a:r>
          </a:p>
          <a:p>
            <a:pPr>
              <a:buFont typeface="Wingdings" panose="05000000000000000000" pitchFamily="2" charset="2"/>
              <a:buChar char="Ø"/>
            </a:pPr>
            <a:r>
              <a:rPr lang="en-US" dirty="0"/>
              <a:t>Feeling overwhelmed by the task</a:t>
            </a:r>
          </a:p>
          <a:p>
            <a:pPr>
              <a:buFont typeface="Wingdings" panose="05000000000000000000" pitchFamily="2" charset="2"/>
              <a:buChar char="Ø"/>
            </a:pPr>
            <a:r>
              <a:rPr lang="en-US" dirty="0"/>
              <a:t>Negative mentality (mentality of not meeting standards set by self or others, of not being good enough)</a:t>
            </a:r>
            <a:endParaRPr lang="en-NG" dirty="0"/>
          </a:p>
        </p:txBody>
      </p:sp>
    </p:spTree>
    <p:extLst>
      <p:ext uri="{BB962C8B-B14F-4D97-AF65-F5344CB8AC3E}">
        <p14:creationId xmlns:p14="http://schemas.microsoft.com/office/powerpoint/2010/main" val="1544204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C3D7-4C4A-48F8-A5E4-6ACACA3F49C6}"/>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2D5BCD8F-416F-498A-B5E6-A569A8D0E416}"/>
              </a:ext>
            </a:extLst>
          </p:cNvPr>
          <p:cNvSpPr>
            <a:spLocks noGrp="1"/>
          </p:cNvSpPr>
          <p:nvPr>
            <p:ph idx="1"/>
          </p:nvPr>
        </p:nvSpPr>
        <p:spPr/>
        <p:txBody>
          <a:bodyPr/>
          <a:lstStyle/>
          <a:p>
            <a:pPr>
              <a:buFont typeface="Wingdings" panose="05000000000000000000" pitchFamily="2" charset="2"/>
              <a:buChar char="Ø"/>
            </a:pPr>
            <a:r>
              <a:rPr lang="en-US" dirty="0"/>
              <a:t> Perfectionism, believing that anything short of perfect is a complete failure</a:t>
            </a:r>
          </a:p>
          <a:p>
            <a:pPr>
              <a:buFont typeface="Wingdings" panose="05000000000000000000" pitchFamily="2" charset="2"/>
              <a:buChar char="Ø"/>
            </a:pPr>
            <a:r>
              <a:rPr lang="en-US" dirty="0"/>
              <a:t>Excuses (shortness of time)</a:t>
            </a:r>
          </a:p>
          <a:p>
            <a:pPr>
              <a:buFont typeface="Wingdings" panose="05000000000000000000" pitchFamily="2" charset="2"/>
              <a:buChar char="Ø"/>
            </a:pPr>
            <a:r>
              <a:rPr lang="en-US" dirty="0"/>
              <a:t>Being bored by the task</a:t>
            </a:r>
          </a:p>
          <a:p>
            <a:pPr>
              <a:buFont typeface="Wingdings" panose="05000000000000000000" pitchFamily="2" charset="2"/>
              <a:buChar char="Ø"/>
            </a:pPr>
            <a:r>
              <a:rPr lang="en-US" dirty="0"/>
              <a:t>Trying to avoid disliked or difficult task</a:t>
            </a:r>
            <a:endParaRPr lang="en-NG" dirty="0"/>
          </a:p>
        </p:txBody>
      </p:sp>
    </p:spTree>
    <p:extLst>
      <p:ext uri="{BB962C8B-B14F-4D97-AF65-F5344CB8AC3E}">
        <p14:creationId xmlns:p14="http://schemas.microsoft.com/office/powerpoint/2010/main" val="1585206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2768-84F3-47F6-A9EF-E0E7A75F23C7}"/>
              </a:ext>
            </a:extLst>
          </p:cNvPr>
          <p:cNvSpPr>
            <a:spLocks noGrp="1"/>
          </p:cNvSpPr>
          <p:nvPr>
            <p:ph type="title"/>
          </p:nvPr>
        </p:nvSpPr>
        <p:spPr>
          <a:xfrm>
            <a:off x="1465026" y="350236"/>
            <a:ext cx="9603275" cy="1087272"/>
          </a:xfrm>
        </p:spPr>
        <p:txBody>
          <a:bodyPr/>
          <a:lstStyle/>
          <a:p>
            <a:pPr algn="ctr"/>
            <a:r>
              <a:rPr lang="en-US" dirty="0"/>
              <a:t>Strategies for procrastination</a:t>
            </a:r>
            <a:endParaRPr lang="en-NG" dirty="0"/>
          </a:p>
        </p:txBody>
      </p:sp>
      <p:sp>
        <p:nvSpPr>
          <p:cNvPr id="3" name="Content Placeholder 2">
            <a:extLst>
              <a:ext uri="{FF2B5EF4-FFF2-40B4-BE49-F238E27FC236}">
                <a16:creationId xmlns:a16="http://schemas.microsoft.com/office/drawing/2014/main" id="{A7159874-C467-4B32-8C69-CE5419576274}"/>
              </a:ext>
            </a:extLst>
          </p:cNvPr>
          <p:cNvSpPr>
            <a:spLocks noGrp="1"/>
          </p:cNvSpPr>
          <p:nvPr>
            <p:ph idx="1"/>
          </p:nvPr>
        </p:nvSpPr>
        <p:spPr>
          <a:xfrm>
            <a:off x="1465026" y="1364213"/>
            <a:ext cx="10408024" cy="4129574"/>
          </a:xfrm>
        </p:spPr>
        <p:txBody>
          <a:bodyPr>
            <a:normAutofit fontScale="70000" lnSpcReduction="20000"/>
          </a:bodyPr>
          <a:lstStyle/>
          <a:p>
            <a:pPr>
              <a:buFont typeface="Wingdings" panose="05000000000000000000" pitchFamily="2" charset="2"/>
              <a:buChar char="Ø"/>
            </a:pPr>
            <a:r>
              <a:rPr lang="en-US" sz="3300" dirty="0"/>
              <a:t>Create a dedicated work space/ have a good structure</a:t>
            </a:r>
          </a:p>
          <a:p>
            <a:pPr marL="0" indent="0">
              <a:buNone/>
            </a:pPr>
            <a:r>
              <a:rPr lang="en-US" sz="3300" dirty="0"/>
              <a:t>Ascribe spaces with specific activities putting into consideration what enhances your productivity.</a:t>
            </a:r>
          </a:p>
          <a:p>
            <a:pPr marL="0" indent="0">
              <a:buNone/>
            </a:pPr>
            <a:r>
              <a:rPr lang="en-US" sz="3600" dirty="0"/>
              <a:t>Jesus, our perfect example:</a:t>
            </a:r>
          </a:p>
          <a:p>
            <a:pPr marL="0" indent="0">
              <a:buNone/>
            </a:pPr>
            <a:r>
              <a:rPr lang="en-US" sz="3800" dirty="0">
                <a:solidFill>
                  <a:srgbClr val="FF0000"/>
                </a:solidFill>
              </a:rPr>
              <a:t>Mark 1:35 </a:t>
            </a:r>
            <a:r>
              <a:rPr lang="en-US" sz="3800" dirty="0"/>
              <a:t>Early in the morning, while it was still dark, Jesus got up and slipped out to a solitary place to pray.</a:t>
            </a:r>
            <a:br>
              <a:rPr lang="en-US" sz="3800" dirty="0"/>
            </a:br>
            <a:r>
              <a:rPr lang="en-US" sz="3800" dirty="0">
                <a:solidFill>
                  <a:srgbClr val="FF0000"/>
                </a:solidFill>
              </a:rPr>
              <a:t>Mathew 14:13a </a:t>
            </a:r>
            <a:r>
              <a:rPr lang="en-US" sz="3800" dirty="0"/>
              <a:t>When Jesus heard about John, He withdrew by boat privately to a solitary place.     (Luke 4:42 </a:t>
            </a:r>
            <a:r>
              <a:rPr lang="en-US" sz="3800" dirty="0" err="1"/>
              <a:t>etc</a:t>
            </a:r>
            <a:r>
              <a:rPr lang="en-US" sz="3800" dirty="0"/>
              <a:t>)</a:t>
            </a:r>
          </a:p>
          <a:p>
            <a:pPr marL="0" indent="0">
              <a:buNone/>
            </a:pPr>
            <a:r>
              <a:rPr lang="en-US" sz="3800" dirty="0">
                <a:solidFill>
                  <a:srgbClr val="FF0000"/>
                </a:solidFill>
              </a:rPr>
              <a:t>Luke 5:16 </a:t>
            </a:r>
            <a:r>
              <a:rPr lang="en-US" sz="3800" dirty="0"/>
              <a:t>Yet He frequently withdrew to the wilderness to pray.</a:t>
            </a:r>
          </a:p>
          <a:p>
            <a:pPr marL="0" indent="0">
              <a:buNone/>
            </a:pPr>
            <a:endParaRPr lang="en-US" sz="2600" dirty="0"/>
          </a:p>
          <a:p>
            <a:pPr marL="0" indent="0">
              <a:buNone/>
            </a:pPr>
            <a:endParaRPr lang="en-US" dirty="0"/>
          </a:p>
        </p:txBody>
      </p:sp>
    </p:spTree>
    <p:extLst>
      <p:ext uri="{BB962C8B-B14F-4D97-AF65-F5344CB8AC3E}">
        <p14:creationId xmlns:p14="http://schemas.microsoft.com/office/powerpoint/2010/main" val="401734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CF970A-38E0-4A69-BC9A-1FA533FCE9A3}"/>
              </a:ext>
            </a:extLst>
          </p:cNvPr>
          <p:cNvSpPr>
            <a:spLocks noGrp="1"/>
          </p:cNvSpPr>
          <p:nvPr>
            <p:ph idx="1"/>
          </p:nvPr>
        </p:nvSpPr>
        <p:spPr>
          <a:xfrm>
            <a:off x="1290918" y="793376"/>
            <a:ext cx="10340788" cy="3449286"/>
          </a:xfrm>
        </p:spPr>
        <p:txBody>
          <a:bodyPr>
            <a:noAutofit/>
          </a:bodyPr>
          <a:lstStyle/>
          <a:p>
            <a:pPr>
              <a:buFont typeface="Wingdings" panose="05000000000000000000" pitchFamily="2" charset="2"/>
              <a:buChar char="Ø"/>
            </a:pPr>
            <a:r>
              <a:rPr lang="en-US" sz="2400" dirty="0"/>
              <a:t> Commit to few minutes at a time</a:t>
            </a:r>
          </a:p>
          <a:p>
            <a:pPr marL="0" indent="0">
              <a:buNone/>
            </a:pPr>
            <a:r>
              <a:rPr lang="en-US" sz="2400" dirty="0"/>
              <a:t>       Often, starting the task is the challenge; therefore, commit to the task for few minutes (take a break and repeat)</a:t>
            </a:r>
          </a:p>
          <a:p>
            <a:pPr>
              <a:buFont typeface="Wingdings" panose="05000000000000000000" pitchFamily="2" charset="2"/>
              <a:buChar char="Ø"/>
            </a:pPr>
            <a:r>
              <a:rPr lang="en-US" sz="2400" dirty="0"/>
              <a:t>Hold yourself accountable</a:t>
            </a:r>
          </a:p>
          <a:p>
            <a:pPr marL="0" indent="0">
              <a:buNone/>
            </a:pPr>
            <a:r>
              <a:rPr lang="en-US" sz="2400" dirty="0"/>
              <a:t>	(You can ask a friend or family member to check on you regarding some assignment)</a:t>
            </a:r>
          </a:p>
          <a:p>
            <a:pPr marL="0" indent="0">
              <a:buNone/>
            </a:pPr>
            <a:r>
              <a:rPr lang="en-US" sz="2400" dirty="0"/>
              <a:t>Acts 15:16 And some days after Paul said unto Barnabas, Let us go again and visit our brethren in every city where we have preached the word of the Lord, </a:t>
            </a:r>
            <a:r>
              <a:rPr lang="en-US" sz="2400" i="1" dirty="0"/>
              <a:t>and see</a:t>
            </a:r>
            <a:r>
              <a:rPr lang="en-US" sz="2400" dirty="0"/>
              <a:t> how they do.</a:t>
            </a:r>
            <a:br>
              <a:rPr lang="en-US" sz="2400" dirty="0"/>
            </a:br>
            <a:endParaRPr lang="en-NG" sz="2400" dirty="0"/>
          </a:p>
        </p:txBody>
      </p:sp>
    </p:spTree>
    <p:extLst>
      <p:ext uri="{BB962C8B-B14F-4D97-AF65-F5344CB8AC3E}">
        <p14:creationId xmlns:p14="http://schemas.microsoft.com/office/powerpoint/2010/main" val="3080388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51671-DDF8-4D33-8221-FEBDDC910BBB}"/>
              </a:ext>
            </a:extLst>
          </p:cNvPr>
          <p:cNvSpPr>
            <a:spLocks noGrp="1"/>
          </p:cNvSpPr>
          <p:nvPr>
            <p:ph idx="1"/>
          </p:nvPr>
        </p:nvSpPr>
        <p:spPr/>
        <p:txBody>
          <a:bodyPr/>
          <a:lstStyle/>
          <a:p>
            <a:pPr>
              <a:buFont typeface="Wingdings" panose="05000000000000000000" pitchFamily="2" charset="2"/>
              <a:buChar char="Ø"/>
            </a:pPr>
            <a:r>
              <a:rPr lang="en-US" dirty="0"/>
              <a:t>Create and Practice task management</a:t>
            </a:r>
          </a:p>
          <a:p>
            <a:pPr marL="0" indent="0">
              <a:buNone/>
            </a:pPr>
            <a:r>
              <a:rPr lang="en-US" dirty="0"/>
              <a:t>	Break projects into smaller tasks</a:t>
            </a:r>
          </a:p>
          <a:p>
            <a:pPr marL="0" indent="0">
              <a:buNone/>
            </a:pPr>
            <a:r>
              <a:rPr lang="en-US" dirty="0"/>
              <a:t>	Find supports</a:t>
            </a:r>
          </a:p>
          <a:p>
            <a:pPr marL="0" indent="0">
              <a:buNone/>
            </a:pPr>
            <a:r>
              <a:rPr lang="en-US" dirty="0"/>
              <a:t>	Assign tasks to daily ‘to-do’ lists</a:t>
            </a:r>
            <a:endParaRPr lang="en-NG" dirty="0"/>
          </a:p>
        </p:txBody>
      </p:sp>
    </p:spTree>
    <p:extLst>
      <p:ext uri="{BB962C8B-B14F-4D97-AF65-F5344CB8AC3E}">
        <p14:creationId xmlns:p14="http://schemas.microsoft.com/office/powerpoint/2010/main" val="2858581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B2684-E260-4556-9EBF-D7AAAA1A0035}"/>
              </a:ext>
            </a:extLst>
          </p:cNvPr>
          <p:cNvSpPr>
            <a:spLocks noGrp="1"/>
          </p:cNvSpPr>
          <p:nvPr>
            <p:ph idx="1"/>
          </p:nvPr>
        </p:nvSpPr>
        <p:spPr>
          <a:xfrm>
            <a:off x="1653285" y="1143000"/>
            <a:ext cx="9603275" cy="3462733"/>
          </a:xfrm>
        </p:spPr>
        <p:txBody>
          <a:bodyPr>
            <a:normAutofit/>
          </a:bodyPr>
          <a:lstStyle/>
          <a:p>
            <a:pPr>
              <a:buFont typeface="Wingdings" panose="05000000000000000000" pitchFamily="2" charset="2"/>
              <a:buChar char="Ø"/>
            </a:pPr>
            <a:r>
              <a:rPr lang="en-US" sz="4000" dirty="0"/>
              <a:t>Build a routine</a:t>
            </a:r>
          </a:p>
          <a:p>
            <a:pPr marL="0" indent="0">
              <a:buNone/>
            </a:pPr>
            <a:r>
              <a:rPr lang="en-US" sz="2400" dirty="0"/>
              <a:t>	Regular routine reduces procrastination</a:t>
            </a:r>
          </a:p>
          <a:p>
            <a:pPr marL="0" indent="0">
              <a:buNone/>
            </a:pPr>
            <a:r>
              <a:rPr lang="en-US" sz="2400" dirty="0"/>
              <a:t>	Make your routine visual</a:t>
            </a:r>
          </a:p>
          <a:p>
            <a:pPr marL="0" indent="0">
              <a:buNone/>
            </a:pPr>
            <a:r>
              <a:rPr lang="en-US" sz="2400" dirty="0"/>
              <a:t>	Make your routine achievable and realistic</a:t>
            </a:r>
            <a:endParaRPr lang="en-NG" sz="2400" dirty="0"/>
          </a:p>
        </p:txBody>
      </p:sp>
    </p:spTree>
    <p:extLst>
      <p:ext uri="{BB962C8B-B14F-4D97-AF65-F5344CB8AC3E}">
        <p14:creationId xmlns:p14="http://schemas.microsoft.com/office/powerpoint/2010/main" val="1330444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078B-8D6A-4A0C-ACCE-D50FA5A27ECC}"/>
              </a:ext>
            </a:extLst>
          </p:cNvPr>
          <p:cNvSpPr>
            <a:spLocks noGrp="1"/>
          </p:cNvSpPr>
          <p:nvPr>
            <p:ph type="title"/>
          </p:nvPr>
        </p:nvSpPr>
        <p:spPr>
          <a:xfrm>
            <a:off x="968188" y="1756130"/>
            <a:ext cx="11026588" cy="1887950"/>
          </a:xfrm>
        </p:spPr>
        <p:txBody>
          <a:bodyPr>
            <a:noAutofit/>
          </a:bodyPr>
          <a:lstStyle/>
          <a:p>
            <a:r>
              <a:rPr lang="en-US" dirty="0"/>
              <a:t>The ability to concentrate single-mindedly on your most important task, to do it well and to finish it completely, is the key to great success, achievement, respect, status and happiness in life. </a:t>
            </a:r>
            <a:endParaRPr lang="en-NG" dirty="0"/>
          </a:p>
        </p:txBody>
      </p:sp>
      <p:sp>
        <p:nvSpPr>
          <p:cNvPr id="3" name="Text Placeholder 2">
            <a:extLst>
              <a:ext uri="{FF2B5EF4-FFF2-40B4-BE49-F238E27FC236}">
                <a16:creationId xmlns:a16="http://schemas.microsoft.com/office/drawing/2014/main" id="{00C5A7CF-30E7-448B-B360-CC30F5BDDA7F}"/>
              </a:ext>
            </a:extLst>
          </p:cNvPr>
          <p:cNvSpPr>
            <a:spLocks noGrp="1"/>
          </p:cNvSpPr>
          <p:nvPr>
            <p:ph type="body" idx="1"/>
          </p:nvPr>
        </p:nvSpPr>
        <p:spPr>
          <a:xfrm>
            <a:off x="2530004" y="3751729"/>
            <a:ext cx="8630446" cy="1053949"/>
          </a:xfrm>
        </p:spPr>
        <p:txBody>
          <a:bodyPr>
            <a:normAutofit/>
          </a:bodyPr>
          <a:lstStyle/>
          <a:p>
            <a:pPr algn="r"/>
            <a:r>
              <a:rPr lang="en-US" sz="3200" b="1" dirty="0"/>
              <a:t>BRIAN TRACY</a:t>
            </a:r>
            <a:endParaRPr lang="en-NG" sz="3200" b="1" dirty="0"/>
          </a:p>
        </p:txBody>
      </p:sp>
    </p:spTree>
    <p:extLst>
      <p:ext uri="{BB962C8B-B14F-4D97-AF65-F5344CB8AC3E}">
        <p14:creationId xmlns:p14="http://schemas.microsoft.com/office/powerpoint/2010/main" val="309996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6BEB09B-6A20-42A1-B3EA-6FFC4D3905B7}"/>
              </a:ext>
            </a:extLst>
          </p:cNvPr>
          <p:cNvGrpSpPr/>
          <p:nvPr/>
        </p:nvGrpSpPr>
        <p:grpSpPr>
          <a:xfrm>
            <a:off x="1371600" y="228600"/>
            <a:ext cx="10327342" cy="6884894"/>
            <a:chOff x="1371600" y="228600"/>
            <a:chExt cx="10327342" cy="6884894"/>
          </a:xfrm>
        </p:grpSpPr>
        <p:pic>
          <p:nvPicPr>
            <p:cNvPr id="3" name="Picture 2">
              <a:extLst>
                <a:ext uri="{FF2B5EF4-FFF2-40B4-BE49-F238E27FC236}">
                  <a16:creationId xmlns:a16="http://schemas.microsoft.com/office/drawing/2014/main" id="{E6076805-0F57-4BD1-897F-368C4D8039CC}"/>
                </a:ext>
              </a:extLst>
            </p:cNvPr>
            <p:cNvPicPr>
              <a:picLocks noChangeAspect="1"/>
            </p:cNvPicPr>
            <p:nvPr/>
          </p:nvPicPr>
          <p:blipFill>
            <a:blip r:embed="rId2"/>
            <a:stretch>
              <a:fillRect/>
            </a:stretch>
          </p:blipFill>
          <p:spPr>
            <a:xfrm>
              <a:off x="1371600" y="228600"/>
              <a:ext cx="10327342" cy="6884894"/>
            </a:xfrm>
            <a:prstGeom prst="rect">
              <a:avLst/>
            </a:prstGeom>
          </p:spPr>
        </p:pic>
        <p:sp>
          <p:nvSpPr>
            <p:cNvPr id="4" name="TextBox 3">
              <a:extLst>
                <a:ext uri="{FF2B5EF4-FFF2-40B4-BE49-F238E27FC236}">
                  <a16:creationId xmlns:a16="http://schemas.microsoft.com/office/drawing/2014/main" id="{BB6006E3-6745-444C-8BCD-8E2366222079}"/>
                </a:ext>
              </a:extLst>
            </p:cNvPr>
            <p:cNvSpPr txBox="1"/>
            <p:nvPr/>
          </p:nvSpPr>
          <p:spPr>
            <a:xfrm>
              <a:off x="4827494" y="1546412"/>
              <a:ext cx="5768788" cy="1754326"/>
            </a:xfrm>
            <a:prstGeom prst="rect">
              <a:avLst/>
            </a:prstGeom>
            <a:noFill/>
          </p:spPr>
          <p:txBody>
            <a:bodyPr wrap="square" rtlCol="0">
              <a:spAutoFit/>
            </a:bodyPr>
            <a:lstStyle/>
            <a:p>
              <a:pPr algn="ctr"/>
              <a:r>
                <a:rPr lang="en-US" sz="3600" dirty="0"/>
                <a:t>Are you pushing an important task forward? Start now because </a:t>
              </a:r>
              <a:endParaRPr lang="en-NG" sz="3600" dirty="0"/>
            </a:p>
          </p:txBody>
        </p:sp>
      </p:grpSp>
    </p:spTree>
    <p:extLst>
      <p:ext uri="{BB962C8B-B14F-4D97-AF65-F5344CB8AC3E}">
        <p14:creationId xmlns:p14="http://schemas.microsoft.com/office/powerpoint/2010/main" val="36257198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864</TotalTime>
  <Words>631</Words>
  <Application>Microsoft Office PowerPoint</Application>
  <PresentationFormat>Widescreen</PresentationFormat>
  <Paragraphs>49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Gill Sans MT</vt:lpstr>
      <vt:lpstr>Wingdings</vt:lpstr>
      <vt:lpstr>Gallery</vt:lpstr>
      <vt:lpstr>ANTI procrastination strategies</vt:lpstr>
      <vt:lpstr>What is procrastination?</vt:lpstr>
      <vt:lpstr>PowerPoint Presentation</vt:lpstr>
      <vt:lpstr>PowerPoint Presentation</vt:lpstr>
      <vt:lpstr>reasons why people procrastinate</vt:lpstr>
      <vt:lpstr>PowerPoint Presentation</vt:lpstr>
      <vt:lpstr>PowerPoint Presentation</vt:lpstr>
      <vt:lpstr>But Martha was distracted with much serving, and she approached Him and said, “Lord, do You not care that my sister has left me to serve alone? Therefore tell her to help me.” And Jesus answered and said to her, “Martha, Martha, you are worried and troubled about many things. But one thing is needed, and Mary has chosen that good part, which will not be taken away from her.” </vt:lpstr>
      <vt:lpstr>PowerPoint Presentation</vt:lpstr>
      <vt:lpstr>PowerPoint Presentation</vt:lpstr>
      <vt:lpstr>Strategies for procrastination</vt:lpstr>
      <vt:lpstr>PowerPoint Presentation</vt:lpstr>
      <vt:lpstr>PowerPoint Presentation</vt:lpstr>
      <vt:lpstr>PowerPoint Presentation</vt:lpstr>
      <vt:lpstr>The ability to concentrate single-mindedly on your most important task, to do it well and to finish it completely, is the key to great success, achievement, respect, status and happiness in life.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 procrastination strategies</dc:title>
  <dc:creator>adeju</dc:creator>
  <cp:lastModifiedBy>adeju</cp:lastModifiedBy>
  <cp:revision>37</cp:revision>
  <dcterms:created xsi:type="dcterms:W3CDTF">2023-12-04T12:18:24Z</dcterms:created>
  <dcterms:modified xsi:type="dcterms:W3CDTF">2025-10-15T10:06:03Z</dcterms:modified>
</cp:coreProperties>
</file>