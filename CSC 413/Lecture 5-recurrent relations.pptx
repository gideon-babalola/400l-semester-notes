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61" r:id="rId4"/>
    <p:sldId id="260" r:id="rId5"/>
    <p:sldId id="262" r:id="rId6"/>
    <p:sldId id="263" r:id="rId7"/>
    <p:sldId id="266" r:id="rId8"/>
    <p:sldId id="267" r:id="rId9"/>
    <p:sldId id="268" r:id="rId10"/>
    <p:sldId id="269" r:id="rId11"/>
    <p:sldId id="270" r:id="rId12"/>
    <p:sldId id="265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>
        <p:scale>
          <a:sx n="100" d="100"/>
          <a:sy n="100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47312" y="2860383"/>
            <a:ext cx="10067027" cy="11603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b="1" dirty="0" smtClean="0"/>
              <a:t>Topic: Recurrence </a:t>
            </a:r>
            <a:r>
              <a:rPr lang="en-US" sz="3600" b="1" dirty="0"/>
              <a:t>Relations and Recursive Algorithms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927822" y="4209760"/>
            <a:ext cx="7861105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Lecture Note Presentation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114301" y="2240642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/>
              <a:t>LECTURE 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gray">
          <a:xfrm>
            <a:off x="2055837" y="804423"/>
            <a:ext cx="7854696" cy="6808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Design and Analysis of Algorithms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114303" y="1478475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/>
              <a:t>CSC 413</a:t>
            </a:r>
          </a:p>
        </p:txBody>
      </p:sp>
    </p:spTree>
    <p:extLst>
      <p:ext uri="{BB962C8B-B14F-4D97-AF65-F5344CB8AC3E}">
        <p14:creationId xmlns:p14="http://schemas.microsoft.com/office/powerpoint/2010/main" val="401831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</a:t>
            </a:r>
            <a:r>
              <a:rPr lang="en-US" dirty="0" smtClean="0"/>
              <a:t>Fundamentals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9010" y="2249816"/>
            <a:ext cx="12171870" cy="4772085"/>
          </a:xfrm>
        </p:spPr>
        <p:txBody>
          <a:bodyPr>
            <a:normAutofit/>
          </a:bodyPr>
          <a:lstStyle/>
          <a:p>
            <a:r>
              <a:rPr lang="en-US" dirty="0" smtClean="0"/>
              <a:t>Definition</a:t>
            </a:r>
            <a:r>
              <a:rPr lang="en-US" dirty="0"/>
              <a:t>: Recursion is a programming technique where a function solves a problem by calling </a:t>
            </a:r>
            <a:r>
              <a:rPr lang="en-US" b="1" dirty="0"/>
              <a:t>itself</a:t>
            </a:r>
            <a:r>
              <a:rPr lang="en-US" dirty="0"/>
              <a:t> with a </a:t>
            </a:r>
            <a:r>
              <a:rPr lang="en-US" b="1" dirty="0"/>
              <a:t>smaller version</a:t>
            </a:r>
            <a:r>
              <a:rPr lang="en-US" dirty="0"/>
              <a:t> of the same problem until it reaches a </a:t>
            </a:r>
            <a:r>
              <a:rPr lang="en-US" b="1" dirty="0"/>
              <a:t>base case</a:t>
            </a:r>
            <a:r>
              <a:rPr lang="en-US" dirty="0"/>
              <a:t>.</a:t>
            </a:r>
          </a:p>
          <a:p>
            <a:r>
              <a:rPr lang="en-US" dirty="0"/>
              <a:t>Key Components of Recursion: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Example</a:t>
            </a:r>
            <a:r>
              <a:rPr lang="en-US" dirty="0"/>
              <a:t>: (factorial can be defined recursively as follows: </a:t>
            </a:r>
          </a:p>
          <a:p>
            <a:pPr marL="457200" lvl="1" indent="0">
              <a:buNone/>
            </a:pPr>
            <a:r>
              <a:rPr lang="en-US" dirty="0"/>
              <a:t>function fact(n):</a:t>
            </a:r>
          </a:p>
          <a:p>
            <a:pPr marL="457200" lvl="1" indent="0">
              <a:buNone/>
            </a:pPr>
            <a:r>
              <a:rPr lang="en-US" dirty="0"/>
              <a:t>    if n == 0 or n == 1:</a:t>
            </a:r>
          </a:p>
          <a:p>
            <a:pPr marL="457200" lvl="1" indent="0">
              <a:buNone/>
            </a:pPr>
            <a:r>
              <a:rPr lang="en-US" dirty="0"/>
              <a:t>        return 1           ← base case</a:t>
            </a:r>
          </a:p>
          <a:p>
            <a:pPr marL="457200" lvl="1" indent="0">
              <a:buNone/>
            </a:pPr>
            <a:r>
              <a:rPr lang="en-US" dirty="0"/>
              <a:t>    else:</a:t>
            </a:r>
          </a:p>
          <a:p>
            <a:pPr marL="457200" lvl="1" indent="0">
              <a:buNone/>
            </a:pPr>
            <a:r>
              <a:rPr lang="en-US" dirty="0"/>
              <a:t>        return n * fact(n-1)   ← recursive case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694089"/>
              </p:ext>
            </p:extLst>
          </p:nvPr>
        </p:nvGraphicFramePr>
        <p:xfrm>
          <a:off x="168695" y="3290338"/>
          <a:ext cx="9958717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505"/>
                <a:gridCol w="7470212"/>
              </a:tblGrid>
              <a:tr h="303163">
                <a:tc>
                  <a:txBody>
                    <a:bodyPr/>
                    <a:lstStyle/>
                    <a:p>
                      <a:r>
                        <a:rPr lang="en-US" sz="1400" dirty="0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explanation</a:t>
                      </a:r>
                    </a:p>
                  </a:txBody>
                  <a:tcPr anchor="ctr"/>
                </a:tc>
              </a:tr>
              <a:tr h="303163">
                <a:tc>
                  <a:txBody>
                    <a:bodyPr/>
                    <a:lstStyle/>
                    <a:p>
                      <a:r>
                        <a:rPr lang="en-US" sz="1400"/>
                        <a:t>Base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condition where recursion stops. prevents infinite loop.</a:t>
                      </a:r>
                    </a:p>
                  </a:txBody>
                  <a:tcPr anchor="ctr"/>
                </a:tc>
              </a:tr>
              <a:tr h="303163">
                <a:tc>
                  <a:txBody>
                    <a:bodyPr/>
                    <a:lstStyle/>
                    <a:p>
                      <a:r>
                        <a:rPr lang="en-US" sz="1400"/>
                        <a:t>Recursive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 part where the function calls itself again but with smaller input</a:t>
                      </a:r>
                    </a:p>
                  </a:txBody>
                  <a:tcPr anchor="ctr"/>
                </a:tc>
              </a:tr>
              <a:tr h="303163">
                <a:tc>
                  <a:txBody>
                    <a:bodyPr/>
                    <a:lstStyle/>
                    <a:p>
                      <a:r>
                        <a:rPr lang="en-US" sz="1400" dirty="0"/>
                        <a:t>Progress to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every recursive call MUST move toward base case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620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Recurrence Relations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3517" y="2251494"/>
                <a:ext cx="12088483" cy="4606506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/>
                  <a:t>A </a:t>
                </a:r>
                <a:r>
                  <a:rPr lang="en-US" sz="1400" b="1" dirty="0"/>
                  <a:t>recurrence relation</a:t>
                </a:r>
                <a:r>
                  <a:rPr lang="en-US" sz="1400" dirty="0"/>
                  <a:t> is a mathematical expression that defines a sequence in terms of its previous terms. In the context of algorithmic analysis, it is often used to model the time complexity of recursive algorithms.</a:t>
                </a:r>
              </a:p>
              <a:p>
                <a:r>
                  <a:rPr lang="en-US" sz="1400" dirty="0"/>
                  <a:t>A recurrence equation relates the value, an, of a sequence in terms of some or all of its past </a:t>
                </a:r>
                <a:r>
                  <a:rPr lang="en-US" sz="1400" dirty="0" smtClean="0"/>
                  <a:t>values.  </a:t>
                </a:r>
                <a:r>
                  <a:rPr lang="en-US" sz="1400" dirty="0"/>
                  <a:t>General form of a </a:t>
                </a:r>
                <a:r>
                  <a:rPr lang="en-US" sz="1400" b="1" dirty="0"/>
                  <a:t>Recurrence Relation: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14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, </m:t>
                        </m:r>
                      </m:sub>
                    </m:sSub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, 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, </m:t>
                        </m:r>
                      </m:sub>
                    </m:sSub>
                  </m:oMath>
                </a14:m>
                <a:r>
                  <a:rPr lang="en-US" sz="1400" dirty="0"/>
                  <a:t>…,</a:t>
                </a:r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, </m:t>
                        </m:r>
                      </m:sub>
                    </m:sSub>
                  </m:oMath>
                </a14:m>
                <a:r>
                  <a:rPr lang="en-US" sz="1400" dirty="0"/>
                  <a:t>). where </a:t>
                </a:r>
                <a:r>
                  <a:rPr lang="en-US" sz="1400" b="1" dirty="0"/>
                  <a:t>f </a:t>
                </a:r>
                <a:r>
                  <a:rPr lang="en-US" sz="1400" dirty="0"/>
                  <a:t>is a function that defines the relationship between the current term and the previous </a:t>
                </a:r>
                <a:r>
                  <a:rPr lang="en-US" sz="1400" dirty="0" smtClean="0"/>
                  <a:t>terms</a:t>
                </a:r>
              </a:p>
              <a:p>
                <a:r>
                  <a:rPr lang="en-US" sz="1400" dirty="0"/>
                  <a:t>Why Recursion matters in complexity analysis: Recursive algorithms lead naturally to a mathematical expression relating T(n) to T(smaller inputs n−k</a:t>
                </a:r>
                <a:r>
                  <a:rPr lang="en-US" sz="1400" dirty="0" smtClean="0"/>
                  <a:t>). This </a:t>
                </a:r>
                <a:r>
                  <a:rPr lang="en-US" sz="1400" dirty="0"/>
                  <a:t>mathematical expression is called </a:t>
                </a:r>
                <a:r>
                  <a:rPr lang="en-US" sz="1400" b="1" dirty="0"/>
                  <a:t>Recurrence Relation</a:t>
                </a:r>
                <a:r>
                  <a:rPr lang="en-US" sz="1400" dirty="0"/>
                  <a:t>.</a:t>
                </a:r>
                <a:endParaRPr lang="en-US" sz="1400" dirty="0" smtClean="0"/>
              </a:p>
              <a:p>
                <a:r>
                  <a:rPr lang="en-US" sz="1400" dirty="0"/>
                  <a:t>Formulating Recurrence Relations: Given a recursive algorithm, we write T(n) = cost of function for input size n</a:t>
                </a:r>
                <a:r>
                  <a:rPr lang="en-US" sz="1400" dirty="0" smtClean="0"/>
                  <a:t>.</a:t>
                </a:r>
                <a:endParaRPr lang="pt-BR" sz="1400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517" y="2251494"/>
                <a:ext cx="12088483" cy="4606506"/>
              </a:xfrm>
              <a:blipFill rotWithShape="0">
                <a:blip r:embed="rId2"/>
                <a:stretch>
                  <a:fillRect t="-132" r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810043"/>
              </p:ext>
            </p:extLst>
          </p:nvPr>
        </p:nvGraphicFramePr>
        <p:xfrm>
          <a:off x="1462656" y="4467860"/>
          <a:ext cx="8128000" cy="2243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388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38100" marR="38100" marT="76200" marB="7620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Recurrence Relation</a:t>
                      </a:r>
                    </a:p>
                  </a:txBody>
                  <a:tcPr marL="76200" marR="76200" marT="76200" marB="76200" anchor="ctr"/>
                </a:tc>
              </a:tr>
              <a:tr h="34814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u="none" dirty="0">
                          <a:solidFill>
                            <a:schemeClr val="tx1"/>
                          </a:solidFill>
                          <a:effectLst/>
                        </a:rPr>
                        <a:t>Fibonacci Sequence</a:t>
                      </a:r>
                    </a:p>
                  </a:txBody>
                  <a:tcPr marL="38100" marR="38100" marT="53150" marB="531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F(n) = F(n-1) + F(n-2)</a:t>
                      </a:r>
                    </a:p>
                  </a:txBody>
                  <a:tcPr marL="76200" marR="76200" marT="106680" marB="106680" anchor="ctr"/>
                </a:tc>
              </a:tr>
              <a:tr h="34814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u="none" dirty="0">
                          <a:solidFill>
                            <a:schemeClr val="tx1"/>
                          </a:solidFill>
                          <a:effectLst/>
                        </a:rPr>
                        <a:t>Factorial of a number n</a:t>
                      </a:r>
                    </a:p>
                  </a:txBody>
                  <a:tcPr marL="38100" marR="38100" marT="53150" marB="531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F(n) = n * F(n-1)</a:t>
                      </a:r>
                    </a:p>
                  </a:txBody>
                  <a:tcPr marL="76200" marR="76200" marT="106680" marB="106680" anchor="ctr"/>
                </a:tc>
              </a:tr>
              <a:tr h="34814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u="none" dirty="0">
                          <a:solidFill>
                            <a:schemeClr val="tx1"/>
                          </a:solidFill>
                          <a:effectLst/>
                        </a:rPr>
                        <a:t>Merge Sort</a:t>
                      </a:r>
                    </a:p>
                  </a:txBody>
                  <a:tcPr marL="38100" marR="38100" marT="53150" marB="531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T(n) = 2*T(n/2) + O(n)</a:t>
                      </a:r>
                    </a:p>
                  </a:txBody>
                  <a:tcPr marL="76200" marR="76200" marT="106680" marB="106680" anchor="ctr"/>
                </a:tc>
              </a:tr>
              <a:tr h="34814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u="none" dirty="0">
                          <a:solidFill>
                            <a:schemeClr val="tx1"/>
                          </a:solidFill>
                          <a:effectLst/>
                        </a:rPr>
                        <a:t>Tower of Hanoi</a:t>
                      </a:r>
                    </a:p>
                  </a:txBody>
                  <a:tcPr marL="38100" marR="38100" marT="53150" marB="531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H(n) = 2*H(n-1) + 1</a:t>
                      </a:r>
                    </a:p>
                  </a:txBody>
                  <a:tcPr marL="76200" marR="76200" marT="106680" marB="106680" anchor="ctr"/>
                </a:tc>
              </a:tr>
              <a:tr h="34814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u="none" dirty="0">
                          <a:solidFill>
                            <a:schemeClr val="tx1"/>
                          </a:solidFill>
                          <a:effectLst/>
                        </a:rPr>
                        <a:t>Binary Search</a:t>
                      </a:r>
                    </a:p>
                  </a:txBody>
                  <a:tcPr marL="38100" marR="38100" marT="53150" marB="531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T(n) = T(n/2) + 1</a:t>
                      </a:r>
                    </a:p>
                  </a:txBody>
                  <a:tcPr marL="76200" marR="76200" marT="106680" marB="10668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62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Solving Recurrent Relations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Solving recurrent relations refers to the </a:t>
            </a:r>
            <a:r>
              <a:rPr lang="en-US" dirty="0"/>
              <a:t>techniques for converting recursive definitions to closed </a:t>
            </a:r>
            <a:r>
              <a:rPr lang="en-US" dirty="0" smtClean="0"/>
              <a:t>formulas.</a:t>
            </a:r>
          </a:p>
          <a:p>
            <a:r>
              <a:rPr lang="en-US" dirty="0" smtClean="0"/>
              <a:t>The common techniques are: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369180"/>
              </p:ext>
            </p:extLst>
          </p:nvPr>
        </p:nvGraphicFramePr>
        <p:xfrm>
          <a:off x="1643810" y="3618141"/>
          <a:ext cx="10160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646"/>
                <a:gridCol w="6671355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When used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Iteration / Back substitution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recurrences, can expand repeatedly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Substitution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assume solution form then prove correctness by induction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Master theorem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divide &amp; conquer recurrences of form T(n) = </a:t>
                      </a:r>
                      <a:r>
                        <a:rPr lang="en-US" dirty="0" err="1"/>
                        <a:t>aT</a:t>
                      </a:r>
                      <a:r>
                        <a:rPr lang="en-US" dirty="0"/>
                        <a:t>(n/b) + f(n)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67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</a:t>
            </a:r>
            <a:r>
              <a:rPr lang="en-US" dirty="0" smtClean="0"/>
              <a:t>Relations: Iteration technique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0708" y="2198058"/>
                <a:ext cx="8825659" cy="3416300"/>
              </a:xfrm>
            </p:spPr>
            <p:txBody>
              <a:bodyPr/>
              <a:lstStyle/>
              <a:p>
                <a:r>
                  <a:rPr lang="en-US" dirty="0" smtClean="0"/>
                  <a:t>Example 1: Solve the recurrent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0708" y="2198058"/>
                <a:ext cx="8825659" cy="3416300"/>
              </a:xfrm>
              <a:blipFill rotWithShape="0">
                <a:blip r:embed="rId2"/>
                <a:stretch>
                  <a:fillRect l="-207" t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0463271"/>
                  </p:ext>
                </p:extLst>
              </p:nvPr>
            </p:nvGraphicFramePr>
            <p:xfrm>
              <a:off x="1154954" y="2608850"/>
              <a:ext cx="8128000" cy="436562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5268"/>
                    <a:gridCol w="7002732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iteration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Recurrence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 =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                 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r>
                            <a:rPr lang="en-US" dirty="0" smtClean="0"/>
                            <a:t>                                        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 =</a:t>
                          </a:r>
                          <a:r>
                            <a:rPr lang="en-US" baseline="0" dirty="0" smtClean="0"/>
                            <a:t> 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−1)+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                            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b>
                              </m:s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−2)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 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−2)+(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−1)+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---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-----------------------------------------------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</a:t>
                          </a:r>
                          <a:r>
                            <a:rPr lang="en-US" baseline="0" dirty="0" smtClean="0"/>
                            <a:t> = 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+…+(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+…+(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=4+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+…+(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=4+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=4+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d>
                                      <m:d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num>
                                          <m:den>
                                            <m:r>
                                              <a:rPr lang="en-US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 smtClean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0463271"/>
                  </p:ext>
                </p:extLst>
              </p:nvPr>
            </p:nvGraphicFramePr>
            <p:xfrm>
              <a:off x="1154954" y="2608850"/>
              <a:ext cx="8128000" cy="43894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5268"/>
                    <a:gridCol w="7002732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iteration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Recurrence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 =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101" t="-62857" b="-529524"/>
                          </a:stretch>
                        </a:blipFill>
                      </a:tcPr>
                    </a:tc>
                  </a:tr>
                  <a:tr h="66802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 =</a:t>
                          </a:r>
                          <a:r>
                            <a:rPr lang="en-US" baseline="0" dirty="0" smtClean="0"/>
                            <a:t> 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101" t="-155455" b="-405455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 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101" t="-460656" b="-631148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---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-----------------------------------------------</a:t>
                          </a:r>
                          <a:endParaRPr lang="en-US" dirty="0" smtClean="0"/>
                        </a:p>
                      </a:txBody>
                      <a:tcPr/>
                    </a:tc>
                  </a:tr>
                  <a:tr h="1968818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</a:t>
                          </a:r>
                          <a:r>
                            <a:rPr lang="en-US" baseline="0" dirty="0" smtClean="0"/>
                            <a:t> = 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101" t="-12438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423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4954" y="2241190"/>
                <a:ext cx="10611476" cy="3416300"/>
              </a:xfrm>
            </p:spPr>
            <p:txBody>
              <a:bodyPr/>
              <a:lstStyle/>
              <a:p>
                <a:r>
                  <a:rPr lang="en-US" dirty="0" smtClean="0"/>
                  <a:t>Example: Solve the recurrent relation f(n) given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                 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mr>
                              </m:m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𝑖𝑓𝑛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≥1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2241190"/>
                <a:ext cx="10611476" cy="3416300"/>
              </a:xfrm>
              <a:blipFill rotWithShape="0">
                <a:blip r:embed="rId2"/>
                <a:stretch>
                  <a:fillRect l="-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995278"/>
                  </p:ext>
                </p:extLst>
              </p:nvPr>
            </p:nvGraphicFramePr>
            <p:xfrm>
              <a:off x="1913618" y="2774017"/>
              <a:ext cx="10059385" cy="3720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92656"/>
                    <a:gridCol w="8666729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iteration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Recurrence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 = 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                        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oMath>
                          </a14:m>
                          <a:endParaRPr lang="en-US" sz="1400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r>
                            <a:rPr lang="en-US" sz="1400" b="0" dirty="0" smtClean="0"/>
                            <a:t>                               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−1)=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 =</a:t>
                          </a:r>
                          <a:r>
                            <a:rPr lang="en-US" sz="1400" baseline="0" dirty="0" smtClean="0"/>
                            <a:t> 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                        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a:rPr lang="en-US" sz="14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×3+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−2)</m:t>
                              </m:r>
                            </m:oMath>
                          </a14:m>
                          <a:endParaRPr lang="en-US" sz="1400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−2)=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 = 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         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a:rPr lang="en-US" sz="14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+2(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×3+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400" b="0" i="1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---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-----------------------------------------------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</a:t>
                          </a:r>
                          <a:r>
                            <a:rPr lang="en-US" sz="1400" baseline="0" dirty="0" smtClean="0"/>
                            <a:t> = n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d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×3+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+…+3+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d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×3+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+…+3+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oMath>
                            </m:oMathPara>
                          </a14:m>
                          <a:endParaRPr lang="en-US" sz="1400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d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en-US" sz="1400" b="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d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p>
                                    <m: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f>
                                      <m:f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  <m: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=3</m:t>
                                    </m:r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p>
                                    <m: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=3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−3+2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400" dirty="0" smtClean="0"/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3+2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−3=5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1400" dirty="0" smtClean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995278"/>
                  </p:ext>
                </p:extLst>
              </p:nvPr>
            </p:nvGraphicFramePr>
            <p:xfrm>
              <a:off x="1913618" y="2774017"/>
              <a:ext cx="10059385" cy="3720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92656"/>
                    <a:gridCol w="8666729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iteration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Recurrence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 = 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093" t="-74118" b="-547059"/>
                          </a:stretch>
                        </a:blipFill>
                      </a:tcPr>
                    </a:tc>
                  </a:tr>
                  <a:tr h="545592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 =</a:t>
                          </a:r>
                          <a:r>
                            <a:rPr lang="en-US" sz="1400" baseline="0" dirty="0" smtClean="0"/>
                            <a:t> 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093" t="-164444" b="-4166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 = 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093" t="-396667" b="-52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---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-----------------------------------------------</a:t>
                          </a:r>
                          <a:endParaRPr lang="en-US" sz="1400" dirty="0" smtClean="0"/>
                        </a:p>
                      </a:txBody>
                      <a:tcPr/>
                    </a:tc>
                  </a:tr>
                  <a:tr h="1544447">
                    <a:tc>
                      <a:txBody>
                        <a:bodyPr/>
                        <a:lstStyle/>
                        <a:p>
                          <a:r>
                            <a:rPr lang="en-US" sz="1400" dirty="0" smtClean="0"/>
                            <a:t>K</a:t>
                          </a:r>
                          <a:r>
                            <a:rPr lang="en-US" sz="1400" baseline="0" dirty="0" smtClean="0"/>
                            <a:t> = n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093" t="-1413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</a:t>
            </a:r>
            <a:r>
              <a:rPr lang="en-US" dirty="0" smtClean="0"/>
              <a:t>Relations: Iteration technique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88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Relations: Substitution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There are two types of substitution methods-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Forward Substitution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Backward Substitution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Relations</a:t>
            </a:r>
            <a:r>
              <a:rPr lang="en-US" dirty="0" smtClean="0"/>
              <a:t>:</a:t>
            </a:r>
            <a:r>
              <a:rPr lang="en-US" b="1" dirty="0"/>
              <a:t> Forward Substitution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It </a:t>
            </a:r>
            <a:r>
              <a:rPr lang="en-US" dirty="0"/>
              <a:t>is called Forward Substitution because here we substitute recurrence of any term into next terms. It uses following steps to find Time using recurrences-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Pick Recurrence Relation and the given initial Condition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Put the value from previous recurrence into the next recurrence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Observe and Guess the pattern and the time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Prove that the guessed result is correct using mathematical Induction</a:t>
            </a:r>
            <a:r>
              <a:rPr lang="en-US" dirty="0" smtClean="0"/>
              <a:t>.</a:t>
            </a:r>
            <a:endParaRPr lang="en-US" dirty="0"/>
          </a:p>
          <a:p>
            <a:pPr fontAlgn="base"/>
            <a:r>
              <a:rPr lang="en-US" dirty="0" smtClean="0"/>
              <a:t>Example: Given </a:t>
            </a:r>
            <a:r>
              <a:rPr lang="en-US" b="1" i="1" dirty="0"/>
              <a:t>T(n) = T(n-1) + n, </a:t>
            </a:r>
            <a:r>
              <a:rPr lang="en-US" b="1" i="1" dirty="0" smtClean="0"/>
              <a:t>n&gt;1</a:t>
            </a:r>
            <a:r>
              <a:rPr lang="en-US" i="1" dirty="0"/>
              <a:t> </a:t>
            </a:r>
            <a:r>
              <a:rPr lang="en-US" i="1" dirty="0" smtClean="0"/>
              <a:t>, </a:t>
            </a:r>
            <a:r>
              <a:rPr lang="en-US" b="1" i="1" dirty="0"/>
              <a:t>T(n) = 1, n=1 </a:t>
            </a:r>
            <a:r>
              <a:rPr lang="en-US" i="1" dirty="0" smtClean="0"/>
              <a:t>use forward substitution technique to  determine the time complexity of the recurrent relation.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565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Relations:</a:t>
            </a:r>
            <a:r>
              <a:rPr lang="en-US" b="1" dirty="0"/>
              <a:t> Forward Substitution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4826" y="2315183"/>
                <a:ext cx="11887200" cy="4542817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b="1" dirty="0"/>
                  <a:t>Pick Recurrence and the given initial </a:t>
                </a:r>
                <a:r>
                  <a:rPr lang="en-US" b="1" dirty="0" smtClean="0"/>
                  <a:t>Condition:</a:t>
                </a:r>
                <a:r>
                  <a:rPr lang="pt-BR" i="1" dirty="0"/>
                  <a:t>T(n)=T(n-1)+n, n&gt;1T(n)=1, </a:t>
                </a:r>
                <a:r>
                  <a:rPr lang="pt-BR" i="1" dirty="0" smtClean="0"/>
                  <a:t>n=1</a:t>
                </a:r>
                <a:endParaRPr lang="en-US" i="1" dirty="0"/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Put the value from previous recurrence into the next recurrence</a:t>
                </a:r>
                <a:r>
                  <a:rPr lang="en-US" b="1" dirty="0" smtClean="0"/>
                  <a:t>: </a:t>
                </a:r>
                <a:r>
                  <a:rPr lang="en-US" i="1" dirty="0"/>
                  <a:t>T(1) = </a:t>
                </a:r>
                <a:r>
                  <a:rPr lang="en-US" i="1" dirty="0" smtClean="0"/>
                  <a:t>1, T(2</a:t>
                </a:r>
                <a:r>
                  <a:rPr lang="en-US" i="1" dirty="0"/>
                  <a:t>) = T(1) + 2 = 1 + 2 = </a:t>
                </a:r>
                <a:r>
                  <a:rPr lang="en-US" i="1" dirty="0" smtClean="0"/>
                  <a:t>3, T(3</a:t>
                </a:r>
                <a:r>
                  <a:rPr lang="en-US" i="1" dirty="0"/>
                  <a:t>) = T(2) + 3 = 1 + 2 + 3 = </a:t>
                </a:r>
                <a:r>
                  <a:rPr lang="en-US" i="1" dirty="0" smtClean="0"/>
                  <a:t>6, T(4</a:t>
                </a:r>
                <a:r>
                  <a:rPr lang="en-US" i="1" dirty="0"/>
                  <a:t>)= T(3) + 4 = 1 + 2 + 3 + 4 = </a:t>
                </a:r>
                <a:r>
                  <a:rPr lang="en-US" i="1" dirty="0" smtClean="0"/>
                  <a:t>10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 Observe and Guess the pattern and the time</a:t>
                </a:r>
                <a:r>
                  <a:rPr lang="en-US" b="1" dirty="0" smtClean="0"/>
                  <a:t>: </a:t>
                </a:r>
                <a:r>
                  <a:rPr lang="en-US" i="1" dirty="0"/>
                  <a:t>So guessed pattern will be-T(n) = 1 + 2 + 3 .... + n = (n * (n+1))/</a:t>
                </a:r>
                <a:r>
                  <a:rPr lang="en-US" i="1" dirty="0" smtClean="0"/>
                  <a:t>2, Time </a:t>
                </a:r>
                <a:r>
                  <a:rPr lang="en-US" i="1" dirty="0"/>
                  <a:t>Complexity will be O(n</a:t>
                </a:r>
                <a:r>
                  <a:rPr lang="en-US" i="1" baseline="30000" dirty="0"/>
                  <a:t>2</a:t>
                </a:r>
                <a:r>
                  <a:rPr lang="en-US" i="1" dirty="0" smtClean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 Prove that the guessed result is correct using mathematical Induction</a:t>
                </a:r>
                <a:r>
                  <a:rPr lang="en-US" b="1" dirty="0" smtClean="0"/>
                  <a:t>:</a:t>
                </a:r>
              </a:p>
              <a:p>
                <a:pPr marL="400050" lvl="1" indent="0" fontAlgn="base">
                  <a:buNone/>
                </a:pPr>
                <a:r>
                  <a:rPr lang="en-US" b="1" dirty="0"/>
                  <a:t>	</a:t>
                </a:r>
                <a:r>
                  <a:rPr lang="en-US" i="1" dirty="0"/>
                  <a:t>Prove T(1) is </a:t>
                </a:r>
                <a:r>
                  <a:rPr lang="en-US" i="1" dirty="0" smtClean="0"/>
                  <a:t>true: T(1</a:t>
                </a:r>
                <a:r>
                  <a:rPr lang="en-US" i="1" dirty="0"/>
                  <a:t>) = 1 * (1+1)/2 = 2/2 = </a:t>
                </a:r>
                <a:r>
                  <a:rPr lang="en-US" i="1" dirty="0" smtClean="0"/>
                  <a:t>1 T(1</a:t>
                </a:r>
                <a:r>
                  <a:rPr lang="en-US" i="1" dirty="0"/>
                  <a:t>) = 1. </a:t>
                </a:r>
                <a:r>
                  <a:rPr lang="en-US" i="1" dirty="0" smtClean="0"/>
                  <a:t> </a:t>
                </a:r>
                <a:r>
                  <a:rPr lang="en-US" i="1" dirty="0"/>
                  <a:t>T(1) is true </a:t>
                </a:r>
                <a:r>
                  <a:rPr lang="en-US" i="1" dirty="0" smtClean="0"/>
                  <a:t>(definition of the recurrence)</a:t>
                </a:r>
                <a:endParaRPr lang="en-US" i="1" dirty="0"/>
              </a:p>
              <a:p>
                <a:pPr marL="400050" lvl="1" indent="0" fontAlgn="base">
                  <a:buNone/>
                </a:pPr>
                <a:r>
                  <a:rPr lang="en-US" i="1" dirty="0"/>
                  <a:t>Assume T(N-1) to be </a:t>
                </a:r>
                <a:r>
                  <a:rPr lang="en-US" i="1" dirty="0" smtClean="0"/>
                  <a:t>true:  </a:t>
                </a:r>
                <a:r>
                  <a:rPr lang="en-US" i="1" dirty="0"/>
                  <a:t>T(N-1) = ((N - 1) * (N-1+1))/2 = (N * (N-1))/2 to be true</a:t>
                </a:r>
              </a:p>
              <a:p>
                <a:pPr marL="400050" lvl="1" indent="0" fontAlgn="base">
                  <a:buNone/>
                </a:pPr>
                <a:r>
                  <a:rPr lang="en-US" i="1" dirty="0" smtClean="0"/>
                  <a:t>prove  that T(N</a:t>
                </a:r>
                <a:r>
                  <a:rPr lang="en-US" i="1" dirty="0"/>
                  <a:t>) will be true</a:t>
                </a:r>
                <a:r>
                  <a:rPr lang="en-US" i="1" dirty="0" smtClean="0"/>
                  <a:t>: T(N</a:t>
                </a:r>
                <a:r>
                  <a:rPr lang="en-US" i="1" dirty="0"/>
                  <a:t>) = T(N-1) + N </a:t>
                </a:r>
                <a:r>
                  <a:rPr lang="en-US" i="1" dirty="0" smtClean="0"/>
                  <a:t>(recurrence definition)</a:t>
                </a:r>
                <a:r>
                  <a:rPr lang="en-US" i="1" dirty="0"/>
                  <a:t/>
                </a:r>
                <a:br>
                  <a:rPr lang="en-US" i="1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∗ 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−1)/2 </m:t>
                    </m:r>
                  </m:oMath>
                </a14:m>
                <a:r>
                  <a:rPr lang="en-US" i="1" dirty="0" smtClean="0"/>
                  <a:t>So</a:t>
                </a:r>
                <a:r>
                  <a:rPr lang="en-US" i="1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∗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−1))/2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∗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 + 2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)/2 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∗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+1)/2</m:t>
                    </m:r>
                  </m:oMath>
                </a14:m>
                <a:r>
                  <a:rPr lang="en-US" i="1" dirty="0" smtClean="0"/>
                  <a:t> </a:t>
                </a:r>
                <a:r>
                  <a:rPr lang="en-US" i="1" dirty="0"/>
                  <a:t>And from our guess also T(N)=N(N+1)/</a:t>
                </a:r>
                <a:r>
                  <a:rPr lang="en-US" i="1" dirty="0" smtClean="0"/>
                  <a:t>2 </a:t>
                </a:r>
              </a:p>
              <a:p>
                <a:pPr marL="400050" lvl="1" indent="0" fontAlgn="base">
                  <a:buNone/>
                </a:pPr>
                <a:r>
                  <a:rPr lang="en-US" i="1" dirty="0" smtClean="0"/>
                  <a:t>Hence </a:t>
                </a:r>
                <a:r>
                  <a:rPr lang="en-US" i="1" dirty="0"/>
                  <a:t>T(N) is true</a:t>
                </a:r>
                <a:r>
                  <a:rPr lang="en-US" i="1" dirty="0" smtClean="0"/>
                  <a:t>. Therefore </a:t>
                </a:r>
                <a:r>
                  <a:rPr lang="en-US" i="1" dirty="0"/>
                  <a:t>our guess was correct and time will be O(N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)</a:t>
                </a:r>
              </a:p>
              <a:p>
                <a:pPr marL="40005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826" y="2315183"/>
                <a:ext cx="11887200" cy="4542817"/>
              </a:xfrm>
              <a:blipFill rotWithShape="0">
                <a:blip r:embed="rId2"/>
                <a:stretch>
                  <a:fillRect l="-205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74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Relations:</a:t>
            </a:r>
            <a:r>
              <a:rPr lang="en-US" b="1" dirty="0"/>
              <a:t> </a:t>
            </a:r>
            <a:r>
              <a:rPr lang="en-US" b="1" dirty="0" smtClean="0"/>
              <a:t>Backward Substitution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" y="2745740"/>
            <a:ext cx="11291253" cy="34163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t is called Backward Substitution because here we substitute recurrence of any term into previous terms. It uses following steps to find Time using recurrences-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Take the main recurrence and try to write recurrences of previous terms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Take just previous recurrence and substitute into main recurrence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Again take one more previous recurrence and substitute into main recurrence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Do this process until you reach to the initial condition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dirty="0"/>
              <a:t>After this substitute the </a:t>
            </a:r>
            <a:r>
              <a:rPr lang="en-US" dirty="0" err="1"/>
              <a:t>the</a:t>
            </a:r>
            <a:r>
              <a:rPr lang="en-US" dirty="0"/>
              <a:t> value from initial condition and get the solution</a:t>
            </a:r>
          </a:p>
          <a:p>
            <a:r>
              <a:rPr lang="en-US" dirty="0" smtClean="0"/>
              <a:t>Example: Given the following recurrent relation </a:t>
            </a:r>
            <a:r>
              <a:rPr lang="pt-BR" b="1" i="1" dirty="0"/>
              <a:t>T(n) = T(n-1) + n, n&gt;1T(n) = 1, n = </a:t>
            </a:r>
            <a:r>
              <a:rPr lang="pt-BR" b="1" i="1" dirty="0" smtClean="0"/>
              <a:t>1, </a:t>
            </a:r>
            <a:r>
              <a:rPr lang="en-US" i="1" dirty="0"/>
              <a:t>use </a:t>
            </a:r>
            <a:r>
              <a:rPr lang="en-US" i="1" dirty="0" smtClean="0"/>
              <a:t>backward substitution </a:t>
            </a:r>
            <a:r>
              <a:rPr lang="en-US" i="1" dirty="0"/>
              <a:t>technique to  determine the time complexity of the recurrent relation.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2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Relations:</a:t>
            </a:r>
            <a:r>
              <a:rPr lang="en-US" b="1" dirty="0"/>
              <a:t> Backward Substitution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81579"/>
            <a:ext cx="12303760" cy="417231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 Take the main recurrence and try to write recurrences of previous terms</a:t>
            </a:r>
            <a:r>
              <a:rPr lang="en-US" b="1" dirty="0" smtClean="0"/>
              <a:t>: </a:t>
            </a:r>
            <a:r>
              <a:rPr lang="pt-BR" i="1" dirty="0"/>
              <a:t>T(n) = T(n-1) + nT(n-1) = T(n-2) + n - 1T(n-2) = T(n-3) + n </a:t>
            </a:r>
            <a:r>
              <a:rPr lang="pt-BR" i="1" dirty="0" smtClean="0"/>
              <a:t>– 2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Take just previous recurrence and substitute into main </a:t>
            </a:r>
            <a:r>
              <a:rPr lang="en-US" b="1" dirty="0" smtClean="0"/>
              <a:t>recurrence: </a:t>
            </a:r>
            <a:r>
              <a:rPr lang="pt-BR" i="1" dirty="0"/>
              <a:t>put T(n-1) into T(n)So, T(n)=T(n-2)+ n-1 + </a:t>
            </a:r>
            <a:r>
              <a:rPr lang="pt-BR" i="1" dirty="0" smtClean="0"/>
              <a:t>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Again take one more previous recurrence and substitute into main </a:t>
            </a:r>
            <a:r>
              <a:rPr lang="en-US" b="1" dirty="0" smtClean="0"/>
              <a:t>recurrence: </a:t>
            </a:r>
            <a:r>
              <a:rPr lang="pt-BR" i="1" dirty="0"/>
              <a:t>put T(n-2) into T(n)So, T(n)=T(n-3)+ n-2 + n-1 + </a:t>
            </a:r>
            <a:r>
              <a:rPr lang="pt-BR" i="1" dirty="0" smtClean="0"/>
              <a:t>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 Do this process until you reach to the initial </a:t>
            </a:r>
            <a:r>
              <a:rPr lang="en-US" b="1" dirty="0" smtClean="0"/>
              <a:t>condition: </a:t>
            </a:r>
            <a:r>
              <a:rPr lang="en-US" i="1" dirty="0"/>
              <a:t>So similarly we can find T(n-3), T(n-4)......and so on and can insert into T(n). Eventually we will get following: T(n)=T(1) + 2 + 3 + 4 +.........+ n-1 + </a:t>
            </a:r>
            <a:r>
              <a:rPr lang="en-US" i="1" dirty="0" smtClean="0"/>
              <a:t>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After this substitute the </a:t>
            </a:r>
            <a:r>
              <a:rPr lang="en-US" b="1" dirty="0" err="1"/>
              <a:t>the</a:t>
            </a:r>
            <a:r>
              <a:rPr lang="en-US" b="1" dirty="0"/>
              <a:t> value from initial condition and get the </a:t>
            </a:r>
            <a:r>
              <a:rPr lang="en-US" b="1" dirty="0" smtClean="0"/>
              <a:t>solution: </a:t>
            </a:r>
            <a:r>
              <a:rPr lang="pt-BR" i="1" dirty="0"/>
              <a:t>Put T(1)=1, T(n) = 1 +2 +3 + 4 +..............+ n-1 + n = n(n+1)/2. So Time will be O(N</a:t>
            </a:r>
            <a:r>
              <a:rPr lang="pt-BR" i="1" baseline="30000" dirty="0"/>
              <a:t>2</a:t>
            </a:r>
            <a:r>
              <a:rPr lang="pt-BR" i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604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Relations: Substitution technique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Example: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/2)+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F</a:t>
                </a:r>
                <a:r>
                  <a:rPr lang="en-US" dirty="0" smtClean="0"/>
                  <a:t>irst  expansion: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Second expansion: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err="1" smtClean="0"/>
                  <a:t>Kth</a:t>
                </a:r>
                <a:r>
                  <a:rPr lang="en-US" dirty="0" smtClean="0"/>
                  <a:t>  expansion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Substitute base case: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=1,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 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𝑛𝑇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Simplifying  we have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𝑛𝑙𝑜𝑔𝑛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52" t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46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Recurrent Relations:</a:t>
            </a:r>
            <a:r>
              <a:rPr lang="en-US" b="1" dirty="0"/>
              <a:t> </a:t>
            </a:r>
            <a:r>
              <a:rPr lang="en-US" b="1" dirty="0" smtClean="0"/>
              <a:t>Master Theorem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Master theorem </a:t>
                </a:r>
                <a:r>
                  <a:rPr lang="en-US" dirty="0"/>
                  <a:t>is used to determine running time of algorithms (divide and conquer algorithms) in terms of asymptotic notations.  </a:t>
                </a:r>
                <a:endParaRPr lang="en-US" dirty="0" smtClean="0"/>
              </a:p>
              <a:p>
                <a:r>
                  <a:rPr lang="en-US" dirty="0" smtClean="0"/>
                  <a:t>Let T(n) be a monotonically increasing function </a:t>
                </a:r>
                <a:r>
                  <a:rPr lang="en-US" dirty="0"/>
                  <a:t>that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1,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2,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 If f(n)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0 </m:t>
                    </m:r>
                  </m:oMath>
                </a14:m>
                <a:r>
                  <a:rPr lang="en-US" dirty="0" smtClean="0"/>
                  <a:t>then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p>
                                        </m:sSup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𝑙𝑜𝑔𝑛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func>
                                              <m:funcPr>
                                                <m:ctrlPr>
                                                  <a:rPr lang="en-US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sSub>
                                                  <m:sSubPr>
                                                    <m:ctrlPr>
                                                      <a:rPr lang="en-US" i="1" dirty="0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i="0" dirty="0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log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dirty="0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𝑏</m:t>
                                                    </m:r>
                                                  </m:sub>
                                                </m:sSub>
                                              </m:fName>
                                              <m:e>
                                                <m: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</m:func>
                                          </m:sup>
                                        </m:sSup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sSup>
                                      <m:sSup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mr>
                                <m:m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  <m:sSup>
                                      <m:sSup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Mater </a:t>
                </a:r>
                <a:r>
                  <a:rPr lang="en-US" dirty="0"/>
                  <a:t>Theorem pitfalls: </a:t>
                </a:r>
                <a:r>
                  <a:rPr lang="en-US" dirty="0" smtClean="0"/>
                  <a:t>Master </a:t>
                </a:r>
                <a:r>
                  <a:rPr lang="en-US" dirty="0"/>
                  <a:t>Theorem </a:t>
                </a:r>
                <a:r>
                  <a:rPr lang="en-US" dirty="0" smtClean="0"/>
                  <a:t>cannot be used if: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 smtClean="0"/>
                  <a:t>T(n</a:t>
                </a:r>
                <a:r>
                  <a:rPr lang="en-US" dirty="0"/>
                  <a:t>) is not monotone, e.g. T(n) = </a:t>
                </a:r>
                <a:r>
                  <a:rPr lang="en-US" dirty="0" smtClean="0"/>
                  <a:t>sin(x)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 smtClean="0"/>
                  <a:t>f(n</a:t>
                </a:r>
                <a:r>
                  <a:rPr lang="en-US" dirty="0"/>
                  <a:t>) is not a polynomial, e.g., T(n)=2T(n/2)+</a:t>
                </a:r>
                <a:r>
                  <a:rPr lang="en-US" dirty="0" smtClean="0"/>
                  <a:t>2n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 smtClean="0"/>
                  <a:t>b </a:t>
                </a:r>
                <a:r>
                  <a:rPr lang="en-US" dirty="0"/>
                  <a:t>cannot be </a:t>
                </a:r>
                <a:r>
                  <a:rPr lang="en-US" dirty="0" smtClean="0"/>
                  <a:t>expressed as a constant </a:t>
                </a:r>
                <a:r>
                  <a:rPr lang="en-US" dirty="0" err="1" smtClean="0"/>
                  <a:t>eg</a:t>
                </a:r>
                <a:r>
                  <a:rPr lang="en-US" dirty="0" smtClean="0"/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694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Master </a:t>
            </a:r>
            <a:r>
              <a:rPr lang="en-US" dirty="0" err="1" smtClean="0"/>
              <a:t>Theorem:Example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32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4772</TotalTime>
  <Words>720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Century Gothic</vt:lpstr>
      <vt:lpstr>Wingdings 3</vt:lpstr>
      <vt:lpstr>Ion Boardroom</vt:lpstr>
      <vt:lpstr>PowerPoint Presentation</vt:lpstr>
      <vt:lpstr>Recursion Fundamentals </vt:lpstr>
      <vt:lpstr>Recurrence Relations</vt:lpstr>
      <vt:lpstr>Solving Recurrent Relations</vt:lpstr>
      <vt:lpstr>Solving Recurrent Relations: Iteration technique</vt:lpstr>
      <vt:lpstr>Solving Recurrent Relations: Iteration technique</vt:lpstr>
      <vt:lpstr>Solving Recurrent Relations: Substitution technique</vt:lpstr>
      <vt:lpstr>Solving Recurrent Relations: Forward Substitution</vt:lpstr>
      <vt:lpstr>Solving Recurrent Relations: Forward Substitution</vt:lpstr>
      <vt:lpstr>Solving Recurrent Relations: Backward Substitution</vt:lpstr>
      <vt:lpstr>Solving Recurrent Relations: Backward Substitution</vt:lpstr>
      <vt:lpstr>Solving Recurrent Relations: Substitution technique</vt:lpstr>
      <vt:lpstr>Solving Recurrent Relations: Master Theorem</vt:lpstr>
      <vt:lpstr> Master Theorem:Example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OLADIPUPO  TAIWO</dc:creator>
  <cp:lastModifiedBy>OLADIPUPO  TAIWO</cp:lastModifiedBy>
  <cp:revision>46</cp:revision>
  <dcterms:created xsi:type="dcterms:W3CDTF">2025-11-01T10:03:17Z</dcterms:created>
  <dcterms:modified xsi:type="dcterms:W3CDTF">2025-11-20T09:03:21Z</dcterms:modified>
</cp:coreProperties>
</file>