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3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0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3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3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4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5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21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6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3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19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9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67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7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05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9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6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4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216" y="3172527"/>
            <a:ext cx="8110728" cy="1160346"/>
          </a:xfrm>
        </p:spPr>
        <p:txBody>
          <a:bodyPr/>
          <a:lstStyle/>
          <a:p>
            <a:pPr algn="ctr"/>
            <a:r>
              <a:rPr lang="en-US" sz="3600" dirty="0" smtClean="0"/>
              <a:t>Topic: </a:t>
            </a:r>
            <a:r>
              <a:rPr sz="3600" dirty="0" smtClean="0"/>
              <a:t>Algorithm </a:t>
            </a:r>
            <a:r>
              <a:rPr sz="3600" dirty="0"/>
              <a:t>Basics: Concepts, Characteristics, and Efficiency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8577" y="4594779"/>
            <a:ext cx="5917679" cy="861420"/>
          </a:xfrm>
        </p:spPr>
        <p:txBody>
          <a:bodyPr/>
          <a:lstStyle/>
          <a:p>
            <a:r>
              <a:rPr dirty="0"/>
              <a:t>Lecture Note Presentation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771695" y="2224044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 smtClean="0"/>
              <a:t>LECTURE 1</a:t>
            </a:r>
            <a:endParaRPr lang="en-US" sz="40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gray">
          <a:xfrm>
            <a:off x="713232" y="875940"/>
            <a:ext cx="7854696" cy="6808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smtClean="0"/>
              <a:t>Design and Analysis of Algorithms</a:t>
            </a:r>
            <a:endParaRPr lang="en-US" sz="3600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771696" y="1549992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 smtClean="0"/>
              <a:t>CSC 401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Concept of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 algorithm is a finite, step-by-step procedure for solving a problem.</a:t>
            </a:r>
          </a:p>
          <a:p>
            <a:pPr marL="0" indent="0">
              <a:buNone/>
            </a:pPr>
            <a:r>
              <a:rPr dirty="0"/>
              <a:t>• Defines the logic behind every program or computational task.</a:t>
            </a:r>
          </a:p>
          <a:p>
            <a:pPr marL="0" indent="0">
              <a:buNone/>
            </a:pPr>
            <a:r>
              <a:rPr dirty="0"/>
              <a:t>• Examples:</a:t>
            </a:r>
          </a:p>
          <a:p>
            <a:pPr marL="0" indent="0">
              <a:buNone/>
            </a:pPr>
            <a:r>
              <a:rPr dirty="0"/>
              <a:t>   – Mathematical: GCD of two numbers</a:t>
            </a:r>
          </a:p>
          <a:p>
            <a:pPr marL="0" indent="0">
              <a:buNone/>
            </a:pPr>
            <a:r>
              <a:rPr dirty="0"/>
              <a:t>   – Everyday life: Making tea</a:t>
            </a:r>
          </a:p>
          <a:p>
            <a:pPr marL="0" indent="0">
              <a:buNone/>
            </a:pPr>
            <a:r>
              <a:rPr dirty="0"/>
              <a:t>   – Computing: Searching, sorting, encryption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Problem-Solving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dirty="0" smtClean="0"/>
              <a:t>Problem </a:t>
            </a:r>
            <a:r>
              <a:rPr dirty="0"/>
              <a:t>Definition – identify inputs and outputs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Analysis </a:t>
            </a:r>
            <a:r>
              <a:rPr dirty="0"/>
              <a:t>– understand requirements and constraints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Algorithm </a:t>
            </a:r>
            <a:r>
              <a:rPr dirty="0"/>
              <a:t>Design – develop a logical sequence of steps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Representation </a:t>
            </a:r>
            <a:r>
              <a:rPr dirty="0"/>
              <a:t>– use flowcharts or </a:t>
            </a:r>
            <a:r>
              <a:rPr dirty="0" err="1"/>
              <a:t>pseudocode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Implementation </a:t>
            </a:r>
            <a:r>
              <a:rPr dirty="0"/>
              <a:t>– translate into code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Testing </a:t>
            </a:r>
            <a:r>
              <a:rPr dirty="0"/>
              <a:t>and Verification – validate correctness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Optimization </a:t>
            </a:r>
            <a:r>
              <a:rPr dirty="0"/>
              <a:t>– improve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Problem-Solving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Brute </a:t>
            </a:r>
            <a:r>
              <a:rPr dirty="0"/>
              <a:t>Force – try all possibilities</a:t>
            </a:r>
          </a:p>
          <a:p>
            <a:r>
              <a:rPr dirty="0" smtClean="0"/>
              <a:t>Divide </a:t>
            </a:r>
            <a:r>
              <a:rPr dirty="0"/>
              <a:t>and Conquer – break into </a:t>
            </a:r>
            <a:r>
              <a:rPr dirty="0" err="1"/>
              <a:t>subproblems</a:t>
            </a:r>
            <a:endParaRPr dirty="0"/>
          </a:p>
          <a:p>
            <a:r>
              <a:rPr dirty="0" smtClean="0"/>
              <a:t>Greedy </a:t>
            </a:r>
            <a:r>
              <a:rPr dirty="0"/>
              <a:t>Algorithms – make the locally best choice</a:t>
            </a:r>
          </a:p>
          <a:p>
            <a:r>
              <a:rPr dirty="0" smtClean="0"/>
              <a:t>Dynamic </a:t>
            </a:r>
            <a:r>
              <a:rPr dirty="0"/>
              <a:t>Programming – store results </a:t>
            </a:r>
            <a:r>
              <a:rPr dirty="0" smtClean="0"/>
              <a:t>of</a:t>
            </a:r>
            <a:r>
              <a:rPr lang="en-US" dirty="0" smtClean="0"/>
              <a:t> </a:t>
            </a:r>
            <a:r>
              <a:rPr dirty="0" err="1" smtClean="0"/>
              <a:t>subproblems</a:t>
            </a:r>
            <a:endParaRPr dirty="0"/>
          </a:p>
          <a:p>
            <a:r>
              <a:rPr dirty="0" smtClean="0"/>
              <a:t>Backtracking </a:t>
            </a:r>
            <a:r>
              <a:rPr dirty="0"/>
              <a:t>– explore and undo decisions</a:t>
            </a:r>
          </a:p>
          <a:p>
            <a:r>
              <a:rPr dirty="0" smtClean="0"/>
              <a:t>Randomized </a:t>
            </a:r>
            <a:r>
              <a:rPr dirty="0"/>
              <a:t>Algorithms – introduce randomness for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Characteristics of a Good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dirty="0" smtClean="0"/>
              <a:t>Finiteness </a:t>
            </a:r>
            <a:r>
              <a:rPr dirty="0"/>
              <a:t>– terminates after a finite number of steps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Definiteness </a:t>
            </a:r>
            <a:r>
              <a:rPr dirty="0"/>
              <a:t>– each step clearly </a:t>
            </a:r>
            <a:r>
              <a:rPr dirty="0" smtClean="0"/>
              <a:t>defined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Must have only one entry and one exit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Input </a:t>
            </a:r>
            <a:r>
              <a:rPr dirty="0"/>
              <a:t>– has well-defined inputs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Output </a:t>
            </a:r>
            <a:r>
              <a:rPr dirty="0"/>
              <a:t>– produces expected result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Effectiveness </a:t>
            </a:r>
            <a:r>
              <a:rPr dirty="0"/>
              <a:t>– simple, executable steps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Generality </a:t>
            </a:r>
            <a:r>
              <a:rPr dirty="0"/>
              <a:t>– solves a class of problems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Efficiency </a:t>
            </a:r>
            <a:r>
              <a:rPr dirty="0"/>
              <a:t>– minimizes time and space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Example: Finding Maximum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Algorithm Steps:</a:t>
            </a:r>
          </a:p>
          <a:p>
            <a:pPr marL="0" indent="0">
              <a:buNone/>
            </a:pPr>
            <a:r>
              <a:rPr dirty="0"/>
              <a:t>1. Assume first element is the largest.</a:t>
            </a:r>
          </a:p>
          <a:p>
            <a:pPr marL="0" indent="0">
              <a:buNone/>
            </a:pPr>
            <a:r>
              <a:rPr dirty="0"/>
              <a:t>2. Compare with next elements.</a:t>
            </a:r>
          </a:p>
          <a:p>
            <a:pPr marL="0" indent="0">
              <a:buNone/>
            </a:pPr>
            <a:r>
              <a:rPr dirty="0"/>
              <a:t>3. Update largest when a bigger one is found.</a:t>
            </a:r>
          </a:p>
          <a:p>
            <a:pPr marL="0" indent="0">
              <a:buNone/>
            </a:pPr>
            <a:r>
              <a:rPr dirty="0"/>
              <a:t>4. Continue until end of list.</a:t>
            </a:r>
          </a:p>
          <a:p>
            <a:pPr marL="0" indent="0">
              <a:buNone/>
            </a:pPr>
            <a:r>
              <a:rPr dirty="0"/>
              <a:t>5. Output the largest number.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→ Finite, definite, effective, and general.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Algorithm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Efficiency </a:t>
            </a:r>
            <a:r>
              <a:rPr dirty="0"/>
              <a:t>determines performance for large inputs.</a:t>
            </a:r>
          </a:p>
          <a:p>
            <a:r>
              <a:rPr dirty="0" smtClean="0"/>
              <a:t>Two </a:t>
            </a:r>
            <a:r>
              <a:rPr dirty="0"/>
              <a:t>key measures: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Time </a:t>
            </a:r>
            <a:r>
              <a:rPr dirty="0"/>
              <a:t>Efficiency (execution time)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Space </a:t>
            </a:r>
            <a:r>
              <a:rPr dirty="0"/>
              <a:t>Efficiency (memory use)</a:t>
            </a:r>
          </a:p>
          <a:p>
            <a:r>
              <a:rPr dirty="0" smtClean="0"/>
              <a:t>Trade-off</a:t>
            </a:r>
            <a:r>
              <a:rPr dirty="0"/>
              <a:t>: more memory can reduce execution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Big </a:t>
            </a:r>
            <a:r>
              <a:rPr dirty="0"/>
              <a:t>O – upper bound (worst case)</a:t>
            </a:r>
          </a:p>
          <a:p>
            <a:r>
              <a:rPr dirty="0" smtClean="0"/>
              <a:t>Big </a:t>
            </a:r>
            <a:r>
              <a:rPr dirty="0"/>
              <a:t>Ω – lower bound (best case)</a:t>
            </a:r>
          </a:p>
          <a:p>
            <a:r>
              <a:rPr dirty="0" smtClean="0"/>
              <a:t>Big </a:t>
            </a:r>
            <a:r>
              <a:rPr dirty="0"/>
              <a:t>Θ – tight bound (average case)</a:t>
            </a:r>
          </a:p>
          <a:p>
            <a:r>
              <a:rPr dirty="0"/>
              <a:t>Examples:</a:t>
            </a:r>
          </a:p>
          <a:p>
            <a:pPr marL="0" indent="0">
              <a:buNone/>
            </a:pPr>
            <a:r>
              <a:rPr dirty="0"/>
              <a:t>   – Linear Search: O(n)</a:t>
            </a:r>
          </a:p>
          <a:p>
            <a:pPr marL="0" indent="0">
              <a:buNone/>
            </a:pPr>
            <a:r>
              <a:rPr dirty="0"/>
              <a:t>   – Binary Search: O(log n)</a:t>
            </a:r>
          </a:p>
          <a:p>
            <a:pPr marL="0" indent="0">
              <a:buNone/>
            </a:pPr>
            <a:r>
              <a:rPr dirty="0"/>
              <a:t>   – Merge Sort: Θ(n log 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Example: Comparing Two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Problem: Search in a list of 1000 numbers</a:t>
            </a:r>
          </a:p>
          <a:p>
            <a:pPr marL="400050" lvl="1" indent="0">
              <a:buNone/>
            </a:pPr>
            <a:r>
              <a:rPr dirty="0"/>
              <a:t>• Linear Search → O(n) ≈ 1000 comparisons</a:t>
            </a:r>
          </a:p>
          <a:p>
            <a:pPr marL="400050" lvl="1" indent="0">
              <a:buNone/>
            </a:pPr>
            <a:r>
              <a:rPr dirty="0"/>
              <a:t>• Binary Search → O(log n) ≈ 10 </a:t>
            </a:r>
            <a:r>
              <a:rPr dirty="0" smtClean="0"/>
              <a:t>comparisons</a:t>
            </a:r>
            <a:endParaRPr dirty="0"/>
          </a:p>
          <a:p>
            <a:r>
              <a:rPr dirty="0"/>
              <a:t>✅ Binary Search is more efficient but requires sorted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Algorithms </a:t>
            </a:r>
            <a:r>
              <a:rPr dirty="0"/>
              <a:t>are precise procedures for problem-solving.</a:t>
            </a:r>
          </a:p>
          <a:p>
            <a:r>
              <a:rPr dirty="0" smtClean="0"/>
              <a:t>A </a:t>
            </a:r>
            <a:r>
              <a:rPr dirty="0"/>
              <a:t>good algorithm is finite, definite, and efficient.</a:t>
            </a:r>
          </a:p>
          <a:p>
            <a:r>
              <a:rPr dirty="0" smtClean="0"/>
              <a:t>Efficiency </a:t>
            </a:r>
            <a:r>
              <a:rPr dirty="0"/>
              <a:t>analysis uses time and space complexity.</a:t>
            </a:r>
          </a:p>
          <a:p>
            <a:r>
              <a:rPr dirty="0" smtClean="0"/>
              <a:t>Asymptotic </a:t>
            </a:r>
            <a:r>
              <a:rPr dirty="0"/>
              <a:t>notations (O, Ω, Θ) describe performance.</a:t>
            </a:r>
          </a:p>
          <a:p>
            <a:r>
              <a:rPr dirty="0" smtClean="0"/>
              <a:t>Optimizing </a:t>
            </a:r>
            <a:r>
              <a:rPr dirty="0"/>
              <a:t>algorithms is key in real-world computing.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</TotalTime>
  <Words>444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Topic: Algorithm Basics: Concepts, Characteristics, and Efficiency</vt:lpstr>
      <vt:lpstr>Concept of Algorithms</vt:lpstr>
      <vt:lpstr>Problem-Solving Process</vt:lpstr>
      <vt:lpstr>Problem-Solving Strategies</vt:lpstr>
      <vt:lpstr>Characteristics of a Good Algorithm</vt:lpstr>
      <vt:lpstr>Example: Finding Maximum Number</vt:lpstr>
      <vt:lpstr>Measuring Algorithm Efficiency</vt:lpstr>
      <vt:lpstr>Asymptotic Notation</vt:lpstr>
      <vt:lpstr>Example: Comparing Two Algorithms</vt:lpstr>
      <vt:lpstr>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Basics: Concepts, Characteristics, and Efficiency</dc:title>
  <dc:subject/>
  <dc:creator>OLADIPUPO TAIWO</dc:creator>
  <cp:keywords/>
  <dc:description>generated using python-pptx</dc:description>
  <cp:lastModifiedBy>OLADIPUPO  TAIWO</cp:lastModifiedBy>
  <cp:revision>4</cp:revision>
  <dcterms:created xsi:type="dcterms:W3CDTF">2013-01-27T09:14:16Z</dcterms:created>
  <dcterms:modified xsi:type="dcterms:W3CDTF">2025-10-16T02:05:42Z</dcterms:modified>
  <cp:category/>
</cp:coreProperties>
</file>