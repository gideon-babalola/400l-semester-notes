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47312" y="2860383"/>
            <a:ext cx="10067027" cy="11603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600" b="1" dirty="0" smtClean="0">
                <a:solidFill>
                  <a:prstClr val="white"/>
                </a:solidFill>
              </a:rPr>
              <a:t>Topic: </a:t>
            </a:r>
            <a:r>
              <a:rPr lang="en-US" sz="3600" dirty="0" smtClean="0"/>
              <a:t>Algorithmic Strategies II – </a:t>
            </a:r>
            <a:r>
              <a:rPr lang="en-US" sz="3600" dirty="0"/>
              <a:t>Greedy and Dynamic Programming</a:t>
            </a:r>
            <a:endParaRPr lang="en-US" sz="3600" b="1" dirty="0">
              <a:solidFill>
                <a:prstClr val="white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927822" y="4209760"/>
            <a:ext cx="7861105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B31166"/>
              </a:buClr>
            </a:pPr>
            <a:r>
              <a:rPr lang="en-US" dirty="0">
                <a:solidFill>
                  <a:srgbClr val="B31166">
                    <a:lumMod val="60000"/>
                    <a:lumOff val="40000"/>
                  </a:srgbClr>
                </a:solidFill>
              </a:rPr>
              <a:t>Lecture Note Presentation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114301" y="2240642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B31166"/>
              </a:buClr>
            </a:pPr>
            <a:r>
              <a:rPr lang="en-US" sz="4000" dirty="0">
                <a:solidFill>
                  <a:srgbClr val="B31166">
                    <a:lumMod val="60000"/>
                    <a:lumOff val="40000"/>
                  </a:srgbClr>
                </a:solidFill>
              </a:rPr>
              <a:t>LECTURE </a:t>
            </a:r>
            <a:r>
              <a:rPr lang="en-US" sz="4000" dirty="0" smtClean="0">
                <a:solidFill>
                  <a:srgbClr val="B31166">
                    <a:lumMod val="60000"/>
                    <a:lumOff val="40000"/>
                  </a:srgbClr>
                </a:solidFill>
              </a:rPr>
              <a:t>7</a:t>
            </a:r>
            <a:endParaRPr lang="en-US" sz="4000" dirty="0">
              <a:solidFill>
                <a:srgbClr val="B31166">
                  <a:lumMod val="60000"/>
                  <a:lumOff val="40000"/>
                </a:srgbClr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2055837" y="804423"/>
            <a:ext cx="7854696" cy="6808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>
                <a:solidFill>
                  <a:prstClr val="white"/>
                </a:solidFill>
              </a:rPr>
              <a:t>Design and Analysis of Algorithms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114303" y="1478475"/>
            <a:ext cx="5917679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B31166"/>
              </a:buClr>
            </a:pPr>
            <a:r>
              <a:rPr lang="en-US" sz="4000" dirty="0">
                <a:solidFill>
                  <a:srgbClr val="B31166">
                    <a:lumMod val="60000"/>
                    <a:lumOff val="40000"/>
                  </a:srgbClr>
                </a:solidFill>
              </a:rPr>
              <a:t>CSC 413</a:t>
            </a:r>
          </a:p>
        </p:txBody>
      </p:sp>
    </p:spTree>
    <p:extLst>
      <p:ext uri="{BB962C8B-B14F-4D97-AF65-F5344CB8AC3E}">
        <p14:creationId xmlns:p14="http://schemas.microsoft.com/office/powerpoint/2010/main" val="413299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Greedy and Dynamic Programming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12" y="2510287"/>
            <a:ext cx="12016596" cy="4347713"/>
          </a:xfrm>
        </p:spPr>
        <p:txBody>
          <a:bodyPr>
            <a:normAutofit/>
          </a:bodyPr>
          <a:lstStyle/>
          <a:p>
            <a:r>
              <a:rPr lang="en-US" dirty="0"/>
              <a:t>Introduction: Modern algorithms often require efficient strategies for optimal problem-solving. Two powerful techniques are</a:t>
            </a:r>
            <a:r>
              <a:rPr lang="en-US" dirty="0" smtClean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 smtClean="0"/>
              <a:t> </a:t>
            </a:r>
            <a:r>
              <a:rPr lang="en-US" b="1" dirty="0"/>
              <a:t>Greedy </a:t>
            </a:r>
            <a:r>
              <a:rPr lang="en-US" b="1" dirty="0" smtClean="0"/>
              <a:t>Algorithms: </a:t>
            </a:r>
            <a:r>
              <a:rPr lang="en-US" dirty="0" smtClean="0"/>
              <a:t>A </a:t>
            </a:r>
            <a:r>
              <a:rPr lang="en-US" dirty="0"/>
              <a:t>method that builds a solution step-by-step, choosing the </a:t>
            </a:r>
            <a:r>
              <a:rPr lang="en-US" b="1" dirty="0"/>
              <a:t>locally optimal choice</a:t>
            </a:r>
            <a:r>
              <a:rPr lang="en-US" dirty="0"/>
              <a:t> at each stage with the hope that the final result is </a:t>
            </a:r>
            <a:r>
              <a:rPr lang="en-US" dirty="0" smtClean="0"/>
              <a:t>globally </a:t>
            </a:r>
            <a:r>
              <a:rPr lang="en-US" dirty="0"/>
              <a:t>optimal</a:t>
            </a:r>
            <a:r>
              <a:rPr lang="en-US" dirty="0" smtClean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 smtClean="0"/>
              <a:t> </a:t>
            </a:r>
            <a:r>
              <a:rPr lang="en-US" b="1" dirty="0"/>
              <a:t>Dynamic Programming (</a:t>
            </a:r>
            <a:r>
              <a:rPr lang="en-US" b="1" dirty="0" smtClean="0"/>
              <a:t>DP): </a:t>
            </a:r>
            <a:r>
              <a:rPr lang="en-US" dirty="0" smtClean="0"/>
              <a:t>A </a:t>
            </a:r>
            <a:r>
              <a:rPr lang="en-US" dirty="0"/>
              <a:t>method that solves problems by breaking them into </a:t>
            </a:r>
            <a:r>
              <a:rPr lang="en-US" b="1" dirty="0"/>
              <a:t>overlapping </a:t>
            </a:r>
            <a:r>
              <a:rPr lang="en-US" b="1" dirty="0" err="1"/>
              <a:t>subproblems</a:t>
            </a:r>
            <a:r>
              <a:rPr lang="en-US" dirty="0"/>
              <a:t>, storing computed solutions, and combining them to avoid </a:t>
            </a:r>
            <a:r>
              <a:rPr lang="en-US" dirty="0" err="1"/>
              <a:t>recomputation</a:t>
            </a:r>
            <a:r>
              <a:rPr lang="en-US" dirty="0"/>
              <a:t>.</a:t>
            </a:r>
          </a:p>
          <a:p>
            <a:r>
              <a:rPr lang="en-US" dirty="0"/>
              <a:t>Both strategies are essential in computer science, especially in: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Optimization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Scheduling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Resource allocation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Graph algorithms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Machine learning and operations </a:t>
            </a:r>
            <a:r>
              <a:rPr lang="en-US" dirty="0" smtClean="0"/>
              <a:t>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96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34" y="2603499"/>
            <a:ext cx="12014163" cy="4210659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  <a:r>
              <a:rPr lang="en-US" dirty="0"/>
              <a:t>A </a:t>
            </a:r>
            <a:r>
              <a:rPr lang="en-US" b="1" dirty="0"/>
              <a:t>greedy algorithm</a:t>
            </a:r>
            <a:r>
              <a:rPr lang="en-US" dirty="0"/>
              <a:t> is an algorithmic strategy that builds a solution step-by-step by selecting the best possible option </a:t>
            </a:r>
            <a:r>
              <a:rPr lang="en-US" b="1" dirty="0"/>
              <a:t>at each step</a:t>
            </a:r>
            <a:r>
              <a:rPr lang="en-US" dirty="0"/>
              <a:t>, with the hope that these local optimal choices lead to a globally optimal solution</a:t>
            </a:r>
            <a:r>
              <a:rPr lang="en-US" dirty="0" smtClean="0"/>
              <a:t>.</a:t>
            </a:r>
          </a:p>
          <a:p>
            <a:r>
              <a:rPr lang="en-US" b="1" dirty="0"/>
              <a:t>General Characteristics of Greedy Algorithms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Local optimization</a:t>
            </a:r>
            <a:r>
              <a:rPr lang="en-US" dirty="0"/>
              <a:t>: Make the best choice at each step.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Irrevocable decisions</a:t>
            </a:r>
            <a:r>
              <a:rPr lang="en-US" dirty="0"/>
              <a:t>: Once chosen, a decision cannot be changed.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No backtracking</a:t>
            </a:r>
            <a:r>
              <a:rPr lang="en-US" dirty="0"/>
              <a:t>: The algorithm does not reconsider previous choices.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Fast execution</a:t>
            </a:r>
            <a:r>
              <a:rPr lang="en-US" dirty="0"/>
              <a:t>: Usually O(</a:t>
            </a:r>
            <a:r>
              <a:rPr lang="en-US" dirty="0" err="1"/>
              <a:t>nlog⁡n</a:t>
            </a:r>
            <a:r>
              <a:rPr lang="en-US" dirty="0"/>
              <a:t>)O(n \log n)O(</a:t>
            </a:r>
            <a:r>
              <a:rPr lang="en-US" dirty="0" err="1"/>
              <a:t>nlogn</a:t>
            </a:r>
            <a:r>
              <a:rPr lang="en-US" dirty="0"/>
              <a:t>) or better.</a:t>
            </a:r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78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9396" y="2603499"/>
            <a:ext cx="11602528" cy="4366643"/>
          </a:xfrm>
        </p:spPr>
        <p:txBody>
          <a:bodyPr>
            <a:normAutofit/>
          </a:bodyPr>
          <a:lstStyle/>
          <a:p>
            <a:r>
              <a:rPr lang="en-US" dirty="0"/>
              <a:t>Conditions for workability of greedy algorithms: Greedy algorithms work </a:t>
            </a:r>
            <a:r>
              <a:rPr lang="en-US" b="1" dirty="0"/>
              <a:t>only if  the properties hold for a problem: 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Greedy Choice Property: </a:t>
            </a:r>
            <a:r>
              <a:rPr lang="en-US" dirty="0"/>
              <a:t>A problem has this property if a globally optimal solution can be constructed by making locally optimal choices.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Optimal Substructure: </a:t>
            </a:r>
            <a:r>
              <a:rPr lang="en-US" dirty="0"/>
              <a:t>A problem exhibits this if its optimal solution contains optimal solutions to its sub problems.</a:t>
            </a:r>
          </a:p>
          <a:p>
            <a:r>
              <a:rPr lang="en-US" dirty="0"/>
              <a:t>General Steps in Greedy Algorithm Design </a:t>
            </a:r>
            <a:r>
              <a:rPr lang="en-US" dirty="0" smtClean="0"/>
              <a:t>/</a:t>
            </a:r>
            <a:r>
              <a:rPr lang="en-US" b="1" dirty="0" smtClean="0"/>
              <a:t>Structure </a:t>
            </a:r>
            <a:r>
              <a:rPr lang="en-US" b="1" dirty="0"/>
              <a:t>of a Greedy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Identify the optimal substructure.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Define a selection rule (greedy choice).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Prove the greedy choice is safe.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Construct the algorithm.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Analyze 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19733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725" y="1071323"/>
            <a:ext cx="9792080" cy="706964"/>
          </a:xfrm>
        </p:spPr>
        <p:txBody>
          <a:bodyPr/>
          <a:lstStyle/>
          <a:p>
            <a:r>
              <a:rPr lang="en-US" dirty="0"/>
              <a:t>Common Examples </a:t>
            </a:r>
            <a:r>
              <a:rPr lang="en-US" dirty="0" smtClean="0"/>
              <a:t>of </a:t>
            </a:r>
            <a:r>
              <a:rPr lang="en-US" dirty="0"/>
              <a:t>Greedy </a:t>
            </a:r>
            <a:r>
              <a:rPr lang="en-US" dirty="0" smtClean="0"/>
              <a:t>Algorithms:</a:t>
            </a:r>
            <a:r>
              <a:rPr lang="en-US" b="1" dirty="0"/>
              <a:t> Activity Selection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86264" y="2603499"/>
            <a:ext cx="11895826" cy="432351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b="1" dirty="0" smtClean="0"/>
              <a:t> Activity Selection Problem: </a:t>
            </a:r>
            <a:r>
              <a:rPr lang="en-US" dirty="0" smtClean="0"/>
              <a:t>Choose </a:t>
            </a:r>
            <a:r>
              <a:rPr lang="en-US" dirty="0"/>
              <a:t>the maximum number of non-overlapping activities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Goal:</a:t>
            </a:r>
            <a:r>
              <a:rPr lang="en-US" dirty="0"/>
              <a:t> Select the maximum number of non-overlapping activities.</a:t>
            </a:r>
          </a:p>
          <a:p>
            <a:pPr lvl="1"/>
            <a:r>
              <a:rPr lang="en-US" b="1" dirty="0"/>
              <a:t>Greedy strategy: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Sort activities by finishing time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Select the activity that ends earliest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dirty="0"/>
              <a:t>Continue selecting the next activity that starts after the previous one ends</a:t>
            </a:r>
          </a:p>
          <a:p>
            <a:pPr lvl="1"/>
            <a:r>
              <a:rPr lang="en-US" b="1" dirty="0"/>
              <a:t>Why Greedy Works:</a:t>
            </a:r>
            <a:endParaRPr lang="en-US" dirty="0"/>
          </a:p>
          <a:p>
            <a:pPr lvl="2"/>
            <a:r>
              <a:rPr lang="en-US" dirty="0"/>
              <a:t>Earliest finishing time ensures maximum room for future activities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b="1" dirty="0" smtClean="0"/>
              <a:t>: </a:t>
            </a:r>
            <a:r>
              <a:rPr lang="en-US" dirty="0" smtClean="0"/>
              <a:t>Pick </a:t>
            </a:r>
            <a:r>
              <a:rPr lang="en-US" dirty="0"/>
              <a:t>items with highest </a:t>
            </a:r>
            <a:r>
              <a:rPr lang="en-US" b="1" dirty="0"/>
              <a:t>value-to-weight ratio</a:t>
            </a:r>
            <a:r>
              <a:rPr lang="en-US" dirty="0"/>
              <a:t> until knapsack is full.</a:t>
            </a:r>
          </a:p>
          <a:p>
            <a:pPr>
              <a:buFont typeface="+mj-lt"/>
              <a:buAutoNum type="arabicPeriod"/>
            </a:pPr>
            <a:r>
              <a:rPr lang="en-US" b="1" dirty="0" smtClean="0"/>
              <a:t>Huffman Coding: </a:t>
            </a:r>
            <a:r>
              <a:rPr lang="en-US" dirty="0" smtClean="0"/>
              <a:t>Build </a:t>
            </a:r>
            <a:r>
              <a:rPr lang="en-US" dirty="0"/>
              <a:t>optimal prefix-free codes by repeatedly combining least-frequency nodes.</a:t>
            </a:r>
          </a:p>
          <a:p>
            <a:pPr>
              <a:buFont typeface="+mj-lt"/>
              <a:buAutoNum type="arabicPeriod"/>
            </a:pPr>
            <a:r>
              <a:rPr lang="en-US" b="1" dirty="0" smtClean="0"/>
              <a:t>Prim’s </a:t>
            </a:r>
            <a:r>
              <a:rPr lang="en-US" b="1" dirty="0"/>
              <a:t>and </a:t>
            </a:r>
            <a:r>
              <a:rPr lang="en-US" b="1" dirty="0" err="1"/>
              <a:t>Kruskal’s</a:t>
            </a:r>
            <a:r>
              <a:rPr lang="en-US" b="1" dirty="0"/>
              <a:t> </a:t>
            </a:r>
            <a:r>
              <a:rPr lang="en-US" b="1" dirty="0" smtClean="0"/>
              <a:t>Algorithms: </a:t>
            </a:r>
            <a:r>
              <a:rPr lang="en-US" dirty="0" smtClean="0"/>
              <a:t>Used </a:t>
            </a:r>
            <a:r>
              <a:rPr lang="en-US" dirty="0"/>
              <a:t>to build Minimum Spanning Trees (MST).</a:t>
            </a:r>
          </a:p>
        </p:txBody>
      </p:sp>
    </p:spTree>
    <p:extLst>
      <p:ext uri="{BB962C8B-B14F-4D97-AF65-F5344CB8AC3E}">
        <p14:creationId xmlns:p14="http://schemas.microsoft.com/office/powerpoint/2010/main" val="4219845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Maximize profit when items can be broken into fractions.</a:t>
            </a:r>
          </a:p>
          <a:p>
            <a:r>
              <a:rPr lang="en-US" b="1" dirty="0"/>
              <a:t>Greedy strategy: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Compute value-to-weight ratio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Sort items in decreasing order of ratio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Take the item (or fraction) with highest ratio</a:t>
            </a:r>
          </a:p>
          <a:p>
            <a:r>
              <a:rPr lang="en-US" b="1" dirty="0"/>
              <a:t>Why Greedy </a:t>
            </a:r>
            <a:r>
              <a:rPr lang="en-US" b="1" dirty="0" smtClean="0"/>
              <a:t>Works:</a:t>
            </a:r>
            <a:r>
              <a:rPr lang="en-US" dirty="0" smtClean="0"/>
              <a:t> Since </a:t>
            </a:r>
            <a:r>
              <a:rPr lang="en-US" dirty="0"/>
              <a:t>fractions are allowed, local optimal choices accumulate to a global optimum.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Examples </a:t>
            </a:r>
            <a:r>
              <a:rPr lang="en-US" dirty="0" smtClean="0"/>
              <a:t>of </a:t>
            </a:r>
            <a:r>
              <a:rPr lang="en-US" dirty="0"/>
              <a:t>Greedy </a:t>
            </a:r>
            <a:r>
              <a:rPr lang="en-US" dirty="0" smtClean="0"/>
              <a:t>Algorithms:</a:t>
            </a:r>
            <a:r>
              <a:rPr lang="en-US" b="1" dirty="0"/>
              <a:t> Fractional </a:t>
            </a:r>
            <a:r>
              <a:rPr lang="en-US" b="1" dirty="0" smtClean="0"/>
              <a:t>Knapsack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7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Examples of Greedy </a:t>
            </a:r>
            <a:r>
              <a:rPr lang="en-US" dirty="0" smtClean="0"/>
              <a:t>Algorithms: </a:t>
            </a:r>
            <a:r>
              <a:rPr lang="en-US" b="1" dirty="0" smtClean="0"/>
              <a:t>Huffman </a:t>
            </a:r>
            <a:r>
              <a:rPr lang="en-US" b="1" dirty="0"/>
              <a:t>Coding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Generate optimal prefix-free binary codes for data compression.</a:t>
            </a:r>
          </a:p>
          <a:p>
            <a:r>
              <a:rPr lang="en-US" b="1" dirty="0"/>
              <a:t>Greedy strategy: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Always merge the two nodes with smallest frequency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Builds optimal prefix tree</a:t>
            </a:r>
          </a:p>
          <a:p>
            <a:r>
              <a:rPr lang="en-US" b="1" dirty="0"/>
              <a:t>Why Greedy </a:t>
            </a:r>
            <a:r>
              <a:rPr lang="en-US" b="1" dirty="0" smtClean="0"/>
              <a:t>Works:</a:t>
            </a:r>
            <a:r>
              <a:rPr lang="en-US" dirty="0" smtClean="0"/>
              <a:t> Guaranteed </a:t>
            </a:r>
            <a:r>
              <a:rPr lang="en-US" dirty="0"/>
              <a:t>by optimal merging property.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390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Examples of Greedy Algorithms: </a:t>
            </a:r>
            <a:r>
              <a:rPr lang="en-US" b="1" dirty="0" err="1" smtClean="0"/>
              <a:t>Dijkstra's</a:t>
            </a:r>
            <a:r>
              <a:rPr lang="en-US" b="1" dirty="0" smtClean="0"/>
              <a:t> </a:t>
            </a:r>
            <a:r>
              <a:rPr lang="en-US" b="1" dirty="0"/>
              <a:t>Algorithm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Goal</a:t>
            </a:r>
            <a:r>
              <a:rPr lang="en-US" b="1" dirty="0"/>
              <a:t>:</a:t>
            </a:r>
            <a:r>
              <a:rPr lang="en-US" dirty="0"/>
              <a:t> Find the shortest path from a single source to all other vertices (non-negative weights).</a:t>
            </a:r>
          </a:p>
          <a:p>
            <a:r>
              <a:rPr lang="en-US" b="1" dirty="0"/>
              <a:t>Greedy strategy:</a:t>
            </a:r>
            <a:endParaRPr lang="en-US" dirty="0"/>
          </a:p>
          <a:p>
            <a:r>
              <a:rPr lang="en-US" dirty="0"/>
              <a:t>Always expand the node with smallest temporary distance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04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(DP)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Definition: </a:t>
            </a:r>
            <a:r>
              <a:rPr lang="en-US" dirty="0" smtClean="0"/>
              <a:t>Dynamic </a:t>
            </a:r>
            <a:r>
              <a:rPr lang="en-US" dirty="0"/>
              <a:t>Programming is an algorithmic strategy for solving complex problems by: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Breaking them into overlapping </a:t>
            </a:r>
            <a:r>
              <a:rPr lang="en-US" b="1" dirty="0" err="1"/>
              <a:t>subproblems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Solving each </a:t>
            </a:r>
            <a:r>
              <a:rPr lang="en-US" b="1" dirty="0" err="1"/>
              <a:t>subproblem</a:t>
            </a:r>
            <a:r>
              <a:rPr lang="en-US" b="1" dirty="0"/>
              <a:t> once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Storing results in a table (</a:t>
            </a:r>
            <a:r>
              <a:rPr lang="en-US" b="1" dirty="0" err="1"/>
              <a:t>memoization</a:t>
            </a:r>
            <a:r>
              <a:rPr lang="en-US" b="1" dirty="0"/>
              <a:t>)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Building the final solution from stored results</a:t>
            </a:r>
            <a:endParaRPr lang="en-US" dirty="0"/>
          </a:p>
          <a:p>
            <a:r>
              <a:rPr lang="en-US" b="1" dirty="0"/>
              <a:t>DP is used when: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problem has </a:t>
            </a:r>
            <a:r>
              <a:rPr lang="en-US" b="1" dirty="0"/>
              <a:t>overlapping </a:t>
            </a:r>
            <a:r>
              <a:rPr lang="en-US" b="1" dirty="0" err="1"/>
              <a:t>subproblems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problem has </a:t>
            </a:r>
            <a:r>
              <a:rPr lang="en-US" b="1" dirty="0"/>
              <a:t>optimal substructure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Greedy does not produce optimal results (e.g., 0/1 Knapsack)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3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Approaches in Dynamic Programming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1</a:t>
            </a:r>
            <a:r>
              <a:rPr lang="en-US" b="1" dirty="0"/>
              <a:t>. Top-Down (</a:t>
            </a:r>
            <a:r>
              <a:rPr lang="en-US" b="1" dirty="0" err="1"/>
              <a:t>Memoization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Use recursion</a:t>
            </a:r>
          </a:p>
          <a:p>
            <a:pPr lvl="1"/>
            <a:r>
              <a:rPr lang="en-US" dirty="0"/>
              <a:t>Store results of </a:t>
            </a:r>
            <a:r>
              <a:rPr lang="en-US" dirty="0" err="1"/>
              <a:t>subproblems</a:t>
            </a:r>
            <a:endParaRPr lang="en-US" dirty="0"/>
          </a:p>
          <a:p>
            <a:pPr lvl="1"/>
            <a:r>
              <a:rPr lang="en-US" dirty="0"/>
              <a:t>Reuse stored results to avoid </a:t>
            </a:r>
            <a:r>
              <a:rPr lang="en-US" dirty="0" err="1"/>
              <a:t>recomputation</a:t>
            </a:r>
            <a:endParaRPr lang="en-US" dirty="0"/>
          </a:p>
          <a:p>
            <a:r>
              <a:rPr lang="en-US" b="1" dirty="0"/>
              <a:t>2. Bottom-Up (Tabulation)</a:t>
            </a:r>
          </a:p>
          <a:p>
            <a:pPr lvl="1"/>
            <a:r>
              <a:rPr lang="en-US" dirty="0"/>
              <a:t>Solve from smallest </a:t>
            </a:r>
            <a:r>
              <a:rPr lang="en-US" dirty="0" err="1"/>
              <a:t>subproblems</a:t>
            </a:r>
            <a:endParaRPr lang="en-US" dirty="0"/>
          </a:p>
          <a:p>
            <a:pPr lvl="1"/>
            <a:r>
              <a:rPr lang="en-US" dirty="0"/>
              <a:t>Build a table iteratively</a:t>
            </a:r>
          </a:p>
          <a:p>
            <a:pPr lvl="1"/>
            <a:r>
              <a:rPr lang="en-US" dirty="0"/>
              <a:t>Extract final answer from last entry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52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in Dynamic Programming Design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Characterize </a:t>
            </a:r>
            <a:r>
              <a:rPr lang="en-US" b="1" dirty="0"/>
              <a:t>the problem into </a:t>
            </a:r>
            <a:r>
              <a:rPr lang="en-US" b="1" dirty="0" err="1"/>
              <a:t>subproblems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Define the recurrence relation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Identify base cases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Choose top-down or bottom-up implementation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Construct DP table (for bottom-up)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b="1" dirty="0"/>
              <a:t>Reconstruct the solution if required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50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Examples of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1: Fibonacci Numbers</a:t>
            </a:r>
          </a:p>
          <a:p>
            <a:pPr lvl="1"/>
            <a:r>
              <a:rPr lang="en-US" dirty="0" smtClean="0"/>
              <a:t>Recurrence: F(n</a:t>
            </a:r>
            <a:r>
              <a:rPr lang="en-US" dirty="0"/>
              <a:t>)=F(n−1)+F(n−</a:t>
            </a:r>
            <a:r>
              <a:rPr lang="en-US" dirty="0" smtClean="0"/>
              <a:t>2)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DP avoids </a:t>
            </a:r>
            <a:r>
              <a:rPr lang="en-US" dirty="0" smtClean="0"/>
              <a:t>exponential </a:t>
            </a:r>
            <a:r>
              <a:rPr lang="en-US" dirty="0" err="1"/>
              <a:t>recomputation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Example </a:t>
            </a:r>
            <a:r>
              <a:rPr lang="en-US" b="1" dirty="0"/>
              <a:t>2: Longest Common Subsequence (LCS)</a:t>
            </a:r>
          </a:p>
          <a:p>
            <a:pPr lvl="1"/>
            <a:r>
              <a:rPr lang="en-US" dirty="0"/>
              <a:t>Uses a 2D table of size </a:t>
            </a:r>
            <a:r>
              <a:rPr lang="en-US" dirty="0" err="1" smtClean="0"/>
              <a:t>m×n</a:t>
            </a:r>
            <a:r>
              <a:rPr lang="en-US" dirty="0" smtClean="0"/>
              <a:t>.</a:t>
            </a:r>
          </a:p>
          <a:p>
            <a:r>
              <a:rPr lang="en-US" b="1" dirty="0"/>
              <a:t>Example 3: Matrix Chain Multiplication</a:t>
            </a:r>
          </a:p>
          <a:p>
            <a:pPr lvl="1"/>
            <a:r>
              <a:rPr lang="en-US" dirty="0"/>
              <a:t>Minimizes total multiplication cost using DP</a:t>
            </a:r>
            <a:r>
              <a:rPr lang="en-US" dirty="0" smtClean="0"/>
              <a:t>.</a:t>
            </a:r>
          </a:p>
          <a:p>
            <a:r>
              <a:rPr lang="en-US" dirty="0"/>
              <a:t>Example 4: 0/1 Knapsack Problem (DP example)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VS DYNAMIC PROGRAMMING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133253"/>
              </p:ext>
            </p:extLst>
          </p:nvPr>
        </p:nvGraphicFramePr>
        <p:xfrm>
          <a:off x="1155700" y="2603500"/>
          <a:ext cx="8824914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638"/>
                <a:gridCol w="2941638"/>
                <a:gridCol w="2941638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 Programming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Local optimal choices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Systematic global optimization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Backtracking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 (implicit through DP table)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Optimality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 always guaranteed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Always optimal if recurrence is correct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Time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Usually 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Often more expensive (O(nW), O(n²))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Problem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Fractional problems,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0/1 knapsack, LCS, LIS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33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this module:</a:t>
            </a:r>
          </a:p>
          <a:p>
            <a:r>
              <a:rPr lang="en-US" dirty="0"/>
              <a:t>Greedy algorithms make fast, local decisions and work for problems with greedy-choice property.</a:t>
            </a:r>
          </a:p>
          <a:p>
            <a:r>
              <a:rPr lang="en-US" dirty="0"/>
              <a:t>Dynamic Programming systematically solves problems with overlapping </a:t>
            </a:r>
            <a:r>
              <a:rPr lang="en-US" dirty="0" err="1"/>
              <a:t>subproblems</a:t>
            </a:r>
            <a:r>
              <a:rPr lang="en-US" dirty="0"/>
              <a:t> and optimal substructure.</a:t>
            </a:r>
          </a:p>
          <a:p>
            <a:r>
              <a:rPr lang="en-US" dirty="0"/>
              <a:t>0/1 Knapsack demonstrates why DP is sometimes necessary when greedy strategies fail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921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233</TotalTime>
  <Words>893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PowerPoint Presentation</vt:lpstr>
      <vt:lpstr>Introduction to Greedy and Dynamic Programming Strategies</vt:lpstr>
      <vt:lpstr>Greedy Algorithms</vt:lpstr>
      <vt:lpstr>PowerPoint Presentation</vt:lpstr>
      <vt:lpstr>Common Examples of Greedy Algorithms: Activity Selection Problem</vt:lpstr>
      <vt:lpstr>Common Examples of Greedy Algorithms: Fractional Knapsack Problem</vt:lpstr>
      <vt:lpstr>Common Examples of Greedy Algorithms: Huffman Coding </vt:lpstr>
      <vt:lpstr>Common Examples of Greedy Algorithms: Dijkstra's Algorithm </vt:lpstr>
      <vt:lpstr>DYNAMIC PROGRAMMING (DP)</vt:lpstr>
      <vt:lpstr>Approaches in Dynamic Programming </vt:lpstr>
      <vt:lpstr>Steps in Dynamic Programming Design </vt:lpstr>
      <vt:lpstr>Classic Examples of Dynamic Programming</vt:lpstr>
      <vt:lpstr>GREEDY VS DYNAMIC PROGRAMMING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OLADIPUPO  TAIWO</dc:creator>
  <cp:lastModifiedBy>OLADIPUPO  TAIWO</cp:lastModifiedBy>
  <cp:revision>10</cp:revision>
  <dcterms:created xsi:type="dcterms:W3CDTF">2025-11-27T07:46:42Z</dcterms:created>
  <dcterms:modified xsi:type="dcterms:W3CDTF">2025-12-11T09:05:53Z</dcterms:modified>
</cp:coreProperties>
</file>