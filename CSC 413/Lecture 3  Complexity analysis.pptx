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6"/>
  </p:notesMasterIdLst>
  <p:sldIdLst>
    <p:sldId id="256" r:id="rId2"/>
    <p:sldId id="273" r:id="rId3"/>
    <p:sldId id="257" r:id="rId4"/>
    <p:sldId id="258" r:id="rId5"/>
    <p:sldId id="259" r:id="rId6"/>
    <p:sldId id="277" r:id="rId7"/>
    <p:sldId id="278" r:id="rId8"/>
    <p:sldId id="279" r:id="rId9"/>
    <p:sldId id="280" r:id="rId10"/>
    <p:sldId id="281" r:id="rId11"/>
    <p:sldId id="260" r:id="rId12"/>
    <p:sldId id="275" r:id="rId13"/>
    <p:sldId id="274" r:id="rId14"/>
    <p:sldId id="283" r:id="rId15"/>
    <p:sldId id="284" r:id="rId16"/>
    <p:sldId id="261" r:id="rId17"/>
    <p:sldId id="262" r:id="rId18"/>
    <p:sldId id="263" r:id="rId19"/>
    <p:sldId id="282" r:id="rId20"/>
    <p:sldId id="266" r:id="rId21"/>
    <p:sldId id="276" r:id="rId22"/>
    <p:sldId id="271" r:id="rId23"/>
    <p:sldId id="270" r:id="rId24"/>
    <p:sldId id="272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3584" autoAdjust="0"/>
  </p:normalViewPr>
  <p:slideViewPr>
    <p:cSldViewPr snapToGrid="0" snapToObjects="1">
      <p:cViewPr varScale="1">
        <p:scale>
          <a:sx n="77" d="100"/>
          <a:sy n="77" d="100"/>
        </p:scale>
        <p:origin x="164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414351-9E43-4EBA-A40E-F892082C3E6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1341D-B680-4310-B800-18B8E5C99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74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41341D-B680-4310-B800-18B8E5C9914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105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365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3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200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14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6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779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470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557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975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139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086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772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6799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9005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0335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159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556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gray">
          <a:xfrm>
            <a:off x="531837" y="2860383"/>
            <a:ext cx="8110728" cy="116034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0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600" dirty="0"/>
              <a:t>Topic: </a:t>
            </a:r>
            <a:r>
              <a:rPr lang="en-US" sz="3600" b="1" dirty="0"/>
              <a:t>Complexity Analysis and Performance Bounds</a:t>
            </a:r>
            <a:endParaRPr lang="en-US" sz="36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03821" y="4209760"/>
            <a:ext cx="7861105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Lecture Note Presentation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590300" y="2240642"/>
            <a:ext cx="5917679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/>
              <a:t>LECTURE 3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gray">
          <a:xfrm>
            <a:off x="531837" y="804423"/>
            <a:ext cx="7854696" cy="6808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0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/>
              <a:t>Design and Analysis of Algorithms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590302" y="1478475"/>
            <a:ext cx="5917679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/>
              <a:t>CSC 413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Lecture outline</a:t>
            </a:r>
          </a:p>
        </p:txBody>
      </p:sp>
      <p:sp>
        <p:nvSpPr>
          <p:cNvPr id="4" name="Subtit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Complexity Theory</a:t>
            </a:r>
          </a:p>
          <a:p>
            <a:r>
              <a:rPr dirty="0"/>
              <a:t>Best, Worst, and Average Case Analysis</a:t>
            </a:r>
          </a:p>
          <a:p>
            <a:r>
              <a:rPr dirty="0"/>
              <a:t>Time-Space Trade-offs</a:t>
            </a:r>
          </a:p>
          <a:p>
            <a:r>
              <a:rPr dirty="0"/>
              <a:t>Bubble Sort </a:t>
            </a:r>
            <a:r>
              <a:rPr dirty="0" err="1"/>
              <a:t>vs</a:t>
            </a:r>
            <a:r>
              <a:rPr dirty="0"/>
              <a:t> Insertion Sort</a:t>
            </a:r>
          </a:p>
          <a:p>
            <a:r>
              <a:rPr dirty="0"/>
              <a:t>Assignment</a:t>
            </a:r>
          </a:p>
        </p:txBody>
      </p:sp>
    </p:spTree>
    <p:extLst>
      <p:ext uri="{BB962C8B-B14F-4D97-AF65-F5344CB8AC3E}">
        <p14:creationId xmlns:p14="http://schemas.microsoft.com/office/powerpoint/2010/main" val="3033514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b="1" dirty="0"/>
              <a:t>Introduction to Complexity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Definition: Determines how resources (time and space) used by an algorithm grow with input size.</a:t>
            </a:r>
          </a:p>
          <a:p>
            <a:r>
              <a:rPr dirty="0"/>
              <a:t>Purpose:</a:t>
            </a:r>
          </a:p>
          <a:p>
            <a:pPr lvl="1"/>
            <a:r>
              <a:rPr dirty="0"/>
              <a:t>Evaluate efficiency</a:t>
            </a:r>
          </a:p>
          <a:p>
            <a:pPr lvl="1"/>
            <a:r>
              <a:rPr dirty="0"/>
              <a:t>Predict performance</a:t>
            </a:r>
          </a:p>
          <a:p>
            <a:pPr lvl="1"/>
            <a:r>
              <a:rPr dirty="0"/>
              <a:t>Choose best algorithm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Types of Algorithmic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30120"/>
            <a:ext cx="9144000" cy="4627880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1. Best Case – </a:t>
            </a:r>
            <a:endParaRPr lang="en-US" dirty="0"/>
          </a:p>
          <a:p>
            <a:pPr lvl="1"/>
            <a:r>
              <a:rPr lang="en-US" dirty="0"/>
              <a:t>The scenario where the algorithm performs the minimum number of operations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It indicates the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</a:rPr>
              <a:t>most optimistic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performance of the algorithm.</a:t>
            </a:r>
          </a:p>
          <a:p>
            <a:pPr lvl="1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</a:rPr>
              <a:t>Example: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For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</a:rPr>
              <a:t>Linear Search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, the best case occurs when the first element matches the key. →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</a:rPr>
              <a:t>Time Complexity: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O(1)</a:t>
            </a:r>
            <a:endParaRPr dirty="0"/>
          </a:p>
          <a:p>
            <a:r>
              <a:rPr dirty="0"/>
              <a:t>2. Average Case – </a:t>
            </a:r>
            <a:endParaRPr lang="en-US" dirty="0"/>
          </a:p>
          <a:p>
            <a:pPr lvl="1"/>
            <a:r>
              <a:rPr lang="en-US" dirty="0"/>
              <a:t>The expected running time, assuming that all inputs of a given size are equally likely.</a:t>
            </a:r>
          </a:p>
          <a:p>
            <a:pPr lvl="1"/>
            <a:r>
              <a:rPr lang="en-US" dirty="0"/>
              <a:t>It indicates the </a:t>
            </a:r>
            <a:r>
              <a:rPr lang="en-US" b="1" dirty="0"/>
              <a:t>probable performance</a:t>
            </a:r>
            <a:r>
              <a:rPr lang="en-US" dirty="0"/>
              <a:t> in real-world usage</a:t>
            </a:r>
          </a:p>
          <a:p>
            <a:pPr lvl="1"/>
            <a:r>
              <a:rPr lang="en-US" dirty="0"/>
              <a:t>For </a:t>
            </a:r>
            <a:r>
              <a:rPr lang="en-US" b="1" dirty="0"/>
              <a:t>Linear Search</a:t>
            </a:r>
            <a:r>
              <a:rPr lang="en-US" dirty="0"/>
              <a:t>, average case occurs when the element is somewhere in the middle.→ </a:t>
            </a:r>
            <a:r>
              <a:rPr lang="en-US" b="1" dirty="0"/>
              <a:t>Time Complexity:</a:t>
            </a:r>
            <a:r>
              <a:rPr lang="en-US" dirty="0"/>
              <a:t> O(n/2) ≈ O(n)</a:t>
            </a:r>
            <a:endParaRPr dirty="0"/>
          </a:p>
          <a:p>
            <a:r>
              <a:rPr dirty="0"/>
              <a:t>3. Worst Case – </a:t>
            </a:r>
            <a:r>
              <a:rPr lang="en-US" dirty="0"/>
              <a:t> </a:t>
            </a:r>
            <a:endParaRPr lang="en-US" b="1" dirty="0"/>
          </a:p>
          <a:p>
            <a:pPr lvl="1"/>
            <a:r>
              <a:rPr lang="en-US" dirty="0"/>
              <a:t>The scenario where the algorithm performs the maximum number of operations.</a:t>
            </a:r>
          </a:p>
          <a:p>
            <a:pPr lvl="1"/>
            <a:r>
              <a:rPr lang="en-US" dirty="0"/>
              <a:t>It indicates the </a:t>
            </a:r>
            <a:r>
              <a:rPr lang="en-US" b="1" dirty="0"/>
              <a:t>maximum possible running time</a:t>
            </a:r>
            <a:r>
              <a:rPr lang="en-US" dirty="0"/>
              <a:t> for any input of size </a:t>
            </a:r>
            <a:r>
              <a:rPr lang="en-US" i="1" dirty="0"/>
              <a:t>n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Example:</a:t>
            </a:r>
            <a:r>
              <a:rPr lang="en-US" dirty="0"/>
              <a:t> For </a:t>
            </a:r>
            <a:r>
              <a:rPr lang="en-US" b="1" dirty="0"/>
              <a:t>Linear Search</a:t>
            </a:r>
            <a:r>
              <a:rPr lang="en-US" dirty="0"/>
              <a:t>, the worst case occurs when the element is not in the list or is at the last position. → </a:t>
            </a:r>
            <a:r>
              <a:rPr lang="en-US" b="1" dirty="0"/>
              <a:t>Time Complexity:</a:t>
            </a:r>
            <a:r>
              <a:rPr lang="en-US" dirty="0"/>
              <a:t> O(n)</a:t>
            </a:r>
            <a:endParaRPr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29184" y="2363462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7162462" cy="709865"/>
          </a:xfrm>
        </p:spPr>
        <p:txBody>
          <a:bodyPr/>
          <a:lstStyle/>
          <a:p>
            <a:pPr algn="ctr"/>
            <a:r>
              <a:rPr lang="en-US" b="1" dirty="0"/>
              <a:t>Comparison: </a:t>
            </a:r>
            <a:r>
              <a:rPr b="1" dirty="0"/>
              <a:t>Best, Average, and Worst Cases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3144796"/>
              </p:ext>
            </p:extLst>
          </p:nvPr>
        </p:nvGraphicFramePr>
        <p:xfrm>
          <a:off x="338328" y="2489200"/>
          <a:ext cx="8119872" cy="3234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8736">
                <a:tc>
                  <a:txBody>
                    <a:bodyPr/>
                    <a:lstStyle/>
                    <a:p>
                      <a:r>
                        <a:rPr lang="en-US" b="1" dirty="0"/>
                        <a:t>Case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Meaning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Example (Linear Search)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Time Complexity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8736">
                <a:tc>
                  <a:txBody>
                    <a:bodyPr/>
                    <a:lstStyle/>
                    <a:p>
                      <a:r>
                        <a:rPr lang="en-US"/>
                        <a:t>Best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Fastest possible execution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Element is first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8736">
                <a:tc>
                  <a:txBody>
                    <a:bodyPr/>
                    <a:lstStyle/>
                    <a:p>
                      <a:r>
                        <a:rPr lang="en-US"/>
                        <a:t>Average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Expected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Element in middle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8736">
                <a:tc>
                  <a:txBody>
                    <a:bodyPr/>
                    <a:lstStyle/>
                    <a:p>
                      <a:r>
                        <a:rPr lang="en-US"/>
                        <a:t>Worst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Slowest possible execution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Element not found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It is also called computational complexity</a:t>
            </a:r>
          </a:p>
          <a:p>
            <a:r>
              <a:rPr lang="en-US" dirty="0"/>
              <a:t>It is a measure of amount of computing resources (space and time) that a particular algorithm consumes when it  runs</a:t>
            </a:r>
          </a:p>
          <a:p>
            <a:r>
              <a:rPr lang="en-US" dirty="0"/>
              <a:t>Types of complexity:</a:t>
            </a:r>
          </a:p>
          <a:p>
            <a:pPr lvl="1"/>
            <a:r>
              <a:rPr lang="en-US" dirty="0"/>
              <a:t>Time Complexity: Estimation of total CPU computation required to execute an algorithm. CPU computation can be defined as instruction executed by the CPU</a:t>
            </a:r>
          </a:p>
          <a:p>
            <a:pPr lvl="1"/>
            <a:r>
              <a:rPr lang="en-US" dirty="0"/>
              <a:t>Space Complexity: Estimation of  main memory space required to execute an algorithm.</a:t>
            </a:r>
          </a:p>
          <a:p>
            <a:pPr lvl="2"/>
            <a:r>
              <a:rPr lang="en-US" dirty="0"/>
              <a:t>Space complexity measures the memory usage of a program</a:t>
            </a:r>
          </a:p>
          <a:p>
            <a:pPr lvl="3"/>
            <a:r>
              <a:rPr lang="en-US" dirty="0"/>
              <a:t>What makes space complexity increase:</a:t>
            </a:r>
          </a:p>
          <a:p>
            <a:pPr lvl="4"/>
            <a:r>
              <a:rPr lang="en-US" dirty="0"/>
              <a:t>Assigning variable</a:t>
            </a:r>
          </a:p>
          <a:p>
            <a:pPr lvl="4"/>
            <a:r>
              <a:rPr lang="en-US" dirty="0"/>
              <a:t>Function calling and allocation</a:t>
            </a:r>
          </a:p>
          <a:p>
            <a:pPr lvl="4"/>
            <a:r>
              <a:rPr lang="en-US" dirty="0"/>
              <a:t>Creating new data structures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669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69" y="927098"/>
            <a:ext cx="7273575" cy="709865"/>
          </a:xfrm>
        </p:spPr>
        <p:txBody>
          <a:bodyPr/>
          <a:lstStyle/>
          <a:p>
            <a:r>
              <a:rPr lang="en-US" dirty="0"/>
              <a:t>How to Calculate Time  and space Complexity of 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8078727" cy="4368800"/>
          </a:xfrm>
        </p:spPr>
        <p:txBody>
          <a:bodyPr>
            <a:normAutofit fontScale="92500" lnSpcReduction="20000"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Break the algorithm/function into individual operations</a:t>
            </a:r>
          </a:p>
          <a:p>
            <a:pPr>
              <a:buFont typeface="+mj-lt"/>
              <a:buAutoNum type="arabicPeriod"/>
            </a:pPr>
            <a:r>
              <a:rPr lang="en-US" dirty="0"/>
              <a:t>Calculate the frequency count of each operation</a:t>
            </a:r>
          </a:p>
          <a:p>
            <a:pPr>
              <a:buFont typeface="+mj-lt"/>
              <a:buAutoNum type="arabicPeriod"/>
            </a:pPr>
            <a:r>
              <a:rPr lang="en-US" dirty="0"/>
              <a:t>Add up the frequency count of each operation together</a:t>
            </a:r>
          </a:p>
          <a:p>
            <a:pPr>
              <a:buFont typeface="+mj-lt"/>
              <a:buAutoNum type="arabicPeriod"/>
            </a:pPr>
            <a:r>
              <a:rPr lang="en-US" dirty="0"/>
              <a:t>Remove the constants</a:t>
            </a:r>
          </a:p>
          <a:p>
            <a:pPr>
              <a:buFont typeface="+mj-lt"/>
              <a:buAutoNum type="arabicPeriod"/>
            </a:pPr>
            <a:r>
              <a:rPr lang="en-US" dirty="0"/>
              <a:t>Determine the highest order term.</a:t>
            </a:r>
          </a:p>
          <a:p>
            <a:r>
              <a:rPr lang="en-US" dirty="0"/>
              <a:t>Example 1; </a:t>
            </a:r>
          </a:p>
          <a:p>
            <a:pPr marL="617220" lvl="2" indent="0">
              <a:lnSpc>
                <a:spcPct val="110000"/>
              </a:lnSpc>
              <a:buNone/>
            </a:pPr>
            <a:r>
              <a:rPr lang="en-US" dirty="0"/>
              <a:t>Sum = 0                   1</a:t>
            </a:r>
          </a:p>
          <a:p>
            <a:pPr marL="617220" lvl="2" indent="0">
              <a:lnSpc>
                <a:spcPct val="110000"/>
              </a:lnSpc>
              <a:buNone/>
            </a:pPr>
            <a:r>
              <a:rPr lang="en-US" dirty="0" err="1"/>
              <a:t>Arrx</a:t>
            </a:r>
            <a:r>
              <a:rPr lang="en-US" dirty="0"/>
              <a:t> =]2,4,5,6,7]       1</a:t>
            </a:r>
          </a:p>
          <a:p>
            <a:pPr marL="617220" lvl="2" indent="0">
              <a:lnSpc>
                <a:spcPct val="110000"/>
              </a:lnSpc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&lt;= n; </a:t>
            </a:r>
            <a:r>
              <a:rPr lang="en-US" dirty="0" err="1"/>
              <a:t>i</a:t>
            </a:r>
            <a:r>
              <a:rPr lang="en-US" dirty="0"/>
              <a:t>++)   1 +  n + 1 + n= 2n + 2</a:t>
            </a:r>
          </a:p>
          <a:p>
            <a:pPr marL="617220" lvl="2" indent="0">
              <a:lnSpc>
                <a:spcPct val="110000"/>
              </a:lnSpc>
              <a:buNone/>
            </a:pPr>
            <a:r>
              <a:rPr lang="en-US" dirty="0"/>
              <a:t>{</a:t>
            </a:r>
          </a:p>
          <a:p>
            <a:pPr marL="617220" lvl="2" indent="0">
              <a:lnSpc>
                <a:spcPct val="110000"/>
              </a:lnSpc>
              <a:buNone/>
            </a:pPr>
            <a:r>
              <a:rPr lang="en-US" dirty="0"/>
              <a:t>     sum += </a:t>
            </a:r>
            <a:r>
              <a:rPr lang="en-US" dirty="0" err="1"/>
              <a:t>arrx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      n</a:t>
            </a:r>
          </a:p>
          <a:p>
            <a:pPr marL="617220" lvl="2" indent="0">
              <a:lnSpc>
                <a:spcPct val="110000"/>
              </a:lnSpc>
              <a:buNone/>
            </a:pPr>
            <a:r>
              <a:rPr lang="en-US" dirty="0"/>
              <a:t>}</a:t>
            </a:r>
          </a:p>
          <a:p>
            <a:pPr marL="617220" lvl="2" indent="0">
              <a:lnSpc>
                <a:spcPct val="110000"/>
              </a:lnSpc>
              <a:buNone/>
            </a:pPr>
            <a:r>
              <a:rPr lang="en-US" dirty="0"/>
              <a:t> total = 1 + 1 + 2n +2 + n = 3n + 4 = 0(n)</a:t>
            </a:r>
          </a:p>
          <a:p>
            <a:pPr marL="617220" lvl="2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503653" y="3858490"/>
            <a:ext cx="34394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Space complexity</a:t>
            </a:r>
          </a:p>
          <a:p>
            <a:r>
              <a:rPr lang="en-US" dirty="0"/>
              <a:t>Elements</a:t>
            </a:r>
          </a:p>
          <a:p>
            <a:r>
              <a:rPr lang="en-US" dirty="0"/>
              <a:t>Sum        1</a:t>
            </a:r>
          </a:p>
          <a:p>
            <a:r>
              <a:rPr lang="en-US" dirty="0" err="1"/>
              <a:t>arrx</a:t>
            </a:r>
            <a:r>
              <a:rPr lang="en-US" dirty="0"/>
              <a:t>          n</a:t>
            </a:r>
          </a:p>
          <a:p>
            <a:r>
              <a:rPr lang="en-US" dirty="0"/>
              <a:t>I                1</a:t>
            </a:r>
          </a:p>
          <a:p>
            <a:r>
              <a:rPr lang="en-US" dirty="0"/>
              <a:t>n               1</a:t>
            </a:r>
          </a:p>
          <a:p>
            <a:r>
              <a:rPr lang="en-US" dirty="0"/>
              <a:t>Total =     3 +n</a:t>
            </a:r>
          </a:p>
          <a:p>
            <a:r>
              <a:rPr lang="en-US" dirty="0"/>
              <a:t>Space complexity = 0(n)</a:t>
            </a:r>
          </a:p>
        </p:txBody>
      </p:sp>
    </p:spTree>
    <p:extLst>
      <p:ext uri="{BB962C8B-B14F-4D97-AF65-F5344CB8AC3E}">
        <p14:creationId xmlns:p14="http://schemas.microsoft.com/office/powerpoint/2010/main" val="3411894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961848" cy="709865"/>
          </a:xfrm>
        </p:spPr>
        <p:txBody>
          <a:bodyPr/>
          <a:lstStyle/>
          <a:p>
            <a:r>
              <a:rPr lang="en-US" dirty="0"/>
              <a:t>How to Calculate Time and space Complexity of 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10" y="2423658"/>
            <a:ext cx="6345260" cy="3530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Example 2; </a:t>
            </a:r>
          </a:p>
          <a:p>
            <a:pPr marL="617220" lvl="2" indent="0">
              <a:lnSpc>
                <a:spcPct val="110000"/>
              </a:lnSpc>
              <a:buNone/>
            </a:pPr>
            <a:r>
              <a:rPr lang="en-US" dirty="0"/>
              <a:t>Sum = 0                   1</a:t>
            </a:r>
          </a:p>
          <a:p>
            <a:pPr marL="617220" lvl="2" indent="0">
              <a:lnSpc>
                <a:spcPct val="110000"/>
              </a:lnSpc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&lt;= n; </a:t>
            </a:r>
            <a:r>
              <a:rPr lang="en-US" dirty="0" err="1"/>
              <a:t>i</a:t>
            </a:r>
            <a:r>
              <a:rPr lang="en-US" dirty="0"/>
              <a:t>++)   1 +  n + 1 + n= 2n + 2</a:t>
            </a:r>
          </a:p>
          <a:p>
            <a:pPr marL="617220" lvl="2" indent="0">
              <a:lnSpc>
                <a:spcPct val="110000"/>
              </a:lnSpc>
              <a:buNone/>
            </a:pPr>
            <a:r>
              <a:rPr lang="en-US" dirty="0"/>
              <a:t>{ </a:t>
            </a:r>
          </a:p>
          <a:p>
            <a:pPr marL="617220" lvl="2" indent="0">
              <a:lnSpc>
                <a:spcPct val="110000"/>
              </a:lnSpc>
              <a:buNone/>
            </a:pPr>
            <a:r>
              <a:rPr lang="en-US" dirty="0"/>
              <a:t>     for (j =1; j &lt;= n; j++)  n*(1+n+1+ n) =n*(2n + 2)= 2n</a:t>
            </a:r>
            <a:r>
              <a:rPr lang="en-US" baseline="30000" dirty="0"/>
              <a:t>2</a:t>
            </a:r>
            <a:r>
              <a:rPr lang="en-US" dirty="0"/>
              <a:t> + 2n</a:t>
            </a:r>
          </a:p>
          <a:p>
            <a:pPr marL="617220" lvl="2" indent="0">
              <a:lnSpc>
                <a:spcPct val="110000"/>
              </a:lnSpc>
              <a:buNone/>
            </a:pPr>
            <a:r>
              <a:rPr lang="en-US" dirty="0"/>
              <a:t>        {</a:t>
            </a:r>
          </a:p>
          <a:p>
            <a:pPr marL="617220" lvl="2" indent="0">
              <a:lnSpc>
                <a:spcPct val="110000"/>
              </a:lnSpc>
              <a:buNone/>
            </a:pPr>
            <a:r>
              <a:rPr lang="en-US" dirty="0"/>
              <a:t>               sum += </a:t>
            </a:r>
            <a:r>
              <a:rPr lang="en-US" dirty="0" err="1"/>
              <a:t>arrx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      n*n= n</a:t>
            </a:r>
            <a:r>
              <a:rPr lang="en-US" baseline="30000" dirty="0"/>
              <a:t>2</a:t>
            </a:r>
          </a:p>
          <a:p>
            <a:pPr marL="617220" lvl="2" indent="0">
              <a:lnSpc>
                <a:spcPct val="110000"/>
              </a:lnSpc>
              <a:buNone/>
            </a:pPr>
            <a:r>
              <a:rPr lang="en-US" dirty="0"/>
              <a:t>          }</a:t>
            </a:r>
          </a:p>
          <a:p>
            <a:pPr marL="617220" lvl="2" indent="0">
              <a:lnSpc>
                <a:spcPct val="110000"/>
              </a:lnSpc>
              <a:buNone/>
            </a:pPr>
            <a:r>
              <a:rPr lang="en-US" dirty="0"/>
              <a:t>}</a:t>
            </a:r>
          </a:p>
          <a:p>
            <a:pPr marL="0" lvl="2" indent="0">
              <a:lnSpc>
                <a:spcPct val="110000"/>
              </a:lnSpc>
              <a:buNone/>
            </a:pPr>
            <a:r>
              <a:rPr lang="en-US" sz="1500" dirty="0"/>
              <a:t>total = 1 + 2n +2 +</a:t>
            </a:r>
            <a:r>
              <a:rPr lang="en-US" dirty="0"/>
              <a:t>2n</a:t>
            </a:r>
            <a:r>
              <a:rPr lang="en-US" baseline="30000" dirty="0"/>
              <a:t>2</a:t>
            </a:r>
            <a:r>
              <a:rPr lang="en-US" dirty="0"/>
              <a:t> + 2n + n</a:t>
            </a:r>
            <a:r>
              <a:rPr lang="en-US" baseline="30000" dirty="0"/>
              <a:t>2</a:t>
            </a:r>
            <a:r>
              <a:rPr lang="en-US" sz="1500" dirty="0"/>
              <a:t>  = 3n</a:t>
            </a:r>
            <a:r>
              <a:rPr lang="en-US" sz="1500" baseline="30000" dirty="0"/>
              <a:t>2</a:t>
            </a:r>
            <a:r>
              <a:rPr lang="en-US" sz="1500" dirty="0"/>
              <a:t> + 4n + 1 = 0(n</a:t>
            </a:r>
            <a:r>
              <a:rPr lang="en-US" sz="1500" baseline="30000" dirty="0"/>
              <a:t>2</a:t>
            </a:r>
            <a:r>
              <a:rPr lang="en-US" sz="1500" dirty="0"/>
              <a:t>)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849010" y="2319518"/>
            <a:ext cx="34394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Space complexity</a:t>
            </a:r>
          </a:p>
          <a:p>
            <a:r>
              <a:rPr lang="en-US" dirty="0"/>
              <a:t>Elements</a:t>
            </a:r>
          </a:p>
          <a:p>
            <a:r>
              <a:rPr lang="en-US" dirty="0"/>
              <a:t>Sum        1</a:t>
            </a:r>
          </a:p>
          <a:p>
            <a:r>
              <a:rPr lang="en-US" dirty="0" err="1"/>
              <a:t>arrx</a:t>
            </a:r>
            <a:r>
              <a:rPr lang="en-US" dirty="0"/>
              <a:t>          n</a:t>
            </a:r>
          </a:p>
          <a:p>
            <a:r>
              <a:rPr lang="en-US" dirty="0"/>
              <a:t>I                1</a:t>
            </a:r>
          </a:p>
          <a:p>
            <a:r>
              <a:rPr lang="en-US" dirty="0"/>
              <a:t>n               1</a:t>
            </a:r>
          </a:p>
          <a:p>
            <a:r>
              <a:rPr lang="en-US" dirty="0"/>
              <a:t>Total =     3 +n</a:t>
            </a:r>
          </a:p>
          <a:p>
            <a:r>
              <a:rPr lang="en-US" dirty="0"/>
              <a:t>Space complexity = 0(n)</a:t>
            </a:r>
          </a:p>
        </p:txBody>
      </p:sp>
    </p:spTree>
    <p:extLst>
      <p:ext uri="{BB962C8B-B14F-4D97-AF65-F5344CB8AC3E}">
        <p14:creationId xmlns:p14="http://schemas.microsoft.com/office/powerpoint/2010/main" val="3953278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Calculate Time Complexity of an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Example 3; </a:t>
                </a:r>
              </a:p>
              <a:p>
                <a:pPr marL="617220" lvl="2" indent="0">
                  <a:lnSpc>
                    <a:spcPct val="110000"/>
                  </a:lnSpc>
                  <a:buNone/>
                </a:pPr>
                <a:r>
                  <a:rPr lang="en-US" dirty="0"/>
                  <a:t>Sum = 0                   1</a:t>
                </a:r>
              </a:p>
              <a:p>
                <a:pPr marL="617220" lvl="2" indent="0">
                  <a:lnSpc>
                    <a:spcPct val="110000"/>
                  </a:lnSpc>
                  <a:buNone/>
                </a:pPr>
                <a:r>
                  <a:rPr lang="en-US" dirty="0"/>
                  <a:t>For(</a:t>
                </a:r>
                <a:r>
                  <a:rPr lang="en-US" dirty="0" err="1"/>
                  <a:t>i</a:t>
                </a:r>
                <a:r>
                  <a:rPr lang="en-US" dirty="0"/>
                  <a:t>=1; </a:t>
                </a:r>
                <a:r>
                  <a:rPr lang="en-US" dirty="0" err="1"/>
                  <a:t>i</a:t>
                </a:r>
                <a:r>
                  <a:rPr lang="en-US" dirty="0"/>
                  <a:t>&lt;= n; </a:t>
                </a:r>
                <a:r>
                  <a:rPr lang="en-US" dirty="0" err="1"/>
                  <a:t>i</a:t>
                </a:r>
                <a:r>
                  <a:rPr lang="en-US" dirty="0"/>
                  <a:t>+=2)   1 +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= n + 1</a:t>
                </a:r>
              </a:p>
              <a:p>
                <a:pPr marL="617220" lvl="2" indent="0">
                  <a:lnSpc>
                    <a:spcPct val="110000"/>
                  </a:lnSpc>
                  <a:buNone/>
                </a:pPr>
                <a:r>
                  <a:rPr lang="en-US" dirty="0"/>
                  <a:t>{</a:t>
                </a:r>
              </a:p>
              <a:p>
                <a:pPr marL="617220" lvl="2" indent="0">
                  <a:lnSpc>
                    <a:spcPct val="110000"/>
                  </a:lnSpc>
                  <a:buNone/>
                </a:pPr>
                <a:r>
                  <a:rPr lang="en-US" dirty="0"/>
                  <a:t>     sum += </a:t>
                </a:r>
                <a:r>
                  <a:rPr lang="en-US" dirty="0" err="1"/>
                  <a:t>arrx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marL="617220" lvl="2" indent="0">
                  <a:lnSpc>
                    <a:spcPct val="110000"/>
                  </a:lnSpc>
                  <a:buNone/>
                </a:pPr>
                <a:r>
                  <a:rPr lang="en-US" dirty="0"/>
                  <a:t>}</a:t>
                </a:r>
              </a:p>
              <a:p>
                <a:pPr marL="617220" lvl="2" indent="0">
                  <a:lnSpc>
                    <a:spcPct val="110000"/>
                  </a:lnSpc>
                  <a:buNone/>
                </a:pPr>
                <a:r>
                  <a:rPr lang="en-US" dirty="0"/>
                  <a:t> total = 1 + n +1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= n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+ 2 = 0(n)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88" t="-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391810" y="2489200"/>
            <a:ext cx="34394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Space complexity</a:t>
            </a:r>
          </a:p>
          <a:p>
            <a:r>
              <a:rPr lang="en-US" dirty="0"/>
              <a:t>Elements</a:t>
            </a:r>
          </a:p>
          <a:p>
            <a:r>
              <a:rPr lang="en-US" dirty="0"/>
              <a:t>Sum        1</a:t>
            </a:r>
          </a:p>
          <a:p>
            <a:r>
              <a:rPr lang="en-US" dirty="0" err="1"/>
              <a:t>arrx</a:t>
            </a:r>
            <a:r>
              <a:rPr lang="en-US" dirty="0"/>
              <a:t>          n</a:t>
            </a:r>
          </a:p>
          <a:p>
            <a:r>
              <a:rPr lang="en-US" dirty="0"/>
              <a:t>I                1</a:t>
            </a:r>
          </a:p>
          <a:p>
            <a:r>
              <a:rPr lang="en-US" dirty="0"/>
              <a:t>n               1</a:t>
            </a:r>
          </a:p>
          <a:p>
            <a:r>
              <a:rPr lang="en-US" dirty="0"/>
              <a:t>Total =     3 +n</a:t>
            </a:r>
          </a:p>
          <a:p>
            <a:r>
              <a:rPr lang="en-US" dirty="0"/>
              <a:t>Space complexity = 0(n)</a:t>
            </a:r>
          </a:p>
        </p:txBody>
      </p:sp>
    </p:spTree>
    <p:extLst>
      <p:ext uri="{BB962C8B-B14F-4D97-AF65-F5344CB8AC3E}">
        <p14:creationId xmlns:p14="http://schemas.microsoft.com/office/powerpoint/2010/main" val="992731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Calculate Time Complexity of an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Example 4; </a:t>
                </a:r>
              </a:p>
              <a:p>
                <a:pPr marL="617220" lvl="2" indent="0">
                  <a:lnSpc>
                    <a:spcPct val="110000"/>
                  </a:lnSpc>
                  <a:buNone/>
                </a:pPr>
                <a:r>
                  <a:rPr lang="en-US" dirty="0"/>
                  <a:t>Sum = 0                   1</a:t>
                </a:r>
              </a:p>
              <a:p>
                <a:pPr marL="617220" lvl="2" indent="0">
                  <a:lnSpc>
                    <a:spcPct val="110000"/>
                  </a:lnSpc>
                  <a:buNone/>
                </a:pPr>
                <a:r>
                  <a:rPr lang="en-US" dirty="0"/>
                  <a:t>For(</a:t>
                </a:r>
                <a:r>
                  <a:rPr lang="en-US" dirty="0" err="1"/>
                  <a:t>i</a:t>
                </a:r>
                <a:r>
                  <a:rPr lang="en-US" dirty="0"/>
                  <a:t>=1; </a:t>
                </a:r>
                <a:r>
                  <a:rPr lang="en-US" dirty="0" err="1"/>
                  <a:t>i</a:t>
                </a:r>
                <a:r>
                  <a:rPr lang="en-US" dirty="0"/>
                  <a:t>&lt;= n; I *=2)   1 +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marL="617220" lvl="2" indent="0">
                  <a:lnSpc>
                    <a:spcPct val="110000"/>
                  </a:lnSpc>
                  <a:buNone/>
                </a:pPr>
                <a:r>
                  <a:rPr lang="en-US" dirty="0"/>
                  <a:t>{</a:t>
                </a:r>
              </a:p>
              <a:p>
                <a:pPr marL="617220" lvl="2" indent="0">
                  <a:lnSpc>
                    <a:spcPct val="110000"/>
                  </a:lnSpc>
                  <a:buNone/>
                </a:pPr>
                <a:r>
                  <a:rPr lang="en-US" dirty="0"/>
                  <a:t>     sum += </a:t>
                </a:r>
                <a:r>
                  <a:rPr lang="en-US" dirty="0" err="1"/>
                  <a:t>arrx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dirty="0"/>
              </a:p>
              <a:p>
                <a:pPr marL="617220" lvl="2" indent="0">
                  <a:lnSpc>
                    <a:spcPct val="110000"/>
                  </a:lnSpc>
                  <a:buNone/>
                </a:pPr>
                <a:r>
                  <a:rPr lang="en-US" dirty="0"/>
                  <a:t>}</a:t>
                </a:r>
              </a:p>
              <a:p>
                <a:pPr marL="617220" lvl="2" indent="0">
                  <a:lnSpc>
                    <a:spcPct val="110000"/>
                  </a:lnSpc>
                  <a:buNone/>
                </a:pPr>
                <a:r>
                  <a:rPr lang="en-US" dirty="0"/>
                  <a:t> total = 1 + 1 +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dirty="0"/>
                  <a:t>= 2 +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nor/>
                          </m:rPr>
                          <a:rPr lang="en-US" dirty="0"/>
                          <m:t>+ 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  <m:r>
                          <m:rPr>
                            <m:nor/>
                          </m:rPr>
                          <a:rPr lang="en-US" dirty="0"/>
                          <m:t>+ 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dirty="0"/>
                  <a:t>  = 3 + 3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= 0(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88" t="-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849010" y="2319518"/>
            <a:ext cx="34394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Space complexity</a:t>
            </a:r>
          </a:p>
          <a:p>
            <a:r>
              <a:rPr lang="en-US" dirty="0"/>
              <a:t>Elements</a:t>
            </a:r>
          </a:p>
          <a:p>
            <a:r>
              <a:rPr lang="en-US" dirty="0"/>
              <a:t>Sum        1</a:t>
            </a:r>
          </a:p>
          <a:p>
            <a:r>
              <a:rPr lang="en-US" dirty="0" err="1"/>
              <a:t>arrx</a:t>
            </a:r>
            <a:r>
              <a:rPr lang="en-US" dirty="0"/>
              <a:t>          n</a:t>
            </a:r>
          </a:p>
          <a:p>
            <a:r>
              <a:rPr lang="en-US" dirty="0"/>
              <a:t>I                1</a:t>
            </a:r>
          </a:p>
          <a:p>
            <a:r>
              <a:rPr lang="en-US" dirty="0"/>
              <a:t>n               1</a:t>
            </a:r>
          </a:p>
          <a:p>
            <a:r>
              <a:rPr lang="en-US" dirty="0"/>
              <a:t>Total =     3 +n</a:t>
            </a:r>
          </a:p>
          <a:p>
            <a:r>
              <a:rPr lang="en-US" dirty="0"/>
              <a:t>Space complexity = 0(n)</a:t>
            </a:r>
          </a:p>
        </p:txBody>
      </p:sp>
    </p:spTree>
    <p:extLst>
      <p:ext uri="{BB962C8B-B14F-4D97-AF65-F5344CB8AC3E}">
        <p14:creationId xmlns:p14="http://schemas.microsoft.com/office/powerpoint/2010/main" val="2087557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Time-Space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489200"/>
            <a:ext cx="9070848" cy="4185920"/>
          </a:xfrm>
        </p:spPr>
        <p:txBody>
          <a:bodyPr>
            <a:normAutofit/>
          </a:bodyPr>
          <a:lstStyle/>
          <a:p>
            <a:r>
              <a:rPr lang="en-US" dirty="0"/>
              <a:t>Definition: A </a:t>
            </a:r>
            <a:r>
              <a:rPr lang="en-US" b="1" dirty="0"/>
              <a:t>time-space trade-off</a:t>
            </a:r>
            <a:r>
              <a:rPr lang="en-US" dirty="0"/>
              <a:t> refers to the relationship between the </a:t>
            </a:r>
            <a:r>
              <a:rPr lang="en-US" b="1" dirty="0"/>
              <a:t>execution time</a:t>
            </a:r>
            <a:r>
              <a:rPr lang="en-US" dirty="0"/>
              <a:t> and </a:t>
            </a:r>
            <a:r>
              <a:rPr lang="en-US" b="1" dirty="0"/>
              <a:t>memory space</a:t>
            </a:r>
            <a:r>
              <a:rPr lang="en-US" dirty="0"/>
              <a:t> used by an algorithm. </a:t>
            </a:r>
          </a:p>
          <a:p>
            <a:pPr lvl="1"/>
            <a:r>
              <a:rPr lang="en-US" dirty="0"/>
              <a:t>Sometimes we can make an algorithm run faster by using </a:t>
            </a:r>
            <a:r>
              <a:rPr lang="en-US" b="1" dirty="0"/>
              <a:t>more memory</a:t>
            </a:r>
            <a:r>
              <a:rPr lang="en-US" dirty="0"/>
              <a:t> (</a:t>
            </a:r>
            <a:r>
              <a:rPr lang="en-US" dirty="0" err="1"/>
              <a:t>precomputed</a:t>
            </a:r>
            <a:r>
              <a:rPr lang="en-US" dirty="0"/>
              <a:t> data)</a:t>
            </a:r>
          </a:p>
          <a:p>
            <a:pPr lvl="1"/>
            <a:r>
              <a:rPr lang="en-US" dirty="0"/>
              <a:t>Alternatively, we can use </a:t>
            </a:r>
            <a:r>
              <a:rPr lang="en-US" b="1" dirty="0"/>
              <a:t>less memory</a:t>
            </a:r>
            <a:r>
              <a:rPr lang="en-US" dirty="0"/>
              <a:t> at the cost of </a:t>
            </a:r>
            <a:r>
              <a:rPr lang="en-US" b="1" dirty="0"/>
              <a:t>slower execution</a:t>
            </a:r>
            <a:endParaRPr dirty="0"/>
          </a:p>
          <a:p>
            <a:r>
              <a:rPr dirty="0"/>
              <a:t>Example</a:t>
            </a:r>
            <a:r>
              <a:rPr lang="en-US" dirty="0"/>
              <a:t> 1</a:t>
            </a:r>
            <a:r>
              <a:rPr dirty="0"/>
              <a:t>: Lookup Tables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r>
              <a:rPr dirty="0"/>
              <a:t>Compute every time → High Time, Low Space</a:t>
            </a:r>
          </a:p>
          <a:p>
            <a:r>
              <a:rPr dirty="0"/>
              <a:t>Pre</a:t>
            </a:r>
            <a:r>
              <a:rPr lang="en-US" dirty="0"/>
              <a:t>-</a:t>
            </a:r>
            <a:r>
              <a:rPr dirty="0"/>
              <a:t>compute → Low Time, High Space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095610"/>
              </p:ext>
            </p:extLst>
          </p:nvPr>
        </p:nvGraphicFramePr>
        <p:xfrm>
          <a:off x="463296" y="4555744"/>
          <a:ext cx="6096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5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Approach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Time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Space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/>
                        <a:t>Compute when needed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dirty="0" err="1"/>
                        <a:t>Precompute</a:t>
                      </a:r>
                      <a:r>
                        <a:rPr lang="en-US" dirty="0"/>
                        <a:t> &amp; store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Time-Space Trade-offs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xfrm>
            <a:off x="0" y="2489200"/>
            <a:ext cx="9034272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Example2: Fibonacci series using Recursive and dynamic programming methods</a:t>
            </a:r>
          </a:p>
          <a:p>
            <a:pPr lvl="1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Recursive function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calls itself twice for each value of 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</a:rPr>
              <a:t>n in the series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2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This leads to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exponential time complexity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O(2ⁿ)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lvl="2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Simple but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inefficient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for large 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</a:rPr>
              <a:t>n</a:t>
            </a:r>
            <a:r>
              <a:rPr lang="en-US" sz="2000" dirty="0">
                <a:solidFill>
                  <a:schemeClr val="tx1"/>
                </a:solidFill>
              </a:rPr>
              <a:t> due to repeated recalculation.</a:t>
            </a:r>
            <a:endParaRPr lang="en-US" sz="2000" b="1" dirty="0"/>
          </a:p>
          <a:p>
            <a:pPr lvl="1"/>
            <a:r>
              <a:rPr lang="en-US" sz="2000" b="1" dirty="0"/>
              <a:t>Dynamic programing </a:t>
            </a:r>
            <a:r>
              <a:rPr lang="en-US" sz="2000" dirty="0"/>
              <a:t>stores (or "memorize") intermediate Fibonacci results so that each term is computed only once.</a:t>
            </a:r>
          </a:p>
          <a:p>
            <a:pPr lvl="2"/>
            <a:r>
              <a:rPr lang="en-US" sz="1800" dirty="0"/>
              <a:t>Using </a:t>
            </a:r>
            <a:r>
              <a:rPr lang="en-US" sz="1800" b="1" dirty="0"/>
              <a:t>extra memory</a:t>
            </a:r>
            <a:r>
              <a:rPr lang="en-US" sz="1800" dirty="0"/>
              <a:t> to store intermediate results (memorization) greatly reduces computation time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93293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Time-Space Trade-offs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0" y="1799608"/>
            <a:ext cx="3633502" cy="759290"/>
          </a:xfrm>
        </p:spPr>
        <p:txBody>
          <a:bodyPr/>
          <a:lstStyle/>
          <a:p>
            <a:r>
              <a:rPr lang="en-US" dirty="0"/>
              <a:t>Recursive method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>
          <a:xfrm>
            <a:off x="4366261" y="1871961"/>
            <a:ext cx="5518403" cy="756635"/>
          </a:xfrm>
        </p:spPr>
        <p:txBody>
          <a:bodyPr/>
          <a:lstStyle/>
          <a:p>
            <a:r>
              <a:rPr lang="en-US" dirty="0"/>
              <a:t>Dynamic Programming Method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2"/>
          </p:nvPr>
        </p:nvSpPr>
        <p:spPr>
          <a:xfrm>
            <a:off x="0" y="2454860"/>
            <a:ext cx="5349240" cy="1990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FIB-RECUR(n)</a:t>
            </a:r>
          </a:p>
          <a:p>
            <a:pPr marL="0" indent="0">
              <a:buNone/>
            </a:pPr>
            <a:r>
              <a:rPr lang="en-US" dirty="0"/>
              <a:t>1. if n &lt;= 1 then</a:t>
            </a:r>
          </a:p>
          <a:p>
            <a:pPr marL="0" indent="0">
              <a:buNone/>
            </a:pPr>
            <a:r>
              <a:rPr lang="en-US" dirty="0"/>
              <a:t>2.     return n</a:t>
            </a:r>
          </a:p>
          <a:p>
            <a:pPr marL="0" indent="0">
              <a:buNone/>
            </a:pPr>
            <a:r>
              <a:rPr lang="en-US" dirty="0"/>
              <a:t>3. else</a:t>
            </a:r>
          </a:p>
          <a:p>
            <a:pPr marL="0" indent="0">
              <a:buNone/>
            </a:pPr>
            <a:r>
              <a:rPr lang="en-US" dirty="0"/>
              <a:t>4.     return FIB-RECUR(n - 1) + FIB-RECUR(n - 2)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4"/>
          </p:nvPr>
        </p:nvSpPr>
        <p:spPr>
          <a:xfrm>
            <a:off x="5393210" y="2558898"/>
            <a:ext cx="3636980" cy="277396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US" dirty="0"/>
              <a:t>FIB-DP(n)</a:t>
            </a:r>
          </a:p>
          <a:p>
            <a:pPr marL="0" indent="0">
              <a:buNone/>
            </a:pPr>
            <a:r>
              <a:rPr lang="en-US" dirty="0"/>
              <a:t>1. create array F[0..n]</a:t>
            </a:r>
          </a:p>
          <a:p>
            <a:pPr marL="0" indent="0">
              <a:buNone/>
            </a:pPr>
            <a:r>
              <a:rPr lang="en-US" dirty="0"/>
              <a:t>2. F[0] ← 0</a:t>
            </a:r>
          </a:p>
          <a:p>
            <a:pPr marL="0" indent="0">
              <a:buNone/>
            </a:pPr>
            <a:r>
              <a:rPr lang="en-US" dirty="0"/>
              <a:t>3. F[1] ← 1</a:t>
            </a:r>
          </a:p>
          <a:p>
            <a:pPr marL="0" indent="0">
              <a:buNone/>
            </a:pPr>
            <a:r>
              <a:rPr lang="en-US" dirty="0"/>
              <a:t>4. for </a:t>
            </a:r>
            <a:r>
              <a:rPr lang="en-US" dirty="0" err="1"/>
              <a:t>i</a:t>
            </a:r>
            <a:r>
              <a:rPr lang="en-US" dirty="0"/>
              <a:t> ← 2 to n do</a:t>
            </a:r>
          </a:p>
          <a:p>
            <a:pPr marL="0" indent="0">
              <a:buNone/>
            </a:pPr>
            <a:r>
              <a:rPr lang="en-US" dirty="0"/>
              <a:t>5.     F[</a:t>
            </a:r>
            <a:r>
              <a:rPr lang="en-US" dirty="0" err="1"/>
              <a:t>i</a:t>
            </a:r>
            <a:r>
              <a:rPr lang="en-US" dirty="0"/>
              <a:t>] ← F[</a:t>
            </a:r>
            <a:r>
              <a:rPr lang="en-US" dirty="0" err="1"/>
              <a:t>i</a:t>
            </a:r>
            <a:r>
              <a:rPr lang="en-US" dirty="0"/>
              <a:t> - 1] + F[</a:t>
            </a:r>
            <a:r>
              <a:rPr lang="en-US" dirty="0" err="1"/>
              <a:t>i</a:t>
            </a:r>
            <a:r>
              <a:rPr lang="en-US" dirty="0"/>
              <a:t> - 2]</a:t>
            </a:r>
          </a:p>
          <a:p>
            <a:pPr marL="0" indent="0">
              <a:buNone/>
            </a:pPr>
            <a:r>
              <a:rPr lang="en-US" dirty="0"/>
              <a:t>6. return F[n]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301110"/>
              </p:ext>
            </p:extLst>
          </p:nvPr>
        </p:nvGraphicFramePr>
        <p:xfrm>
          <a:off x="545592" y="5466977"/>
          <a:ext cx="7793736" cy="147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4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7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5420">
                <a:tc gridSpan="3">
                  <a:txBody>
                    <a:bodyPr/>
                    <a:lstStyle/>
                    <a:p>
                      <a:r>
                        <a:rPr lang="en-US" b="1" dirty="0"/>
                        <a:t>Comparison of Recursive and Dynamic Programming methods</a:t>
                      </a:r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b="1" dirty="0"/>
                        <a:t>Method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Time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Space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Recursive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O(2ⁿ)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Dynamic Programming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1084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Method of Fibonacci Algorithm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1"/>
              <p:cNvSpPr>
                <a:spLocks noGrp="1" noChangeArrowheads="1"/>
              </p:cNvSpPr>
              <p:nvPr>
                <p:ph sz="half" idx="2"/>
              </p:nvPr>
            </p:nvSpPr>
            <p:spPr bwMode="auto">
              <a:xfrm>
                <a:off x="272209" y="2118957"/>
                <a:ext cx="5296252" cy="39959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Each call to </a:t>
                </a:r>
                <a:r>
                  <a:rPr lang="en-US" sz="1200" dirty="0">
                    <a:solidFill>
                      <a:schemeClr val="tx1"/>
                    </a:solidFill>
                    <a:latin typeface="Arial Unicode MS" panose="020B0604020202020204" pitchFamily="34" charset="-128"/>
                  </a:rPr>
                  <a:t>FIB-RECUR(n)</a:t>
                </a:r>
                <a:r>
                  <a:rPr lang="en-US" sz="1200" dirty="0">
                    <a:solidFill>
                      <a:schemeClr val="tx1"/>
                    </a:solidFill>
                  </a:rPr>
                  <a:t> makes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two recursive calls</a:t>
                </a:r>
              </a:p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This creates a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binary recursion tree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, where each node spawns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two new calls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, except at the base cases (</a:t>
                </a:r>
                <a:r>
                  <a:rPr lang="en-US" sz="800" dirty="0">
                    <a:solidFill>
                      <a:schemeClr val="tx1"/>
                    </a:solidFill>
                    <a:latin typeface="Arial Unicode MS" panose="020B0604020202020204" pitchFamily="34" charset="-128"/>
                  </a:rPr>
                  <a:t>n = 0</a:t>
                </a:r>
                <a:r>
                  <a:rPr lang="en-US" sz="300" dirty="0">
                    <a:solidFill>
                      <a:schemeClr val="tx1"/>
                    </a:solidFill>
                  </a:rPr>
                  <a:t> or </a:t>
                </a:r>
                <a:r>
                  <a:rPr lang="en-US" sz="800" dirty="0">
                    <a:solidFill>
                      <a:schemeClr val="tx1"/>
                    </a:solidFill>
                    <a:latin typeface="Arial Unicode MS" panose="020B0604020202020204" pitchFamily="34" charset="-128"/>
                  </a:rPr>
                  <a:t>n = 1</a:t>
                </a:r>
                <a:r>
                  <a:rPr lang="en-US" sz="300" dirty="0">
                    <a:solidFill>
                      <a:schemeClr val="tx1"/>
                    </a:solidFill>
                  </a:rPr>
                  <a:t>). </a:t>
                </a:r>
              </a:p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:r>
                  <a:rPr lang="en-US" sz="1200" dirty="0"/>
                  <a:t>Notice how </a:t>
                </a:r>
                <a:r>
                  <a:rPr lang="en-US" sz="1200" b="1" dirty="0"/>
                  <a:t>FIB(3)</a:t>
                </a:r>
                <a:r>
                  <a:rPr lang="en-US" sz="1200" dirty="0"/>
                  <a:t> and </a:t>
                </a:r>
                <a:r>
                  <a:rPr lang="en-US" sz="1200" b="1" dirty="0"/>
                  <a:t>FIB(2)</a:t>
                </a:r>
                <a:r>
                  <a:rPr lang="en-US" sz="1200" dirty="0"/>
                  <a:t> are recomputed </a:t>
                </a:r>
                <a:r>
                  <a:rPr lang="en-US" sz="1200" b="1" dirty="0"/>
                  <a:t>many times</a:t>
                </a:r>
                <a:r>
                  <a:rPr lang="en-US" sz="1200" dirty="0"/>
                  <a:t> — this redundancy is what causes the exponential growth in time.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:r>
                  <a:rPr lang="en-US" sz="1200" dirty="0"/>
                  <a:t>From the </a:t>
                </a:r>
                <a:r>
                  <a:rPr lang="en-US" sz="1200" dirty="0" err="1"/>
                  <a:t>pseudocode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+0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200" b="0" dirty="0"/>
                  <a:t> 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(The </a:t>
                </a:r>
                <a:r>
                  <a:rPr lang="en-US" sz="1200" dirty="0">
                    <a:solidFill>
                      <a:schemeClr val="tx1"/>
                    </a:solidFill>
                    <a:latin typeface="Arial Unicode MS" panose="020B0604020202020204" pitchFamily="34" charset="-128"/>
                  </a:rPr>
                  <a:t>+ O(1)</a:t>
                </a:r>
                <a:r>
                  <a:rPr lang="en-US" sz="1200" dirty="0">
                    <a:solidFill>
                      <a:schemeClr val="tx1"/>
                    </a:solidFill>
                  </a:rPr>
                  <a:t> accounts for the addition and the if-statement.) 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Analysis:</a:t>
                </a:r>
              </a:p>
              <a:p>
                <a:pPr lvl="1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Each call branches into </a:t>
                </a:r>
                <a:r>
                  <a:rPr lang="en-US" sz="1000" b="1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two</a:t>
                </a:r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new calls.</a:t>
                </a:r>
              </a:p>
              <a:p>
                <a:pPr lvl="1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The height of the recursion tree is </a:t>
                </a:r>
                <a:r>
                  <a:rPr lang="en-US" sz="1000" b="1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n</a:t>
                </a:r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.</a:t>
                </a:r>
              </a:p>
              <a:p>
                <a:pPr lvl="1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The total number of nodes ≈ </a:t>
                </a:r>
                <a:r>
                  <a:rPr lang="en-US" sz="1000" b="1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2ⁿ</a:t>
                </a:r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.</a:t>
                </a:r>
              </a:p>
              <a:p>
                <a:pPr lvl="1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:r>
                  <a:rPr lang="en-US" sz="1000" b="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The time complexity is  0(2</a:t>
                </a:r>
                <a:r>
                  <a:rPr lang="en-US" sz="1000" b="0" baseline="300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n</a:t>
                </a:r>
                <a:r>
                  <a:rPr lang="en-US" sz="1000" b="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)</a:t>
                </a:r>
                <a:endParaRPr lang="en-US" sz="1200" b="0" dirty="0"/>
              </a:p>
              <a:p>
                <a:r>
                  <a:rPr lang="en-US" sz="1200" b="1" dirty="0"/>
                  <a:t>Space Complexity Analysis</a:t>
                </a:r>
              </a:p>
              <a:p>
                <a:pPr lvl="1"/>
                <a:r>
                  <a:rPr lang="en-US" sz="1000" dirty="0"/>
                  <a:t>The algorithm does not store intermediate results (no </a:t>
                </a:r>
                <a:r>
                  <a:rPr lang="en-US" sz="1000" dirty="0" err="1"/>
                  <a:t>memoization</a:t>
                </a:r>
                <a:r>
                  <a:rPr lang="en-US" sz="1000" dirty="0"/>
                  <a:t>),</a:t>
                </a:r>
                <a:br>
                  <a:rPr lang="en-US" sz="1000" dirty="0"/>
                </a:br>
                <a:r>
                  <a:rPr lang="en-US" sz="1000" dirty="0"/>
                  <a:t>but recursive calls </a:t>
                </a:r>
                <a:r>
                  <a:rPr lang="en-US" sz="1000" b="1" dirty="0"/>
                  <a:t>consume stack space</a:t>
                </a:r>
                <a:r>
                  <a:rPr lang="en-US" sz="1000" dirty="0"/>
                  <a:t>.</a:t>
                </a:r>
              </a:p>
              <a:p>
                <a:pPr lvl="1"/>
                <a:r>
                  <a:rPr lang="en-US" sz="1000" dirty="0"/>
                  <a:t>Each recursive call adds one level to the call stack.</a:t>
                </a:r>
              </a:p>
              <a:p>
                <a:pPr lvl="1"/>
                <a:r>
                  <a:rPr lang="en-US" sz="1000" dirty="0"/>
                  <a:t>The maximum recursion depth = </a:t>
                </a:r>
                <a:r>
                  <a:rPr lang="en-US" sz="1000" b="1" dirty="0"/>
                  <a:t>n</a:t>
                </a:r>
                <a:r>
                  <a:rPr lang="en-US" sz="1000" dirty="0"/>
                  <a:t>.</a:t>
                </a:r>
              </a:p>
              <a:p>
                <a:pPr lvl="1"/>
                <a:r>
                  <a:rPr lang="en-US" sz="1000" dirty="0"/>
                  <a:t>✅ </a:t>
                </a:r>
                <a:r>
                  <a:rPr lang="en-US" sz="1000" b="1" dirty="0"/>
                  <a:t>Space Complexity = O(n)</a:t>
                </a:r>
                <a:r>
                  <a:rPr lang="en-US" sz="1000" dirty="0"/>
                  <a:t> (for the recursion stack)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Rectang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272209" y="2118957"/>
                <a:ext cx="5296252" cy="3995966"/>
              </a:xfrm>
              <a:prstGeom prst="rect">
                <a:avLst/>
              </a:prstGeom>
              <a:blipFill rotWithShape="0">
                <a:blip r:embed="rId2"/>
                <a:stretch>
                  <a:fillRect r="-34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6051799" y="2118957"/>
            <a:ext cx="3636980" cy="398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800" dirty="0"/>
              <a:t>Example: Execution Tree for n = 5</a:t>
            </a:r>
          </a:p>
          <a:p>
            <a:pPr marL="0" indent="0">
              <a:buNone/>
            </a:pPr>
            <a:r>
              <a:rPr lang="en-US" sz="800" dirty="0"/>
              <a:t>FIB(5)</a:t>
            </a:r>
          </a:p>
          <a:p>
            <a:pPr marL="0" indent="0">
              <a:buNone/>
            </a:pPr>
            <a:r>
              <a:rPr lang="en-US" sz="800" dirty="0"/>
              <a:t>├── FIB(4)</a:t>
            </a:r>
          </a:p>
          <a:p>
            <a:pPr marL="0" indent="0">
              <a:buNone/>
            </a:pPr>
            <a:r>
              <a:rPr lang="en-US" sz="800" dirty="0"/>
              <a:t>│   ├── FIB(3)</a:t>
            </a:r>
          </a:p>
          <a:p>
            <a:pPr marL="0" indent="0">
              <a:buNone/>
            </a:pPr>
            <a:r>
              <a:rPr lang="en-US" sz="800" dirty="0"/>
              <a:t>│   │   ├── FIB(2)</a:t>
            </a:r>
          </a:p>
          <a:p>
            <a:pPr marL="0" indent="0">
              <a:buNone/>
            </a:pPr>
            <a:r>
              <a:rPr lang="en-US" sz="800" dirty="0"/>
              <a:t>│   │   │   ├── FIB(1)</a:t>
            </a:r>
          </a:p>
          <a:p>
            <a:pPr marL="0" indent="0">
              <a:buNone/>
            </a:pPr>
            <a:r>
              <a:rPr lang="en-US" sz="800" dirty="0"/>
              <a:t>│   │   │   └── FIB(0)</a:t>
            </a:r>
          </a:p>
          <a:p>
            <a:pPr marL="0" indent="0">
              <a:buNone/>
            </a:pPr>
            <a:r>
              <a:rPr lang="en-US" sz="800" dirty="0"/>
              <a:t>│   │   └── FIB(1)</a:t>
            </a:r>
          </a:p>
          <a:p>
            <a:pPr marL="0" indent="0">
              <a:buNone/>
            </a:pPr>
            <a:r>
              <a:rPr lang="en-US" sz="800" dirty="0"/>
              <a:t>│   └── FIB(2)</a:t>
            </a:r>
          </a:p>
          <a:p>
            <a:pPr marL="0" indent="0">
              <a:buNone/>
            </a:pPr>
            <a:r>
              <a:rPr lang="en-US" sz="800" dirty="0"/>
              <a:t>│       ├── FIB(1)</a:t>
            </a:r>
          </a:p>
          <a:p>
            <a:pPr marL="0" indent="0">
              <a:buNone/>
            </a:pPr>
            <a:r>
              <a:rPr lang="en-US" sz="800" dirty="0"/>
              <a:t>│       └── FIB(0)</a:t>
            </a:r>
          </a:p>
          <a:p>
            <a:pPr marL="0" indent="0">
              <a:buNone/>
            </a:pPr>
            <a:r>
              <a:rPr lang="en-US" sz="800" dirty="0"/>
              <a:t>└── FIB(3)</a:t>
            </a:r>
          </a:p>
          <a:p>
            <a:pPr marL="0" indent="0">
              <a:buNone/>
            </a:pPr>
            <a:r>
              <a:rPr lang="en-US" sz="800" dirty="0"/>
              <a:t>    ├── FIB(2)</a:t>
            </a:r>
          </a:p>
          <a:p>
            <a:pPr marL="0" indent="0">
              <a:buNone/>
            </a:pPr>
            <a:r>
              <a:rPr lang="en-US" sz="800" dirty="0"/>
              <a:t>    │   ├── FIB(1)</a:t>
            </a:r>
          </a:p>
          <a:p>
            <a:pPr marL="0" indent="0">
              <a:buNone/>
            </a:pPr>
            <a:r>
              <a:rPr lang="en-US" sz="800" dirty="0"/>
              <a:t>    │   └── FIB(0)</a:t>
            </a:r>
          </a:p>
          <a:p>
            <a:pPr marL="0" indent="0">
              <a:buNone/>
            </a:pPr>
            <a:r>
              <a:rPr lang="en-US" sz="800" dirty="0"/>
              <a:t>    └── FIB(1)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819548" y="3757246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7651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Programming Method of Fibonacci Algorithm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sz="half" idx="2"/>
              </p:nvPr>
            </p:nvSpPr>
            <p:spPr>
              <a:xfrm>
                <a:off x="-41031" y="2275475"/>
                <a:ext cx="4503420" cy="453563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This algorithm computes Fibonacci numbers </a:t>
                </a:r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iteratively</a:t>
                </a: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, storing previously computed values in an array </a:t>
                </a:r>
                <a:r>
                  <a:rPr lang="en-US" sz="1000" dirty="0">
                    <a:solidFill>
                      <a:schemeClr val="tx1"/>
                    </a:solidFill>
                    <a:latin typeface="Arial Unicode MS" panose="020B0604020202020204" pitchFamily="34" charset="-128"/>
                  </a:rPr>
                  <a:t>F</a:t>
                </a:r>
              </a:p>
              <a:p>
                <a:pPr lvl="1"/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Each Fibonacci number </a:t>
                </a:r>
                <a:r>
                  <a:rPr lang="en-US" sz="1400" dirty="0">
                    <a:solidFill>
                      <a:schemeClr val="tx1"/>
                    </a:solidFill>
                    <a:latin typeface="Arial Unicode MS" panose="020B0604020202020204" pitchFamily="34" charset="-128"/>
                  </a:rPr>
                  <a:t>F[</a:t>
                </a:r>
                <a:r>
                  <a:rPr lang="en-US" sz="1400" dirty="0" err="1">
                    <a:solidFill>
                      <a:schemeClr val="tx1"/>
                    </a:solidFill>
                    <a:latin typeface="Arial Unicode MS" panose="020B0604020202020204" pitchFamily="34" charset="-128"/>
                  </a:rPr>
                  <a:t>i</a:t>
                </a:r>
                <a:r>
                  <a:rPr lang="en-US" sz="1400" dirty="0">
                    <a:solidFill>
                      <a:schemeClr val="tx1"/>
                    </a:solidFill>
                    <a:latin typeface="Arial Unicode MS" panose="020B0604020202020204" pitchFamily="34" charset="-128"/>
                  </a:rPr>
                  <a:t>]</a:t>
                </a:r>
                <a:r>
                  <a:rPr lang="en-US" sz="1400" dirty="0">
                    <a:solidFill>
                      <a:schemeClr val="tx1"/>
                    </a:solidFill>
                  </a:rPr>
                  <a:t> is computed once</a:t>
                </a:r>
              </a:p>
              <a:p>
                <a:pPr lvl="1"/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Each computation uses </a:t>
                </a:r>
                <a:r>
                  <a:rPr lang="en-US" sz="1400" b="1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constant time O(1)</a:t>
                </a:r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(simple addition and assignment).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Time complexity:</a:t>
                </a:r>
              </a:p>
              <a:p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−1)=0(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endParaRPr lang="en-US" sz="1000" dirty="0">
                  <a:solidFill>
                    <a:schemeClr val="tx1"/>
                  </a:solidFill>
                  <a:latin typeface="Arial Unicode MS" panose="020B0604020202020204" pitchFamily="34" charset="-128"/>
                </a:endParaRP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sz="10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endParaRPr lang="en-US" sz="1000" dirty="0">
                  <a:solidFill>
                    <a:schemeClr val="tx1"/>
                  </a:solidFill>
                  <a:latin typeface="Arial Unicode MS" panose="020B0604020202020204" pitchFamily="34" charset="-128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-41031" y="2275475"/>
                <a:ext cx="4503420" cy="4535633"/>
              </a:xfrm>
              <a:blipFill rotWithShape="0">
                <a:blip r:embed="rId2"/>
                <a:stretch>
                  <a:fillRect l="-271" t="-1210" r="-1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980783"/>
              </p:ext>
            </p:extLst>
          </p:nvPr>
        </p:nvGraphicFramePr>
        <p:xfrm>
          <a:off x="367519" y="4826000"/>
          <a:ext cx="345244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88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Line</a:t>
                      </a:r>
                    </a:p>
                  </a:txBody>
                  <a:tcPr marL="52398" marR="52398" marT="26199" marB="26199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Operation</a:t>
                      </a:r>
                    </a:p>
                  </a:txBody>
                  <a:tcPr marL="52398" marR="52398" marT="26199" marB="26199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Cost</a:t>
                      </a:r>
                    </a:p>
                  </a:txBody>
                  <a:tcPr marL="52398" marR="52398" marT="26199" marB="26199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Number of Executions</a:t>
                      </a:r>
                    </a:p>
                  </a:txBody>
                  <a:tcPr marL="52398" marR="52398" marT="26199" marB="2619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 marL="52398" marR="52398" marT="26199" marB="26199"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Create array</a:t>
                      </a:r>
                    </a:p>
                  </a:txBody>
                  <a:tcPr marL="52398" marR="52398" marT="26199" marB="26199"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O(n)</a:t>
                      </a:r>
                    </a:p>
                  </a:txBody>
                  <a:tcPr marL="52398" marR="52398" marT="26199" marB="26199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 marL="52398" marR="52398" marT="26199" marB="2619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/>
                        <a:t>2–3</a:t>
                      </a:r>
                    </a:p>
                  </a:txBody>
                  <a:tcPr marL="52398" marR="52398" marT="26199" marB="26199"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Assign base cases</a:t>
                      </a:r>
                    </a:p>
                  </a:txBody>
                  <a:tcPr marL="52398" marR="52398" marT="26199" marB="26199"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O(1)</a:t>
                      </a:r>
                    </a:p>
                  </a:txBody>
                  <a:tcPr marL="52398" marR="52398" marT="26199" marB="26199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 marL="52398" marR="52398" marT="26199" marB="2619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/>
                        <a:t>4–5</a:t>
                      </a:r>
                    </a:p>
                  </a:txBody>
                  <a:tcPr marL="52398" marR="52398" marT="26199" marB="26199"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Loop from 2 to n</a:t>
                      </a:r>
                    </a:p>
                  </a:txBody>
                  <a:tcPr marL="52398" marR="52398" marT="26199" marB="26199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O(1) per iteration</a:t>
                      </a:r>
                    </a:p>
                  </a:txBody>
                  <a:tcPr marL="52398" marR="52398" marT="26199" marB="26199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(n − 1) times</a:t>
                      </a:r>
                    </a:p>
                  </a:txBody>
                  <a:tcPr marL="52398" marR="52398" marT="26199" marB="2619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ectangle 3"/>
          <p:cNvSpPr>
            <a:spLocks noGrp="1" noChangeArrowheads="1"/>
          </p:cNvSpPr>
          <p:nvPr>
            <p:ph sz="quarter" idx="4"/>
          </p:nvPr>
        </p:nvSpPr>
        <p:spPr bwMode="auto">
          <a:xfrm>
            <a:off x="4640581" y="2327512"/>
            <a:ext cx="425957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Space Complexity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array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F[0..n]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stores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 + 1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Fibonacci numbers.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number takes constant space (assuming fixed-width integers).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S(n)=O(n)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Space Complexity = O(n)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878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Bounds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Upper Bound: O(f(n)) – Maximum runtime</a:t>
            </a:r>
          </a:p>
          <a:p>
            <a:r>
              <a:t>Lower Bound: Ω(f(n)) – Minimum runtime</a:t>
            </a:r>
          </a:p>
          <a:p>
            <a:r>
              <a:t>Tight Bound: Θ(f(n)) – Average runtime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330" y="1186178"/>
            <a:ext cx="6343672" cy="709865"/>
          </a:xfrm>
        </p:spPr>
        <p:txBody>
          <a:bodyPr>
            <a:normAutofit fontScale="90000"/>
          </a:bodyPr>
          <a:lstStyle/>
          <a:p>
            <a:r>
              <a:rPr b="1" dirty="0"/>
              <a:t>Practical Example: Sorting Algorithms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  <a:p>
            <a:r>
              <a:rPr lang="en-US" dirty="0"/>
              <a:t>Insertion sort</a:t>
            </a:r>
          </a:p>
          <a:p>
            <a:r>
              <a:rPr lang="en-US" dirty="0" err="1"/>
              <a:t>Stabiliity</a:t>
            </a:r>
            <a:r>
              <a:rPr lang="en-US" dirty="0"/>
              <a:t> in sorting algorithm: 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sorting algorithm</a:t>
            </a:r>
            <a:r>
              <a:rPr lang="en-US" dirty="0"/>
              <a:t> is said to be </a:t>
            </a:r>
            <a:r>
              <a:rPr lang="en-US" b="1" dirty="0"/>
              <a:t>stable</a:t>
            </a:r>
            <a:r>
              <a:rPr lang="en-US" dirty="0"/>
              <a:t> if it </a:t>
            </a:r>
            <a:r>
              <a:rPr lang="en-US" b="1" dirty="0"/>
              <a:t>preserves the relative order of elements with equal keys (values</a:t>
            </a:r>
          </a:p>
          <a:p>
            <a:pPr lvl="1"/>
            <a:r>
              <a:rPr lang="en-US" dirty="0"/>
              <a:t>If two elements </a:t>
            </a:r>
            <a:r>
              <a:rPr lang="en-US" b="1" dirty="0"/>
              <a:t>A</a:t>
            </a:r>
            <a:r>
              <a:rPr lang="en-US" dirty="0"/>
              <a:t> and </a:t>
            </a:r>
            <a:r>
              <a:rPr lang="en-US" b="1" dirty="0"/>
              <a:t>B</a:t>
            </a:r>
            <a:r>
              <a:rPr lang="en-US" dirty="0"/>
              <a:t> have the same value, and </a:t>
            </a:r>
            <a:r>
              <a:rPr lang="en-US" b="1" dirty="0"/>
              <a:t>A</a:t>
            </a:r>
            <a:r>
              <a:rPr lang="en-US" dirty="0"/>
              <a:t> appears before </a:t>
            </a:r>
            <a:r>
              <a:rPr lang="en-US" b="1" dirty="0"/>
              <a:t>B</a:t>
            </a:r>
            <a:r>
              <a:rPr lang="en-US" dirty="0"/>
              <a:t> in the original list,</a:t>
            </a:r>
            <a:br>
              <a:rPr lang="en-US" dirty="0"/>
            </a:br>
            <a:r>
              <a:rPr lang="en-US" dirty="0"/>
              <a:t>then </a:t>
            </a:r>
            <a:r>
              <a:rPr lang="en-US" b="1" dirty="0"/>
              <a:t>A</a:t>
            </a:r>
            <a:r>
              <a:rPr lang="en-US" dirty="0"/>
              <a:t> should also appear before </a:t>
            </a:r>
            <a:r>
              <a:rPr lang="en-US" b="1" dirty="0"/>
              <a:t>B</a:t>
            </a:r>
            <a:r>
              <a:rPr lang="en-US" dirty="0"/>
              <a:t> in the </a:t>
            </a:r>
            <a:r>
              <a:rPr lang="en-US" b="1" dirty="0"/>
              <a:t>sorted list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Bubble Sort -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20980" y="2054774"/>
            <a:ext cx="4145280" cy="3530600"/>
          </a:xfrm>
        </p:spPr>
        <p:txBody>
          <a:bodyPr/>
          <a:lstStyle/>
          <a:p>
            <a:r>
              <a:rPr dirty="0"/>
              <a:t>Repeatedly compare adjacent elements and swap if needed.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37160" y="2589903"/>
            <a:ext cx="3636980" cy="277131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1400" dirty="0"/>
              <a:t>BUBBLE-SORT(A)</a:t>
            </a:r>
          </a:p>
          <a:p>
            <a:pPr marL="0" indent="0">
              <a:buFont typeface="Wingdings 3" charset="2"/>
              <a:buNone/>
            </a:pPr>
            <a:r>
              <a:rPr lang="en-US" sz="1400" dirty="0"/>
              <a:t>1. n ← length(A)</a:t>
            </a:r>
          </a:p>
          <a:p>
            <a:pPr marL="0" indent="0">
              <a:buFont typeface="Wingdings 3" charset="2"/>
              <a:buNone/>
            </a:pPr>
            <a:r>
              <a:rPr lang="en-US" sz="1400" dirty="0"/>
              <a:t>2. for </a:t>
            </a:r>
            <a:r>
              <a:rPr lang="en-US" sz="1400" dirty="0" err="1"/>
              <a:t>i</a:t>
            </a:r>
            <a:r>
              <a:rPr lang="en-US" sz="1400" dirty="0"/>
              <a:t> ← 0 to n - 2 do</a:t>
            </a:r>
          </a:p>
          <a:p>
            <a:pPr marL="0" indent="0">
              <a:buFont typeface="Wingdings 3" charset="2"/>
              <a:buNone/>
            </a:pPr>
            <a:r>
              <a:rPr lang="en-US" sz="1400" dirty="0"/>
              <a:t>3.     for j ← 0 to n - </a:t>
            </a:r>
            <a:r>
              <a:rPr lang="en-US" sz="1400" dirty="0" err="1"/>
              <a:t>i</a:t>
            </a:r>
            <a:r>
              <a:rPr lang="en-US" sz="1400" dirty="0"/>
              <a:t> - 2 do</a:t>
            </a:r>
          </a:p>
          <a:p>
            <a:pPr marL="0" indent="0">
              <a:buFont typeface="Wingdings 3" charset="2"/>
              <a:buNone/>
            </a:pPr>
            <a:r>
              <a:rPr lang="en-US" sz="1400" dirty="0"/>
              <a:t>4.         if A[j] &gt; A[j + 1] then</a:t>
            </a:r>
          </a:p>
          <a:p>
            <a:pPr marL="0" indent="0">
              <a:buFont typeface="Wingdings 3" charset="2"/>
              <a:buNone/>
            </a:pPr>
            <a:r>
              <a:rPr lang="en-US" sz="1400" dirty="0"/>
              <a:t>5.             swap A[j] and A[j + 1]</a:t>
            </a:r>
          </a:p>
          <a:p>
            <a:pPr marL="0" indent="0">
              <a:buFont typeface="Wingdings 3" charset="2"/>
              <a:buNone/>
            </a:pPr>
            <a:r>
              <a:rPr lang="en-US" sz="1400" dirty="0"/>
              <a:t>6.     end for</a:t>
            </a:r>
          </a:p>
          <a:p>
            <a:pPr marL="0" indent="0">
              <a:buFont typeface="Wingdings 3" charset="2"/>
              <a:buNone/>
            </a:pPr>
            <a:r>
              <a:rPr lang="en-US" sz="1400" dirty="0"/>
              <a:t>7. end for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1"/>
              <p:cNvSpPr>
                <a:spLocks noChangeArrowheads="1"/>
              </p:cNvSpPr>
              <p:nvPr/>
            </p:nvSpPr>
            <p:spPr bwMode="auto">
              <a:xfrm>
                <a:off x="3924300" y="2054774"/>
                <a:ext cx="5914688" cy="23998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Time Complexity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Outer loop (line 2):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Runs from </a:t>
                </a:r>
                <a:r>
                  <a:rPr kumimoji="0" lang="en-US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Unicode MS" panose="020B0604020202020204" pitchFamily="34" charset="-128"/>
                  </a:rPr>
                  <a:t>i</a:t>
                </a: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Unicode MS" panose="020B0604020202020204" pitchFamily="34" charset="-128"/>
                  </a:rPr>
                  <a:t> = 0</a:t>
                </a: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to </a:t>
                </a: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Unicode MS" panose="020B0604020202020204" pitchFamily="34" charset="-128"/>
                  </a:rPr>
                  <a:t>n – 2</a:t>
                </a:r>
                <a:r>
                  <a:rPr lang="en-US" sz="1400" dirty="0"/>
                  <a:t> </a:t>
                </a: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➡️ Executes </a:t>
                </a:r>
                <a:r>
                  <a:rPr kumimoji="0" lang="en-US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(n - 1)</a:t>
                </a: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times</a:t>
                </a:r>
                <a:endPara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Inner loop (line 3):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For each </a:t>
                </a:r>
                <a:r>
                  <a:rPr kumimoji="0" lang="en-US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Unicode MS" panose="020B0604020202020204" pitchFamily="34" charset="-128"/>
                  </a:rPr>
                  <a:t>i</a:t>
                </a: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, </a:t>
                </a: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Unicode MS" panose="020B0604020202020204" pitchFamily="34" charset="-128"/>
                  </a:rPr>
                  <a:t>j</a:t>
                </a: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runs from </a:t>
                </a: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Unicode MS" panose="020B0604020202020204" pitchFamily="34" charset="-128"/>
                  </a:rPr>
                  <a:t>0</a:t>
                </a: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to </a:t>
                </a: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Unicode MS" panose="020B0604020202020204" pitchFamily="34" charset="-128"/>
                  </a:rPr>
                  <a:t>n - </a:t>
                </a:r>
                <a:r>
                  <a:rPr kumimoji="0" lang="en-US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Unicode MS" panose="020B0604020202020204" pitchFamily="34" charset="-128"/>
                  </a:rPr>
                  <a:t>i</a:t>
                </a: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Unicode MS" panose="020B0604020202020204" pitchFamily="34" charset="-128"/>
                  </a:rPr>
                  <a:t> - 2</a:t>
                </a: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➡️ Executes </a:t>
                </a:r>
                <a:r>
                  <a:rPr kumimoji="0" lang="en-US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(n - </a:t>
                </a:r>
                <a:r>
                  <a:rPr kumimoji="0" lang="en-US" sz="14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r>
                  <a:rPr kumimoji="0" lang="en-US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- 1)</a:t>
                </a: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times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  <m:e>
                          <m: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−1)</m:t>
                          </m:r>
                        </m:e>
                      </m:nary>
                    </m:oMath>
                  </m:oMathPara>
                </a14:m>
                <a:endPara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+…+1= </m:t>
                      </m:r>
                      <m:f>
                        <m:fPr>
                          <m:ctrlP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kumimoji="0" lang="en-US" sz="1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=0(n</a:t>
                </a:r>
                <a:r>
                  <a:rPr kumimoji="0" lang="en-US" sz="1400" b="0" i="0" u="none" strike="noStrike" cap="none" normalizeH="0" baseline="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2</a:t>
                </a: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24300" y="2054774"/>
                <a:ext cx="5914688" cy="2399824"/>
              </a:xfrm>
              <a:prstGeom prst="rect">
                <a:avLst/>
              </a:prstGeom>
              <a:blipFill rotWithShape="0">
                <a:blip r:embed="rId3"/>
                <a:stretch>
                  <a:fillRect l="-309" b="-203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7007949"/>
                  </p:ext>
                </p:extLst>
              </p:nvPr>
            </p:nvGraphicFramePr>
            <p:xfrm>
              <a:off x="-45720" y="5011149"/>
              <a:ext cx="9342120" cy="17653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6552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997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5696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4653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45312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85996">
                    <a:tc>
                      <a:txBody>
                        <a:bodyPr/>
                        <a:lstStyle/>
                        <a:p>
                          <a:r>
                            <a:rPr lang="en-US" sz="1200" b="1" dirty="0"/>
                            <a:t>Case</a:t>
                          </a:r>
                          <a:endParaRPr lang="en-US" sz="1200" dirty="0"/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/>
                            <a:t>Condition</a:t>
                          </a:r>
                          <a:endParaRPr lang="en-US" sz="1200"/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/>
                            <a:t>Number of Comparisons</a:t>
                          </a:r>
                          <a:endParaRPr lang="en-US" sz="1200"/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 dirty="0"/>
                            <a:t>Number of Swaps</a:t>
                          </a:r>
                          <a:endParaRPr lang="en-US" sz="1200" dirty="0"/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 dirty="0"/>
                            <a:t>Time Complexity</a:t>
                          </a:r>
                          <a:endParaRPr lang="en-US" sz="1200" dirty="0"/>
                        </a:p>
                      </a:txBody>
                      <a:tcPr marL="50437" marR="50437" marT="25219" marB="25219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6659">
                    <a:tc>
                      <a:txBody>
                        <a:bodyPr/>
                        <a:lstStyle/>
                        <a:p>
                          <a:r>
                            <a:rPr lang="en-US" sz="1200" b="1" dirty="0"/>
                            <a:t>Best Case</a:t>
                          </a:r>
                          <a:endParaRPr lang="en-US" sz="1200" dirty="0"/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Array already sorted</a:t>
                          </a:r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US" sz="1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sz="1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0" lang="en-US" sz="1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kumimoji="0" lang="en-US" sz="1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0" lang="en-US" sz="1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−1)</m:t>
                                  </m:r>
                                </m:num>
                                <m:den>
                                  <m:r>
                                    <a:rPr kumimoji="0" lang="en-US" sz="1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200" dirty="0"/>
                            <a:t> comparisons</a:t>
                          </a:r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0 swaps</a:t>
                          </a:r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 dirty="0"/>
                            <a:t>O(n)</a:t>
                          </a:r>
                          <a:r>
                            <a:rPr lang="en-US" sz="1200" dirty="0"/>
                            <a:t> (if optimized) or </a:t>
                          </a:r>
                          <a:r>
                            <a:rPr lang="en-US" sz="1200" b="1" dirty="0"/>
                            <a:t>O(n²)</a:t>
                          </a:r>
                          <a:r>
                            <a:rPr lang="en-US" sz="1200" dirty="0"/>
                            <a:t> (without optimization)</a:t>
                          </a:r>
                        </a:p>
                      </a:txBody>
                      <a:tcPr marL="50437" marR="50437" marT="25219" marB="25219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6659">
                    <a:tc>
                      <a:txBody>
                        <a:bodyPr/>
                        <a:lstStyle/>
                        <a:p>
                          <a:r>
                            <a:rPr lang="en-US" sz="1200" b="1"/>
                            <a:t>Average Case</a:t>
                          </a:r>
                          <a:endParaRPr lang="en-US" sz="1200"/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Random order</a:t>
                          </a:r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US" sz="1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sz="1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0" lang="en-US" sz="1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kumimoji="0" lang="en-US" sz="1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0" lang="en-US" sz="1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−1)</m:t>
                                  </m:r>
                                </m:num>
                                <m:den>
                                  <m:r>
                                    <a:rPr kumimoji="0" lang="en-US" sz="1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200" dirty="0"/>
                            <a:t> comparisons</a:t>
                          </a:r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~half of pairs swapped</a:t>
                          </a:r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 dirty="0"/>
                            <a:t>O(n²)</a:t>
                          </a:r>
                          <a:endParaRPr lang="en-US" sz="1200" dirty="0"/>
                        </a:p>
                      </a:txBody>
                      <a:tcPr marL="50437" marR="50437" marT="25219" marB="25219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5996">
                    <a:tc>
                      <a:txBody>
                        <a:bodyPr/>
                        <a:lstStyle/>
                        <a:p>
                          <a:r>
                            <a:rPr lang="en-US" sz="1200" b="1"/>
                            <a:t>Worst Case</a:t>
                          </a:r>
                          <a:endParaRPr lang="en-US" sz="1200"/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Reverse order</a:t>
                          </a:r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US" sz="1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sz="1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0" lang="en-US" sz="1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kumimoji="0" lang="en-US" sz="1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0" lang="en-US" sz="1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−1)</m:t>
                                  </m:r>
                                </m:num>
                                <m:den>
                                  <m:r>
                                    <a:rPr kumimoji="0" lang="en-US" sz="1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200" dirty="0"/>
                            <a:t>  comparisons + swaps</a:t>
                          </a:r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maximum swaps</a:t>
                          </a:r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 dirty="0"/>
                            <a:t>O(n²)</a:t>
                          </a:r>
                          <a:endParaRPr lang="en-US" sz="1200" dirty="0"/>
                        </a:p>
                      </a:txBody>
                      <a:tcPr marL="50437" marR="50437" marT="25219" marB="25219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7007949"/>
                  </p:ext>
                </p:extLst>
              </p:nvPr>
            </p:nvGraphicFramePr>
            <p:xfrm>
              <a:off x="-45720" y="5011149"/>
              <a:ext cx="9342120" cy="17653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65527"/>
                    <a:gridCol w="1519972"/>
                    <a:gridCol w="2356961"/>
                    <a:gridCol w="1746539"/>
                    <a:gridCol w="2453121"/>
                  </a:tblGrid>
                  <a:tr h="385996">
                    <a:tc>
                      <a:txBody>
                        <a:bodyPr/>
                        <a:lstStyle/>
                        <a:p>
                          <a:r>
                            <a:rPr lang="en-US" sz="1200" b="1" dirty="0"/>
                            <a:t>Case</a:t>
                          </a:r>
                          <a:endParaRPr lang="en-US" sz="1200" dirty="0"/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/>
                            <a:t>Condition</a:t>
                          </a:r>
                          <a:endParaRPr lang="en-US" sz="1200"/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/>
                            <a:t>Number of Comparisons</a:t>
                          </a:r>
                          <a:endParaRPr lang="en-US" sz="1200"/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 dirty="0"/>
                            <a:t>Number of Swaps</a:t>
                          </a:r>
                          <a:endParaRPr lang="en-US" sz="1200" dirty="0"/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 dirty="0"/>
                            <a:t>Time Complexity</a:t>
                          </a:r>
                          <a:endParaRPr lang="en-US" sz="1200" dirty="0"/>
                        </a:p>
                      </a:txBody>
                      <a:tcPr marL="50437" marR="50437" marT="25219" marB="25219"/>
                    </a:tc>
                  </a:tr>
                  <a:tr h="496659">
                    <a:tc>
                      <a:txBody>
                        <a:bodyPr/>
                        <a:lstStyle/>
                        <a:p>
                          <a:r>
                            <a:rPr lang="en-US" sz="1200" b="1" dirty="0"/>
                            <a:t>Best Case</a:t>
                          </a:r>
                          <a:endParaRPr lang="en-US" sz="1200" dirty="0"/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Array already sorted</a:t>
                          </a:r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437" marR="50437" marT="25219" marB="25219">
                        <a:blipFill rotWithShape="0">
                          <a:blip r:embed="rId4"/>
                          <a:stretch>
                            <a:fillRect l="-118346" t="-80488" r="-179328" b="-179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0 swaps</a:t>
                          </a:r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 dirty="0"/>
                            <a:t>O(n)</a:t>
                          </a:r>
                          <a:r>
                            <a:rPr lang="en-US" sz="1200" dirty="0"/>
                            <a:t> (if optimized) or </a:t>
                          </a:r>
                          <a:r>
                            <a:rPr lang="en-US" sz="1200" b="1" dirty="0"/>
                            <a:t>O(n²)</a:t>
                          </a:r>
                          <a:r>
                            <a:rPr lang="en-US" sz="1200" dirty="0"/>
                            <a:t> (without optimization)</a:t>
                          </a:r>
                        </a:p>
                      </a:txBody>
                      <a:tcPr marL="50437" marR="50437" marT="25219" marB="25219"/>
                    </a:tc>
                  </a:tr>
                  <a:tr h="496659">
                    <a:tc>
                      <a:txBody>
                        <a:bodyPr/>
                        <a:lstStyle/>
                        <a:p>
                          <a:r>
                            <a:rPr lang="en-US" sz="1200" b="1"/>
                            <a:t>Average Case</a:t>
                          </a:r>
                          <a:endParaRPr lang="en-US" sz="1200"/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Random order</a:t>
                          </a:r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437" marR="50437" marT="25219" marB="25219">
                        <a:blipFill rotWithShape="0">
                          <a:blip r:embed="rId4"/>
                          <a:stretch>
                            <a:fillRect l="-118346" t="-180488" r="-179328" b="-79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~half of pairs swapped</a:t>
                          </a:r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 dirty="0"/>
                            <a:t>O(n²)</a:t>
                          </a:r>
                          <a:endParaRPr lang="en-US" sz="1200" dirty="0"/>
                        </a:p>
                      </a:txBody>
                      <a:tcPr marL="50437" marR="50437" marT="25219" marB="25219"/>
                    </a:tc>
                  </a:tr>
                  <a:tr h="385996">
                    <a:tc>
                      <a:txBody>
                        <a:bodyPr/>
                        <a:lstStyle/>
                        <a:p>
                          <a:r>
                            <a:rPr lang="en-US" sz="1200" b="1"/>
                            <a:t>Worst Case</a:t>
                          </a:r>
                          <a:endParaRPr lang="en-US" sz="1200"/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Reverse order</a:t>
                          </a:r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437" marR="50437" marT="25219" marB="25219">
                        <a:blipFill rotWithShape="0">
                          <a:blip r:embed="rId4"/>
                          <a:stretch>
                            <a:fillRect l="-118346" t="-365079" r="-179328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maximum swaps</a:t>
                          </a:r>
                        </a:p>
                      </a:txBody>
                      <a:tcPr marL="50437" marR="50437" marT="25219" marB="252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 dirty="0"/>
                            <a:t>O(n²)</a:t>
                          </a:r>
                          <a:endParaRPr lang="en-US" sz="1200" dirty="0"/>
                        </a:p>
                      </a:txBody>
                      <a:tcPr marL="50437" marR="50437" marT="25219" marB="25219"/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 - Concept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90500" y="2109877"/>
            <a:ext cx="626357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Space Complexity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Let’s evaluate memory usage: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algorithm sorts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place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it only uses: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few variables (</a:t>
            </a: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j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temporary swap variable)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extra arrays or data structures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Auxiliary Space = O(1)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(constant space)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0500" y="4026069"/>
            <a:ext cx="67753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Total space=O(n) (for the array)+O(1) (for variables)=O(n)</a:t>
            </a:r>
          </a:p>
        </p:txBody>
      </p:sp>
    </p:spTree>
    <p:extLst>
      <p:ext uri="{BB962C8B-B14F-4D97-AF65-F5344CB8AC3E}">
        <p14:creationId xmlns:p14="http://schemas.microsoft.com/office/powerpoint/2010/main" val="2162697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Insertion Sort -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63004" y="2062480"/>
            <a:ext cx="4100810" cy="3530600"/>
          </a:xfrm>
        </p:spPr>
        <p:txBody>
          <a:bodyPr/>
          <a:lstStyle/>
          <a:p>
            <a:r>
              <a:rPr dirty="0"/>
              <a:t>Insert elements into their correct positions one by one.</a:t>
            </a:r>
          </a:p>
          <a:p>
            <a:r>
              <a:rPr dirty="0"/>
              <a:t>Example: [5,2,4,3] → [2,3,4,5]</a:t>
            </a:r>
          </a:p>
        </p:txBody>
      </p:sp>
      <p:sp>
        <p:nvSpPr>
          <p:cNvPr id="4" name="Content Placeholder 5"/>
          <p:cNvSpPr txBox="1">
            <a:spLocks/>
          </p:cNvSpPr>
          <p:nvPr/>
        </p:nvSpPr>
        <p:spPr>
          <a:xfrm>
            <a:off x="0" y="3180811"/>
            <a:ext cx="3232403" cy="3429285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/>
              <a:t>INSERTION-SORT(A)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1. n ← length(A)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2. for </a:t>
            </a:r>
            <a:r>
              <a:rPr lang="en-US" dirty="0" err="1"/>
              <a:t>i</a:t>
            </a:r>
            <a:r>
              <a:rPr lang="en-US" dirty="0"/>
              <a:t> ← 1 to n - 1 do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3.     key ← A[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4.     j ← </a:t>
            </a:r>
            <a:r>
              <a:rPr lang="en-US" dirty="0" err="1"/>
              <a:t>i</a:t>
            </a:r>
            <a:r>
              <a:rPr lang="en-US" dirty="0"/>
              <a:t> - 1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5.     while j ≥ 0 and A[j] &gt; key do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6.         A[j + 1] ← A[j]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7.         j ← j - 1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8.     end while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9.     A[j + 1] ← key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10. end for</a:t>
            </a:r>
          </a:p>
          <a:p>
            <a:endParaRPr 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037806" y="2073563"/>
            <a:ext cx="510619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outer loop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(line 2) runs from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= 1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 - 1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executes </a:t>
            </a: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(n − 1)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inner while loop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(line 5–7) moves elements that are greater than the current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key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one position to the right.</a:t>
            </a: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comparisons and shifts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inner loop depends on the </a:t>
            </a: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position where the key must be inserted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9613564"/>
                  </p:ext>
                </p:extLst>
              </p:nvPr>
            </p:nvGraphicFramePr>
            <p:xfrm>
              <a:off x="3295407" y="3567779"/>
              <a:ext cx="6346824" cy="2273428"/>
            </p:xfrm>
            <a:graphic>
              <a:graphicData uri="http://schemas.openxmlformats.org/drawingml/2006/table">
                <a:tbl>
                  <a:tblPr/>
                  <a:tblGrid>
                    <a:gridCol w="95002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287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3338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3471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11498">
                    <a:tc>
                      <a:txBody>
                        <a:bodyPr/>
                        <a:lstStyle/>
                        <a:p>
                          <a:r>
                            <a:rPr lang="en-US" sz="1200" b="1" dirty="0"/>
                            <a:t>Case</a:t>
                          </a:r>
                          <a:endParaRPr lang="en-US" sz="12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/>
                            <a:t>Condition</a:t>
                          </a:r>
                          <a:endParaRPr lang="en-US" sz="12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/>
                            <a:t>Comparisons/shifts</a:t>
                          </a:r>
                          <a:endParaRPr lang="en-US" sz="12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 dirty="0"/>
                            <a:t>Time</a:t>
                          </a:r>
                        </a:p>
                        <a:p>
                          <a:r>
                            <a:rPr lang="en-US" sz="1200" b="1" dirty="0"/>
                            <a:t> Complexity</a:t>
                          </a:r>
                          <a:endParaRPr lang="en-US" sz="12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200" b="1"/>
                            <a:t>Best Case</a:t>
                          </a:r>
                          <a:endParaRPr lang="en-US" sz="12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Already sorted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𝑏𝑒𝑠𝑡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120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/>
                            <a:t>O(n)</a:t>
                          </a:r>
                          <a:endParaRPr lang="en-US" sz="12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200" b="1"/>
                            <a:t>Average Case</a:t>
                          </a:r>
                          <a:endParaRPr lang="en-US" sz="12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Random order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𝑎𝑣𝑔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f>
                                      <m:fPr>
                                        <m:ctrlPr>
                                          <a:rPr 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num>
                                      <m:den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= </m:t>
                                    </m:r>
                                    <m:f>
                                      <m:f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−1)</m:t>
                                        </m:r>
                                      </m:num>
                                      <m:den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nary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/>
                            <a:t>O(n²)</a:t>
                          </a:r>
                          <a:endParaRPr lang="en-US" sz="12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200" b="1"/>
                            <a:t>Worst Case</a:t>
                          </a:r>
                          <a:endParaRPr lang="en-US" sz="12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Reverse sorted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𝑤𝑜𝑟𝑠𝑡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= </m:t>
                                    </m:r>
                                    <m:f>
                                      <m:f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−1)</m:t>
                                        </m:r>
                                      </m:num>
                                      <m:den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nary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 dirty="0"/>
                            <a:t>O(n²)</a:t>
                          </a:r>
                          <a:endParaRPr lang="en-US" sz="12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9613564"/>
                  </p:ext>
                </p:extLst>
              </p:nvPr>
            </p:nvGraphicFramePr>
            <p:xfrm>
              <a:off x="3295407" y="3567779"/>
              <a:ext cx="6346824" cy="2273428"/>
            </p:xfrm>
            <a:graphic>
              <a:graphicData uri="http://schemas.openxmlformats.org/drawingml/2006/table">
                <a:tbl>
                  <a:tblPr/>
                  <a:tblGrid>
                    <a:gridCol w="950022"/>
                    <a:gridCol w="1028700"/>
                    <a:gridCol w="2833387"/>
                    <a:gridCol w="1534715"/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200" b="1" dirty="0"/>
                            <a:t>Case</a:t>
                          </a:r>
                          <a:endParaRPr lang="en-US" sz="12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/>
                            <a:t>Condition</a:t>
                          </a:r>
                          <a:endParaRPr lang="en-US" sz="12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Comparisons/shifts</a:t>
                          </a:r>
                          <a:endParaRPr lang="en-US" sz="12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 dirty="0" smtClean="0"/>
                            <a:t>Time</a:t>
                          </a:r>
                        </a:p>
                        <a:p>
                          <a:r>
                            <a:rPr lang="en-US" sz="1200" b="1" dirty="0" smtClean="0"/>
                            <a:t> </a:t>
                          </a:r>
                          <a:r>
                            <a:rPr lang="en-US" sz="1200" b="1" dirty="0"/>
                            <a:t>Complexity</a:t>
                          </a:r>
                          <a:endParaRPr lang="en-US" sz="12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</a:tr>
                  <a:tr h="605219">
                    <a:tc>
                      <a:txBody>
                        <a:bodyPr/>
                        <a:lstStyle/>
                        <a:p>
                          <a:r>
                            <a:rPr lang="en-US" sz="1200" b="1"/>
                            <a:t>Best Case</a:t>
                          </a:r>
                          <a:endParaRPr lang="en-US" sz="12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Already sorted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0">
                          <a:blip r:embed="rId2"/>
                          <a:stretch>
                            <a:fillRect l="-69892" t="-75000" r="-54194" b="-199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/>
                            <a:t>O(n)</a:t>
                          </a:r>
                          <a:endParaRPr lang="en-US" sz="12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</a:tr>
                  <a:tr h="605219">
                    <a:tc>
                      <a:txBody>
                        <a:bodyPr/>
                        <a:lstStyle/>
                        <a:p>
                          <a:r>
                            <a:rPr lang="en-US" sz="1200" b="1"/>
                            <a:t>Average Case</a:t>
                          </a:r>
                          <a:endParaRPr lang="en-US" sz="12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Random order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0">
                          <a:blip r:embed="rId2"/>
                          <a:stretch>
                            <a:fillRect l="-69892" t="-176768" r="-54194" b="-10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/>
                            <a:t>O(n²)</a:t>
                          </a:r>
                          <a:endParaRPr lang="en-US" sz="12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</a:tr>
                  <a:tr h="605790">
                    <a:tc>
                      <a:txBody>
                        <a:bodyPr/>
                        <a:lstStyle/>
                        <a:p>
                          <a:r>
                            <a:rPr lang="en-US" sz="1200" b="1"/>
                            <a:t>Worst Case</a:t>
                          </a:r>
                          <a:endParaRPr lang="en-US" sz="12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Reverse sorted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0">
                          <a:blip r:embed="rId2"/>
                          <a:stretch>
                            <a:fillRect l="-69892" t="-274000" r="-5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 dirty="0"/>
                            <a:t>O(n²)</a:t>
                          </a:r>
                          <a:endParaRPr lang="en-US" sz="12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9" name="Rectangle 8"/>
          <p:cNvSpPr/>
          <p:nvPr/>
        </p:nvSpPr>
        <p:spPr>
          <a:xfrm>
            <a:off x="4100810" y="3429000"/>
            <a:ext cx="39255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65970" y="927098"/>
            <a:ext cx="7665382" cy="709865"/>
          </a:xfrm>
        </p:spPr>
        <p:txBody>
          <a:bodyPr/>
          <a:lstStyle/>
          <a:p>
            <a:r>
              <a:rPr lang="en-US" b="1" dirty="0"/>
              <a:t>Practical Example: Sorting Algorithms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356616" y="2171192"/>
            <a:ext cx="7740122" cy="3530600"/>
          </a:xfrm>
        </p:spPr>
        <p:txBody>
          <a:bodyPr/>
          <a:lstStyle/>
          <a:p>
            <a:r>
              <a:rPr lang="en-US" dirty="0"/>
              <a:t>Comparison of Bubble sort and Insertion sort algorithms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0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Both algorithms are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</a:rPr>
              <a:t>simple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and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</a:rPr>
              <a:t>in-place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(no extra space).</a:t>
            </a:r>
          </a:p>
          <a:p>
            <a:pPr lvl="0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</a:rPr>
              <a:t>Insertion Sort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is usually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</a:rPr>
              <a:t>faster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for small or nearly-sorted lists.</a:t>
            </a:r>
          </a:p>
          <a:p>
            <a:pPr marL="342900" lvl="8" indent="-342900"/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Bubble Sort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is easier to implement but less efficient in practice.</a:t>
            </a:r>
          </a:p>
          <a:p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682057"/>
              </p:ext>
            </p:extLst>
          </p:nvPr>
        </p:nvGraphicFramePr>
        <p:xfrm>
          <a:off x="219456" y="2823972"/>
          <a:ext cx="857707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Algorithm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Best Case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Average Case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Worst Case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Space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Stable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Bubble Sort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Insertion Sort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6127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Optional Python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2259204"/>
            <a:ext cx="365760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import time, random</a:t>
            </a:r>
          </a:p>
          <a:p>
            <a:br>
              <a:rPr lang="en-US" sz="1600" dirty="0"/>
            </a:br>
            <a:r>
              <a:rPr lang="en-US" sz="1600" dirty="0" err="1"/>
              <a:t>def</a:t>
            </a:r>
            <a:r>
              <a:rPr lang="en-US" sz="1600" dirty="0"/>
              <a:t> </a:t>
            </a:r>
            <a:r>
              <a:rPr lang="en-US" sz="1600" dirty="0" err="1"/>
              <a:t>bubble_sort</a:t>
            </a:r>
            <a:r>
              <a:rPr lang="en-US" sz="1600" dirty="0"/>
              <a:t>(A):</a:t>
            </a:r>
          </a:p>
          <a:p>
            <a:r>
              <a:rPr lang="en-US" sz="1600" dirty="0"/>
              <a:t>     n = </a:t>
            </a:r>
            <a:r>
              <a:rPr lang="en-US" sz="1600" dirty="0" err="1"/>
              <a:t>len</a:t>
            </a:r>
            <a:r>
              <a:rPr lang="en-US" sz="1600" dirty="0"/>
              <a:t>(A)</a:t>
            </a:r>
          </a:p>
          <a:p>
            <a:r>
              <a:rPr lang="en-US" sz="1600" dirty="0"/>
              <a:t>    For </a:t>
            </a:r>
            <a:r>
              <a:rPr lang="en-US" sz="1600" dirty="0" err="1"/>
              <a:t>i</a:t>
            </a:r>
            <a:r>
              <a:rPr lang="en-US" sz="1600" dirty="0"/>
              <a:t> in range(n):</a:t>
            </a:r>
          </a:p>
          <a:p>
            <a:r>
              <a:rPr lang="en-US" sz="1600" dirty="0"/>
              <a:t>        for j in range(0, n - </a:t>
            </a:r>
            <a:r>
              <a:rPr lang="en-US" sz="1600" dirty="0" err="1"/>
              <a:t>i</a:t>
            </a:r>
            <a:r>
              <a:rPr lang="en-US" sz="1600" dirty="0"/>
              <a:t> - 1):</a:t>
            </a:r>
          </a:p>
          <a:p>
            <a:r>
              <a:rPr lang="en-US" sz="1600" dirty="0"/>
              <a:t>              if A[j] &gt; A[j + 1]:</a:t>
            </a:r>
          </a:p>
          <a:p>
            <a:r>
              <a:rPr lang="en-US" sz="1600" dirty="0"/>
              <a:t>                 A[j], A[j + 1] = A[j + 1], A[j]</a:t>
            </a:r>
          </a:p>
          <a:p>
            <a:r>
              <a:rPr lang="en-US" sz="1600" dirty="0"/>
              <a:t>     return A</a:t>
            </a:r>
          </a:p>
          <a:p>
            <a:r>
              <a:rPr lang="en-US" sz="1600" dirty="0" err="1"/>
              <a:t>def</a:t>
            </a:r>
            <a:r>
              <a:rPr lang="en-US" sz="1600" dirty="0"/>
              <a:t> </a:t>
            </a:r>
            <a:r>
              <a:rPr lang="en-US" sz="1600" dirty="0" err="1"/>
              <a:t>insertion_sort</a:t>
            </a:r>
            <a:r>
              <a:rPr lang="en-US" sz="1600" dirty="0"/>
              <a:t>(A):</a:t>
            </a:r>
          </a:p>
          <a:p>
            <a:r>
              <a:rPr lang="en-US" sz="1600" dirty="0"/>
              <a:t>      for </a:t>
            </a:r>
            <a:r>
              <a:rPr lang="en-US" sz="1600" dirty="0" err="1"/>
              <a:t>i</a:t>
            </a:r>
            <a:r>
              <a:rPr lang="en-US" sz="1600" dirty="0"/>
              <a:t> in range(1, </a:t>
            </a:r>
            <a:r>
              <a:rPr lang="en-US" sz="1600" dirty="0" err="1"/>
              <a:t>len</a:t>
            </a:r>
            <a:r>
              <a:rPr lang="en-US" sz="1600" dirty="0"/>
              <a:t>(A)):</a:t>
            </a:r>
          </a:p>
          <a:p>
            <a:r>
              <a:rPr lang="en-US" sz="1600" dirty="0"/>
              <a:t>            key = A[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r>
              <a:rPr lang="en-US" sz="1600" dirty="0"/>
              <a:t>            j = </a:t>
            </a:r>
            <a:r>
              <a:rPr lang="en-US" sz="1600" dirty="0" err="1"/>
              <a:t>i</a:t>
            </a:r>
            <a:r>
              <a:rPr lang="en-US" sz="1600" dirty="0"/>
              <a:t> - 1</a:t>
            </a:r>
          </a:p>
          <a:p>
            <a:r>
              <a:rPr lang="en-US" sz="1600" dirty="0"/>
              <a:t>            while j &gt;= 0 and A[j] &gt; key:</a:t>
            </a:r>
          </a:p>
          <a:p>
            <a:r>
              <a:rPr lang="en-US" sz="1600" dirty="0"/>
              <a:t>                     A[j + 1] = A[j]</a:t>
            </a:r>
          </a:p>
          <a:p>
            <a:r>
              <a:rPr lang="en-US" sz="1600" dirty="0"/>
              <a:t>                      j -= 1</a:t>
            </a:r>
          </a:p>
          <a:p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3767328" y="2240598"/>
            <a:ext cx="581558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      A[j + 1] = key</a:t>
            </a:r>
          </a:p>
          <a:p>
            <a:r>
              <a:rPr lang="en-US" sz="1600" dirty="0"/>
              <a:t>   return A</a:t>
            </a:r>
          </a:p>
          <a:p>
            <a:r>
              <a:rPr lang="en-US" sz="1600" dirty="0"/>
              <a:t>data = [</a:t>
            </a:r>
            <a:r>
              <a:rPr lang="en-US" sz="1600" dirty="0" err="1"/>
              <a:t>random.randint</a:t>
            </a:r>
            <a:r>
              <a:rPr lang="en-US" sz="1600" dirty="0"/>
              <a:t>(1, 1000) for _ in range(1000)]</a:t>
            </a:r>
          </a:p>
          <a:p>
            <a:r>
              <a:rPr lang="en-US" sz="1600" dirty="0"/>
              <a:t>start = </a:t>
            </a:r>
            <a:r>
              <a:rPr lang="en-US" sz="1600" dirty="0" err="1"/>
              <a:t>time.time</a:t>
            </a:r>
            <a:r>
              <a:rPr lang="en-US" sz="1600" dirty="0"/>
              <a:t>()</a:t>
            </a:r>
          </a:p>
          <a:p>
            <a:r>
              <a:rPr lang="en-US" sz="1600" dirty="0" err="1"/>
              <a:t>bubble_sort</a:t>
            </a:r>
            <a:r>
              <a:rPr lang="en-US" sz="1600" dirty="0"/>
              <a:t>(</a:t>
            </a:r>
            <a:r>
              <a:rPr lang="en-US" sz="1600" dirty="0" err="1"/>
              <a:t>data.copy</a:t>
            </a:r>
            <a:r>
              <a:rPr lang="en-US" sz="1600" dirty="0"/>
              <a:t>())</a:t>
            </a:r>
          </a:p>
          <a:p>
            <a:r>
              <a:rPr lang="en-US" sz="1600" dirty="0"/>
              <a:t>print("Bubble Sort Time:", round(</a:t>
            </a:r>
            <a:r>
              <a:rPr lang="en-US" sz="1600" dirty="0" err="1"/>
              <a:t>time.time</a:t>
            </a:r>
            <a:r>
              <a:rPr lang="en-US" sz="1600" dirty="0"/>
              <a:t>() - start, 4), "sec")</a:t>
            </a:r>
            <a:br>
              <a:rPr lang="en-US" sz="1600" dirty="0"/>
            </a:br>
            <a:r>
              <a:rPr lang="en-US" sz="1600" dirty="0"/>
              <a:t>start = </a:t>
            </a:r>
            <a:r>
              <a:rPr lang="en-US" sz="1600" dirty="0" err="1"/>
              <a:t>time.time</a:t>
            </a:r>
            <a:r>
              <a:rPr lang="en-US" sz="1600" dirty="0"/>
              <a:t>()</a:t>
            </a:r>
          </a:p>
          <a:p>
            <a:r>
              <a:rPr lang="en-US" sz="1600" dirty="0" err="1"/>
              <a:t>insertion_sort</a:t>
            </a:r>
            <a:r>
              <a:rPr lang="en-US" sz="1600" dirty="0"/>
              <a:t>(</a:t>
            </a:r>
            <a:r>
              <a:rPr lang="en-US" sz="1600" dirty="0" err="1"/>
              <a:t>data.copy</a:t>
            </a:r>
            <a:r>
              <a:rPr lang="en-US" sz="1600" dirty="0"/>
              <a:t>())</a:t>
            </a:r>
          </a:p>
          <a:p>
            <a:r>
              <a:rPr lang="en-US" sz="1600" dirty="0"/>
              <a:t>print("Insertion Sort Time:", round(</a:t>
            </a:r>
            <a:r>
              <a:rPr lang="en-US" sz="1600" dirty="0" err="1"/>
              <a:t>time.time</a:t>
            </a:r>
            <a:r>
              <a:rPr lang="en-US" sz="1600" dirty="0"/>
              <a:t>() - start, 4), "sec")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Compare Bubble and Insertion Sort:</a:t>
            </a:r>
          </a:p>
          <a:p>
            <a:r>
              <a:rPr dirty="0"/>
              <a:t>1. Best, average, worst case</a:t>
            </a:r>
          </a:p>
          <a:p>
            <a:r>
              <a:rPr dirty="0"/>
              <a:t>2. Time-space trade-off</a:t>
            </a:r>
          </a:p>
          <a:p>
            <a:r>
              <a:rPr dirty="0"/>
              <a:t>3. Efficiency for datasets</a:t>
            </a:r>
          </a:p>
          <a:p>
            <a:r>
              <a:rPr dirty="0"/>
              <a:t>4. Simplicity and stability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Complexity analysis measures efficiency</a:t>
            </a:r>
          </a:p>
          <a:p>
            <a:r>
              <a:t>• Best, average, worst cases vary by input</a:t>
            </a:r>
          </a:p>
          <a:p>
            <a:r>
              <a:t>• Time-space trade-offs balance speed/memory</a:t>
            </a:r>
          </a:p>
          <a:p>
            <a:r>
              <a:t>• Insertion Sort often faster on small or nearly sorted data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4855</TotalTime>
  <Words>2650</Words>
  <Application>Microsoft Office PowerPoint</Application>
  <PresentationFormat>On-screen Show (4:3)</PresentationFormat>
  <Paragraphs>403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 Unicode MS</vt:lpstr>
      <vt:lpstr>Arial</vt:lpstr>
      <vt:lpstr>Calibri</vt:lpstr>
      <vt:lpstr>Cambria Math</vt:lpstr>
      <vt:lpstr>Century Gothic</vt:lpstr>
      <vt:lpstr>Wingdings 3</vt:lpstr>
      <vt:lpstr>Ion Boardroom</vt:lpstr>
      <vt:lpstr>PowerPoint Presentation</vt:lpstr>
      <vt:lpstr>Lecture outline</vt:lpstr>
      <vt:lpstr>Introduction to Complexity Analysis</vt:lpstr>
      <vt:lpstr>Types of Algorithmic Analysis</vt:lpstr>
      <vt:lpstr>Comparison: Best, Average, and Worst Cases</vt:lpstr>
      <vt:lpstr>Complexity Theory</vt:lpstr>
      <vt:lpstr>How to Calculate Time  and space Complexity of an Algorithm</vt:lpstr>
      <vt:lpstr>How to Calculate Time and space Complexity of an Algorithm</vt:lpstr>
      <vt:lpstr>How to Calculate Time Complexity of an Algorithm</vt:lpstr>
      <vt:lpstr>How to Calculate Time Complexity of an Algorithm</vt:lpstr>
      <vt:lpstr>Time-Space Trade-offs</vt:lpstr>
      <vt:lpstr>Time-Space Trade-offs</vt:lpstr>
      <vt:lpstr>Time-Space Trade-offs</vt:lpstr>
      <vt:lpstr>Recursive Method of Fibonacci Algorithm </vt:lpstr>
      <vt:lpstr>Dynamic Programming Method of Fibonacci Algorithm </vt:lpstr>
      <vt:lpstr>Performance Bounds</vt:lpstr>
      <vt:lpstr>Practical Example: Sorting Algorithms</vt:lpstr>
      <vt:lpstr>Bubble Sort - Concept</vt:lpstr>
      <vt:lpstr>Bubble Sort - Concept</vt:lpstr>
      <vt:lpstr>Insertion Sort - Concept</vt:lpstr>
      <vt:lpstr>Practical Example: Sorting Algorithms</vt:lpstr>
      <vt:lpstr>Optional Python Implementation</vt:lpstr>
      <vt:lpstr>Assignment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3: Complexity Analysis and Performance Bounds</dc:title>
  <dc:subject/>
  <dc:creator>OLADIPUPO TAIWO</dc:creator>
  <cp:keywords/>
  <dc:description>generated using python-pptx</dc:description>
  <cp:lastModifiedBy>Destiny Agbator</cp:lastModifiedBy>
  <cp:revision>61</cp:revision>
  <dcterms:created xsi:type="dcterms:W3CDTF">2013-01-27T09:14:16Z</dcterms:created>
  <dcterms:modified xsi:type="dcterms:W3CDTF">2025-12-01T10:46:15Z</dcterms:modified>
  <cp:category/>
</cp:coreProperties>
</file>