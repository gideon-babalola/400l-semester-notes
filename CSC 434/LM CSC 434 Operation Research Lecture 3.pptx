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97" r:id="rId1"/>
  </p:sldMasterIdLst>
  <p:notesMasterIdLst>
    <p:notesMasterId r:id="rId21"/>
  </p:notesMasterIdLst>
  <p:sldIdLst>
    <p:sldId id="256" r:id="rId2"/>
    <p:sldId id="257" r:id="rId3"/>
    <p:sldId id="275" r:id="rId4"/>
    <p:sldId id="258" r:id="rId5"/>
    <p:sldId id="259" r:id="rId6"/>
    <p:sldId id="260" r:id="rId7"/>
    <p:sldId id="261" r:id="rId8"/>
    <p:sldId id="262" r:id="rId9"/>
    <p:sldId id="276" r:id="rId10"/>
    <p:sldId id="277"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4" autoAdjust="0"/>
    <p:restoredTop sz="90842" autoAdjust="0"/>
  </p:normalViewPr>
  <p:slideViewPr>
    <p:cSldViewPr snapToGrid="0">
      <p:cViewPr varScale="1">
        <p:scale>
          <a:sx n="49" d="100"/>
          <a:sy n="49" d="100"/>
        </p:scale>
        <p:origin x="90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05A70E-9E90-4CC2-8C7B-D1D0F84C315C}" type="datetimeFigureOut">
              <a:rPr lang="en-US" smtClean="0"/>
              <a:t>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45385F-3571-47AF-8651-604866625B0A}" type="slidenum">
              <a:rPr lang="en-US" smtClean="0"/>
              <a:t>‹#›</a:t>
            </a:fld>
            <a:endParaRPr lang="en-US"/>
          </a:p>
        </p:txBody>
      </p:sp>
    </p:spTree>
    <p:extLst>
      <p:ext uri="{BB962C8B-B14F-4D97-AF65-F5344CB8AC3E}">
        <p14:creationId xmlns:p14="http://schemas.microsoft.com/office/powerpoint/2010/main" val="3123230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545385F-3571-47AF-8651-604866625B0A}" type="slidenum">
              <a:rPr lang="en-US" smtClean="0"/>
              <a:t>12</a:t>
            </a:fld>
            <a:endParaRPr lang="en-US"/>
          </a:p>
        </p:txBody>
      </p:sp>
    </p:spTree>
    <p:extLst>
      <p:ext uri="{BB962C8B-B14F-4D97-AF65-F5344CB8AC3E}">
        <p14:creationId xmlns:p14="http://schemas.microsoft.com/office/powerpoint/2010/main" val="3138611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ADD9C1D7-1219-4506-A3E3-60FDE141C307}"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36F8CD-2F58-4B80-BC82-8E27E1BD5DEC}"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364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D9C1D7-1219-4506-A3E3-60FDE141C307}"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36F8CD-2F58-4B80-BC82-8E27E1BD5DEC}" type="slidenum">
              <a:rPr lang="en-US" smtClean="0"/>
              <a:t>‹#›</a:t>
            </a:fld>
            <a:endParaRPr lang="en-US"/>
          </a:p>
        </p:txBody>
      </p:sp>
    </p:spTree>
    <p:extLst>
      <p:ext uri="{BB962C8B-B14F-4D97-AF65-F5344CB8AC3E}">
        <p14:creationId xmlns:p14="http://schemas.microsoft.com/office/powerpoint/2010/main" val="4014394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D9C1D7-1219-4506-A3E3-60FDE141C307}"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36F8CD-2F58-4B80-BC82-8E27E1BD5DEC}"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8721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DD9C1D7-1219-4506-A3E3-60FDE141C307}"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36F8CD-2F58-4B80-BC82-8E27E1BD5DEC}" type="slidenum">
              <a:rPr lang="en-US" smtClean="0"/>
              <a:t>‹#›</a:t>
            </a:fld>
            <a:endParaRPr lang="en-US"/>
          </a:p>
        </p:txBody>
      </p:sp>
    </p:spTree>
    <p:extLst>
      <p:ext uri="{BB962C8B-B14F-4D97-AF65-F5344CB8AC3E}">
        <p14:creationId xmlns:p14="http://schemas.microsoft.com/office/powerpoint/2010/main" val="798577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DD9C1D7-1219-4506-A3E3-60FDE141C307}"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36F8CD-2F58-4B80-BC82-8E27E1BD5DEC}" type="slidenum">
              <a:rPr lang="en-US" smtClean="0"/>
              <a:t>‹#›</a:t>
            </a:fld>
            <a:endParaRPr lang="en-US"/>
          </a:p>
        </p:txBody>
      </p:sp>
    </p:spTree>
    <p:extLst>
      <p:ext uri="{BB962C8B-B14F-4D97-AF65-F5344CB8AC3E}">
        <p14:creationId xmlns:p14="http://schemas.microsoft.com/office/powerpoint/2010/main" val="295534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DD9C1D7-1219-4506-A3E3-60FDE141C307}"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36F8CD-2F58-4B80-BC82-8E27E1BD5DEC}" type="slidenum">
              <a:rPr lang="en-US" smtClean="0"/>
              <a:t>‹#›</a:t>
            </a:fld>
            <a:endParaRPr lang="en-US"/>
          </a:p>
        </p:txBody>
      </p:sp>
    </p:spTree>
    <p:extLst>
      <p:ext uri="{BB962C8B-B14F-4D97-AF65-F5344CB8AC3E}">
        <p14:creationId xmlns:p14="http://schemas.microsoft.com/office/powerpoint/2010/main" val="3414546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D9C1D7-1219-4506-A3E3-60FDE141C307}"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36F8CD-2F58-4B80-BC82-8E27E1BD5DEC}" type="slidenum">
              <a:rPr lang="en-US" smtClean="0"/>
              <a:t>‹#›</a:t>
            </a:fld>
            <a:endParaRPr lang="en-US"/>
          </a:p>
        </p:txBody>
      </p:sp>
    </p:spTree>
    <p:extLst>
      <p:ext uri="{BB962C8B-B14F-4D97-AF65-F5344CB8AC3E}">
        <p14:creationId xmlns:p14="http://schemas.microsoft.com/office/powerpoint/2010/main" val="1468685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D9C1D7-1219-4506-A3E3-60FDE141C307}"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36F8CD-2F58-4B80-BC82-8E27E1BD5DEC}" type="slidenum">
              <a:rPr lang="en-US" smtClean="0"/>
              <a:t>‹#›</a:t>
            </a:fld>
            <a:endParaRPr lang="en-US"/>
          </a:p>
        </p:txBody>
      </p:sp>
    </p:spTree>
    <p:extLst>
      <p:ext uri="{BB962C8B-B14F-4D97-AF65-F5344CB8AC3E}">
        <p14:creationId xmlns:p14="http://schemas.microsoft.com/office/powerpoint/2010/main" val="1422770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D9C1D7-1219-4506-A3E3-60FDE141C307}"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036F8CD-2F58-4B80-BC82-8E27E1BD5DEC}"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1853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D9C1D7-1219-4506-A3E3-60FDE141C307}"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36F8CD-2F58-4B80-BC82-8E27E1BD5DEC}" type="slidenum">
              <a:rPr lang="en-US" smtClean="0"/>
              <a:t>‹#›</a:t>
            </a:fld>
            <a:endParaRPr lang="en-US"/>
          </a:p>
        </p:txBody>
      </p:sp>
    </p:spTree>
    <p:extLst>
      <p:ext uri="{BB962C8B-B14F-4D97-AF65-F5344CB8AC3E}">
        <p14:creationId xmlns:p14="http://schemas.microsoft.com/office/powerpoint/2010/main" val="3042774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D9C1D7-1219-4506-A3E3-60FDE141C307}"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36F8CD-2F58-4B80-BC82-8E27E1BD5DEC}"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9179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DD9C1D7-1219-4506-A3E3-60FDE141C307}" type="datetimeFigureOut">
              <a:rPr lang="en-US" smtClean="0"/>
              <a:t>11/4/2025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036F8CD-2F58-4B80-BC82-8E27E1BD5DEC}"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1708731"/>
      </p:ext>
    </p:extLst>
  </p:cSld>
  <p:clrMap bg1="lt1" tx1="dk1" bg2="lt2" tx2="dk2" accent1="accent1" accent2="accent2" accent3="accent3" accent4="accent4" accent5="accent5" accent6="accent6" hlink="hlink" folHlink="folHlink"/>
  <p:sldLayoutIdLst>
    <p:sldLayoutId id="2147484198" r:id="rId1"/>
    <p:sldLayoutId id="2147484199" r:id="rId2"/>
    <p:sldLayoutId id="2147484200" r:id="rId3"/>
    <p:sldLayoutId id="2147484201" r:id="rId4"/>
    <p:sldLayoutId id="2147484202" r:id="rId5"/>
    <p:sldLayoutId id="2147484203" r:id="rId6"/>
    <p:sldLayoutId id="2147484204" r:id="rId7"/>
    <p:sldLayoutId id="2147484205" r:id="rId8"/>
    <p:sldLayoutId id="2147484206" r:id="rId9"/>
    <p:sldLayoutId id="2147484207" r:id="rId10"/>
    <p:sldLayoutId id="2147484208"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CEE95-A111-2ACA-FEF0-04B75167C29E}"/>
              </a:ext>
            </a:extLst>
          </p:cNvPr>
          <p:cNvSpPr>
            <a:spLocks noGrp="1"/>
          </p:cNvSpPr>
          <p:nvPr>
            <p:ph type="ctrTitle"/>
          </p:nvPr>
        </p:nvSpPr>
        <p:spPr/>
        <p:txBody>
          <a:bodyPr>
            <a:normAutofit/>
          </a:bodyPr>
          <a:lstStyle/>
          <a:p>
            <a:r>
              <a:rPr lang="en-US" dirty="0"/>
              <a:t>Operations Research</a:t>
            </a:r>
            <a:br>
              <a:rPr lang="en-US" dirty="0"/>
            </a:br>
            <a:r>
              <a:rPr lang="en-US" dirty="0"/>
              <a:t>CSC 434</a:t>
            </a:r>
          </a:p>
        </p:txBody>
      </p:sp>
      <p:sp>
        <p:nvSpPr>
          <p:cNvPr id="3" name="Subtitle 2">
            <a:extLst>
              <a:ext uri="{FF2B5EF4-FFF2-40B4-BE49-F238E27FC236}">
                <a16:creationId xmlns:a16="http://schemas.microsoft.com/office/drawing/2014/main" id="{411A977D-0EB1-BD58-E5E6-5AA05824B9BA}"/>
              </a:ext>
            </a:extLst>
          </p:cNvPr>
          <p:cNvSpPr>
            <a:spLocks noGrp="1"/>
          </p:cNvSpPr>
          <p:nvPr>
            <p:ph type="subTitle" idx="1"/>
          </p:nvPr>
        </p:nvSpPr>
        <p:spPr/>
        <p:txBody>
          <a:bodyPr>
            <a:normAutofit/>
          </a:bodyPr>
          <a:lstStyle/>
          <a:p>
            <a:r>
              <a:rPr lang="en-US" dirty="0"/>
              <a:t>Lecture 2</a:t>
            </a:r>
          </a:p>
          <a:p>
            <a:r>
              <a:rPr lang="en-US" sz="2800" dirty="0" err="1"/>
              <a:t>Oluwambo</a:t>
            </a:r>
            <a:r>
              <a:rPr lang="en-US" sz="2800" dirty="0"/>
              <a:t> Olowe</a:t>
            </a:r>
          </a:p>
        </p:txBody>
      </p:sp>
    </p:spTree>
    <p:extLst>
      <p:ext uri="{BB962C8B-B14F-4D97-AF65-F5344CB8AC3E}">
        <p14:creationId xmlns:p14="http://schemas.microsoft.com/office/powerpoint/2010/main" val="2522391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07E57-C6BF-9FC5-78BB-47829D93ABBF}"/>
              </a:ext>
            </a:extLst>
          </p:cNvPr>
          <p:cNvSpPr>
            <a:spLocks noGrp="1"/>
          </p:cNvSpPr>
          <p:nvPr>
            <p:ph type="title"/>
          </p:nvPr>
        </p:nvSpPr>
        <p:spPr>
          <a:xfrm>
            <a:off x="1295401" y="228601"/>
            <a:ext cx="9601196" cy="647700"/>
          </a:xfrm>
        </p:spPr>
        <p:txBody>
          <a:bodyPr>
            <a:normAutofit fontScale="90000"/>
          </a:bodyPr>
          <a:lstStyle/>
          <a:p>
            <a:r>
              <a:rPr lang="en-US" b="1" dirty="0"/>
              <a:t>Overview of Linear Programing</a:t>
            </a:r>
            <a:br>
              <a:rPr lang="en-US" dirty="0"/>
            </a:br>
            <a:endParaRPr lang="en-US" dirty="0"/>
          </a:p>
        </p:txBody>
      </p:sp>
      <p:sp>
        <p:nvSpPr>
          <p:cNvPr id="3" name="Content Placeholder 2">
            <a:extLst>
              <a:ext uri="{FF2B5EF4-FFF2-40B4-BE49-F238E27FC236}">
                <a16:creationId xmlns:a16="http://schemas.microsoft.com/office/drawing/2014/main" id="{A872ACEF-B7E9-E1FC-C25C-B7D41CB4F7E3}"/>
              </a:ext>
            </a:extLst>
          </p:cNvPr>
          <p:cNvSpPr>
            <a:spLocks noGrp="1"/>
          </p:cNvSpPr>
          <p:nvPr>
            <p:ph idx="1"/>
          </p:nvPr>
        </p:nvSpPr>
        <p:spPr>
          <a:xfrm>
            <a:off x="361950" y="568960"/>
            <a:ext cx="11391900" cy="6289040"/>
          </a:xfrm>
        </p:spPr>
        <p:txBody>
          <a:bodyPr>
            <a:normAutofit fontScale="92500"/>
          </a:bodyPr>
          <a:lstStyle/>
          <a:p>
            <a:r>
              <a:rPr lang="en-US" sz="3200" b="1" dirty="0"/>
              <a:t>Linear Programming (LP)</a:t>
            </a:r>
            <a:r>
              <a:rPr lang="en-US" sz="3200" dirty="0"/>
              <a:t> is a </a:t>
            </a:r>
            <a:r>
              <a:rPr lang="en-US" sz="3200" b="1" dirty="0"/>
              <a:t>quantitative technique</a:t>
            </a:r>
            <a:r>
              <a:rPr lang="en-US" sz="3200" dirty="0"/>
              <a:t> used to determine the </a:t>
            </a:r>
            <a:r>
              <a:rPr lang="en-US" sz="3200" b="1" dirty="0"/>
              <a:t>best possible outcome</a:t>
            </a:r>
            <a:r>
              <a:rPr lang="en-US" sz="3200" dirty="0"/>
              <a:t> in a given mathematical model, such as </a:t>
            </a:r>
            <a:r>
              <a:rPr lang="en-US" sz="3200" b="1" dirty="0"/>
              <a:t>maximum profit</a:t>
            </a:r>
            <a:r>
              <a:rPr lang="en-US" sz="3200" dirty="0"/>
              <a:t>, </a:t>
            </a:r>
            <a:r>
              <a:rPr lang="en-US" sz="3200" b="1" dirty="0"/>
              <a:t>minimum cost</a:t>
            </a:r>
            <a:r>
              <a:rPr lang="en-US" sz="3200" dirty="0"/>
              <a:t>, or </a:t>
            </a:r>
            <a:r>
              <a:rPr lang="en-US" sz="3200" b="1" dirty="0"/>
              <a:t>optimal resource allocation</a:t>
            </a:r>
            <a:r>
              <a:rPr lang="en-US" sz="3200" dirty="0"/>
              <a:t>, under a set of given </a:t>
            </a:r>
            <a:r>
              <a:rPr lang="en-US" sz="3200" b="1" dirty="0"/>
              <a:t>linear constraints</a:t>
            </a:r>
            <a:r>
              <a:rPr lang="en-US" sz="3200" dirty="0"/>
              <a:t>.</a:t>
            </a:r>
          </a:p>
          <a:p>
            <a:r>
              <a:rPr lang="en-US" sz="3200" dirty="0"/>
              <a:t>It is widely applied in </a:t>
            </a:r>
            <a:r>
              <a:rPr lang="en-US" sz="3200" b="1" dirty="0"/>
              <a:t>operations research</a:t>
            </a:r>
            <a:r>
              <a:rPr lang="en-US" sz="3200" dirty="0"/>
              <a:t>, </a:t>
            </a:r>
            <a:r>
              <a:rPr lang="en-US" sz="3200" b="1" dirty="0"/>
              <a:t>computer science</a:t>
            </a:r>
            <a:r>
              <a:rPr lang="en-US" sz="3200" dirty="0"/>
              <a:t>, </a:t>
            </a:r>
            <a:r>
              <a:rPr lang="en-US" sz="3200" b="1" dirty="0"/>
              <a:t>economics</a:t>
            </a:r>
            <a:r>
              <a:rPr lang="en-US" sz="3200" dirty="0"/>
              <a:t>, </a:t>
            </a:r>
            <a:r>
              <a:rPr lang="en-US" sz="3200" b="1" dirty="0"/>
              <a:t>engineering</a:t>
            </a:r>
            <a:r>
              <a:rPr lang="en-US" sz="3200" dirty="0"/>
              <a:t>, </a:t>
            </a:r>
            <a:r>
              <a:rPr lang="en-US" sz="3200" b="1" dirty="0"/>
              <a:t>management science</a:t>
            </a:r>
            <a:r>
              <a:rPr lang="en-US" sz="3200" dirty="0"/>
              <a:t>, and </a:t>
            </a:r>
            <a:r>
              <a:rPr lang="en-US" sz="3200" b="1" dirty="0"/>
              <a:t>artificial intelligence</a:t>
            </a:r>
            <a:r>
              <a:rPr lang="en-US" sz="3200" dirty="0"/>
              <a:t> (especially optimization in machine learning).</a:t>
            </a:r>
          </a:p>
          <a:p>
            <a:r>
              <a:rPr lang="en-US" sz="3200" dirty="0"/>
              <a:t>Linear programming comes under the allocation problem, is a problem which involves the allocation of given number of resources to the job. The objective of these problems is to optimize the total effectiveness </a:t>
            </a:r>
            <a:r>
              <a:rPr lang="en-US" sz="3200" dirty="0" err="1"/>
              <a:t>i.e</a:t>
            </a:r>
            <a:r>
              <a:rPr lang="en-US" sz="3200" dirty="0"/>
              <a:t> to minimize the total cost or maximize the total return. </a:t>
            </a:r>
          </a:p>
          <a:p>
            <a:r>
              <a:rPr lang="en-US" sz="2600" dirty="0"/>
              <a:t>Generally, there are three types of allocation </a:t>
            </a:r>
            <a:r>
              <a:rPr lang="en-US" sz="2600" dirty="0" err="1"/>
              <a:t>problem</a:t>
            </a:r>
            <a:r>
              <a:rPr lang="en-US" sz="3200" dirty="0" err="1"/>
              <a:t>;</a:t>
            </a:r>
            <a:r>
              <a:rPr lang="en-US" sz="2600" dirty="0" err="1"/>
              <a:t>i</a:t>
            </a:r>
            <a:r>
              <a:rPr lang="en-US" sz="2600" dirty="0"/>
              <a:t>. Linear programming problem. ii. Transportation problem. iii. Assignment problem. we shall discuss the linear programming problem only.</a:t>
            </a:r>
          </a:p>
          <a:p>
            <a:endParaRPr lang="en-US" sz="4000" dirty="0"/>
          </a:p>
        </p:txBody>
      </p:sp>
    </p:spTree>
    <p:extLst>
      <p:ext uri="{BB962C8B-B14F-4D97-AF65-F5344CB8AC3E}">
        <p14:creationId xmlns:p14="http://schemas.microsoft.com/office/powerpoint/2010/main" val="3047193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265FF-7609-D1DE-79E3-DAF582563F8A}"/>
              </a:ext>
            </a:extLst>
          </p:cNvPr>
          <p:cNvSpPr>
            <a:spLocks noGrp="1"/>
          </p:cNvSpPr>
          <p:nvPr>
            <p:ph type="title"/>
          </p:nvPr>
        </p:nvSpPr>
        <p:spPr>
          <a:xfrm>
            <a:off x="1024128" y="203200"/>
            <a:ext cx="9720072" cy="345440"/>
          </a:xfrm>
        </p:spPr>
        <p:txBody>
          <a:bodyPr>
            <a:normAutofit fontScale="90000"/>
          </a:bodyPr>
          <a:lstStyle/>
          <a:p>
            <a:r>
              <a:rPr lang="en-US" dirty="0"/>
              <a:t>,</a:t>
            </a:r>
          </a:p>
        </p:txBody>
      </p:sp>
      <p:sp>
        <p:nvSpPr>
          <p:cNvPr id="3" name="Content Placeholder 2">
            <a:extLst>
              <a:ext uri="{FF2B5EF4-FFF2-40B4-BE49-F238E27FC236}">
                <a16:creationId xmlns:a16="http://schemas.microsoft.com/office/drawing/2014/main" id="{807B59DF-FD84-5C60-BF78-33051E5867A3}"/>
              </a:ext>
            </a:extLst>
          </p:cNvPr>
          <p:cNvSpPr>
            <a:spLocks noGrp="1"/>
          </p:cNvSpPr>
          <p:nvPr>
            <p:ph idx="1"/>
          </p:nvPr>
        </p:nvSpPr>
        <p:spPr>
          <a:xfrm>
            <a:off x="325120" y="203200"/>
            <a:ext cx="11379200" cy="6106160"/>
          </a:xfrm>
        </p:spPr>
        <p:txBody>
          <a:bodyPr/>
          <a:lstStyle/>
          <a:p>
            <a:r>
              <a:rPr lang="en-US" sz="2800" dirty="0"/>
              <a:t>It is called “linear” because both:</a:t>
            </a:r>
          </a:p>
          <a:p>
            <a:r>
              <a:rPr lang="en-US" sz="2800" dirty="0"/>
              <a:t>The </a:t>
            </a:r>
            <a:r>
              <a:rPr lang="en-US" sz="2800" b="1" dirty="0"/>
              <a:t>objective function</a:t>
            </a:r>
            <a:r>
              <a:rPr lang="en-US" sz="2800" dirty="0"/>
              <a:t> (what we want to maximize or minimize) is linear, and</a:t>
            </a:r>
          </a:p>
          <a:p>
            <a:r>
              <a:rPr lang="en-US" sz="2800" dirty="0"/>
              <a:t>The </a:t>
            </a:r>
            <a:r>
              <a:rPr lang="en-US" sz="2800" b="1" dirty="0"/>
              <a:t>constraints</a:t>
            </a:r>
            <a:r>
              <a:rPr lang="en-US" sz="2800" dirty="0"/>
              <a:t> (the conditions that must be satisfied) are also linear equations or inequalities.</a:t>
            </a:r>
          </a:p>
          <a:p>
            <a:r>
              <a:rPr lang="en-US" sz="2800" b="1" dirty="0"/>
              <a:t>Programming</a:t>
            </a:r>
            <a:r>
              <a:rPr lang="en-US" sz="2800" dirty="0"/>
              <a:t> here means </a:t>
            </a:r>
            <a:r>
              <a:rPr lang="en-US" sz="2800" i="1" dirty="0"/>
              <a:t>planning</a:t>
            </a:r>
            <a:r>
              <a:rPr lang="en-US" sz="2800" dirty="0"/>
              <a:t> or </a:t>
            </a:r>
            <a:r>
              <a:rPr lang="en-US" sz="2800" i="1" dirty="0"/>
              <a:t>scheduling</a:t>
            </a:r>
            <a:r>
              <a:rPr lang="en-US" sz="2800" dirty="0"/>
              <a:t>, not computer coding.</a:t>
            </a:r>
            <a:br>
              <a:rPr lang="en-US" sz="2800" dirty="0"/>
            </a:br>
            <a:r>
              <a:rPr lang="en-US" sz="2800" dirty="0"/>
              <a:t>LP is a powerful tool used in:</a:t>
            </a:r>
          </a:p>
          <a:p>
            <a:r>
              <a:rPr lang="en-US" sz="2800" dirty="0"/>
              <a:t>Resource allocation</a:t>
            </a:r>
          </a:p>
          <a:p>
            <a:r>
              <a:rPr lang="en-US" sz="2800" dirty="0"/>
              <a:t>Production planning</a:t>
            </a:r>
          </a:p>
          <a:p>
            <a:r>
              <a:rPr lang="en-US" sz="2800" dirty="0"/>
              <a:t>Transportation and logistics</a:t>
            </a:r>
          </a:p>
          <a:p>
            <a:r>
              <a:rPr lang="en-US" sz="2800" dirty="0"/>
              <a:t>Diet formulation</a:t>
            </a:r>
          </a:p>
          <a:p>
            <a:r>
              <a:rPr lang="en-US" sz="2800" dirty="0"/>
              <a:t>Scheduling and network flow optimization</a:t>
            </a:r>
          </a:p>
          <a:p>
            <a:endParaRPr lang="en-US" dirty="0"/>
          </a:p>
          <a:p>
            <a:endParaRPr lang="en-US" dirty="0"/>
          </a:p>
        </p:txBody>
      </p:sp>
    </p:spTree>
    <p:extLst>
      <p:ext uri="{BB962C8B-B14F-4D97-AF65-F5344CB8AC3E}">
        <p14:creationId xmlns:p14="http://schemas.microsoft.com/office/powerpoint/2010/main" val="3441907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2CD19-F826-1D6C-B63D-FAD77B7E5724}"/>
              </a:ext>
            </a:extLst>
          </p:cNvPr>
          <p:cNvSpPr>
            <a:spLocks noGrp="1"/>
          </p:cNvSpPr>
          <p:nvPr>
            <p:ph type="title"/>
          </p:nvPr>
        </p:nvSpPr>
        <p:spPr>
          <a:xfrm>
            <a:off x="2419351" y="228600"/>
            <a:ext cx="9085262" cy="361950"/>
          </a:xfrm>
        </p:spPr>
        <p:txBody>
          <a:bodyPr>
            <a:normAutofit fontScale="90000"/>
          </a:bodyPr>
          <a:lstStyle/>
          <a:p>
            <a:br>
              <a:rPr lang="en-US" sz="5400" b="1" dirty="0"/>
            </a:br>
            <a:r>
              <a:rPr lang="en-US" sz="5400" b="1" dirty="0"/>
              <a:t>Basic Concept</a:t>
            </a:r>
            <a:br>
              <a:rPr lang="en-US" sz="5400" b="1" dirty="0"/>
            </a:b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786CF45-1440-AE87-B26D-D6CB460D7E85}"/>
                  </a:ext>
                </a:extLst>
              </p:cNvPr>
              <p:cNvSpPr>
                <a:spLocks noGrp="1"/>
              </p:cNvSpPr>
              <p:nvPr>
                <p:ph idx="1"/>
              </p:nvPr>
            </p:nvSpPr>
            <p:spPr>
              <a:xfrm>
                <a:off x="495300" y="590550"/>
                <a:ext cx="11334750" cy="5886450"/>
              </a:xfrm>
            </p:spPr>
            <p:txBody>
              <a:bodyPr>
                <a:normAutofit/>
              </a:bodyPr>
              <a:lstStyle/>
              <a:p>
                <a:r>
                  <a:rPr lang="en-US" sz="2800" dirty="0"/>
                  <a:t>L</a:t>
                </a:r>
                <a:r>
                  <a:rPr lang="en-US" sz="3200" dirty="0"/>
                  <a:t>inear Programming is based on </a:t>
                </a:r>
                <a:r>
                  <a:rPr lang="en-US" sz="3200" b="1" dirty="0"/>
                  <a:t>optimization</a:t>
                </a:r>
                <a:r>
                  <a:rPr lang="en-US" sz="3200" dirty="0"/>
                  <a:t> — that is, finding the </a:t>
                </a:r>
                <a:r>
                  <a:rPr lang="en-US" sz="3200" i="1" dirty="0"/>
                  <a:t>maximum</a:t>
                </a:r>
                <a:r>
                  <a:rPr lang="en-US" sz="3200" dirty="0"/>
                  <a:t> or </a:t>
                </a:r>
                <a:r>
                  <a:rPr lang="en-US" sz="3200" i="1" dirty="0"/>
                  <a:t>minimum</a:t>
                </a:r>
                <a:r>
                  <a:rPr lang="en-US" sz="3200" dirty="0"/>
                  <a:t> value of a linear function, subject to linear constraints.</a:t>
                </a:r>
              </a:p>
              <a:p>
                <a:r>
                  <a:rPr lang="en-US" sz="3200" dirty="0"/>
                  <a:t>A Linear Programming Problem (LPP) seeks to:</a:t>
                </a:r>
              </a:p>
              <a:p>
                <a14:m>
                  <m:oMath xmlns:m="http://schemas.openxmlformats.org/officeDocument/2006/math">
                    <m:r>
                      <m:rPr>
                        <m:nor/>
                      </m:rPr>
                      <a:rPr lang="en-US" sz="3200" b="0"/>
                      <m:t>Optimize</m:t>
                    </m:r>
                    <m:r>
                      <m:rPr>
                        <m:nor/>
                      </m:rPr>
                      <a:rPr lang="en-US" sz="3200" b="0" i="1"/>
                      <m:t> (</m:t>
                    </m:r>
                    <m:r>
                      <m:rPr>
                        <m:nor/>
                      </m:rPr>
                      <a:rPr lang="en-US" sz="3200" b="0" i="1"/>
                      <m:t>maximize</m:t>
                    </m:r>
                    <m:r>
                      <m:rPr>
                        <m:nor/>
                      </m:rPr>
                      <a:rPr lang="en-US" sz="3200" b="0" i="1"/>
                      <m:t> </m:t>
                    </m:r>
                    <m:r>
                      <m:rPr>
                        <m:nor/>
                      </m:rPr>
                      <a:rPr lang="en-US" sz="3200" b="0" i="1"/>
                      <m:t>or</m:t>
                    </m:r>
                    <m:r>
                      <m:rPr>
                        <m:nor/>
                      </m:rPr>
                      <a:rPr lang="en-US" sz="3200" b="0" i="1"/>
                      <m:t> </m:t>
                    </m:r>
                    <m:r>
                      <m:rPr>
                        <m:nor/>
                      </m:rPr>
                      <a:rPr lang="en-US" sz="3200" b="0" i="1"/>
                      <m:t>minimize</m:t>
                    </m:r>
                    <m:r>
                      <m:rPr>
                        <m:nor/>
                      </m:rPr>
                      <a:rPr lang="en-US" sz="3200" b="0" i="1"/>
                      <m:t>) </m:t>
                    </m:r>
                    <m:r>
                      <a:rPr lang="en-US" sz="3200" b="0" i="1"/>
                      <m:t>𝑍</m:t>
                    </m:r>
                    <m:r>
                      <a:rPr lang="en-US" sz="2400"/>
                      <m:t>=</m:t>
                    </m:r>
                    <m:sSub>
                      <m:sSubPr>
                        <m:ctrlPr>
                          <a:rPr lang="ar-AE" sz="2400" i="1"/>
                        </m:ctrlPr>
                      </m:sSubPr>
                      <m:e>
                        <m:r>
                          <a:rPr lang="ar-AE" sz="2400" i="1"/>
                          <m:t>𝑐</m:t>
                        </m:r>
                      </m:e>
                      <m:sub>
                        <m:r>
                          <a:rPr lang="ar-AE" sz="2400"/>
                          <m:t>1</m:t>
                        </m:r>
                      </m:sub>
                    </m:sSub>
                    <m:sSub>
                      <m:sSubPr>
                        <m:ctrlPr>
                          <a:rPr lang="ar-AE" sz="2400" i="1"/>
                        </m:ctrlPr>
                      </m:sSubPr>
                      <m:e>
                        <m:r>
                          <a:rPr lang="ar-AE" sz="2400" i="1"/>
                          <m:t>𝑥</m:t>
                        </m:r>
                      </m:e>
                      <m:sub>
                        <m:r>
                          <a:rPr lang="ar-AE" sz="2400"/>
                          <m:t>1</m:t>
                        </m:r>
                      </m:sub>
                    </m:sSub>
                    <m:r>
                      <a:rPr lang="ar-AE" sz="2400"/>
                      <m:t>+</m:t>
                    </m:r>
                    <m:sSub>
                      <m:sSubPr>
                        <m:ctrlPr>
                          <a:rPr lang="ar-AE" sz="2400" i="1"/>
                        </m:ctrlPr>
                      </m:sSubPr>
                      <m:e>
                        <m:r>
                          <a:rPr lang="ar-AE" sz="2400" i="1"/>
                          <m:t>𝑐</m:t>
                        </m:r>
                      </m:e>
                      <m:sub>
                        <m:r>
                          <a:rPr lang="ar-AE" sz="2400"/>
                          <m:t>2</m:t>
                        </m:r>
                      </m:sub>
                    </m:sSub>
                    <m:sSub>
                      <m:sSubPr>
                        <m:ctrlPr>
                          <a:rPr lang="ar-AE" sz="2400" i="1"/>
                        </m:ctrlPr>
                      </m:sSubPr>
                      <m:e>
                        <m:r>
                          <a:rPr lang="ar-AE" sz="2400" i="1"/>
                          <m:t>𝑥</m:t>
                        </m:r>
                      </m:e>
                      <m:sub>
                        <m:r>
                          <a:rPr lang="ar-AE" sz="2400"/>
                          <m:t>2</m:t>
                        </m:r>
                      </m:sub>
                    </m:sSub>
                    <m:r>
                      <a:rPr lang="ar-AE" sz="2400"/>
                      <m:t>+...+</m:t>
                    </m:r>
                    <m:sSub>
                      <m:sSubPr>
                        <m:ctrlPr>
                          <a:rPr lang="ar-AE" sz="2400" i="1"/>
                        </m:ctrlPr>
                      </m:sSubPr>
                      <m:e>
                        <m:r>
                          <a:rPr lang="ar-AE" sz="2400" i="1"/>
                          <m:t>𝑐</m:t>
                        </m:r>
                      </m:e>
                      <m:sub>
                        <m:r>
                          <a:rPr lang="ar-AE" sz="2400" i="1"/>
                          <m:t>𝑛</m:t>
                        </m:r>
                      </m:sub>
                    </m:sSub>
                    <m:sSub>
                      <m:sSubPr>
                        <m:ctrlPr>
                          <a:rPr lang="ar-AE" sz="2400" i="1"/>
                        </m:ctrlPr>
                      </m:sSubPr>
                      <m:e>
                        <m:r>
                          <a:rPr lang="ar-AE" sz="2400" i="1"/>
                          <m:t>𝑥</m:t>
                        </m:r>
                      </m:e>
                      <m:sub>
                        <m:r>
                          <a:rPr lang="ar-AE" sz="2400" i="1"/>
                          <m:t>𝑛</m:t>
                        </m:r>
                      </m:sub>
                    </m:sSub>
                  </m:oMath>
                </a14:m>
                <a:endParaRPr lang="ar-AE" sz="3200" b="0" dirty="0"/>
              </a:p>
              <a:p>
                <a:r>
                  <a:rPr lang="en-US" sz="3200" dirty="0"/>
                  <a:t>Subject to:</a:t>
                </a:r>
              </a:p>
              <a:p>
                <a14:m>
                  <m:oMath xmlns:m="http://schemas.openxmlformats.org/officeDocument/2006/math">
                    <m:d>
                      <m:dPr>
                        <m:begChr m:val="{"/>
                        <m:endChr m:val=""/>
                        <m:ctrlPr>
                          <a:rPr lang="ar-AE" sz="2400"/>
                        </m:ctrlPr>
                      </m:dPr>
                      <m:e>
                        <m:m>
                          <m:mPr>
                            <m:plcHide m:val="on"/>
                            <m:mcs>
                              <m:mc>
                                <m:mcPr>
                                  <m:count m:val="1"/>
                                  <m:mcJc m:val="center"/>
                                </m:mcPr>
                              </m:mc>
                            </m:mcs>
                            <m:ctrlPr>
                              <a:rPr lang="ar-AE" sz="2400"/>
                            </m:ctrlPr>
                          </m:mPr>
                          <m:mr>
                            <m:e>
                              <m:sSub>
                                <m:sSubPr>
                                  <m:ctrlPr>
                                    <a:rPr lang="ar-AE" sz="2400"/>
                                  </m:ctrlPr>
                                </m:sSubPr>
                                <m:e>
                                  <m:r>
                                    <a:rPr lang="ar-AE" sz="2400" i="1"/>
                                    <m:t>𝑎</m:t>
                                  </m:r>
                                </m:e>
                                <m:sub>
                                  <m:r>
                                    <a:rPr lang="ar-AE" sz="2400"/>
                                    <m:t>11</m:t>
                                  </m:r>
                                </m:sub>
                              </m:sSub>
                              <m:sSub>
                                <m:sSubPr>
                                  <m:ctrlPr>
                                    <a:rPr lang="ar-AE" sz="2400" i="1"/>
                                  </m:ctrlPr>
                                </m:sSubPr>
                                <m:e>
                                  <m:r>
                                    <a:rPr lang="ar-AE" sz="2400" i="1"/>
                                    <m:t>𝑥</m:t>
                                  </m:r>
                                </m:e>
                                <m:sub>
                                  <m:r>
                                    <a:rPr lang="ar-AE" sz="2400"/>
                                    <m:t>1</m:t>
                                  </m:r>
                                </m:sub>
                              </m:sSub>
                              <m:r>
                                <a:rPr lang="ar-AE" sz="2400"/>
                                <m:t>+</m:t>
                              </m:r>
                              <m:sSub>
                                <m:sSubPr>
                                  <m:ctrlPr>
                                    <a:rPr lang="ar-AE" sz="2400" i="1"/>
                                  </m:ctrlPr>
                                </m:sSubPr>
                                <m:e>
                                  <m:r>
                                    <a:rPr lang="ar-AE" sz="2400" i="1"/>
                                    <m:t>𝑎</m:t>
                                  </m:r>
                                </m:e>
                                <m:sub>
                                  <m:r>
                                    <a:rPr lang="ar-AE" sz="2400"/>
                                    <m:t>12</m:t>
                                  </m:r>
                                </m:sub>
                              </m:sSub>
                              <m:sSub>
                                <m:sSubPr>
                                  <m:ctrlPr>
                                    <a:rPr lang="ar-AE" sz="2400" i="1"/>
                                  </m:ctrlPr>
                                </m:sSubPr>
                                <m:e>
                                  <m:r>
                                    <a:rPr lang="ar-AE" sz="2400" i="1"/>
                                    <m:t>𝑥</m:t>
                                  </m:r>
                                </m:e>
                                <m:sub>
                                  <m:r>
                                    <a:rPr lang="ar-AE" sz="2400"/>
                                    <m:t>2</m:t>
                                  </m:r>
                                </m:sub>
                              </m:sSub>
                              <m:r>
                                <a:rPr lang="ar-AE" sz="2400"/>
                                <m:t>+...+</m:t>
                              </m:r>
                              <m:sSub>
                                <m:sSubPr>
                                  <m:ctrlPr>
                                    <a:rPr lang="ar-AE" sz="2400" i="1"/>
                                  </m:ctrlPr>
                                </m:sSubPr>
                                <m:e>
                                  <m:r>
                                    <a:rPr lang="ar-AE" sz="2400" i="1"/>
                                    <m:t>𝑎</m:t>
                                  </m:r>
                                </m:e>
                                <m:sub>
                                  <m:r>
                                    <a:rPr lang="ar-AE" sz="2400"/>
                                    <m:t>1</m:t>
                                  </m:r>
                                  <m:r>
                                    <a:rPr lang="ar-AE" sz="2400" i="1"/>
                                    <m:t>𝑛</m:t>
                                  </m:r>
                                </m:sub>
                              </m:sSub>
                              <m:sSub>
                                <m:sSubPr>
                                  <m:ctrlPr>
                                    <a:rPr lang="ar-AE" sz="2400" i="1"/>
                                  </m:ctrlPr>
                                </m:sSubPr>
                                <m:e>
                                  <m:r>
                                    <a:rPr lang="ar-AE" sz="2400" i="1"/>
                                    <m:t>𝑥</m:t>
                                  </m:r>
                                </m:e>
                                <m:sub>
                                  <m:r>
                                    <a:rPr lang="ar-AE" sz="2400" i="1"/>
                                    <m:t>𝑛</m:t>
                                  </m:r>
                                </m:sub>
                              </m:sSub>
                              <m:r>
                                <a:rPr lang="ar-AE" sz="2400"/>
                                <m:t>≤</m:t>
                              </m:r>
                              <m:sSub>
                                <m:sSubPr>
                                  <m:ctrlPr>
                                    <a:rPr lang="ar-AE" sz="2400" i="1"/>
                                  </m:ctrlPr>
                                </m:sSubPr>
                                <m:e>
                                  <m:r>
                                    <a:rPr lang="ar-AE" sz="2400" i="1"/>
                                    <m:t>𝑏</m:t>
                                  </m:r>
                                </m:e>
                                <m:sub>
                                  <m:r>
                                    <a:rPr lang="ar-AE" sz="2400"/>
                                    <m:t>1</m:t>
                                  </m:r>
                                </m:sub>
                              </m:sSub>
                            </m:e>
                          </m:mr>
                          <m:mr>
                            <m:e>
                              <m:sSub>
                                <m:sSubPr>
                                  <m:ctrlPr>
                                    <a:rPr lang="ar-AE" sz="2400" i="1"/>
                                  </m:ctrlPr>
                                </m:sSubPr>
                                <m:e>
                                  <m:r>
                                    <a:rPr lang="ar-AE" sz="2400" i="1"/>
                                    <m:t>𝑎</m:t>
                                  </m:r>
                                </m:e>
                                <m:sub>
                                  <m:r>
                                    <a:rPr lang="ar-AE" sz="2400"/>
                                    <m:t>21</m:t>
                                  </m:r>
                                </m:sub>
                              </m:sSub>
                              <m:sSub>
                                <m:sSubPr>
                                  <m:ctrlPr>
                                    <a:rPr lang="ar-AE" sz="2400" i="1"/>
                                  </m:ctrlPr>
                                </m:sSubPr>
                                <m:e>
                                  <m:r>
                                    <a:rPr lang="ar-AE" sz="2400" i="1"/>
                                    <m:t>𝑥</m:t>
                                  </m:r>
                                </m:e>
                                <m:sub>
                                  <m:r>
                                    <a:rPr lang="ar-AE" sz="2400"/>
                                    <m:t>1</m:t>
                                  </m:r>
                                </m:sub>
                              </m:sSub>
                              <m:r>
                                <a:rPr lang="ar-AE" sz="2400"/>
                                <m:t>+</m:t>
                              </m:r>
                              <m:sSub>
                                <m:sSubPr>
                                  <m:ctrlPr>
                                    <a:rPr lang="ar-AE" sz="2400" i="1"/>
                                  </m:ctrlPr>
                                </m:sSubPr>
                                <m:e>
                                  <m:r>
                                    <a:rPr lang="ar-AE" sz="2400" i="1"/>
                                    <m:t>𝑎</m:t>
                                  </m:r>
                                </m:e>
                                <m:sub>
                                  <m:r>
                                    <a:rPr lang="ar-AE" sz="2400"/>
                                    <m:t>22</m:t>
                                  </m:r>
                                </m:sub>
                              </m:sSub>
                              <m:sSub>
                                <m:sSubPr>
                                  <m:ctrlPr>
                                    <a:rPr lang="ar-AE" sz="2400" i="1"/>
                                  </m:ctrlPr>
                                </m:sSubPr>
                                <m:e>
                                  <m:r>
                                    <a:rPr lang="ar-AE" sz="2400" i="1"/>
                                    <m:t>𝑥</m:t>
                                  </m:r>
                                </m:e>
                                <m:sub>
                                  <m:r>
                                    <a:rPr lang="ar-AE" sz="2400"/>
                                    <m:t>2</m:t>
                                  </m:r>
                                </m:sub>
                              </m:sSub>
                              <m:r>
                                <a:rPr lang="ar-AE" sz="2400"/>
                                <m:t>+...+</m:t>
                              </m:r>
                              <m:sSub>
                                <m:sSubPr>
                                  <m:ctrlPr>
                                    <a:rPr lang="ar-AE" sz="2400" i="1"/>
                                  </m:ctrlPr>
                                </m:sSubPr>
                                <m:e>
                                  <m:r>
                                    <a:rPr lang="ar-AE" sz="2400" i="1"/>
                                    <m:t>𝑎</m:t>
                                  </m:r>
                                </m:e>
                                <m:sub>
                                  <m:r>
                                    <a:rPr lang="ar-AE" sz="2400"/>
                                    <m:t>2</m:t>
                                  </m:r>
                                  <m:r>
                                    <a:rPr lang="ar-AE" sz="2400" i="1"/>
                                    <m:t>𝑛</m:t>
                                  </m:r>
                                </m:sub>
                              </m:sSub>
                              <m:sSub>
                                <m:sSubPr>
                                  <m:ctrlPr>
                                    <a:rPr lang="ar-AE" sz="2400" i="1"/>
                                  </m:ctrlPr>
                                </m:sSubPr>
                                <m:e>
                                  <m:r>
                                    <a:rPr lang="ar-AE" sz="2400" i="1"/>
                                    <m:t>𝑥</m:t>
                                  </m:r>
                                </m:e>
                                <m:sub>
                                  <m:r>
                                    <a:rPr lang="ar-AE" sz="2400" i="1"/>
                                    <m:t>𝑛</m:t>
                                  </m:r>
                                </m:sub>
                              </m:sSub>
                              <m:r>
                                <a:rPr lang="ar-AE" sz="2400"/>
                                <m:t>≤</m:t>
                              </m:r>
                              <m:sSub>
                                <m:sSubPr>
                                  <m:ctrlPr>
                                    <a:rPr lang="ar-AE" sz="2400" i="1"/>
                                  </m:ctrlPr>
                                </m:sSubPr>
                                <m:e>
                                  <m:r>
                                    <a:rPr lang="ar-AE" sz="2400" i="1"/>
                                    <m:t>𝑏</m:t>
                                  </m:r>
                                </m:e>
                                <m:sub>
                                  <m:r>
                                    <a:rPr lang="ar-AE" sz="2400"/>
                                    <m:t>2</m:t>
                                  </m:r>
                                </m:sub>
                              </m:sSub>
                            </m:e>
                          </m:mr>
                          <m:mr>
                            <m:e>
                              <m:r>
                                <a:rPr lang="ar-AE" sz="2400"/>
                                <m:t>⋮</m:t>
                              </m:r>
                              <m:phant>
                                <m:phantPr>
                                  <m:zeroAsc m:val="on"/>
                                  <m:ctrlPr>
                                    <a:rPr lang="ar-AE" sz="2400" i="1"/>
                                  </m:ctrlPr>
                                </m:phantPr>
                                <m:e>
                                  <m:r>
                                    <a:rPr lang="ar-AE" sz="2400"/>
                                    <m:t> </m:t>
                                  </m:r>
                                </m:e>
                              </m:phant>
                            </m:e>
                          </m:mr>
                          <m:mr>
                            <m:e>
                              <m:sSub>
                                <m:sSubPr>
                                  <m:ctrlPr>
                                    <a:rPr lang="ar-AE" sz="2400" i="1"/>
                                  </m:ctrlPr>
                                </m:sSubPr>
                                <m:e>
                                  <m:r>
                                    <a:rPr lang="ar-AE" sz="2400" i="1"/>
                                    <m:t>𝑥</m:t>
                                  </m:r>
                                </m:e>
                                <m:sub>
                                  <m:r>
                                    <a:rPr lang="ar-AE" sz="2400"/>
                                    <m:t>1</m:t>
                                  </m:r>
                                </m:sub>
                              </m:sSub>
                              <m:r>
                                <a:rPr lang="ar-AE" sz="2400"/>
                                <m:t>,</m:t>
                              </m:r>
                              <m:sSub>
                                <m:sSubPr>
                                  <m:ctrlPr>
                                    <a:rPr lang="ar-AE" sz="2400" i="1"/>
                                  </m:ctrlPr>
                                </m:sSubPr>
                                <m:e>
                                  <m:r>
                                    <a:rPr lang="ar-AE" sz="2400" i="1"/>
                                    <m:t>𝑥</m:t>
                                  </m:r>
                                </m:e>
                                <m:sub>
                                  <m:r>
                                    <a:rPr lang="ar-AE" sz="2400"/>
                                    <m:t>2</m:t>
                                  </m:r>
                                </m:sub>
                              </m:sSub>
                              <m:r>
                                <a:rPr lang="ar-AE" sz="2400"/>
                                <m:t>,...,</m:t>
                              </m:r>
                              <m:sSub>
                                <m:sSubPr>
                                  <m:ctrlPr>
                                    <a:rPr lang="ar-AE" sz="2400" i="1"/>
                                  </m:ctrlPr>
                                </m:sSubPr>
                                <m:e>
                                  <m:r>
                                    <a:rPr lang="ar-AE" sz="2400" i="1"/>
                                    <m:t>𝑥</m:t>
                                  </m:r>
                                </m:e>
                                <m:sub>
                                  <m:r>
                                    <a:rPr lang="ar-AE" sz="2400" i="1"/>
                                    <m:t>𝑛</m:t>
                                  </m:r>
                                </m:sub>
                              </m:sSub>
                              <m:r>
                                <a:rPr lang="ar-AE" sz="2400"/>
                                <m:t>≥</m:t>
                              </m:r>
                              <m:r>
                                <a:rPr lang="ar-AE" sz="2400"/>
                                <m:t>0</m:t>
                              </m:r>
                            </m:e>
                          </m:mr>
                        </m:m>
                      </m:e>
                    </m:d>
                  </m:oMath>
                </a14:m>
                <a:endParaRPr lang="ar-AE" sz="3200" dirty="0"/>
              </a:p>
              <a:p>
                <a:endParaRPr lang="en-US" sz="2800" dirty="0"/>
              </a:p>
            </p:txBody>
          </p:sp>
        </mc:Choice>
        <mc:Fallback>
          <p:sp>
            <p:nvSpPr>
              <p:cNvPr id="3" name="Content Placeholder 2">
                <a:extLst>
                  <a:ext uri="{FF2B5EF4-FFF2-40B4-BE49-F238E27FC236}">
                    <a16:creationId xmlns:a16="http://schemas.microsoft.com/office/drawing/2014/main" id="{C786CF45-1440-AE87-B26D-D6CB460D7E85}"/>
                  </a:ext>
                </a:extLst>
              </p:cNvPr>
              <p:cNvSpPr>
                <a:spLocks noGrp="1" noRot="1" noChangeAspect="1" noMove="1" noResize="1" noEditPoints="1" noAdjustHandles="1" noChangeArrowheads="1" noChangeShapeType="1" noTextEdit="1"/>
              </p:cNvSpPr>
              <p:nvPr>
                <p:ph idx="1"/>
              </p:nvPr>
            </p:nvSpPr>
            <p:spPr>
              <a:xfrm>
                <a:off x="495300" y="590550"/>
                <a:ext cx="11334750" cy="5886450"/>
              </a:xfrm>
              <a:blipFill>
                <a:blip r:embed="rId2"/>
                <a:stretch>
                  <a:fillRect l="-968" t="-2070" r="-806"/>
                </a:stretch>
              </a:blipFill>
            </p:spPr>
            <p:txBody>
              <a:bodyPr/>
              <a:lstStyle/>
              <a:p>
                <a:r>
                  <a:rPr lang="en-US">
                    <a:noFill/>
                  </a:rPr>
                  <a:t> </a:t>
                </a:r>
              </a:p>
            </p:txBody>
          </p:sp>
        </mc:Fallback>
      </mc:AlternateContent>
    </p:spTree>
    <p:extLst>
      <p:ext uri="{BB962C8B-B14F-4D97-AF65-F5344CB8AC3E}">
        <p14:creationId xmlns:p14="http://schemas.microsoft.com/office/powerpoint/2010/main" val="603305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C7564-3F89-73BC-1D0B-9F2F6635F49A}"/>
              </a:ext>
            </a:extLst>
          </p:cNvPr>
          <p:cNvSpPr>
            <a:spLocks noGrp="1"/>
          </p:cNvSpPr>
          <p:nvPr>
            <p:ph type="title"/>
          </p:nvPr>
        </p:nvSpPr>
        <p:spPr>
          <a:xfrm>
            <a:off x="1024128" y="0"/>
            <a:ext cx="9720072" cy="819150"/>
          </a:xfrm>
        </p:spPr>
        <p:txBody>
          <a:bodyPr>
            <a:normAutofit fontScale="90000"/>
          </a:bodyPr>
          <a:lstStyle/>
          <a:p>
            <a:r>
              <a:rPr lang="en-US" dirty="0"/>
              <a:t> </a:t>
            </a:r>
            <a:br>
              <a:rPr lang="en-US" dirty="0"/>
            </a:br>
            <a:r>
              <a:rPr lang="en-US" dirty="0"/>
              <a:t>Key Terminologies</a:t>
            </a:r>
            <a:br>
              <a:rPr lang="en-US" dirty="0"/>
            </a:br>
            <a:endParaRPr lang="en-US" dirty="0"/>
          </a:p>
        </p:txBody>
      </p:sp>
      <p:graphicFrame>
        <p:nvGraphicFramePr>
          <p:cNvPr id="5" name="Content Placeholder 4">
            <a:extLst>
              <a:ext uri="{FF2B5EF4-FFF2-40B4-BE49-F238E27FC236}">
                <a16:creationId xmlns:a16="http://schemas.microsoft.com/office/drawing/2014/main" id="{EB7B049F-7538-964D-0B6E-CA976799449C}"/>
              </a:ext>
            </a:extLst>
          </p:cNvPr>
          <p:cNvGraphicFramePr>
            <a:graphicFrameLocks noGrp="1"/>
          </p:cNvGraphicFramePr>
          <p:nvPr>
            <p:ph idx="1"/>
            <p:extLst>
              <p:ext uri="{D42A27DB-BD31-4B8C-83A1-F6EECF244321}">
                <p14:modId xmlns:p14="http://schemas.microsoft.com/office/powerpoint/2010/main" val="1815429011"/>
              </p:ext>
            </p:extLst>
          </p:nvPr>
        </p:nvGraphicFramePr>
        <p:xfrm>
          <a:off x="589280" y="819150"/>
          <a:ext cx="11013440" cy="5764532"/>
        </p:xfrm>
        <a:graphic>
          <a:graphicData uri="http://schemas.openxmlformats.org/drawingml/2006/table">
            <a:tbl>
              <a:tblPr firstRow="1" firstCol="1" bandRow="1">
                <a:tableStyleId>{5C22544A-7EE6-4342-B048-85BDC9FD1C3A}</a:tableStyleId>
              </a:tblPr>
              <a:tblGrid>
                <a:gridCol w="2851120">
                  <a:extLst>
                    <a:ext uri="{9D8B030D-6E8A-4147-A177-3AD203B41FA5}">
                      <a16:colId xmlns:a16="http://schemas.microsoft.com/office/drawing/2014/main" val="1963998837"/>
                    </a:ext>
                  </a:extLst>
                </a:gridCol>
                <a:gridCol w="8162320">
                  <a:extLst>
                    <a:ext uri="{9D8B030D-6E8A-4147-A177-3AD203B41FA5}">
                      <a16:colId xmlns:a16="http://schemas.microsoft.com/office/drawing/2014/main" val="1605219187"/>
                    </a:ext>
                  </a:extLst>
                </a:gridCol>
              </a:tblGrid>
              <a:tr h="692728">
                <a:tc>
                  <a:txBody>
                    <a:bodyPr/>
                    <a:lstStyle/>
                    <a:p>
                      <a:pPr>
                        <a:lnSpc>
                          <a:spcPct val="107000"/>
                        </a:lnSpc>
                        <a:spcAft>
                          <a:spcPts val="800"/>
                        </a:spcAft>
                        <a:buNone/>
                      </a:pPr>
                      <a:r>
                        <a:rPr lang="en-US" sz="2400" dirty="0">
                          <a:effectLst/>
                        </a:rPr>
                        <a:t>Term</a:t>
                      </a:r>
                      <a:endParaRPr lang="en-US" sz="24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dirty="0">
                          <a:effectLst/>
                        </a:rPr>
                        <a:t>Meaning</a:t>
                      </a:r>
                      <a:endParaRPr lang="en-US" sz="24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69521903"/>
                  </a:ext>
                </a:extLst>
              </a:tr>
              <a:tr h="826230">
                <a:tc>
                  <a:txBody>
                    <a:bodyPr/>
                    <a:lstStyle/>
                    <a:p>
                      <a:pPr>
                        <a:lnSpc>
                          <a:spcPct val="107000"/>
                        </a:lnSpc>
                        <a:spcAft>
                          <a:spcPts val="800"/>
                        </a:spcAft>
                        <a:buNone/>
                      </a:pPr>
                      <a:r>
                        <a:rPr lang="en-US" sz="2400" dirty="0">
                          <a:effectLst/>
                        </a:rPr>
                        <a:t>Decision Variables</a:t>
                      </a:r>
                      <a:endParaRPr lang="en-US" sz="24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dirty="0">
                          <a:effectLst/>
                        </a:rPr>
                        <a:t>The unknowns whose values are to be determined (e.g., ( x1, x2 )).</a:t>
                      </a:r>
                      <a:endParaRPr lang="en-US" sz="24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19376391"/>
                  </a:ext>
                </a:extLst>
              </a:tr>
              <a:tr h="692728">
                <a:tc>
                  <a:txBody>
                    <a:bodyPr/>
                    <a:lstStyle/>
                    <a:p>
                      <a:pPr>
                        <a:lnSpc>
                          <a:spcPct val="107000"/>
                        </a:lnSpc>
                        <a:spcAft>
                          <a:spcPts val="800"/>
                        </a:spcAft>
                        <a:buNone/>
                      </a:pPr>
                      <a:r>
                        <a:rPr lang="en-US" sz="2400">
                          <a:effectLst/>
                        </a:rPr>
                        <a:t>Objective Function</a:t>
                      </a:r>
                      <a:endParaRPr lang="en-US" sz="24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dirty="0">
                          <a:effectLst/>
                        </a:rPr>
                        <a:t>The function that represents the goal (maximize or minimize).</a:t>
                      </a:r>
                      <a:endParaRPr lang="en-US" sz="24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17140157"/>
                  </a:ext>
                </a:extLst>
              </a:tr>
              <a:tr h="692728">
                <a:tc>
                  <a:txBody>
                    <a:bodyPr/>
                    <a:lstStyle/>
                    <a:p>
                      <a:pPr>
                        <a:lnSpc>
                          <a:spcPct val="107000"/>
                        </a:lnSpc>
                        <a:spcAft>
                          <a:spcPts val="800"/>
                        </a:spcAft>
                        <a:buNone/>
                      </a:pPr>
                      <a:r>
                        <a:rPr lang="en-US" sz="2400">
                          <a:effectLst/>
                        </a:rPr>
                        <a:t>Constraints</a:t>
                      </a:r>
                      <a:endParaRPr lang="en-US" sz="24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dirty="0">
                          <a:effectLst/>
                        </a:rPr>
                        <a:t>The linear inequalities or equations that restrict the variables.</a:t>
                      </a:r>
                      <a:endParaRPr lang="en-US" sz="24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57979022"/>
                  </a:ext>
                </a:extLst>
              </a:tr>
              <a:tr h="826230">
                <a:tc>
                  <a:txBody>
                    <a:bodyPr/>
                    <a:lstStyle/>
                    <a:p>
                      <a:pPr>
                        <a:lnSpc>
                          <a:spcPct val="107000"/>
                        </a:lnSpc>
                        <a:spcAft>
                          <a:spcPts val="800"/>
                        </a:spcAft>
                        <a:buNone/>
                      </a:pPr>
                      <a:r>
                        <a:rPr lang="en-US" sz="2400">
                          <a:effectLst/>
                        </a:rPr>
                        <a:t>Feasible Solution</a:t>
                      </a:r>
                      <a:endParaRPr lang="en-US" sz="24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dirty="0">
                          <a:effectLst/>
                        </a:rPr>
                        <a:t>Any set of values of ( x1, x2, ..., </a:t>
                      </a:r>
                      <a:r>
                        <a:rPr lang="en-US" sz="2400" dirty="0" err="1">
                          <a:effectLst/>
                        </a:rPr>
                        <a:t>xn</a:t>
                      </a:r>
                      <a:r>
                        <a:rPr lang="en-US" sz="2400" dirty="0">
                          <a:effectLst/>
                        </a:rPr>
                        <a:t> ) that satisfies all constraints.</a:t>
                      </a:r>
                      <a:endParaRPr lang="en-US" sz="24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8650323"/>
                  </a:ext>
                </a:extLst>
              </a:tr>
              <a:tr h="692728">
                <a:tc>
                  <a:txBody>
                    <a:bodyPr/>
                    <a:lstStyle/>
                    <a:p>
                      <a:pPr>
                        <a:lnSpc>
                          <a:spcPct val="107000"/>
                        </a:lnSpc>
                        <a:spcAft>
                          <a:spcPts val="800"/>
                        </a:spcAft>
                        <a:buNone/>
                      </a:pPr>
                      <a:r>
                        <a:rPr lang="en-US" sz="2400">
                          <a:effectLst/>
                        </a:rPr>
                        <a:t>Feasible Region</a:t>
                      </a:r>
                      <a:endParaRPr lang="en-US" sz="24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dirty="0">
                          <a:effectLst/>
                        </a:rPr>
                        <a:t>The graphical area that satisfies all constraints.</a:t>
                      </a:r>
                      <a:endParaRPr lang="en-US" sz="24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41021724"/>
                  </a:ext>
                </a:extLst>
              </a:tr>
              <a:tr h="1341160">
                <a:tc>
                  <a:txBody>
                    <a:bodyPr/>
                    <a:lstStyle/>
                    <a:p>
                      <a:pPr>
                        <a:lnSpc>
                          <a:spcPct val="107000"/>
                        </a:lnSpc>
                        <a:spcAft>
                          <a:spcPts val="800"/>
                        </a:spcAft>
                        <a:buNone/>
                      </a:pPr>
                      <a:r>
                        <a:rPr lang="en-US" sz="2400">
                          <a:effectLst/>
                        </a:rPr>
                        <a:t>Optimal Solution</a:t>
                      </a:r>
                      <a:endParaRPr lang="en-US" sz="24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dirty="0">
                          <a:effectLst/>
                        </a:rPr>
                        <a:t>The feasible solution that gives the best (maximum or minimum) value of the objective function.</a:t>
                      </a:r>
                      <a:endParaRPr lang="en-US" sz="24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60721207"/>
                  </a:ext>
                </a:extLst>
              </a:tr>
            </a:tbl>
          </a:graphicData>
        </a:graphic>
      </p:graphicFrame>
    </p:spTree>
    <p:extLst>
      <p:ext uri="{BB962C8B-B14F-4D97-AF65-F5344CB8AC3E}">
        <p14:creationId xmlns:p14="http://schemas.microsoft.com/office/powerpoint/2010/main" val="2218433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573FA-3756-A435-ACC0-D8D94B9377CA}"/>
              </a:ext>
            </a:extLst>
          </p:cNvPr>
          <p:cNvSpPr>
            <a:spLocks noGrp="1"/>
          </p:cNvSpPr>
          <p:nvPr>
            <p:ph type="title"/>
          </p:nvPr>
        </p:nvSpPr>
        <p:spPr>
          <a:xfrm>
            <a:off x="1024128" y="266700"/>
            <a:ext cx="9720072" cy="762000"/>
          </a:xfrm>
        </p:spPr>
        <p:txBody>
          <a:bodyPr>
            <a:normAutofit fontScale="90000"/>
          </a:bodyPr>
          <a:lstStyle/>
          <a:p>
            <a:r>
              <a:rPr lang="en-US" dirty="0"/>
              <a:t>Components of a Linear Programming Problem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A66FC40-C89C-5C40-68EF-E07D47783218}"/>
                  </a:ext>
                </a:extLst>
              </p:cNvPr>
              <p:cNvSpPr>
                <a:spLocks noGrp="1"/>
              </p:cNvSpPr>
              <p:nvPr>
                <p:ph idx="1"/>
              </p:nvPr>
            </p:nvSpPr>
            <p:spPr>
              <a:xfrm>
                <a:off x="323850" y="1028700"/>
                <a:ext cx="11544300" cy="5429250"/>
              </a:xfrm>
            </p:spPr>
            <p:txBody>
              <a:bodyPr/>
              <a:lstStyle/>
              <a:p>
                <a:r>
                  <a:rPr lang="en-US" sz="3200" dirty="0"/>
                  <a:t>A standard LP problem has three key components:</a:t>
                </a:r>
              </a:p>
              <a:p>
                <a:r>
                  <a:rPr lang="en-US" sz="3200" dirty="0"/>
                  <a:t>1. </a:t>
                </a:r>
                <a:r>
                  <a:rPr lang="en-US" sz="2400" dirty="0"/>
                  <a:t>Decision Variables</a:t>
                </a:r>
              </a:p>
              <a:p>
                <a:r>
                  <a:rPr lang="en-US" sz="2400" dirty="0"/>
                  <a:t>These represent the choices available to the decision-maker.</a:t>
                </a:r>
                <a:br>
                  <a:rPr lang="en-US" sz="2400" dirty="0"/>
                </a:br>
                <a:r>
                  <a:rPr lang="en-US" sz="2400" dirty="0"/>
                  <a:t>They are the unknowns we want to determine.</a:t>
                </a:r>
              </a:p>
              <a:p>
                <a:r>
                  <a:rPr lang="en-US" sz="2400" dirty="0"/>
                  <a:t>Example:</a:t>
                </a:r>
                <a:br>
                  <a:rPr lang="en-US" sz="2400" dirty="0"/>
                </a:br>
                <a14:m>
                  <m:oMath xmlns:m="http://schemas.openxmlformats.org/officeDocument/2006/math">
                    <m:sSub>
                      <m:sSubPr>
                        <m:ctrlPr>
                          <a:rPr lang="ar-AE" sz="2400"/>
                        </m:ctrlPr>
                      </m:sSubPr>
                      <m:e>
                        <m:r>
                          <a:rPr lang="ar-AE" sz="2400" i="1"/>
                          <m:t>𝑥</m:t>
                        </m:r>
                      </m:e>
                      <m:sub>
                        <m:r>
                          <a:rPr lang="ar-AE" sz="2400"/>
                          <m:t>1</m:t>
                        </m:r>
                      </m:sub>
                    </m:sSub>
                    <m:r>
                      <a:rPr lang="ar-AE" sz="2400"/>
                      <m:t>=</m:t>
                    </m:r>
                  </m:oMath>
                </a14:m>
                <a:r>
                  <a:rPr lang="en-US" sz="2400" dirty="0"/>
                  <a:t>number of product A to produce</a:t>
                </a:r>
                <a:br>
                  <a:rPr lang="en-US" sz="2400" dirty="0"/>
                </a:br>
                <a14:m>
                  <m:oMath xmlns:m="http://schemas.openxmlformats.org/officeDocument/2006/math">
                    <m:sSub>
                      <m:sSubPr>
                        <m:ctrlPr>
                          <a:rPr lang="ar-AE" sz="2400"/>
                        </m:ctrlPr>
                      </m:sSubPr>
                      <m:e>
                        <m:r>
                          <a:rPr lang="ar-AE" sz="2400" i="1"/>
                          <m:t>𝑥</m:t>
                        </m:r>
                      </m:e>
                      <m:sub>
                        <m:r>
                          <a:rPr lang="ar-AE" sz="2400"/>
                          <m:t>2</m:t>
                        </m:r>
                      </m:sub>
                    </m:sSub>
                    <m:r>
                      <a:rPr lang="ar-AE" sz="2400"/>
                      <m:t>=</m:t>
                    </m:r>
                  </m:oMath>
                </a14:m>
                <a:r>
                  <a:rPr lang="en-US" sz="2400" dirty="0"/>
                  <a:t>number of product B to produce</a:t>
                </a:r>
              </a:p>
              <a:p>
                <a:r>
                  <a:rPr lang="en-US" sz="2400" dirty="0"/>
                  <a:t>2 Objective Function</a:t>
                </a:r>
              </a:p>
              <a:p>
                <a:r>
                  <a:rPr lang="en-US" sz="2400" dirty="0"/>
                  <a:t>A </a:t>
                </a:r>
                <a:r>
                  <a:rPr lang="en-US" sz="2400" b="1" dirty="0"/>
                  <a:t>linear function</a:t>
                </a:r>
                <a:r>
                  <a:rPr lang="en-US" sz="2400" dirty="0"/>
                  <a:t> of the decision variables that is to be </a:t>
                </a:r>
                <a:r>
                  <a:rPr lang="en-US" sz="2400" b="1" dirty="0"/>
                  <a:t>maximized</a:t>
                </a:r>
                <a:r>
                  <a:rPr lang="en-US" sz="2400" dirty="0"/>
                  <a:t> or </a:t>
                </a:r>
                <a:r>
                  <a:rPr lang="en-US" sz="2400" b="1" dirty="0"/>
                  <a:t>minimized</a:t>
                </a:r>
                <a:r>
                  <a:rPr lang="en-US" sz="2400" dirty="0"/>
                  <a:t>.</a:t>
                </a:r>
              </a:p>
              <a:p>
                <a:r>
                  <a:rPr lang="en-US" sz="2400" dirty="0"/>
                  <a:t>Example:</a:t>
                </a:r>
                <a:br>
                  <a:rPr lang="en-US" sz="2400" dirty="0"/>
                </a:br>
                <a:r>
                  <a:rPr lang="en-US" sz="2400" dirty="0"/>
                  <a:t>Maximize </a:t>
                </a:r>
                <a14:m>
                  <m:oMath xmlns:m="http://schemas.openxmlformats.org/officeDocument/2006/math">
                    <m:r>
                      <a:rPr lang="en-US" sz="2400" i="1"/>
                      <m:t>𝑍</m:t>
                    </m:r>
                    <m:r>
                      <a:rPr lang="en-US" sz="2400"/>
                      <m:t>=</m:t>
                    </m:r>
                    <m:r>
                      <a:rPr lang="en-US" sz="2400"/>
                      <m:t>3</m:t>
                    </m:r>
                    <m:sSub>
                      <m:sSubPr>
                        <m:ctrlPr>
                          <a:rPr lang="ar-AE" sz="2400" i="1"/>
                        </m:ctrlPr>
                      </m:sSubPr>
                      <m:e>
                        <m:r>
                          <a:rPr lang="ar-AE" sz="2400" i="1"/>
                          <m:t>𝑥</m:t>
                        </m:r>
                      </m:e>
                      <m:sub>
                        <m:r>
                          <a:rPr lang="ar-AE" sz="2400"/>
                          <m:t>1</m:t>
                        </m:r>
                      </m:sub>
                    </m:sSub>
                    <m:r>
                      <a:rPr lang="ar-AE" sz="2400"/>
                      <m:t>+</m:t>
                    </m:r>
                    <m:r>
                      <a:rPr lang="ar-AE" sz="2400"/>
                      <m:t>5</m:t>
                    </m:r>
                    <m:sSub>
                      <m:sSubPr>
                        <m:ctrlPr>
                          <a:rPr lang="ar-AE" sz="2400" i="1"/>
                        </m:ctrlPr>
                      </m:sSubPr>
                      <m:e>
                        <m:r>
                          <a:rPr lang="ar-AE" sz="2400" i="1"/>
                          <m:t>𝑥</m:t>
                        </m:r>
                      </m:e>
                      <m:sub>
                        <m:r>
                          <a:rPr lang="ar-AE" sz="2400"/>
                          <m:t>2</m:t>
                        </m:r>
                      </m:sub>
                    </m:sSub>
                  </m:oMath>
                </a14:m>
                <a:r>
                  <a:rPr lang="ar-AE" sz="2400" dirty="0"/>
                  <a:t>, </a:t>
                </a:r>
                <a:r>
                  <a:rPr lang="en-US" sz="2400" dirty="0"/>
                  <a:t>where </a:t>
                </a:r>
                <a14:m>
                  <m:oMath xmlns:m="http://schemas.openxmlformats.org/officeDocument/2006/math">
                    <m:r>
                      <a:rPr lang="en-US" sz="2400" i="1"/>
                      <m:t>𝑍</m:t>
                    </m:r>
                  </m:oMath>
                </a14:m>
                <a:r>
                  <a:rPr lang="en-US" sz="2400" dirty="0"/>
                  <a:t>is total profit.</a:t>
                </a:r>
              </a:p>
              <a:p>
                <a:endParaRPr lang="en-US" dirty="0"/>
              </a:p>
            </p:txBody>
          </p:sp>
        </mc:Choice>
        <mc:Fallback>
          <p:sp>
            <p:nvSpPr>
              <p:cNvPr id="3" name="Content Placeholder 2">
                <a:extLst>
                  <a:ext uri="{FF2B5EF4-FFF2-40B4-BE49-F238E27FC236}">
                    <a16:creationId xmlns:a16="http://schemas.microsoft.com/office/drawing/2014/main" id="{CA66FC40-C89C-5C40-68EF-E07D47783218}"/>
                  </a:ext>
                </a:extLst>
              </p:cNvPr>
              <p:cNvSpPr>
                <a:spLocks noGrp="1" noRot="1" noChangeAspect="1" noMove="1" noResize="1" noEditPoints="1" noAdjustHandles="1" noChangeArrowheads="1" noChangeShapeType="1" noTextEdit="1"/>
              </p:cNvSpPr>
              <p:nvPr>
                <p:ph idx="1"/>
              </p:nvPr>
            </p:nvSpPr>
            <p:spPr>
              <a:xfrm>
                <a:off x="323850" y="1028700"/>
                <a:ext cx="11544300" cy="5429250"/>
              </a:xfrm>
              <a:blipFill>
                <a:blip r:embed="rId2"/>
                <a:stretch>
                  <a:fillRect l="-792" t="-2247"/>
                </a:stretch>
              </a:blipFill>
            </p:spPr>
            <p:txBody>
              <a:bodyPr/>
              <a:lstStyle/>
              <a:p>
                <a:r>
                  <a:rPr lang="en-US">
                    <a:noFill/>
                  </a:rPr>
                  <a:t> </a:t>
                </a:r>
              </a:p>
            </p:txBody>
          </p:sp>
        </mc:Fallback>
      </mc:AlternateContent>
    </p:spTree>
    <p:extLst>
      <p:ext uri="{BB962C8B-B14F-4D97-AF65-F5344CB8AC3E}">
        <p14:creationId xmlns:p14="http://schemas.microsoft.com/office/powerpoint/2010/main" val="2762008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63AD5-B19D-EDB1-F667-10E2CBD7EE68}"/>
              </a:ext>
            </a:extLst>
          </p:cNvPr>
          <p:cNvSpPr>
            <a:spLocks noGrp="1"/>
          </p:cNvSpPr>
          <p:nvPr>
            <p:ph type="title"/>
          </p:nvPr>
        </p:nvSpPr>
        <p:spPr>
          <a:xfrm>
            <a:off x="1024128" y="585216"/>
            <a:ext cx="9720072" cy="272034"/>
          </a:xfrm>
        </p:spPr>
        <p:txBody>
          <a:bodyPr>
            <a:normAutofit fontScale="90000"/>
          </a:bodyPr>
          <a:lstStyle/>
          <a:p>
            <a:r>
              <a:rPr lang="en-US" dirty="0"/>
              <a: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5B739A-9D76-2A0A-1C4F-6BDCE464DF78}"/>
                  </a:ext>
                </a:extLst>
              </p:cNvPr>
              <p:cNvSpPr>
                <a:spLocks noGrp="1"/>
              </p:cNvSpPr>
              <p:nvPr>
                <p:ph idx="1"/>
              </p:nvPr>
            </p:nvSpPr>
            <p:spPr>
              <a:xfrm>
                <a:off x="495300" y="361950"/>
                <a:ext cx="11049000" cy="5947410"/>
              </a:xfrm>
            </p:spPr>
            <p:txBody>
              <a:bodyPr>
                <a:normAutofit/>
              </a:bodyPr>
              <a:lstStyle/>
              <a:p>
                <a:r>
                  <a:rPr lang="en-US" sz="2800" b="1" dirty="0"/>
                  <a:t>3 Constraints</a:t>
                </a:r>
              </a:p>
              <a:p>
                <a:r>
                  <a:rPr lang="en-US" sz="2800" dirty="0"/>
                  <a:t>These are </a:t>
                </a:r>
                <a:r>
                  <a:rPr lang="en-US" sz="2800" b="1" dirty="0"/>
                  <a:t>restrictions</a:t>
                </a:r>
                <a:r>
                  <a:rPr lang="en-US" sz="2800" dirty="0"/>
                  <a:t> or </a:t>
                </a:r>
                <a:r>
                  <a:rPr lang="en-US" sz="2800" b="1" dirty="0"/>
                  <a:t>limitations</a:t>
                </a:r>
                <a:r>
                  <a:rPr lang="en-US" sz="2800" dirty="0"/>
                  <a:t> (e.g., resource availability, labor hours, material limits) expressed as </a:t>
                </a:r>
                <a:r>
                  <a:rPr lang="en-US" sz="2800" b="1" dirty="0"/>
                  <a:t>linear inequalities or equations</a:t>
                </a:r>
                <a:r>
                  <a:rPr lang="en-US" sz="2800" dirty="0"/>
                  <a:t>.</a:t>
                </a:r>
              </a:p>
              <a:p>
                <a:r>
                  <a:rPr lang="en-US" sz="2800" dirty="0"/>
                  <a:t>Example:</a:t>
                </a:r>
                <a:br>
                  <a:rPr lang="en-US" sz="2800" dirty="0"/>
                </a:br>
                <a14:m>
                  <m:oMath xmlns:m="http://schemas.openxmlformats.org/officeDocument/2006/math">
                    <m:r>
                      <a:rPr lang="en-US" sz="2800"/>
                      <m:t>2</m:t>
                    </m:r>
                    <m:sSub>
                      <m:sSubPr>
                        <m:ctrlPr>
                          <a:rPr lang="ar-AE" sz="2800" i="1"/>
                        </m:ctrlPr>
                      </m:sSubPr>
                      <m:e>
                        <m:r>
                          <a:rPr lang="ar-AE" sz="2800" i="1"/>
                          <m:t>𝑥</m:t>
                        </m:r>
                      </m:e>
                      <m:sub>
                        <m:r>
                          <a:rPr lang="ar-AE" sz="2800"/>
                          <m:t>1</m:t>
                        </m:r>
                      </m:sub>
                    </m:sSub>
                    <m:r>
                      <a:rPr lang="ar-AE" sz="2800"/>
                      <m:t>+</m:t>
                    </m:r>
                    <m:sSub>
                      <m:sSubPr>
                        <m:ctrlPr>
                          <a:rPr lang="ar-AE" sz="2800" i="1"/>
                        </m:ctrlPr>
                      </m:sSubPr>
                      <m:e>
                        <m:r>
                          <a:rPr lang="ar-AE" sz="2800" i="1"/>
                          <m:t>𝑥</m:t>
                        </m:r>
                      </m:e>
                      <m:sub>
                        <m:r>
                          <a:rPr lang="ar-AE" sz="2800"/>
                          <m:t>2</m:t>
                        </m:r>
                      </m:sub>
                    </m:sSub>
                    <m:r>
                      <a:rPr lang="ar-AE" sz="2800"/>
                      <m:t>≤</m:t>
                    </m:r>
                    <m:r>
                      <a:rPr lang="ar-AE" sz="2800"/>
                      <m:t>8</m:t>
                    </m:r>
                  </m:oMath>
                </a14:m>
                <a:r>
                  <a:rPr lang="ar-AE" sz="2800" dirty="0"/>
                  <a:t>(</a:t>
                </a:r>
                <a:r>
                  <a:rPr lang="en-US" sz="2800" dirty="0"/>
                  <a:t>resource constraint 1)</a:t>
                </a:r>
                <a:br>
                  <a:rPr lang="en-US" sz="2800" dirty="0"/>
                </a:br>
                <a14:m>
                  <m:oMath xmlns:m="http://schemas.openxmlformats.org/officeDocument/2006/math">
                    <m:sSub>
                      <m:sSubPr>
                        <m:ctrlPr>
                          <a:rPr lang="ar-AE" sz="2800"/>
                        </m:ctrlPr>
                      </m:sSubPr>
                      <m:e>
                        <m:r>
                          <a:rPr lang="ar-AE" sz="2800" i="1"/>
                          <m:t>𝑥</m:t>
                        </m:r>
                      </m:e>
                      <m:sub>
                        <m:r>
                          <a:rPr lang="ar-AE" sz="2800"/>
                          <m:t>1</m:t>
                        </m:r>
                      </m:sub>
                    </m:sSub>
                    <m:r>
                      <a:rPr lang="ar-AE" sz="2800"/>
                      <m:t>+</m:t>
                    </m:r>
                    <m:r>
                      <a:rPr lang="ar-AE" sz="2800"/>
                      <m:t>3</m:t>
                    </m:r>
                    <m:sSub>
                      <m:sSubPr>
                        <m:ctrlPr>
                          <a:rPr lang="ar-AE" sz="2800" i="1"/>
                        </m:ctrlPr>
                      </m:sSubPr>
                      <m:e>
                        <m:r>
                          <a:rPr lang="ar-AE" sz="2800" i="1"/>
                          <m:t>𝑥</m:t>
                        </m:r>
                      </m:e>
                      <m:sub>
                        <m:r>
                          <a:rPr lang="ar-AE" sz="2800"/>
                          <m:t>2</m:t>
                        </m:r>
                      </m:sub>
                    </m:sSub>
                    <m:r>
                      <a:rPr lang="ar-AE" sz="2800"/>
                      <m:t>≤</m:t>
                    </m:r>
                    <m:r>
                      <a:rPr lang="ar-AE" sz="2800"/>
                      <m:t>6</m:t>
                    </m:r>
                  </m:oMath>
                </a14:m>
                <a:r>
                  <a:rPr lang="ar-AE" sz="2800" dirty="0"/>
                  <a:t>(</a:t>
                </a:r>
                <a:r>
                  <a:rPr lang="en-US" sz="2800" dirty="0"/>
                  <a:t>resource constraint 2)</a:t>
                </a:r>
              </a:p>
              <a:p>
                <a:r>
                  <a:rPr lang="en-US" sz="2800" b="1" dirty="0"/>
                  <a:t>4 Non-Negativity Constraints</a:t>
                </a:r>
              </a:p>
              <a:p>
                <a:r>
                  <a:rPr lang="en-US" sz="2800" dirty="0"/>
                  <a:t>Since negative production or allocation often makes no sense:</a:t>
                </a:r>
              </a:p>
              <a:p>
                <a14:m>
                  <m:oMath xmlns:m="http://schemas.openxmlformats.org/officeDocument/2006/math">
                    <m:sSub>
                      <m:sSubPr>
                        <m:ctrlPr>
                          <a:rPr lang="ar-AE" sz="2800"/>
                        </m:ctrlPr>
                      </m:sSubPr>
                      <m:e>
                        <m:r>
                          <a:rPr lang="ar-AE" sz="2800" i="1"/>
                          <m:t>𝑥</m:t>
                        </m:r>
                      </m:e>
                      <m:sub>
                        <m:r>
                          <a:rPr lang="ar-AE" sz="2800"/>
                          <m:t>1</m:t>
                        </m:r>
                      </m:sub>
                    </m:sSub>
                    <m:r>
                      <a:rPr lang="ar-AE" sz="2800"/>
                      <m:t>,</m:t>
                    </m:r>
                    <m:sSub>
                      <m:sSubPr>
                        <m:ctrlPr>
                          <a:rPr lang="ar-AE" sz="2800" i="1"/>
                        </m:ctrlPr>
                      </m:sSubPr>
                      <m:e>
                        <m:r>
                          <a:rPr lang="ar-AE" sz="2800" i="1"/>
                          <m:t>𝑥</m:t>
                        </m:r>
                      </m:e>
                      <m:sub>
                        <m:r>
                          <a:rPr lang="ar-AE" sz="2800"/>
                          <m:t>2</m:t>
                        </m:r>
                      </m:sub>
                    </m:sSub>
                    <m:r>
                      <a:rPr lang="ar-AE" sz="2800"/>
                      <m:t>≥</m:t>
                    </m:r>
                    <m:r>
                      <a:rPr lang="ar-AE" sz="2800"/>
                      <m:t>0</m:t>
                    </m:r>
                  </m:oMath>
                </a14:m>
                <a:endParaRPr lang="ar-AE" sz="2800" dirty="0"/>
              </a:p>
              <a:p>
                <a:r>
                  <a:rPr lang="en-US" sz="2800" dirty="0"/>
                  <a:t> </a:t>
                </a:r>
              </a:p>
              <a:p>
                <a:endParaRPr lang="en-US" dirty="0"/>
              </a:p>
            </p:txBody>
          </p:sp>
        </mc:Choice>
        <mc:Fallback>
          <p:sp>
            <p:nvSpPr>
              <p:cNvPr id="3" name="Content Placeholder 2">
                <a:extLst>
                  <a:ext uri="{FF2B5EF4-FFF2-40B4-BE49-F238E27FC236}">
                    <a16:creationId xmlns:a16="http://schemas.microsoft.com/office/drawing/2014/main" id="{9C5B739A-9D76-2A0A-1C4F-6BDCE464DF78}"/>
                  </a:ext>
                </a:extLst>
              </p:cNvPr>
              <p:cNvSpPr>
                <a:spLocks noGrp="1" noRot="1" noChangeAspect="1" noMove="1" noResize="1" noEditPoints="1" noAdjustHandles="1" noChangeArrowheads="1" noChangeShapeType="1" noTextEdit="1"/>
              </p:cNvSpPr>
              <p:nvPr>
                <p:ph idx="1"/>
              </p:nvPr>
            </p:nvSpPr>
            <p:spPr>
              <a:xfrm>
                <a:off x="495300" y="361950"/>
                <a:ext cx="11049000" cy="5947410"/>
              </a:xfrm>
              <a:blipFill>
                <a:blip r:embed="rId2"/>
                <a:stretch>
                  <a:fillRect l="-717" t="-1742" r="-1048"/>
                </a:stretch>
              </a:blipFill>
            </p:spPr>
            <p:txBody>
              <a:bodyPr/>
              <a:lstStyle/>
              <a:p>
                <a:r>
                  <a:rPr lang="en-US">
                    <a:noFill/>
                  </a:rPr>
                  <a:t> </a:t>
                </a:r>
              </a:p>
            </p:txBody>
          </p:sp>
        </mc:Fallback>
      </mc:AlternateContent>
    </p:spTree>
    <p:extLst>
      <p:ext uri="{BB962C8B-B14F-4D97-AF65-F5344CB8AC3E}">
        <p14:creationId xmlns:p14="http://schemas.microsoft.com/office/powerpoint/2010/main" val="3458837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7D69D-1CBE-4A2B-59E7-ACEE0E9BEB8F}"/>
              </a:ext>
            </a:extLst>
          </p:cNvPr>
          <p:cNvSpPr>
            <a:spLocks noGrp="1"/>
          </p:cNvSpPr>
          <p:nvPr>
            <p:ph type="title"/>
          </p:nvPr>
        </p:nvSpPr>
        <p:spPr>
          <a:xfrm>
            <a:off x="685800" y="162560"/>
            <a:ext cx="11010900" cy="711200"/>
          </a:xfrm>
        </p:spPr>
        <p:txBody>
          <a:bodyPr>
            <a:normAutofit fontScale="90000"/>
          </a:bodyPr>
          <a:lstStyle/>
          <a:p>
            <a:r>
              <a:rPr lang="en-US" dirty="0"/>
              <a:t>General Form of a Linear Programming Problem</a:t>
            </a:r>
          </a:p>
        </p:txBody>
      </p:sp>
      <p:sp>
        <p:nvSpPr>
          <p:cNvPr id="3" name="Content Placeholder 2">
            <a:extLst>
              <a:ext uri="{FF2B5EF4-FFF2-40B4-BE49-F238E27FC236}">
                <a16:creationId xmlns:a16="http://schemas.microsoft.com/office/drawing/2014/main" id="{E13A2387-9D28-5D6F-56F7-09E862221DE6}"/>
              </a:ext>
            </a:extLst>
          </p:cNvPr>
          <p:cNvSpPr>
            <a:spLocks noGrp="1"/>
          </p:cNvSpPr>
          <p:nvPr>
            <p:ph idx="1"/>
          </p:nvPr>
        </p:nvSpPr>
        <p:spPr>
          <a:xfrm>
            <a:off x="685800" y="1016000"/>
            <a:ext cx="11010900" cy="5422900"/>
          </a:xfrm>
        </p:spPr>
        <p:txBody>
          <a:bodyPr>
            <a:normAutofit/>
          </a:bodyPr>
          <a:lstStyle/>
          <a:p>
            <a:r>
              <a:rPr lang="en-US" sz="2800" b="1" dirty="0"/>
              <a:t>1. Standard Form (Maximization type)</a:t>
            </a:r>
          </a:p>
          <a:p>
            <a:endParaRPr lang="en-US" dirty="0"/>
          </a:p>
        </p:txBody>
      </p:sp>
      <p:pic>
        <p:nvPicPr>
          <p:cNvPr id="5" name="Picture 4">
            <a:extLst>
              <a:ext uri="{FF2B5EF4-FFF2-40B4-BE49-F238E27FC236}">
                <a16:creationId xmlns:a16="http://schemas.microsoft.com/office/drawing/2014/main" id="{710BE094-B26D-35C5-4346-6A623D957FF6}"/>
              </a:ext>
            </a:extLst>
          </p:cNvPr>
          <p:cNvPicPr>
            <a:picLocks noChangeAspect="1"/>
          </p:cNvPicPr>
          <p:nvPr/>
        </p:nvPicPr>
        <p:blipFill>
          <a:blip r:embed="rId2"/>
          <a:stretch>
            <a:fillRect/>
          </a:stretch>
        </p:blipFill>
        <p:spPr>
          <a:xfrm>
            <a:off x="2336800" y="1788160"/>
            <a:ext cx="7881205" cy="4203049"/>
          </a:xfrm>
          <a:prstGeom prst="rect">
            <a:avLst/>
          </a:prstGeom>
        </p:spPr>
      </p:pic>
    </p:spTree>
    <p:extLst>
      <p:ext uri="{BB962C8B-B14F-4D97-AF65-F5344CB8AC3E}">
        <p14:creationId xmlns:p14="http://schemas.microsoft.com/office/powerpoint/2010/main" val="1975835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FD9F-F6D7-AD6F-A0AA-3F846DCB38CC}"/>
              </a:ext>
            </a:extLst>
          </p:cNvPr>
          <p:cNvSpPr>
            <a:spLocks noGrp="1"/>
          </p:cNvSpPr>
          <p:nvPr>
            <p:ph type="title"/>
          </p:nvPr>
        </p:nvSpPr>
        <p:spPr/>
        <p:txBody>
          <a:bodyPr/>
          <a:lstStyle/>
          <a:p>
            <a:r>
              <a:rPr lang="en-US" dirty="0"/>
              <a:t>,</a:t>
            </a:r>
          </a:p>
        </p:txBody>
      </p:sp>
      <p:pic>
        <p:nvPicPr>
          <p:cNvPr id="5" name="Content Placeholder 4">
            <a:extLst>
              <a:ext uri="{FF2B5EF4-FFF2-40B4-BE49-F238E27FC236}">
                <a16:creationId xmlns:a16="http://schemas.microsoft.com/office/drawing/2014/main" id="{8DBDF787-6870-02A1-87B7-2A8875423E79}"/>
              </a:ext>
            </a:extLst>
          </p:cNvPr>
          <p:cNvPicPr>
            <a:picLocks noGrp="1" noChangeAspect="1"/>
          </p:cNvPicPr>
          <p:nvPr>
            <p:ph idx="1"/>
          </p:nvPr>
        </p:nvPicPr>
        <p:blipFill>
          <a:blip r:embed="rId2"/>
          <a:stretch>
            <a:fillRect/>
          </a:stretch>
        </p:blipFill>
        <p:spPr>
          <a:xfrm>
            <a:off x="792481" y="121883"/>
            <a:ext cx="10269972" cy="6150901"/>
          </a:xfrm>
          <a:prstGeom prst="rect">
            <a:avLst/>
          </a:prstGeom>
        </p:spPr>
      </p:pic>
    </p:spTree>
    <p:extLst>
      <p:ext uri="{BB962C8B-B14F-4D97-AF65-F5344CB8AC3E}">
        <p14:creationId xmlns:p14="http://schemas.microsoft.com/office/powerpoint/2010/main" val="3720375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AFC13-3FD6-AAEE-EA22-A328E3474F2B}"/>
              </a:ext>
            </a:extLst>
          </p:cNvPr>
          <p:cNvSpPr>
            <a:spLocks noGrp="1"/>
          </p:cNvSpPr>
          <p:nvPr>
            <p:ph type="title"/>
          </p:nvPr>
        </p:nvSpPr>
        <p:spPr/>
        <p:txBody>
          <a:bodyPr/>
          <a:lstStyle/>
          <a:p>
            <a:r>
              <a:rPr lang="en-US" dirty="0"/>
              <a:t>,</a:t>
            </a:r>
          </a:p>
        </p:txBody>
      </p:sp>
      <p:sp>
        <p:nvSpPr>
          <p:cNvPr id="3" name="Content Placeholder 2">
            <a:extLst>
              <a:ext uri="{FF2B5EF4-FFF2-40B4-BE49-F238E27FC236}">
                <a16:creationId xmlns:a16="http://schemas.microsoft.com/office/drawing/2014/main" id="{AF7AE6D5-7ED2-655F-9D1A-8CB5EC511DA3}"/>
              </a:ext>
            </a:extLst>
          </p:cNvPr>
          <p:cNvSpPr>
            <a:spLocks noGrp="1"/>
          </p:cNvSpPr>
          <p:nvPr>
            <p:ph idx="1"/>
          </p:nvPr>
        </p:nvSpPr>
        <p:spPr>
          <a:xfrm>
            <a:off x="487680" y="365760"/>
            <a:ext cx="11257280" cy="5943600"/>
          </a:xfrm>
        </p:spPr>
        <p:txBody>
          <a:bodyPr>
            <a:normAutofit/>
          </a:bodyPr>
          <a:lstStyle/>
          <a:p>
            <a:r>
              <a:rPr lang="en-US" sz="2400" b="1" dirty="0"/>
              <a:t>2. Matrix Form of LPP</a:t>
            </a:r>
          </a:p>
          <a:p>
            <a:endParaRPr lang="en-US" sz="2400" b="1" dirty="0"/>
          </a:p>
          <a:p>
            <a:endParaRPr lang="en-US" sz="2400" dirty="0"/>
          </a:p>
        </p:txBody>
      </p:sp>
      <p:pic>
        <p:nvPicPr>
          <p:cNvPr id="5" name="Picture 4">
            <a:extLst>
              <a:ext uri="{FF2B5EF4-FFF2-40B4-BE49-F238E27FC236}">
                <a16:creationId xmlns:a16="http://schemas.microsoft.com/office/drawing/2014/main" id="{F36A11E2-F056-2314-BD0E-449771928CBB}"/>
              </a:ext>
            </a:extLst>
          </p:cNvPr>
          <p:cNvPicPr>
            <a:picLocks noChangeAspect="1"/>
          </p:cNvPicPr>
          <p:nvPr/>
        </p:nvPicPr>
        <p:blipFill>
          <a:blip r:embed="rId2"/>
          <a:stretch>
            <a:fillRect/>
          </a:stretch>
        </p:blipFill>
        <p:spPr>
          <a:xfrm>
            <a:off x="812800" y="1231028"/>
            <a:ext cx="10472723" cy="4824332"/>
          </a:xfrm>
          <a:prstGeom prst="rect">
            <a:avLst/>
          </a:prstGeom>
        </p:spPr>
      </p:pic>
    </p:spTree>
    <p:extLst>
      <p:ext uri="{BB962C8B-B14F-4D97-AF65-F5344CB8AC3E}">
        <p14:creationId xmlns:p14="http://schemas.microsoft.com/office/powerpoint/2010/main" val="2483724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A6F61-307A-77E8-2C2A-2284F0AC9163}"/>
              </a:ext>
            </a:extLst>
          </p:cNvPr>
          <p:cNvSpPr>
            <a:spLocks noGrp="1"/>
          </p:cNvSpPr>
          <p:nvPr>
            <p:ph type="title"/>
          </p:nvPr>
        </p:nvSpPr>
        <p:spPr/>
        <p:txBody>
          <a:bodyPr/>
          <a:lstStyle/>
          <a:p>
            <a:r>
              <a:rPr lang="en-US" dirty="0"/>
              <a: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9E6C973-45EE-C7A0-0A57-93C2341E7651}"/>
                  </a:ext>
                </a:extLst>
              </p:cNvPr>
              <p:cNvSpPr>
                <a:spLocks noGrp="1"/>
              </p:cNvSpPr>
              <p:nvPr>
                <p:ph idx="1"/>
              </p:nvPr>
            </p:nvSpPr>
            <p:spPr>
              <a:xfrm>
                <a:off x="762000" y="304800"/>
                <a:ext cx="10915650" cy="6343650"/>
              </a:xfrm>
            </p:spPr>
            <p:txBody>
              <a:bodyPr>
                <a:normAutofit fontScale="92500" lnSpcReduction="20000"/>
              </a:bodyPr>
              <a:lstStyle/>
              <a:p>
                <a:r>
                  <a:rPr lang="en-US" sz="3200" b="1" dirty="0"/>
                  <a:t>3. Graphical Solution Method</a:t>
                </a:r>
              </a:p>
              <a:p>
                <a:r>
                  <a:rPr lang="en-US" sz="3200" dirty="0"/>
                  <a:t>The graphical method is suitable for LP problems with two variables (i.e., </a:t>
                </a:r>
                <a14:m>
                  <m:oMath xmlns:m="http://schemas.openxmlformats.org/officeDocument/2006/math">
                    <m:sSub>
                      <m:sSubPr>
                        <m:ctrlPr>
                          <a:rPr lang="ar-AE"/>
                        </m:ctrlPr>
                      </m:sSubPr>
                      <m:e>
                        <m:r>
                          <a:rPr lang="ar-AE" b="0" i="1"/>
                          <m:t>𝑥</m:t>
                        </m:r>
                      </m:e>
                      <m:sub>
                        <m:r>
                          <a:rPr lang="ar-AE" b="0" i="1"/>
                          <m:t>1</m:t>
                        </m:r>
                      </m:sub>
                    </m:sSub>
                  </m:oMath>
                </a14:m>
                <a:r>
                  <a:rPr lang="en-US" sz="3200" dirty="0"/>
                  <a:t>and </a:t>
                </a:r>
                <a14:m>
                  <m:oMath xmlns:m="http://schemas.openxmlformats.org/officeDocument/2006/math">
                    <m:sSub>
                      <m:sSubPr>
                        <m:ctrlPr>
                          <a:rPr lang="ar-AE"/>
                        </m:ctrlPr>
                      </m:sSubPr>
                      <m:e>
                        <m:r>
                          <a:rPr lang="ar-AE" b="0" i="1"/>
                          <m:t>𝑥</m:t>
                        </m:r>
                      </m:e>
                      <m:sub>
                        <m:r>
                          <a:rPr lang="ar-AE" b="0" i="1"/>
                          <m:t>2</m:t>
                        </m:r>
                      </m:sub>
                    </m:sSub>
                  </m:oMath>
                </a14:m>
                <a:r>
                  <a:rPr lang="ar-AE" sz="3200" dirty="0"/>
                  <a:t>).</a:t>
                </a:r>
                <a:br>
                  <a:rPr lang="ar-AE" sz="3200" dirty="0"/>
                </a:br>
                <a:r>
                  <a:rPr lang="en-US" sz="3200" dirty="0"/>
                  <a:t>It involves the following steps:</a:t>
                </a:r>
              </a:p>
              <a:p>
                <a:r>
                  <a:rPr lang="en-US" sz="3200" b="1" dirty="0"/>
                  <a:t>Step 1</a:t>
                </a:r>
                <a:r>
                  <a:rPr lang="en-US" sz="3200" dirty="0"/>
                  <a:t>: Formulate the LP problem</a:t>
                </a:r>
              </a:p>
              <a:p>
                <a:r>
                  <a:rPr lang="en-US" sz="3200" dirty="0"/>
                  <a:t>Define decision variables, objective function, and constraints.</a:t>
                </a:r>
              </a:p>
              <a:p>
                <a:r>
                  <a:rPr lang="en-US" sz="3200" b="1" dirty="0"/>
                  <a:t>Step 2</a:t>
                </a:r>
                <a:r>
                  <a:rPr lang="en-US" sz="3200" dirty="0"/>
                  <a:t>: Convert inequalities to equations and plot each constraint on a graph.</a:t>
                </a:r>
              </a:p>
              <a:p>
                <a:r>
                  <a:rPr lang="en-US" sz="3200" dirty="0"/>
                  <a:t>Shade the feasible region that satisfies all constraints.</a:t>
                </a:r>
              </a:p>
              <a:p>
                <a:r>
                  <a:rPr lang="en-US" sz="3200" b="1" dirty="0"/>
                  <a:t>Step 3</a:t>
                </a:r>
                <a:r>
                  <a:rPr lang="en-US" sz="3200" dirty="0"/>
                  <a:t>: Identify the corner (vertex) points of the feasible region.</a:t>
                </a:r>
              </a:p>
              <a:p>
                <a:r>
                  <a:rPr lang="en-US" sz="3200" b="1" dirty="0"/>
                  <a:t>Step 4:</a:t>
                </a:r>
                <a:r>
                  <a:rPr lang="en-US" sz="3200" dirty="0"/>
                  <a:t> Evaluate the objective function at each corner point.</a:t>
                </a:r>
              </a:p>
              <a:p>
                <a:r>
                  <a:rPr lang="en-US" sz="3200" b="1" dirty="0"/>
                  <a:t>Step 5</a:t>
                </a:r>
                <a:r>
                  <a:rPr lang="en-US" sz="3200" dirty="0"/>
                  <a:t>: The vertex that gives the maximum (or minimum) value of the objective function is the optimal solution.</a:t>
                </a:r>
              </a:p>
              <a:p>
                <a:r>
                  <a:rPr lang="en-US" sz="3000" dirty="0"/>
                  <a:t> </a:t>
                </a:r>
              </a:p>
              <a:p>
                <a:endParaRPr lang="en-US" dirty="0"/>
              </a:p>
            </p:txBody>
          </p:sp>
        </mc:Choice>
        <mc:Fallback>
          <p:sp>
            <p:nvSpPr>
              <p:cNvPr id="3" name="Content Placeholder 2">
                <a:extLst>
                  <a:ext uri="{FF2B5EF4-FFF2-40B4-BE49-F238E27FC236}">
                    <a16:creationId xmlns:a16="http://schemas.microsoft.com/office/drawing/2014/main" id="{B9E6C973-45EE-C7A0-0A57-93C2341E7651}"/>
                  </a:ext>
                </a:extLst>
              </p:cNvPr>
              <p:cNvSpPr>
                <a:spLocks noGrp="1" noRot="1" noChangeAspect="1" noMove="1" noResize="1" noEditPoints="1" noAdjustHandles="1" noChangeArrowheads="1" noChangeShapeType="1" noTextEdit="1"/>
              </p:cNvSpPr>
              <p:nvPr>
                <p:ph idx="1"/>
              </p:nvPr>
            </p:nvSpPr>
            <p:spPr>
              <a:xfrm>
                <a:off x="762000" y="304800"/>
                <a:ext cx="10915650" cy="6343650"/>
              </a:xfrm>
              <a:blipFill>
                <a:blip r:embed="rId2"/>
                <a:stretch>
                  <a:fillRect l="-893" t="-3074" r="-1619"/>
                </a:stretch>
              </a:blipFill>
            </p:spPr>
            <p:txBody>
              <a:bodyPr/>
              <a:lstStyle/>
              <a:p>
                <a:r>
                  <a:rPr lang="en-US">
                    <a:noFill/>
                  </a:rPr>
                  <a:t> </a:t>
                </a:r>
              </a:p>
            </p:txBody>
          </p:sp>
        </mc:Fallback>
      </mc:AlternateContent>
    </p:spTree>
    <p:extLst>
      <p:ext uri="{BB962C8B-B14F-4D97-AF65-F5344CB8AC3E}">
        <p14:creationId xmlns:p14="http://schemas.microsoft.com/office/powerpoint/2010/main" val="392177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2052F-C058-C391-8BE2-BBF6134A149E}"/>
              </a:ext>
            </a:extLst>
          </p:cNvPr>
          <p:cNvSpPr>
            <a:spLocks noGrp="1"/>
          </p:cNvSpPr>
          <p:nvPr>
            <p:ph type="title"/>
          </p:nvPr>
        </p:nvSpPr>
        <p:spPr>
          <a:xfrm>
            <a:off x="1024128" y="0"/>
            <a:ext cx="9720072" cy="952500"/>
          </a:xfrm>
        </p:spPr>
        <p:txBody>
          <a:bodyPr>
            <a:noAutofit/>
          </a:bodyPr>
          <a:lstStyle/>
          <a:p>
            <a:r>
              <a:rPr lang="en-US" sz="3600" b="1" dirty="0"/>
              <a:t>Procedure for Formulation of LP Problems</a:t>
            </a:r>
            <a:endParaRPr lang="en-US" sz="2000" dirty="0"/>
          </a:p>
        </p:txBody>
      </p:sp>
      <p:sp>
        <p:nvSpPr>
          <p:cNvPr id="3" name="Content Placeholder 2">
            <a:extLst>
              <a:ext uri="{FF2B5EF4-FFF2-40B4-BE49-F238E27FC236}">
                <a16:creationId xmlns:a16="http://schemas.microsoft.com/office/drawing/2014/main" id="{58FEF4C0-409D-C919-A1C7-B7226E3DBFE1}"/>
              </a:ext>
            </a:extLst>
          </p:cNvPr>
          <p:cNvSpPr>
            <a:spLocks noGrp="1"/>
          </p:cNvSpPr>
          <p:nvPr>
            <p:ph idx="1"/>
          </p:nvPr>
        </p:nvSpPr>
        <p:spPr>
          <a:xfrm>
            <a:off x="495300" y="781050"/>
            <a:ext cx="11315700" cy="5753100"/>
          </a:xfrm>
        </p:spPr>
        <p:txBody>
          <a:bodyPr>
            <a:noAutofit/>
          </a:bodyPr>
          <a:lstStyle/>
          <a:p>
            <a:r>
              <a:rPr lang="en-US" dirty="0"/>
              <a:t> </a:t>
            </a:r>
            <a:r>
              <a:rPr lang="en-US" sz="2800" dirty="0"/>
              <a:t>Step 1. To write down the decision variables of the problem.</a:t>
            </a:r>
          </a:p>
          <a:p>
            <a:r>
              <a:rPr lang="en-US" sz="2800" dirty="0"/>
              <a:t>Step 2. To formulate the objective function to be optimized (Maximized </a:t>
            </a:r>
            <a:r>
              <a:rPr lang="en-US" sz="2800" dirty="0" err="1"/>
              <a:t>os</a:t>
            </a:r>
            <a:endParaRPr lang="en-US" sz="2800" dirty="0"/>
          </a:p>
          <a:p>
            <a:r>
              <a:rPr lang="en-US" sz="2800" dirty="0"/>
              <a:t>Minimized) as a linear function of the decision variable.</a:t>
            </a:r>
          </a:p>
          <a:p>
            <a:r>
              <a:rPr lang="en-US" sz="2800" dirty="0"/>
              <a:t>Step 3. To formulate the other conditions of the problem such as resource</a:t>
            </a:r>
          </a:p>
          <a:p>
            <a:r>
              <a:rPr lang="en-US" sz="2800" dirty="0"/>
              <a:t>limitation, market constraints, interrelations between variables </a:t>
            </a:r>
            <a:r>
              <a:rPr lang="en-US" sz="2800" dirty="0" err="1"/>
              <a:t>etc</a:t>
            </a:r>
            <a:r>
              <a:rPr lang="en-US" sz="2800" dirty="0"/>
              <a:t>, as linear</a:t>
            </a:r>
          </a:p>
          <a:p>
            <a:r>
              <a:rPr lang="en-US" sz="2800" dirty="0"/>
              <a:t>equations in terms of decision variables.</a:t>
            </a:r>
          </a:p>
          <a:p>
            <a:r>
              <a:rPr lang="en-US" sz="2800" dirty="0"/>
              <a:t>Step 4. To add non negativity constraints from the considerations so that</a:t>
            </a:r>
          </a:p>
          <a:p>
            <a:r>
              <a:rPr lang="en-US" sz="2800" dirty="0"/>
              <a:t>the negative values of the decision variables do not have any valid physical</a:t>
            </a:r>
          </a:p>
          <a:p>
            <a:r>
              <a:rPr lang="en-US" sz="2800" dirty="0"/>
              <a:t>interpretation.</a:t>
            </a:r>
          </a:p>
          <a:p>
            <a:r>
              <a:rPr lang="en-US" dirty="0"/>
              <a:t>The objective function, the set of constraints and the non negative constraints together form a linear programming problem.</a:t>
            </a:r>
            <a:endParaRPr lang="en-US" sz="2800" dirty="0"/>
          </a:p>
        </p:txBody>
      </p:sp>
    </p:spTree>
    <p:extLst>
      <p:ext uri="{BB962C8B-B14F-4D97-AF65-F5344CB8AC3E}">
        <p14:creationId xmlns:p14="http://schemas.microsoft.com/office/powerpoint/2010/main" val="777210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EB8C2-D6CF-D810-248B-DC22FE533171}"/>
              </a:ext>
            </a:extLst>
          </p:cNvPr>
          <p:cNvSpPr>
            <a:spLocks noGrp="1"/>
          </p:cNvSpPr>
          <p:nvPr>
            <p:ph type="title"/>
          </p:nvPr>
        </p:nvSpPr>
        <p:spPr>
          <a:xfrm>
            <a:off x="1024128" y="342900"/>
            <a:ext cx="9720072" cy="551180"/>
          </a:xfrm>
        </p:spPr>
        <p:txBody>
          <a:bodyPr>
            <a:noAutofit/>
          </a:bodyPr>
          <a:lstStyle/>
          <a:p>
            <a:r>
              <a:rPr lang="en-US" sz="3200" b="1" dirty="0"/>
              <a:t>Examples 1</a:t>
            </a:r>
            <a:endParaRPr lang="en-US" sz="3200" dirty="0"/>
          </a:p>
        </p:txBody>
      </p:sp>
      <p:sp>
        <p:nvSpPr>
          <p:cNvPr id="3" name="Content Placeholder 2">
            <a:extLst>
              <a:ext uri="{FF2B5EF4-FFF2-40B4-BE49-F238E27FC236}">
                <a16:creationId xmlns:a16="http://schemas.microsoft.com/office/drawing/2014/main" id="{FE28DB3C-E2A5-462F-EF77-85F07A0B3210}"/>
              </a:ext>
            </a:extLst>
          </p:cNvPr>
          <p:cNvSpPr>
            <a:spLocks noGrp="1"/>
          </p:cNvSpPr>
          <p:nvPr>
            <p:ph idx="1"/>
          </p:nvPr>
        </p:nvSpPr>
        <p:spPr>
          <a:xfrm>
            <a:off x="323850" y="1259840"/>
            <a:ext cx="11353800" cy="5255260"/>
          </a:xfrm>
        </p:spPr>
        <p:txBody>
          <a:bodyPr>
            <a:normAutofit/>
          </a:bodyPr>
          <a:lstStyle/>
          <a:p>
            <a:r>
              <a:rPr lang="en-US" dirty="0"/>
              <a:t>A resourceful home decorator manufactures two types of lamps says A and B.</a:t>
            </a:r>
          </a:p>
          <a:p>
            <a:r>
              <a:rPr lang="en-US" dirty="0"/>
              <a:t>Both lamps go through two technician’s first a cutter, second a finisher. Lamp A</a:t>
            </a:r>
          </a:p>
          <a:p>
            <a:r>
              <a:rPr lang="en-US" dirty="0"/>
              <a:t>requires 2 </a:t>
            </a:r>
            <a:r>
              <a:rPr lang="en-US" dirty="0" err="1"/>
              <a:t>hrs</a:t>
            </a:r>
            <a:r>
              <a:rPr lang="en-US" dirty="0"/>
              <a:t> of the cutter’s time and 1 </a:t>
            </a:r>
            <a:r>
              <a:rPr lang="en-US" dirty="0" err="1"/>
              <a:t>hr</a:t>
            </a:r>
            <a:r>
              <a:rPr lang="en-US" dirty="0"/>
              <a:t> of the finisher’s time. The cutter has</a:t>
            </a:r>
          </a:p>
          <a:p>
            <a:r>
              <a:rPr lang="en-US" dirty="0"/>
              <a:t>104 </a:t>
            </a:r>
            <a:r>
              <a:rPr lang="en-US" dirty="0" err="1"/>
              <a:t>hrs</a:t>
            </a:r>
            <a:r>
              <a:rPr lang="en-US" dirty="0"/>
              <a:t> and finisher has 76 </a:t>
            </a:r>
            <a:r>
              <a:rPr lang="en-US" dirty="0" err="1"/>
              <a:t>hrs</a:t>
            </a:r>
            <a:r>
              <a:rPr lang="en-US" dirty="0"/>
              <a:t> of available time each month. Profit per lamp A</a:t>
            </a:r>
          </a:p>
          <a:p>
            <a:r>
              <a:rPr lang="en-US" dirty="0"/>
              <a:t>is </a:t>
            </a:r>
            <a:r>
              <a:rPr lang="en-US" dirty="0" err="1"/>
              <a:t>Tsh</a:t>
            </a:r>
            <a:r>
              <a:rPr lang="en-US" dirty="0"/>
              <a:t> 600 and per B lamp is </a:t>
            </a:r>
            <a:r>
              <a:rPr lang="en-US" dirty="0" err="1"/>
              <a:t>Tsh</a:t>
            </a:r>
            <a:r>
              <a:rPr lang="en-US" dirty="0"/>
              <a:t> 1100. Assuming that he can sale all that he</a:t>
            </a:r>
          </a:p>
          <a:p>
            <a:r>
              <a:rPr lang="en-US" dirty="0"/>
              <a:t>produces, how many of each type of lamps should be manufactured to obtain the</a:t>
            </a:r>
          </a:p>
          <a:p>
            <a:r>
              <a:rPr lang="en-US" dirty="0"/>
              <a:t>best return.</a:t>
            </a:r>
            <a:r>
              <a:rPr lang="en-US" sz="2800" dirty="0"/>
              <a:t> </a:t>
            </a:r>
          </a:p>
          <a:p>
            <a:r>
              <a:rPr lang="en-US" b="1" dirty="0"/>
              <a:t>Solution: </a:t>
            </a:r>
          </a:p>
          <a:p>
            <a:r>
              <a:rPr lang="en-US" dirty="0"/>
              <a:t>Formulation of the Mathematical Model of the Problem.</a:t>
            </a:r>
          </a:p>
          <a:p>
            <a:r>
              <a:rPr lang="en-US" dirty="0"/>
              <a:t>For the clear understanding of the problem, first we have to construct a table;</a:t>
            </a:r>
          </a:p>
        </p:txBody>
      </p:sp>
    </p:spTree>
    <p:extLst>
      <p:ext uri="{BB962C8B-B14F-4D97-AF65-F5344CB8AC3E}">
        <p14:creationId xmlns:p14="http://schemas.microsoft.com/office/powerpoint/2010/main" val="2625849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4D5F6-7B19-9851-57C7-A2D310E1018E}"/>
              </a:ext>
            </a:extLst>
          </p:cNvPr>
          <p:cNvSpPr>
            <a:spLocks noGrp="1"/>
          </p:cNvSpPr>
          <p:nvPr>
            <p:ph type="title"/>
          </p:nvPr>
        </p:nvSpPr>
        <p:spPr/>
        <p:txBody>
          <a:bodyPr/>
          <a:lstStyle/>
          <a:p>
            <a:r>
              <a:rPr lang="en-US" dirty="0"/>
              <a:t>,</a:t>
            </a:r>
          </a:p>
        </p:txBody>
      </p:sp>
      <p:pic>
        <p:nvPicPr>
          <p:cNvPr id="5" name="Content Placeholder 4">
            <a:extLst>
              <a:ext uri="{FF2B5EF4-FFF2-40B4-BE49-F238E27FC236}">
                <a16:creationId xmlns:a16="http://schemas.microsoft.com/office/drawing/2014/main" id="{BD919A86-8748-3EF9-5C9F-21735CC0D1EC}"/>
              </a:ext>
            </a:extLst>
          </p:cNvPr>
          <p:cNvPicPr>
            <a:picLocks noGrp="1" noChangeAspect="1"/>
          </p:cNvPicPr>
          <p:nvPr>
            <p:ph idx="1"/>
          </p:nvPr>
        </p:nvPicPr>
        <p:blipFill>
          <a:blip r:embed="rId2"/>
          <a:stretch>
            <a:fillRect/>
          </a:stretch>
        </p:blipFill>
        <p:spPr>
          <a:xfrm>
            <a:off x="1060905" y="597796"/>
            <a:ext cx="6985815" cy="1799964"/>
          </a:xfrm>
          <a:prstGeom prst="rect">
            <a:avLst/>
          </a:prstGeom>
        </p:spPr>
      </p:pic>
      <p:sp>
        <p:nvSpPr>
          <p:cNvPr id="7" name="TextBox 6">
            <a:extLst>
              <a:ext uri="{FF2B5EF4-FFF2-40B4-BE49-F238E27FC236}">
                <a16:creationId xmlns:a16="http://schemas.microsoft.com/office/drawing/2014/main" id="{4A1BF6A9-BF91-BE20-A18F-7348E7618F12}"/>
              </a:ext>
            </a:extLst>
          </p:cNvPr>
          <p:cNvSpPr txBox="1"/>
          <p:nvPr/>
        </p:nvSpPr>
        <p:spPr>
          <a:xfrm>
            <a:off x="1060905" y="2556917"/>
            <a:ext cx="10379255" cy="3785652"/>
          </a:xfrm>
          <a:prstGeom prst="rect">
            <a:avLst/>
          </a:prstGeom>
          <a:noFill/>
        </p:spPr>
        <p:txBody>
          <a:bodyPr wrap="square">
            <a:spAutoFit/>
          </a:bodyPr>
          <a:lstStyle/>
          <a:p>
            <a:pPr algn="l"/>
            <a:r>
              <a:rPr lang="en-US" sz="2800" b="1" i="0" u="none" strike="noStrike" baseline="0" dirty="0">
                <a:latin typeface="CMBX12"/>
              </a:rPr>
              <a:t>Decision Variables:</a:t>
            </a:r>
          </a:p>
          <a:p>
            <a:pPr algn="l"/>
            <a:r>
              <a:rPr lang="en-US" sz="2400" b="0" i="0" u="none" strike="noStrike" baseline="0" dirty="0">
                <a:latin typeface="CMR12"/>
              </a:rPr>
              <a:t>Let the decorator manufacture </a:t>
            </a:r>
            <a:r>
              <a:rPr lang="en-US" sz="2400" b="0" i="0" u="none" strike="noStrike" baseline="0" dirty="0">
                <a:latin typeface="CMMI12"/>
              </a:rPr>
              <a:t>x</a:t>
            </a:r>
            <a:r>
              <a:rPr lang="en-US" sz="1000" b="0" i="0" u="none" strike="noStrike" baseline="0" dirty="0">
                <a:latin typeface="CMR9"/>
              </a:rPr>
              <a:t>1 </a:t>
            </a:r>
            <a:r>
              <a:rPr lang="en-US" sz="2400" b="0" i="0" u="none" strike="noStrike" baseline="0" dirty="0">
                <a:latin typeface="CMR12"/>
              </a:rPr>
              <a:t>and </a:t>
            </a:r>
            <a:r>
              <a:rPr lang="en-US" sz="2400" b="0" i="0" u="none" strike="noStrike" baseline="0" dirty="0">
                <a:latin typeface="CMMI12"/>
              </a:rPr>
              <a:t>x</a:t>
            </a:r>
            <a:r>
              <a:rPr lang="en-US" sz="1000" b="0" i="0" u="none" strike="noStrike" baseline="0" dirty="0">
                <a:latin typeface="CMR9"/>
              </a:rPr>
              <a:t>2 </a:t>
            </a:r>
            <a:r>
              <a:rPr lang="en-US" sz="2400" b="0" i="0" u="none" strike="noStrike" baseline="0" dirty="0">
                <a:latin typeface="CMR12"/>
              </a:rPr>
              <a:t>lamps of type </a:t>
            </a:r>
            <a:r>
              <a:rPr lang="en-US" sz="2400" b="0" i="0" u="none" strike="noStrike" baseline="0" dirty="0">
                <a:latin typeface="CMMI12"/>
              </a:rPr>
              <a:t>A </a:t>
            </a:r>
            <a:r>
              <a:rPr lang="en-US" sz="2400" b="0" i="0" u="none" strike="noStrike" baseline="0" dirty="0">
                <a:latin typeface="CMR12"/>
              </a:rPr>
              <a:t>and </a:t>
            </a:r>
            <a:r>
              <a:rPr lang="en-US" sz="2400" b="0" i="0" u="none" strike="noStrike" baseline="0" dirty="0">
                <a:latin typeface="CMMI12"/>
              </a:rPr>
              <a:t>B </a:t>
            </a:r>
            <a:r>
              <a:rPr lang="en-US" sz="2400" b="0" i="0" u="none" strike="noStrike" baseline="0" dirty="0">
                <a:latin typeface="CMR12"/>
              </a:rPr>
              <a:t>respectively.</a:t>
            </a:r>
          </a:p>
          <a:p>
            <a:pPr algn="l"/>
            <a:r>
              <a:rPr lang="en-US" sz="2800" b="1" i="0" u="none" strike="noStrike" baseline="0" dirty="0">
                <a:latin typeface="CMBX12"/>
              </a:rPr>
              <a:t>Objective Functions:</a:t>
            </a:r>
          </a:p>
          <a:p>
            <a:pPr algn="l"/>
            <a:r>
              <a:rPr lang="en-US" sz="2400" b="0" i="0" u="none" strike="noStrike" baseline="0" dirty="0">
                <a:latin typeface="CMR12"/>
              </a:rPr>
              <a:t>Therefore, the total profit (in </a:t>
            </a:r>
            <a:r>
              <a:rPr lang="en-US" sz="2400" b="0" i="0" u="none" strike="noStrike" baseline="0" dirty="0" err="1">
                <a:latin typeface="CMR12"/>
              </a:rPr>
              <a:t>Tsh</a:t>
            </a:r>
            <a:r>
              <a:rPr lang="en-US" sz="2400" b="0" i="0" u="none" strike="noStrike" baseline="0" dirty="0">
                <a:latin typeface="CMR12"/>
              </a:rPr>
              <a:t>) has to be maximized.</a:t>
            </a:r>
          </a:p>
          <a:p>
            <a:pPr algn="l"/>
            <a:r>
              <a:rPr lang="en-US" sz="2800" b="0" i="0" u="none" strike="noStrike" baseline="0" dirty="0">
                <a:latin typeface="CMMI12"/>
              </a:rPr>
              <a:t>Max</a:t>
            </a:r>
            <a:r>
              <a:rPr lang="en-US" sz="2800" b="0" i="0" u="none" strike="noStrike" baseline="0" dirty="0">
                <a:latin typeface="CMR12"/>
              </a:rPr>
              <a:t>(</a:t>
            </a:r>
            <a:r>
              <a:rPr lang="en-US" sz="2800" b="0" i="0" u="none" strike="noStrike" baseline="0" dirty="0">
                <a:latin typeface="CMMI12"/>
              </a:rPr>
              <a:t>z</a:t>
            </a:r>
            <a:r>
              <a:rPr lang="en-US" sz="2800" b="0" i="0" u="none" strike="noStrike" baseline="0" dirty="0">
                <a:latin typeface="CMR12"/>
              </a:rPr>
              <a:t>) = 6</a:t>
            </a:r>
            <a:r>
              <a:rPr lang="en-US" sz="2800" b="0" i="0" u="none" strike="noStrike" baseline="0" dirty="0">
                <a:latin typeface="CMMI12"/>
              </a:rPr>
              <a:t>x</a:t>
            </a:r>
            <a:r>
              <a:rPr lang="en-US" sz="1050" b="0" i="0" u="none" strike="noStrike" baseline="0" dirty="0">
                <a:latin typeface="CMR9"/>
              </a:rPr>
              <a:t>1 </a:t>
            </a:r>
            <a:r>
              <a:rPr lang="en-US" sz="2800" b="0" i="0" u="none" strike="noStrike" baseline="0" dirty="0">
                <a:latin typeface="CMR12"/>
              </a:rPr>
              <a:t>+ 11</a:t>
            </a:r>
            <a:r>
              <a:rPr lang="en-US" sz="2800" b="0" i="0" u="none" strike="noStrike" baseline="0" dirty="0">
                <a:latin typeface="CMMI12"/>
              </a:rPr>
              <a:t>x</a:t>
            </a:r>
            <a:r>
              <a:rPr lang="en-US" sz="1050" b="0" i="0" u="none" strike="noStrike" baseline="0" dirty="0">
                <a:latin typeface="CMR9"/>
              </a:rPr>
              <a:t>2</a:t>
            </a:r>
          </a:p>
          <a:p>
            <a:r>
              <a:rPr lang="en-US" sz="2800" b="1" dirty="0"/>
              <a:t>Constraints</a:t>
            </a:r>
          </a:p>
          <a:p>
            <a:r>
              <a:rPr lang="en-US" sz="2800" dirty="0"/>
              <a:t>The manufacturer has limited time for manufacturing the lamp. There are 104 </a:t>
            </a:r>
            <a:r>
              <a:rPr lang="en-US" sz="2400" dirty="0" err="1"/>
              <a:t>hrs</a:t>
            </a:r>
            <a:r>
              <a:rPr lang="en-US" sz="2400" dirty="0"/>
              <a:t> available for cutting and 76 </a:t>
            </a:r>
            <a:r>
              <a:rPr lang="en-US" sz="2400" dirty="0" err="1"/>
              <a:t>hrs</a:t>
            </a:r>
            <a:r>
              <a:rPr lang="en-US" sz="2400" dirty="0"/>
              <a:t> available for finishing. Thus, total processing time is restricted</a:t>
            </a:r>
            <a:r>
              <a:rPr lang="en-US" dirty="0"/>
              <a:t>.</a:t>
            </a:r>
            <a:endParaRPr lang="en-US" sz="4000" dirty="0"/>
          </a:p>
        </p:txBody>
      </p:sp>
    </p:spTree>
    <p:extLst>
      <p:ext uri="{BB962C8B-B14F-4D97-AF65-F5344CB8AC3E}">
        <p14:creationId xmlns:p14="http://schemas.microsoft.com/office/powerpoint/2010/main" val="3406211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6CB95-AAC7-7971-C1AC-50BB0BA49D56}"/>
              </a:ext>
            </a:extLst>
          </p:cNvPr>
          <p:cNvSpPr>
            <a:spLocks noGrp="1"/>
          </p:cNvSpPr>
          <p:nvPr>
            <p:ph type="title"/>
          </p:nvPr>
        </p:nvSpPr>
        <p:spPr/>
        <p:txBody>
          <a:bodyPr/>
          <a:lstStyle/>
          <a:p>
            <a:r>
              <a:rPr lang="en-US" dirty="0"/>
              <a:t>,</a:t>
            </a:r>
          </a:p>
        </p:txBody>
      </p:sp>
      <p:sp>
        <p:nvSpPr>
          <p:cNvPr id="5" name="Content Placeholder 4">
            <a:extLst>
              <a:ext uri="{FF2B5EF4-FFF2-40B4-BE49-F238E27FC236}">
                <a16:creationId xmlns:a16="http://schemas.microsoft.com/office/drawing/2014/main" id="{D4E5919B-75D4-AA01-E777-B5B196F1DA83}"/>
              </a:ext>
            </a:extLst>
          </p:cNvPr>
          <p:cNvSpPr>
            <a:spLocks noGrp="1"/>
          </p:cNvSpPr>
          <p:nvPr>
            <p:ph idx="1"/>
          </p:nvPr>
        </p:nvSpPr>
        <p:spPr>
          <a:xfrm>
            <a:off x="1024128" y="252919"/>
            <a:ext cx="10668519" cy="6056441"/>
          </a:xfrm>
        </p:spPr>
        <p:txBody>
          <a:bodyPr>
            <a:normAutofit/>
          </a:bodyPr>
          <a:lstStyle/>
          <a:p>
            <a:r>
              <a:rPr lang="en-US" sz="2800" dirty="0"/>
              <a:t>.</a:t>
            </a:r>
          </a:p>
        </p:txBody>
      </p:sp>
      <p:pic>
        <p:nvPicPr>
          <p:cNvPr id="7" name="Picture 6">
            <a:extLst>
              <a:ext uri="{FF2B5EF4-FFF2-40B4-BE49-F238E27FC236}">
                <a16:creationId xmlns:a16="http://schemas.microsoft.com/office/drawing/2014/main" id="{7B091F06-1451-44B0-16CA-B85F407A9689}"/>
              </a:ext>
            </a:extLst>
          </p:cNvPr>
          <p:cNvPicPr>
            <a:picLocks noChangeAspect="1"/>
          </p:cNvPicPr>
          <p:nvPr/>
        </p:nvPicPr>
        <p:blipFill>
          <a:blip r:embed="rId2"/>
          <a:stretch>
            <a:fillRect/>
          </a:stretch>
        </p:blipFill>
        <p:spPr>
          <a:xfrm>
            <a:off x="2645923" y="548640"/>
            <a:ext cx="7237379" cy="5760720"/>
          </a:xfrm>
          <a:prstGeom prst="rect">
            <a:avLst/>
          </a:prstGeom>
        </p:spPr>
      </p:pic>
    </p:spTree>
    <p:extLst>
      <p:ext uri="{BB962C8B-B14F-4D97-AF65-F5344CB8AC3E}">
        <p14:creationId xmlns:p14="http://schemas.microsoft.com/office/powerpoint/2010/main" val="1321026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AFB76-DA05-2A6E-3EC6-8BE580D3B79D}"/>
              </a:ext>
            </a:extLst>
          </p:cNvPr>
          <p:cNvSpPr>
            <a:spLocks noGrp="1"/>
          </p:cNvSpPr>
          <p:nvPr>
            <p:ph type="title"/>
          </p:nvPr>
        </p:nvSpPr>
        <p:spPr>
          <a:xfrm>
            <a:off x="1024128" y="190500"/>
            <a:ext cx="9720072" cy="781050"/>
          </a:xfrm>
        </p:spPr>
        <p:txBody>
          <a:bodyPr>
            <a:normAutofit fontScale="90000"/>
          </a:bodyPr>
          <a:lstStyle/>
          <a:p>
            <a:r>
              <a:rPr lang="en-US" b="1" dirty="0"/>
              <a:t> </a:t>
            </a:r>
            <a:r>
              <a:rPr lang="en-US" dirty="0"/>
              <a:t>Example 2</a:t>
            </a:r>
            <a:br>
              <a:rPr lang="en-US" dirty="0"/>
            </a:br>
            <a:endParaRPr lang="en-US" dirty="0"/>
          </a:p>
        </p:txBody>
      </p:sp>
      <p:sp>
        <p:nvSpPr>
          <p:cNvPr id="3" name="Content Placeholder 2">
            <a:extLst>
              <a:ext uri="{FF2B5EF4-FFF2-40B4-BE49-F238E27FC236}">
                <a16:creationId xmlns:a16="http://schemas.microsoft.com/office/drawing/2014/main" id="{E6FFB05C-754F-B72A-4B8D-BE824CBE2D77}"/>
              </a:ext>
            </a:extLst>
          </p:cNvPr>
          <p:cNvSpPr>
            <a:spLocks noGrp="1"/>
          </p:cNvSpPr>
          <p:nvPr>
            <p:ph idx="1"/>
          </p:nvPr>
        </p:nvSpPr>
        <p:spPr>
          <a:xfrm>
            <a:off x="590550" y="603115"/>
            <a:ext cx="10953750" cy="5835785"/>
          </a:xfrm>
        </p:spPr>
        <p:txBody>
          <a:bodyPr>
            <a:normAutofit/>
          </a:bodyPr>
          <a:lstStyle/>
          <a:p>
            <a:r>
              <a:rPr lang="en-US" b="1" dirty="0"/>
              <a:t> </a:t>
            </a:r>
            <a:r>
              <a:rPr lang="en-US" sz="2800" dirty="0"/>
              <a:t>Abdallah, a retired government officer, has recently received his retirement benefits, viz., provident fund, gratuity, etc. He is contemplating how much money he should invest in various alternatives open to him so as to maximize return on investment. The investment alternatives are Government securities, fixed deposits of a public limited company, equity shares, time deposits in a bank, and house construction. He has made a subjective estimate of the risk involved on a five-point scale. The data on the return on investment, the number of years for which the funds will be blocked to earn this return on investment and the subjective risk involved are as follows; </a:t>
            </a:r>
          </a:p>
          <a:p>
            <a:endParaRPr lang="en-US" dirty="0"/>
          </a:p>
          <a:p>
            <a:endParaRPr lang="en-US" dirty="0"/>
          </a:p>
        </p:txBody>
      </p:sp>
      <p:pic>
        <p:nvPicPr>
          <p:cNvPr id="5" name="Picture 4">
            <a:extLst>
              <a:ext uri="{FF2B5EF4-FFF2-40B4-BE49-F238E27FC236}">
                <a16:creationId xmlns:a16="http://schemas.microsoft.com/office/drawing/2014/main" id="{E0995C20-5F14-B021-2744-5FB1FDA94455}"/>
              </a:ext>
            </a:extLst>
          </p:cNvPr>
          <p:cNvPicPr>
            <a:picLocks noChangeAspect="1"/>
          </p:cNvPicPr>
          <p:nvPr/>
        </p:nvPicPr>
        <p:blipFill>
          <a:blip r:embed="rId2"/>
          <a:stretch>
            <a:fillRect/>
          </a:stretch>
        </p:blipFill>
        <p:spPr>
          <a:xfrm>
            <a:off x="2529190" y="3686083"/>
            <a:ext cx="6798820" cy="2325610"/>
          </a:xfrm>
          <a:prstGeom prst="rect">
            <a:avLst/>
          </a:prstGeom>
        </p:spPr>
      </p:pic>
    </p:spTree>
    <p:extLst>
      <p:ext uri="{BB962C8B-B14F-4D97-AF65-F5344CB8AC3E}">
        <p14:creationId xmlns:p14="http://schemas.microsoft.com/office/powerpoint/2010/main" val="3024097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E2E1ED7-52C8-783B-9782-CFC26A6B6C79}"/>
              </a:ext>
            </a:extLst>
          </p:cNvPr>
          <p:cNvSpPr>
            <a:spLocks noGrp="1"/>
          </p:cNvSpPr>
          <p:nvPr>
            <p:ph idx="1"/>
          </p:nvPr>
        </p:nvSpPr>
        <p:spPr>
          <a:xfrm>
            <a:off x="350196" y="252919"/>
            <a:ext cx="11322995" cy="6056441"/>
          </a:xfrm>
        </p:spPr>
        <p:txBody>
          <a:bodyPr/>
          <a:lstStyle/>
          <a:p>
            <a:r>
              <a:rPr lang="en-US" dirty="0"/>
              <a:t>He was wondering as to what percentage of funds he should invest in each alternative</a:t>
            </a:r>
          </a:p>
          <a:p>
            <a:r>
              <a:rPr lang="en-US" dirty="0"/>
              <a:t>so as to maximize the return on investment. He decided that the risk</a:t>
            </a:r>
          </a:p>
          <a:p>
            <a:r>
              <a:rPr lang="en-US" dirty="0"/>
              <a:t>should not be more than 4, and funds should not be locked up for more than 15</a:t>
            </a:r>
          </a:p>
          <a:p>
            <a:r>
              <a:rPr lang="en-US" dirty="0"/>
              <a:t>years. He would necessarily invest at least 25% in house construction. Formulate</a:t>
            </a:r>
          </a:p>
          <a:p>
            <a:r>
              <a:rPr lang="en-US" dirty="0"/>
              <a:t>this problem as an LP model.</a:t>
            </a:r>
          </a:p>
          <a:p>
            <a:endParaRPr lang="en-US" dirty="0"/>
          </a:p>
        </p:txBody>
      </p:sp>
      <p:sp>
        <p:nvSpPr>
          <p:cNvPr id="8" name="Title 7">
            <a:extLst>
              <a:ext uri="{FF2B5EF4-FFF2-40B4-BE49-F238E27FC236}">
                <a16:creationId xmlns:a16="http://schemas.microsoft.com/office/drawing/2014/main" id="{393BF5B2-0279-1600-F784-E23F1A17FBD5}"/>
              </a:ext>
            </a:extLst>
          </p:cNvPr>
          <p:cNvSpPr>
            <a:spLocks noGrp="1"/>
          </p:cNvSpPr>
          <p:nvPr>
            <p:ph type="title"/>
          </p:nvPr>
        </p:nvSpPr>
        <p:spPr/>
        <p:txBody>
          <a:bodyPr/>
          <a:lstStyle/>
          <a:p>
            <a:r>
              <a:rPr lang="en-US" dirty="0"/>
              <a:t>.</a:t>
            </a:r>
          </a:p>
        </p:txBody>
      </p:sp>
      <p:pic>
        <p:nvPicPr>
          <p:cNvPr id="10" name="Picture 9">
            <a:extLst>
              <a:ext uri="{FF2B5EF4-FFF2-40B4-BE49-F238E27FC236}">
                <a16:creationId xmlns:a16="http://schemas.microsoft.com/office/drawing/2014/main" id="{916AFED3-84AF-5805-62BC-5F598110F557}"/>
              </a:ext>
            </a:extLst>
          </p:cNvPr>
          <p:cNvPicPr>
            <a:picLocks noChangeAspect="1"/>
          </p:cNvPicPr>
          <p:nvPr/>
        </p:nvPicPr>
        <p:blipFill>
          <a:blip r:embed="rId2"/>
          <a:stretch>
            <a:fillRect/>
          </a:stretch>
        </p:blipFill>
        <p:spPr>
          <a:xfrm>
            <a:off x="1303507" y="2767790"/>
            <a:ext cx="8210144" cy="3504994"/>
          </a:xfrm>
          <a:prstGeom prst="rect">
            <a:avLst/>
          </a:prstGeom>
        </p:spPr>
      </p:pic>
    </p:spTree>
    <p:extLst>
      <p:ext uri="{BB962C8B-B14F-4D97-AF65-F5344CB8AC3E}">
        <p14:creationId xmlns:p14="http://schemas.microsoft.com/office/powerpoint/2010/main" val="2519202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22C3D-157A-A69C-A538-DA2152A1DB09}"/>
              </a:ext>
            </a:extLst>
          </p:cNvPr>
          <p:cNvSpPr>
            <a:spLocks noGrp="1"/>
          </p:cNvSpPr>
          <p:nvPr>
            <p:ph type="title"/>
          </p:nvPr>
        </p:nvSpPr>
        <p:spPr/>
        <p:txBody>
          <a:bodyPr/>
          <a:lstStyle/>
          <a:p>
            <a:r>
              <a:rPr lang="en-US" dirty="0"/>
              <a:t>,</a:t>
            </a:r>
          </a:p>
        </p:txBody>
      </p:sp>
      <p:sp>
        <p:nvSpPr>
          <p:cNvPr id="3" name="Content Placeholder 2">
            <a:extLst>
              <a:ext uri="{FF2B5EF4-FFF2-40B4-BE49-F238E27FC236}">
                <a16:creationId xmlns:a16="http://schemas.microsoft.com/office/drawing/2014/main" id="{4B39EC30-31A4-CC18-DB33-53F373073E73}"/>
              </a:ext>
            </a:extLst>
          </p:cNvPr>
          <p:cNvSpPr>
            <a:spLocks noGrp="1"/>
          </p:cNvSpPr>
          <p:nvPr>
            <p:ph idx="1"/>
          </p:nvPr>
        </p:nvSpPr>
        <p:spPr>
          <a:xfrm>
            <a:off x="487680" y="243840"/>
            <a:ext cx="11054080" cy="6065520"/>
          </a:xfrm>
        </p:spPr>
        <p:txBody>
          <a:bodyPr/>
          <a:lstStyle/>
          <a:p>
            <a:r>
              <a:rPr lang="en-US" sz="2800" dirty="0"/>
              <a:t> </a:t>
            </a:r>
          </a:p>
          <a:p>
            <a:r>
              <a:rPr lang="en-US" sz="2800" b="1" dirty="0"/>
              <a:t> </a:t>
            </a:r>
            <a:endParaRPr lang="en-US" sz="2800" dirty="0"/>
          </a:p>
          <a:p>
            <a:endParaRPr lang="en-US" dirty="0"/>
          </a:p>
        </p:txBody>
      </p:sp>
      <p:pic>
        <p:nvPicPr>
          <p:cNvPr id="7" name="Picture 6">
            <a:extLst>
              <a:ext uri="{FF2B5EF4-FFF2-40B4-BE49-F238E27FC236}">
                <a16:creationId xmlns:a16="http://schemas.microsoft.com/office/drawing/2014/main" id="{908398CF-1A34-B374-B7DE-B788C5EF7159}"/>
              </a:ext>
            </a:extLst>
          </p:cNvPr>
          <p:cNvPicPr>
            <a:picLocks noChangeAspect="1"/>
          </p:cNvPicPr>
          <p:nvPr/>
        </p:nvPicPr>
        <p:blipFill>
          <a:blip r:embed="rId2"/>
          <a:stretch>
            <a:fillRect/>
          </a:stretch>
        </p:blipFill>
        <p:spPr>
          <a:xfrm>
            <a:off x="673406" y="585216"/>
            <a:ext cx="9720072" cy="2702733"/>
          </a:xfrm>
          <a:prstGeom prst="rect">
            <a:avLst/>
          </a:prstGeom>
        </p:spPr>
      </p:pic>
    </p:spTree>
    <p:extLst>
      <p:ext uri="{BB962C8B-B14F-4D97-AF65-F5344CB8AC3E}">
        <p14:creationId xmlns:p14="http://schemas.microsoft.com/office/powerpoint/2010/main" val="9111287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6DF3D-03C2-94DB-6F5A-6E3175489C3A}"/>
              </a:ext>
            </a:extLst>
          </p:cNvPr>
          <p:cNvSpPr>
            <a:spLocks noGrp="1"/>
          </p:cNvSpPr>
          <p:nvPr>
            <p:ph type="title"/>
          </p:nvPr>
        </p:nvSpPr>
        <p:spPr>
          <a:xfrm>
            <a:off x="1024128" y="-386080"/>
            <a:ext cx="9720072" cy="1544320"/>
          </a:xfrm>
        </p:spPr>
        <p:txBody>
          <a:bodyPr>
            <a:normAutofit/>
          </a:bodyPr>
          <a:lstStyle/>
          <a:p>
            <a:r>
              <a:rPr lang="en-US" sz="4000" b="1" dirty="0"/>
              <a:t>,</a:t>
            </a:r>
            <a:endParaRPr lang="en-US" dirty="0"/>
          </a:p>
        </p:txBody>
      </p:sp>
      <p:pic>
        <p:nvPicPr>
          <p:cNvPr id="5" name="Content Placeholder 4">
            <a:extLst>
              <a:ext uri="{FF2B5EF4-FFF2-40B4-BE49-F238E27FC236}">
                <a16:creationId xmlns:a16="http://schemas.microsoft.com/office/drawing/2014/main" id="{2A5AF5B6-EDF2-CDF3-B64E-B3D787FB7DBB}"/>
              </a:ext>
            </a:extLst>
          </p:cNvPr>
          <p:cNvPicPr>
            <a:picLocks noGrp="1" noChangeAspect="1"/>
          </p:cNvPicPr>
          <p:nvPr>
            <p:ph idx="1"/>
          </p:nvPr>
        </p:nvPicPr>
        <p:blipFill>
          <a:blip r:embed="rId2"/>
          <a:stretch>
            <a:fillRect/>
          </a:stretch>
        </p:blipFill>
        <p:spPr>
          <a:xfrm>
            <a:off x="2062264" y="330490"/>
            <a:ext cx="7081735" cy="5874824"/>
          </a:xfrm>
          <a:prstGeom prst="rect">
            <a:avLst/>
          </a:prstGeom>
        </p:spPr>
      </p:pic>
    </p:spTree>
    <p:extLst>
      <p:ext uri="{BB962C8B-B14F-4D97-AF65-F5344CB8AC3E}">
        <p14:creationId xmlns:p14="http://schemas.microsoft.com/office/powerpoint/2010/main" val="15419480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244</TotalTime>
  <Words>1262</Words>
  <Application>Microsoft Office PowerPoint</Application>
  <PresentationFormat>Widescreen</PresentationFormat>
  <Paragraphs>116</Paragraphs>
  <Slides>19</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Aptos</vt:lpstr>
      <vt:lpstr>Calibri</vt:lpstr>
      <vt:lpstr>CMBX12</vt:lpstr>
      <vt:lpstr>CMMI12</vt:lpstr>
      <vt:lpstr>CMR12</vt:lpstr>
      <vt:lpstr>CMR9</vt:lpstr>
      <vt:lpstr>Tw Cen MT</vt:lpstr>
      <vt:lpstr>Tw Cen MT Condensed</vt:lpstr>
      <vt:lpstr>Wingdings 3</vt:lpstr>
      <vt:lpstr>Integral</vt:lpstr>
      <vt:lpstr>Operations Research CSC 434</vt:lpstr>
      <vt:lpstr>Overview of Linear Programing </vt:lpstr>
      <vt:lpstr>,</vt:lpstr>
      <vt:lpstr> Basic Concept </vt:lpstr>
      <vt:lpstr>  Key Terminologies </vt:lpstr>
      <vt:lpstr>Components of a Linear Programming Problem</vt:lpstr>
      <vt:lpstr>,</vt:lpstr>
      <vt:lpstr>General Form of a Linear Programming Problem</vt:lpstr>
      <vt:lpstr>,</vt:lpstr>
      <vt:lpstr>,</vt:lpstr>
      <vt:lpstr>,</vt:lpstr>
      <vt:lpstr>Procedure for Formulation of LP Problems</vt:lpstr>
      <vt:lpstr>Examples 1</vt:lpstr>
      <vt:lpstr>,</vt:lpstr>
      <vt:lpstr>,</vt:lpstr>
      <vt:lpstr> Example 2 </vt:lpstr>
      <vt:lpstr>.</vt:lpstr>
      <vt:lpstr>,</vt:lpstr>
      <vt:lpst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 Olu OLOWE</dc:creator>
  <cp:lastModifiedBy>T Olu OLOWE</cp:lastModifiedBy>
  <cp:revision>2</cp:revision>
  <dcterms:created xsi:type="dcterms:W3CDTF">2025-10-21T06:06:50Z</dcterms:created>
  <dcterms:modified xsi:type="dcterms:W3CDTF">2025-11-04T09:59:01Z</dcterms:modified>
</cp:coreProperties>
</file>