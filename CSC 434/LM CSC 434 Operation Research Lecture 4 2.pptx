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7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1" r:id="rId6"/>
    <p:sldId id="262" r:id="rId7"/>
    <p:sldId id="276" r:id="rId8"/>
    <p:sldId id="277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8" r:id="rId18"/>
    <p:sldId id="279" r:id="rId19"/>
    <p:sldId id="280" r:id="rId20"/>
    <p:sldId id="281" r:id="rId21"/>
    <p:sldId id="282" r:id="rId22"/>
    <p:sldId id="28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4" autoAdjust="0"/>
    <p:restoredTop sz="90842" autoAdjust="0"/>
  </p:normalViewPr>
  <p:slideViewPr>
    <p:cSldViewPr snapToGrid="0">
      <p:cViewPr varScale="1">
        <p:scale>
          <a:sx n="49" d="100"/>
          <a:sy n="49" d="100"/>
        </p:scale>
        <p:origin x="90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5A70E-9E90-4CC2-8C7B-D1D0F84C315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5385F-3571-47AF-8651-604866625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30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5385F-3571-47AF-8651-604866625B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11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DD9C1D7-1219-4506-A3E3-60FDE141C3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6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94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72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77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4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4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8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70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85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7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C1D7-1219-4506-A3E3-60FDE141C3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179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DD9C1D7-1219-4506-A3E3-60FDE141C30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036F8CD-2F58-4B80-BC82-8E27E1BD5DE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708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8" r:id="rId1"/>
    <p:sldLayoutId id="2147484199" r:id="rId2"/>
    <p:sldLayoutId id="2147484200" r:id="rId3"/>
    <p:sldLayoutId id="2147484201" r:id="rId4"/>
    <p:sldLayoutId id="2147484202" r:id="rId5"/>
    <p:sldLayoutId id="2147484203" r:id="rId6"/>
    <p:sldLayoutId id="2147484204" r:id="rId7"/>
    <p:sldLayoutId id="2147484205" r:id="rId8"/>
    <p:sldLayoutId id="2147484206" r:id="rId9"/>
    <p:sldLayoutId id="2147484207" r:id="rId10"/>
    <p:sldLayoutId id="214748420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EE95-A111-2ACA-FEF0-04B75167C2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Operations Research</a:t>
            </a:r>
            <a:br>
              <a:rPr lang="en-US" dirty="0"/>
            </a:br>
            <a:r>
              <a:rPr lang="en-US" dirty="0"/>
              <a:t>CSC 434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A977D-0EB1-BD58-E5E6-5AA05824B9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 4</a:t>
            </a:r>
          </a:p>
          <a:p>
            <a:r>
              <a:rPr lang="en-US" sz="2800" dirty="0" err="1"/>
              <a:t>Oluwambo</a:t>
            </a:r>
            <a:r>
              <a:rPr lang="en-US" sz="2800" dirty="0"/>
              <a:t> Olowe</a:t>
            </a:r>
          </a:p>
        </p:txBody>
      </p:sp>
    </p:spTree>
    <p:extLst>
      <p:ext uri="{BB962C8B-B14F-4D97-AF65-F5344CB8AC3E}">
        <p14:creationId xmlns:p14="http://schemas.microsoft.com/office/powerpoint/2010/main" val="252239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7E57-C6BF-9FC5-78BB-47829D93A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28600"/>
            <a:ext cx="9601196" cy="1716931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Solution of Linear Programing problem - Graphical Method (for Two Variables)</a:t>
            </a:r>
            <a:br>
              <a:rPr lang="en-US" sz="5400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ACEF-B7E9-E1FC-C25C-B7D41CB4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186774"/>
            <a:ext cx="11391900" cy="5291847"/>
          </a:xfrm>
        </p:spPr>
        <p:txBody>
          <a:bodyPr>
            <a:normAutofit fontScale="92500" lnSpcReduction="10000"/>
          </a:bodyPr>
          <a:lstStyle/>
          <a:p>
            <a:r>
              <a:rPr lang="en-US" sz="4000" b="1" dirty="0"/>
              <a:t>Steps Involved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500" dirty="0"/>
              <a:t>Define the decision variables.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500" dirty="0"/>
              <a:t>Formulate the objective function.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500" dirty="0"/>
              <a:t>Write down the constraints.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500" dirty="0"/>
              <a:t>Convert inequalities to equations and plot them on a graph.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500" dirty="0"/>
              <a:t>Determine the feasible region that satisfies all constraints.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500" dirty="0"/>
              <a:t>Find the corner (vertex) points of the feasible region.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500" dirty="0"/>
              <a:t>Compute the objective function value at each vertex.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500" dirty="0"/>
              <a:t>The maximum (or minimum) value gives the optimal solution.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47193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C7564-3F89-73BC-1D0B-9F2F6635F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0"/>
            <a:ext cx="9720072" cy="819150"/>
          </a:xfrm>
        </p:spPr>
        <p:txBody>
          <a:bodyPr>
            <a:normAutofit/>
          </a:bodyPr>
          <a:lstStyle/>
          <a:p>
            <a:r>
              <a:rPr lang="en-US" dirty="0"/>
              <a:t>Example 1 - </a:t>
            </a:r>
            <a:r>
              <a:rPr lang="en-US" sz="4400" dirty="0"/>
              <a:t>Maximization Problem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EF588-0137-6834-5259-591C4EE4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38" y="819149"/>
            <a:ext cx="11303541" cy="5601105"/>
          </a:xfrm>
        </p:spPr>
        <p:txBody>
          <a:bodyPr/>
          <a:lstStyle/>
          <a:p>
            <a:r>
              <a:rPr lang="en-US" sz="2800" dirty="0"/>
              <a:t>A company produces two products: A and B.</a:t>
            </a:r>
            <a:br>
              <a:rPr lang="en-US" sz="2800" dirty="0"/>
            </a:br>
            <a:r>
              <a:rPr lang="en-US" sz="2800" dirty="0"/>
              <a:t>Each unit of A requires 2 hours of machine time and 1 hour of labor, while each unit of B requires 1 hour of machine time and 3 hours of labor.</a:t>
            </a:r>
            <a:br>
              <a:rPr lang="en-US" sz="2800" dirty="0"/>
            </a:br>
            <a:r>
              <a:rPr lang="en-US" sz="2800" dirty="0"/>
              <a:t>The company has a total of 8 machine hours and 9 labor hours available per day.</a:t>
            </a:r>
            <a:br>
              <a:rPr lang="en-US" sz="2800" dirty="0"/>
            </a:br>
            <a:r>
              <a:rPr lang="en-US" sz="2800" dirty="0"/>
              <a:t>Profit per unit is ₦3 for A and ₦5 for B.</a:t>
            </a:r>
          </a:p>
          <a:p>
            <a:r>
              <a:rPr lang="en-US" sz="2800" dirty="0"/>
              <a:t>Find how many units of A and B should be produced to maximize profit.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BCC168-E707-9E75-C879-AAA13BB55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075" y="4007795"/>
            <a:ext cx="8306182" cy="223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33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73FA-3756-A435-ACC0-D8D94B937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266700"/>
            <a:ext cx="9720072" cy="762000"/>
          </a:xfrm>
        </p:spPr>
        <p:txBody>
          <a:bodyPr>
            <a:normAutofit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F9A418-E5AB-81F9-FFF5-23920A146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86062"/>
            <a:ext cx="7730766" cy="448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08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3AD5-B19D-EDB1-F667-10E2CBD7E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272034"/>
          </a:xfrm>
        </p:spPr>
        <p:txBody>
          <a:bodyPr>
            <a:normAutofit fontScale="90000"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8374BF-8326-B2E9-BC9D-C356BE3D2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03" y="585216"/>
            <a:ext cx="10869091" cy="565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3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D69D-1CBE-4A2B-59E7-ACEE0E9B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2560"/>
            <a:ext cx="11010900" cy="711200"/>
          </a:xfrm>
        </p:spPr>
        <p:txBody>
          <a:bodyPr>
            <a:normAutofit fontScale="90000"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6A70B2-419C-CF9D-99AE-1663CEDB9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55" y="680936"/>
            <a:ext cx="9591004" cy="2393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45E5C7-C796-A173-D374-613716A34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519" y="2706196"/>
            <a:ext cx="7224868" cy="347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35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00C65C-DE42-5E9E-125F-150E960D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82A644-2299-06D3-BD35-159C04A53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00" y="878599"/>
            <a:ext cx="10747928" cy="279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7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FC13-3FD6-AAEE-EA22-A328E347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E854E-F6D2-EFB9-6A99-E145A3ECC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FC2951-33F2-2ECF-59F9-BEDEB1C20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834" y="408562"/>
            <a:ext cx="6108970" cy="607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24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A6F61-307A-77E8-2C2A-2284F0AC9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6C973-45EE-C7A0-0A57-93C2341E7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04800"/>
            <a:ext cx="10915650" cy="6343650"/>
          </a:xfrm>
        </p:spPr>
        <p:txBody>
          <a:bodyPr>
            <a:norm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4A61A2-4896-E5F2-1FC2-407B0C7C9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07" y="585216"/>
            <a:ext cx="10557565" cy="547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7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052F-C058-C391-8BE2-BBF6134A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0"/>
            <a:ext cx="9720072" cy="952500"/>
          </a:xfrm>
        </p:spPr>
        <p:txBody>
          <a:bodyPr>
            <a:noAutofit/>
          </a:bodyPr>
          <a:lstStyle/>
          <a:p>
            <a:r>
              <a:rPr lang="en-US" sz="2000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EE778-B609-C887-E3CD-D03323178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D1D3B5-4DAD-E2AC-6434-305886FC0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590239"/>
            <a:ext cx="9489153" cy="376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10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B8C2-D6CF-D810-248B-DC22FE53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342900"/>
            <a:ext cx="9720072" cy="551180"/>
          </a:xfrm>
        </p:spPr>
        <p:txBody>
          <a:bodyPr>
            <a:noAutofit/>
          </a:bodyPr>
          <a:lstStyle/>
          <a:p>
            <a:r>
              <a:rPr lang="en-US" sz="3200" b="1" dirty="0"/>
              <a:t>,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F50F5-7009-94C8-C5B2-F72DDBD7C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C4D147-B0ED-3E51-C439-187B6FC74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95" y="894080"/>
            <a:ext cx="10486640" cy="525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49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CB95-AAC7-7971-C1AC-50BB0BA4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E5919B-75D4-AA01-E777-B5B196F1D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52919"/>
            <a:ext cx="10668519" cy="6056441"/>
          </a:xfrm>
        </p:spPr>
        <p:txBody>
          <a:bodyPr>
            <a:normAutofit/>
          </a:bodyPr>
          <a:lstStyle/>
          <a:p>
            <a:r>
              <a:rPr lang="en-US" sz="28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1214E2-BC68-F065-D6F0-B01426B4B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23" y="797668"/>
            <a:ext cx="8360004" cy="397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026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FB76-DA05-2A6E-3EC6-8BE580D3B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190500"/>
            <a:ext cx="9720072" cy="7810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,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FB05C-754F-B72A-4B8D-BE824CBE2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603115"/>
            <a:ext cx="10953750" cy="5835785"/>
          </a:xfrm>
        </p:spPr>
        <p:txBody>
          <a:bodyPr>
            <a:normAutofit/>
          </a:bodyPr>
          <a:lstStyle/>
          <a:p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F4367-688C-B615-CE48-8EEE21B74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531" y="454410"/>
            <a:ext cx="7762673" cy="574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9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93BF5B2-0279-1600-F784-E23F1A17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6D15E-4317-69E1-EE49-40F62D065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6F949D-A2A7-4149-BE26-F08F68805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02" y="934615"/>
            <a:ext cx="10803825" cy="484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02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22C3D-157A-A69C-A538-DA2152A1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9EC30-31A4-CC18-DB33-53F373073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243840"/>
            <a:ext cx="11054080" cy="6065520"/>
          </a:xfrm>
        </p:spPr>
        <p:txBody>
          <a:bodyPr/>
          <a:lstStyle/>
          <a:p>
            <a:r>
              <a:rPr lang="en-US" sz="2800" dirty="0"/>
              <a:t> </a:t>
            </a:r>
          </a:p>
          <a:p>
            <a:r>
              <a:rPr lang="en-US" sz="2800" b="1" dirty="0"/>
              <a:t> </a:t>
            </a:r>
            <a:endParaRPr lang="en-US" sz="28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3A056F-59FC-8DC9-6257-5AD459B91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81" y="1614791"/>
            <a:ext cx="10829181" cy="41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128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DF3D-03C2-94DB-6F5A-6E317548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386080"/>
            <a:ext cx="9720072" cy="1544320"/>
          </a:xfrm>
        </p:spPr>
        <p:txBody>
          <a:bodyPr>
            <a:normAutofit/>
          </a:bodyPr>
          <a:lstStyle/>
          <a:p>
            <a:r>
              <a:rPr lang="en-US" dirty="0"/>
              <a:t>Example 2: Minimization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3CF80-5ABE-7510-60CD-1A06E58E9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0D362F-D878-FBE0-7165-6ED7E99FF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91" y="760640"/>
            <a:ext cx="11095230" cy="560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48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FCB35-9143-2D40-561E-FDA0E7764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7858D3-3C30-6777-5C68-45FF38BFA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57" y="720555"/>
            <a:ext cx="7380170" cy="20031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AF8BB4-CA5A-155E-CFC1-2ECDBFF35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312" y="3859570"/>
            <a:ext cx="7746139" cy="186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97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C93B4-D37A-3705-3E72-9FD775185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7B2CD-F76C-E77B-EDF7-C2C90566F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F0C08D-F108-5EC7-A9A4-6765D8C9C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657932"/>
            <a:ext cx="11090490" cy="561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44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4EE96-BDE9-D4A9-8EEA-DF3C2710A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484827"/>
          </a:xfrm>
        </p:spPr>
        <p:txBody>
          <a:bodyPr>
            <a:normAutofit fontScale="90000"/>
          </a:bodyPr>
          <a:lstStyle/>
          <a:p>
            <a:r>
              <a:rPr lang="en-US" dirty="0"/>
              <a:t>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56F1-2D1A-A095-5057-1F2C321C7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38" y="408562"/>
            <a:ext cx="10662034" cy="5900798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C2E72D-4698-FA4A-6D41-7ED86ADE4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97" y="778116"/>
            <a:ext cx="6386525" cy="19650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EEFF6F-5CF3-51D2-4F7A-4C8DF85BF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692" y="3173133"/>
            <a:ext cx="9074854" cy="233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46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73FB-2DDB-623E-1D89-B0621227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360ED-94D8-2CC8-129D-99E6CA55B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584E42-C0C0-4B8A-041E-FD4F64CE5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02" y="487758"/>
            <a:ext cx="8178491" cy="971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9B6D6A-3B4A-8376-DBB1-56DA45A7C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451" y="1556607"/>
            <a:ext cx="5859973" cy="497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01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467C-F134-1586-99AE-1A39A07A2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F50F66F-1A47-806F-A645-655E60E06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937753"/>
            <a:ext cx="10318323" cy="35916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5221BF-E66D-ED7F-7F1E-CE06FD277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43" y="431612"/>
            <a:ext cx="6320569" cy="233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97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83F0E-27E2-F3B1-AA26-E7791A3AE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C5D2B-D9A6-2ED2-6A07-8ECD5EA27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4EEA36-617A-6173-EA03-C7A237689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90" y="1031131"/>
            <a:ext cx="11111414" cy="4023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D5F8E2-488A-4409-B430-132932272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27" y="5392446"/>
            <a:ext cx="10507312" cy="52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221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966</TotalTime>
  <Words>225</Words>
  <Application>Microsoft Office PowerPoint</Application>
  <PresentationFormat>Widescreen</PresentationFormat>
  <Paragraphs>45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Tw Cen MT</vt:lpstr>
      <vt:lpstr>Tw Cen MT Condensed</vt:lpstr>
      <vt:lpstr>Wingdings 3</vt:lpstr>
      <vt:lpstr>Integral</vt:lpstr>
      <vt:lpstr>Operations Research CSC 434</vt:lpstr>
      <vt:lpstr>Solution of Linear Programing problem - Graphical Method (for Two Variables)  </vt:lpstr>
      <vt:lpstr>Example 1 - Maximization Problem</vt:lpstr>
      <vt:lpstr>,</vt:lpstr>
      <vt:lpstr>,</vt:lpstr>
      <vt:lpstr>,</vt:lpstr>
      <vt:lpstr>,</vt:lpstr>
      <vt:lpstr>,</vt:lpstr>
      <vt:lpstr>,</vt:lpstr>
      <vt:lpstr>,</vt:lpstr>
      <vt:lpstr>,</vt:lpstr>
      <vt:lpstr>,</vt:lpstr>
      <vt:lpstr>, </vt:lpstr>
      <vt:lpstr>.</vt:lpstr>
      <vt:lpstr>,</vt:lpstr>
      <vt:lpstr>Example 2: Minimization Problem</vt:lpstr>
      <vt:lpstr>,</vt:lpstr>
      <vt:lpstr>,</vt:lpstr>
      <vt:lpstr>,</vt:lpstr>
      <vt:lpstr>,</vt:lpstr>
      <vt:lpstr>,</vt:lpstr>
      <vt:lpstr>,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Olu OLOWE</dc:creator>
  <cp:lastModifiedBy>T Olu OLOWE</cp:lastModifiedBy>
  <cp:revision>4</cp:revision>
  <dcterms:created xsi:type="dcterms:W3CDTF">2025-10-21T06:06:50Z</dcterms:created>
  <dcterms:modified xsi:type="dcterms:W3CDTF">2025-12-09T10:12:38Z</dcterms:modified>
</cp:coreProperties>
</file>