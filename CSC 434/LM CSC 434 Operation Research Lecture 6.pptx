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7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1" r:id="rId6"/>
    <p:sldId id="262" r:id="rId7"/>
    <p:sldId id="276" r:id="rId8"/>
    <p:sldId id="277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0842" autoAdjust="0"/>
  </p:normalViewPr>
  <p:slideViewPr>
    <p:cSldViewPr snapToGrid="0">
      <p:cViewPr varScale="1">
        <p:scale>
          <a:sx n="49" d="100"/>
          <a:sy n="49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5A70E-9E90-4CC2-8C7B-D1D0F84C315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5385F-3571-47AF-8651-604866625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3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385F-3571-47AF-8651-604866625B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11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6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9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72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7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4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8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7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85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7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17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DD9C1D7-1219-4506-A3E3-60FDE141C307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0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EE95-A111-2ACA-FEF0-04B75167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Research</a:t>
            </a:r>
            <a:br>
              <a:rPr lang="en-US" dirty="0"/>
            </a:br>
            <a:r>
              <a:rPr lang="en-US" dirty="0"/>
              <a:t>CSC 434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A977D-0EB1-BD58-E5E6-5AA05824B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6</a:t>
            </a:r>
          </a:p>
          <a:p>
            <a:r>
              <a:rPr lang="en-US" sz="2800" dirty="0" err="1"/>
              <a:t>Oluwambo</a:t>
            </a:r>
            <a:r>
              <a:rPr lang="en-US" sz="2800" dirty="0"/>
              <a:t> Olowe</a:t>
            </a:r>
          </a:p>
        </p:txBody>
      </p:sp>
    </p:spTree>
    <p:extLst>
      <p:ext uri="{BB962C8B-B14F-4D97-AF65-F5344CB8AC3E}">
        <p14:creationId xmlns:p14="http://schemas.microsoft.com/office/powerpoint/2010/main" val="252239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7E57-C6BF-9FC5-78BB-47829D93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25" y="127918"/>
            <a:ext cx="9601196" cy="841443"/>
          </a:xfrm>
        </p:spPr>
        <p:txBody>
          <a:bodyPr>
            <a:normAutofit/>
          </a:bodyPr>
          <a:lstStyle/>
          <a:p>
            <a:r>
              <a:rPr lang="en-US" b="1" dirty="0"/>
              <a:t>duality theorem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4E0A8-7577-90BF-9525-E57C37BDA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969360"/>
            <a:ext cx="10620476" cy="533999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600" dirty="0"/>
              <a:t>The Duality Theorem in Operations Research links a primary (primal) Linear Programming problem with a secondary (dual) problem, stating that if one has a finite optimal solution, the other does too, and their optimal objective values are equal (Strong Duality). </a:t>
            </a:r>
          </a:p>
          <a:p>
            <a:pPr algn="just"/>
            <a:r>
              <a:rPr lang="en-US" sz="3600" dirty="0"/>
              <a:t>This theorem provides economic insights (shadow prices), offers an alternative solution method (solving the easier problem), and establishes a fundamental relationship where the </a:t>
            </a:r>
            <a:r>
              <a:rPr lang="en-US" sz="3600" dirty="0" err="1"/>
              <a:t>primal's</a:t>
            </a:r>
            <a:r>
              <a:rPr lang="en-US" sz="3600" dirty="0"/>
              <a:t> minimum is the dual's maximum (Weak Duality), with potential for a "duality gap" in non-linear cases. </a:t>
            </a:r>
          </a:p>
        </p:txBody>
      </p:sp>
    </p:spTree>
    <p:extLst>
      <p:ext uri="{BB962C8B-B14F-4D97-AF65-F5344CB8AC3E}">
        <p14:creationId xmlns:p14="http://schemas.microsoft.com/office/powerpoint/2010/main" val="3047193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7564-3F89-73BC-1D0B-9F2F6635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819150"/>
          </a:xfrm>
        </p:spPr>
        <p:txBody>
          <a:bodyPr>
            <a:normAutofit/>
          </a:bodyPr>
          <a:lstStyle/>
          <a:p>
            <a:r>
              <a:rPr lang="en-US" b="1" dirty="0"/>
              <a:t>Key Concepts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6036F-C827-B1EB-0A37-939D5B1A7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615820"/>
            <a:ext cx="11058642" cy="5840964"/>
          </a:xfrm>
        </p:spPr>
        <p:txBody>
          <a:bodyPr/>
          <a:lstStyle/>
          <a:p>
            <a:r>
              <a:rPr lang="en-US" sz="2800" b="1" dirty="0"/>
              <a:t>Primal Problem</a:t>
            </a:r>
            <a:r>
              <a:rPr lang="en-US" sz="2800" dirty="0"/>
              <a:t>: The original optimization problem (e.g., maximizing profit).</a:t>
            </a:r>
          </a:p>
          <a:p>
            <a:r>
              <a:rPr lang="en-US" sz="2800" b="1" dirty="0"/>
              <a:t>Dual Problem</a:t>
            </a:r>
            <a:r>
              <a:rPr lang="en-US" sz="2800" dirty="0"/>
              <a:t>: The associated problem, derived from the primal, using the same data but from a different perspective (e.g., maximizing value of resources).</a:t>
            </a:r>
          </a:p>
          <a:p>
            <a:r>
              <a:rPr lang="en-US" sz="2800" b="1" dirty="0"/>
              <a:t>Weak Duality</a:t>
            </a:r>
            <a:r>
              <a:rPr lang="en-US" sz="2800" dirty="0"/>
              <a:t>: The objective value of any feasible primal solution is always greater than or equal to the objective value of any feasible dual solution (for a maximization primal/minimization dual).</a:t>
            </a:r>
          </a:p>
          <a:p>
            <a:r>
              <a:rPr lang="en-US" sz="2800" b="1" dirty="0"/>
              <a:t>Strong Duality</a:t>
            </a:r>
            <a:r>
              <a:rPr lang="en-US" sz="2800" dirty="0"/>
              <a:t>: If either the primal or dual has a finite optimal solution, both do, and their optimal objective values are id\</a:t>
            </a:r>
            <a:r>
              <a:rPr lang="en-US" sz="2800" dirty="0" err="1"/>
              <a:t>entical</a:t>
            </a:r>
            <a:r>
              <a:rPr lang="en-US" sz="2800" dirty="0"/>
              <a:t> (no duality gap).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43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73FA-3756-A435-ACC0-D8D94B93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66700"/>
            <a:ext cx="9720072" cy="762000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D80C6E-BD5C-4D18-5AED-879D89C34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67" y="361950"/>
            <a:ext cx="7515225" cy="3067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52570B-4C3C-6467-BF4F-BD25C89B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4" y="3143250"/>
            <a:ext cx="7515225" cy="338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3AD5-B19D-EDB1-F667-10E2CBD7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55643"/>
            <a:ext cx="9720072" cy="758757"/>
          </a:xfrm>
        </p:spPr>
        <p:txBody>
          <a:bodyPr>
            <a:normAutofit/>
          </a:bodyPr>
          <a:lstStyle/>
          <a:p>
            <a:r>
              <a:rPr lang="en-US" b="1" dirty="0"/>
              <a:t>Duality Theory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8789EB-3482-4E23-AC5E-6496B6126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50559"/>
            <a:ext cx="10532332" cy="232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3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D69D-1CBE-4A2B-59E7-ACEE0E9B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2560"/>
            <a:ext cx="11010900" cy="711200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677D5-875C-4AF3-4C93-DC19EBDFD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34" y="603357"/>
            <a:ext cx="9182911" cy="595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3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00C65C-DE42-5E9E-125F-150E960D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D6A64-E780-06AB-CB97-236F704B1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13" y="825747"/>
            <a:ext cx="7421800" cy="1995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FDCCDB-F4C9-6C7F-DA2E-CF73A918D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282" y="2084832"/>
            <a:ext cx="2186833" cy="367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385CD9-B3F6-2381-9342-D48289DF5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7" y="3328443"/>
            <a:ext cx="9965987" cy="294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7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FC13-3FD6-AAEE-EA22-A328E347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E854E-F6D2-EFB9-6A99-E145A3EC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F951C-0D58-4482-BE49-B3276FA95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17" y="585216"/>
            <a:ext cx="10621165" cy="56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2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6F61-307A-77E8-2C2A-2284F0AC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C973-45EE-C7A0-0A57-93C2341E7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800"/>
            <a:ext cx="10915650" cy="6343650"/>
          </a:xfrm>
        </p:spPr>
        <p:txBody>
          <a:bodyPr>
            <a:norm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FE6CB-7235-354A-377A-E8BDB490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9" y="361706"/>
            <a:ext cx="10405872" cy="341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7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052F-C058-C391-8BE2-BBF6134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952500"/>
          </a:xfrm>
        </p:spPr>
        <p:txBody>
          <a:bodyPr>
            <a:noAutofit/>
          </a:bodyPr>
          <a:lstStyle/>
          <a:p>
            <a:r>
              <a:rPr lang="en-US" sz="2000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EE778-B609-C887-E3CD-D0332317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1D20F7-DC46-D290-9AF4-2648C718F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70" y="778213"/>
            <a:ext cx="10181309" cy="531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1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B8C2-D6CF-D810-248B-DC22FE53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342900"/>
            <a:ext cx="9720072" cy="551180"/>
          </a:xfrm>
        </p:spPr>
        <p:txBody>
          <a:bodyPr>
            <a:noAutofit/>
          </a:bodyPr>
          <a:lstStyle/>
          <a:p>
            <a:r>
              <a:rPr lang="en-US" sz="3200" b="1" dirty="0"/>
              <a:t>,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F50F5-7009-94C8-C5B2-F72DDBD7C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F7E74-1966-5C35-7576-AC3C1A0B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031132"/>
            <a:ext cx="10143744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49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CB95-AAC7-7971-C1AC-50BB0BA4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E5919B-75D4-AA01-E777-B5B196F1D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52919"/>
            <a:ext cx="10668519" cy="6056441"/>
          </a:xfrm>
        </p:spPr>
        <p:txBody>
          <a:bodyPr>
            <a:normAutofit/>
          </a:bodyPr>
          <a:lstStyle/>
          <a:p>
            <a:r>
              <a:rPr lang="en-US" sz="28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4280B-C788-7EEB-7A36-522315AC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53" y="894945"/>
            <a:ext cx="11193293" cy="47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2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FB76-DA05-2A6E-3EC6-8BE580D3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90500"/>
            <a:ext cx="9720072" cy="781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,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B05C-754F-B72A-4B8D-BE824CBE2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03115"/>
            <a:ext cx="10953750" cy="5835785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97EB1-0692-B949-1C54-565FC223B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" y="739301"/>
            <a:ext cx="11074146" cy="496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93BF5B2-0279-1600-F784-E23F1A17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6D15E-4317-69E1-EE49-40F62D06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55DAD-0C5E-0541-4764-A1C5AD3BA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30" y="206378"/>
            <a:ext cx="9537970" cy="628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0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2C3D-157A-A69C-A538-DA2152A1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EC30-31A4-CC18-DB33-53F373073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243840"/>
            <a:ext cx="11054080" cy="6065520"/>
          </a:xfrm>
        </p:spPr>
        <p:txBody>
          <a:bodyPr/>
          <a:lstStyle/>
          <a:p>
            <a:r>
              <a:rPr lang="en-US" sz="2800" dirty="0"/>
              <a:t> </a:t>
            </a:r>
          </a:p>
          <a:p>
            <a:r>
              <a:rPr lang="en-US" sz="2800" b="1" dirty="0"/>
              <a:t> </a:t>
            </a:r>
            <a:endParaRPr lang="en-US" sz="28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24ED6A-E4F5-7F64-E176-699B1FC63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356949"/>
            <a:ext cx="10891520" cy="3261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366A46-B5FD-3286-4C92-837104AC3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9" y="3581360"/>
            <a:ext cx="9948672" cy="269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2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DF3D-03C2-94DB-6F5A-6E317548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386080"/>
            <a:ext cx="9720072" cy="1544320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398AC-C018-9461-3BA7-B5422A01F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7BC4D-04EF-657E-3E3E-C794E757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96" y="953311"/>
            <a:ext cx="9479604" cy="354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48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8CC6-DA21-6114-B919-357493EF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98D0-FFE2-F093-1F5D-42FC3276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6CECC-76DF-93A5-CEAF-706F431CC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F7234-71BA-53A7-4731-40B092E1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59386"/>
            <a:ext cx="10143744" cy="5913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8FCC91-B653-3759-AF35-4C00B35E7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954" y="6057882"/>
            <a:ext cx="4992838" cy="41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73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6AF1-5331-B062-B00F-3FBEF943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04646-8A90-2644-4071-5823018D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CF918-14A7-B152-9D30-E4D72A37D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486BA-1E24-E4FB-CD2B-783C323A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70" y="466927"/>
            <a:ext cx="7404959" cy="2950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FE20E6-98B7-1B31-5BD2-3D13DD58A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762" y="4331192"/>
            <a:ext cx="7892350" cy="134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21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C1B9-556B-CF39-4707-5E2C8696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7F08-B126-DA74-EE7E-B9999FA8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1F981-D7F9-CCA0-D26A-6FA62D24D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4B6F9-82CC-DAEE-3206-F67ABF0F7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405978"/>
            <a:ext cx="9904395" cy="590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59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AF0D-7D17-5C85-FD5B-019D76FD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6F44-E2F4-8CDC-BEC4-17DC89ED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5F15A-8000-3812-530B-3FDAF495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9D65F-D1B8-DE2D-2B98-090BC64E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96473"/>
            <a:ext cx="9720072" cy="54984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488DF-D0CD-0B79-1497-031FB43104C1}"/>
              </a:ext>
            </a:extLst>
          </p:cNvPr>
          <p:cNvSpPr txBox="1"/>
          <p:nvPr/>
        </p:nvSpPr>
        <p:spPr>
          <a:xfrm>
            <a:off x="1162455" y="6088118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This table is optimal</a:t>
            </a:r>
          </a:p>
        </p:txBody>
      </p:sp>
    </p:spTree>
    <p:extLst>
      <p:ext uri="{BB962C8B-B14F-4D97-AF65-F5344CB8AC3E}">
        <p14:creationId xmlns:p14="http://schemas.microsoft.com/office/powerpoint/2010/main" val="86965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75CE-6A99-2696-667D-68EF578D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0D9B-7BE4-489B-98F6-D00EDC73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723A1-683E-8F47-9FBD-C6D393CD4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B5509-9AA2-175A-9694-438F6AB8C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85" y="603115"/>
            <a:ext cx="10667494" cy="3813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6ACFFF-C9A2-9696-FFE0-C8423ABE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479" y="4773169"/>
            <a:ext cx="10030393" cy="148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58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023A-1F62-43A0-7098-0B2597B90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52C1-19C8-92D3-6D7C-8CB392E1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A6759-9DB4-9100-03F5-CAB2DB397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883FD-469D-054A-4001-4A256B20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65" y="910800"/>
            <a:ext cx="10563421" cy="515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11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6DE2-BB7F-14DE-964F-82383546A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E1F6-4C6D-2036-6DB7-E9521331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F8868-955C-044A-74C1-EDE0E7E86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93F31-3315-F626-64C7-03A1B4BB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31046"/>
            <a:ext cx="9332027" cy="570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46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DFD1-ABFC-5572-9CCC-3F08B750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73A7-F681-F792-C8AE-F3BF783E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15D1-F635-CEE1-27B8-A70BE5DEF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E62CE9-BF26-856D-FBB1-7CE103EDC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703300"/>
            <a:ext cx="10143744" cy="54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42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CFA6-A167-250F-11C2-1450D51E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6447-CDE0-C2A1-FFCD-7066F521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B1981-7789-FA1B-181E-2A948E4A9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3A3E1-5885-BA01-F109-3954E09D6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77" y="722570"/>
            <a:ext cx="9705423" cy="2604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3C534-FF95-BD18-FB64-D51072EA6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76" y="3250552"/>
            <a:ext cx="10726306" cy="305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76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6A803-6AB5-0DB3-E1C6-66EB9D04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2A4A-EC3D-6615-F4AE-474DF927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79AAA-4030-9682-03C5-5717E23B8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2E60F-845F-7124-23A6-E277EBF5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90" y="585216"/>
            <a:ext cx="9868710" cy="579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2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14A9-A4D0-AFC1-947E-7B35E3F5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DC3B-9D75-E5C5-7C35-826528D5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B5C8B-F9B1-D97F-E95B-F8EE62C4D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19B64-C12E-BD8B-C05E-17B258BFB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27" y="894945"/>
            <a:ext cx="10403945" cy="494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71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1EC74-92C0-1F21-4D4D-035D3AE1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0D4F-BFBE-39A7-2F3A-E89BB5B3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B54CC-AB14-2922-F350-7652A74B0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643A9-B2EF-6D2E-C9CF-BD26867DD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610721"/>
            <a:ext cx="10468799" cy="52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39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C1D7-21B4-698C-289B-635E2D91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F700-66DC-327B-0385-2546B8B4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EEE37-01BE-C443-6D0F-AC9AD370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0309A7-A7C5-CA7E-128C-206AEE9DD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122005"/>
            <a:ext cx="9296401" cy="631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173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2746</TotalTime>
  <Words>280</Words>
  <Application>Microsoft Office PowerPoint</Application>
  <PresentationFormat>Widescreen</PresentationFormat>
  <Paragraphs>62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Tw Cen MT</vt:lpstr>
      <vt:lpstr>Tw Cen MT Condensed</vt:lpstr>
      <vt:lpstr>Wingdings 3</vt:lpstr>
      <vt:lpstr>Integral</vt:lpstr>
      <vt:lpstr>Operations Research CSC 434</vt:lpstr>
      <vt:lpstr>duality theorem</vt:lpstr>
      <vt:lpstr>Key Concepts</vt:lpstr>
      <vt:lpstr>,</vt:lpstr>
      <vt:lpstr>Duality Theory</vt:lpstr>
      <vt:lpstr>,</vt:lpstr>
      <vt:lpstr>,</vt:lpstr>
      <vt:lpstr>,</vt:lpstr>
      <vt:lpstr>,</vt:lpstr>
      <vt:lpstr>,</vt:lpstr>
      <vt:lpstr>,</vt:lpstr>
      <vt:lpstr>,</vt:lpstr>
      <vt:lpstr>, </vt:lpstr>
      <vt:lpstr>.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Olu OLOWE</dc:creator>
  <cp:lastModifiedBy>T Olu OLOWE</cp:lastModifiedBy>
  <cp:revision>8</cp:revision>
  <dcterms:created xsi:type="dcterms:W3CDTF">2025-10-21T06:06:50Z</dcterms:created>
  <dcterms:modified xsi:type="dcterms:W3CDTF">2026-01-20T10:37:18Z</dcterms:modified>
</cp:coreProperties>
</file>